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63" r:id="rId4"/>
    <p:sldId id="258" r:id="rId5"/>
    <p:sldId id="259" r:id="rId6"/>
    <p:sldId id="265" r:id="rId7"/>
    <p:sldId id="267" r:id="rId8"/>
    <p:sldId id="271" r:id="rId9"/>
    <p:sldId id="266" r:id="rId10"/>
    <p:sldId id="269" r:id="rId11"/>
    <p:sldId id="268" r:id="rId12"/>
    <p:sldId id="284" r:id="rId13"/>
    <p:sldId id="270" r:id="rId14"/>
    <p:sldId id="272" r:id="rId15"/>
    <p:sldId id="273" r:id="rId16"/>
    <p:sldId id="279" r:id="rId17"/>
    <p:sldId id="280" r:id="rId18"/>
    <p:sldId id="289" r:id="rId19"/>
    <p:sldId id="281" r:id="rId20"/>
    <p:sldId id="277" r:id="rId21"/>
    <p:sldId id="285" r:id="rId22"/>
    <p:sldId id="286" r:id="rId23"/>
    <p:sldId id="290" r:id="rId24"/>
    <p:sldId id="291" r:id="rId25"/>
    <p:sldId id="292" r:id="rId26"/>
    <p:sldId id="282" r:id="rId27"/>
    <p:sldId id="287" r:id="rId28"/>
    <p:sldId id="283" r:id="rId29"/>
    <p:sldId id="288" r:id="rId30"/>
    <p:sldId id="29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A36C00-7EF7-4ED6-9E5F-EC0226F15D83}" v="134" dt="2025-11-16T17:28:41.1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1" d="100"/>
          <a:sy n="91" d="100"/>
        </p:scale>
        <p:origin x="2156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C67DE-CFD7-4293-887A-6877041E4FF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915D7-D441-48F4-B5A0-A5F6416EA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22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52D93-FF97-2822-EDAC-E7C999A89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F54A9-A137-BCB3-734D-350D04207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138A-165A-CC10-A13E-ADD66FC9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7CB9-CB20-4E51-B0CA-42467449EB46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45C51-9588-AB1B-F55A-08E893D42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22C0A-D4B0-86A0-6B1F-3F916DB1C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FCF4B-3F32-CD6A-14EC-BD84FD58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F3C6-F3C1-D089-D375-1A7D7BD03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4FE0D-8B58-07E9-A9D9-97AA7F019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7DF4-3877-4BFE-B5C4-861B9A235AD6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90ECA-E807-1C8C-AC7A-EAC23ACF3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9BFB4-975A-F5EF-67CC-C7F5A14D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9591" y="6356350"/>
            <a:ext cx="2743200" cy="365125"/>
          </a:xfrm>
        </p:spPr>
        <p:txBody>
          <a:bodyPr/>
          <a:lstStyle>
            <a:lvl1pPr>
              <a:defRPr sz="3600"/>
            </a:lvl1pPr>
          </a:lstStyle>
          <a:p>
            <a:fld id="{BC45C7BB-1724-4FC6-81FD-F79A3AB072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3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E931-0EC8-9127-6B0A-11957CD29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641A0-2236-5C3E-3655-5E2562B4D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E24EB-C6CA-96D4-868D-0D943EBD8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AE3B2-C9E6-4BBD-A24E-B1D23E88ACAD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416D7-001F-88FF-AD03-4A528014D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3C13C-8FC7-A627-7A23-443A89179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86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247F2-E3D5-A75D-77F7-7AE799E09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4199E-BD36-872E-99F1-B7A38244B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3A2E8-3ACD-0887-8D09-D84739734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7B0FB-F05F-35E2-BDD7-F691C8F67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A91E-44C5-48EF-AB9E-C9EE62A71141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E61A2-1E91-7F92-5265-FC26373E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D51A2-BF36-0EA3-1049-2A4DCCCDF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7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D82D8-9197-D048-528A-41F8ECF88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6A8BC-2114-7AB6-3D13-8F1CC9F73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FF93F-B1D1-7D90-6C60-4D4A0DA57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81B86-6993-1158-ED46-4C8F5F391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DEA1E-30F3-7ED1-3FDB-513494DC7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4F99B2-29B0-808E-1CDF-A183A8281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0319-9480-423F-A385-59E530B00954}" type="datetime1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012C3-F91F-F470-CA95-226F9663E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BFFB36-02B4-8C84-3695-71B2D91BE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1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6931-1891-D830-FE81-E4EED877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80DD98-2BAB-2DD9-294C-8F4F7CDA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2125-4BC4-4B6E-951B-5A8C76AD041F}" type="datetime1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1CE746-9ADD-B430-A428-73E422E2B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570D4-5615-33E4-A225-C920CFD27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65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E6553-C351-813F-48AE-E53D1C997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00B7-0B4F-478F-94C9-ACD28367F078}" type="datetime1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A737F1-2556-4BE0-33A1-D9ED205F4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A3BD1-EBC4-B09D-CB8D-1E6A749AB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9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4E5E-1966-70E3-2A90-E0999DED3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2D287-584D-F0C7-5E25-77222EBB2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99D7E0-FC52-A940-9623-13F9E1D4A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65CE0-C5BB-AEDC-0B6E-5D7614419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8C4A6-149A-4F56-BCC7-939EECDCA4D5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3A98C-E66C-C4C1-86E4-E3A9117E4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A313B-EC4A-694A-C176-F6687EC73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7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8CB43-4088-9CC7-05D9-B65BA3545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73622-8CC2-7097-83F2-FC983B898D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18CEF-4B4E-4B89-61A7-0F1A3C2EA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20BB8-EF99-259B-5A89-B18E5BC27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1CE9-15F9-4F43-A295-F3BC07C72081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A8226-A54C-2ED6-A71D-607C49A66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B28A1-38A2-6EF7-F777-761B5497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640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17E58-1192-BE15-2CF6-F1A6224BA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2C1AFF-59F0-6F3A-3AAB-4C3B91268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1DB51-58B4-6299-EBAC-EB31C1A70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60638-A82E-46CE-BC0C-48D35FB3C658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34289-050E-636D-32C5-38BF6652C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9AE0B-BC43-8239-2139-E076DC170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33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34642D-5A35-FA8B-5A49-943BCA5DBA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87581-2692-F69C-7D4E-714A5BE46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1C7B7-EC0B-2E57-8153-77A367500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29D30-CC6F-48F3-8489-7CBFA664EED5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E8877-3C10-9654-B030-6DC89582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4637A-5C02-EA9B-E964-D564890B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31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CAA778-76D4-626F-73B6-D5370306A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8ED9B-D554-2F07-0703-FECFB3E80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662B5-FB68-D971-7F0F-98ABE58EC1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D8D1C-4A3B-4F03-A778-92E4AFA91CAB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B47D-7474-197E-466E-BE57C66D8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58718-A1DA-A558-876D-7BA55C8ED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5C7BB-1724-4FC6-81FD-F79A3AB07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1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22EC-6709-9482-81DC-FE8913196B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GiljoAI</a:t>
            </a:r>
            <a:r>
              <a:rPr lang="en-US" dirty="0"/>
              <a:t> MCP Server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271B6-6415-830F-B484-B29EF13900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Workflows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62D30-0177-19A3-31CF-3A46F7D1E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53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E07E-9A95-88B6-369B-3D4F5594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Overall operational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3921C2-3E74-50E5-31C1-2E5EA94CF5C4}"/>
              </a:ext>
            </a:extLst>
          </p:cNvPr>
          <p:cNvSpPr/>
          <p:nvPr/>
        </p:nvSpPr>
        <p:spPr>
          <a:xfrm>
            <a:off x="4528955" y="1447569"/>
            <a:ext cx="3134089" cy="104004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GiljoAI</a:t>
            </a:r>
            <a:r>
              <a:rPr lang="en-US" dirty="0"/>
              <a:t> MCP Server</a:t>
            </a:r>
          </a:p>
          <a:p>
            <a:pPr algn="ctr"/>
            <a:r>
              <a:rPr lang="en-US" dirty="0"/>
              <a:t>LAN / WAN / Hosted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C990CF-5FD2-F8CC-34D3-9CC819FD9936}"/>
              </a:ext>
            </a:extLst>
          </p:cNvPr>
          <p:cNvSpPr/>
          <p:nvPr/>
        </p:nvSpPr>
        <p:spPr>
          <a:xfrm>
            <a:off x="5104818" y="5577726"/>
            <a:ext cx="1989343" cy="59563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Developer PC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4936DE-0D93-A9A8-1E00-139DCCBAD811}"/>
              </a:ext>
            </a:extLst>
          </p:cNvPr>
          <p:cNvSpPr/>
          <p:nvPr/>
        </p:nvSpPr>
        <p:spPr>
          <a:xfrm>
            <a:off x="4528957" y="2537384"/>
            <a:ext cx="1382071" cy="61907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Web frontend Visualization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1DF662-077D-CC87-405F-1C65B9A65810}"/>
              </a:ext>
            </a:extLst>
          </p:cNvPr>
          <p:cNvSpPr/>
          <p:nvPr/>
        </p:nvSpPr>
        <p:spPr>
          <a:xfrm>
            <a:off x="6280973" y="2545551"/>
            <a:ext cx="1382071" cy="61907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MCP over HTTP Server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2C4B54-9188-4B93-18D6-33315A2EBC5A}"/>
              </a:ext>
            </a:extLst>
          </p:cNvPr>
          <p:cNvSpPr/>
          <p:nvPr/>
        </p:nvSpPr>
        <p:spPr>
          <a:xfrm>
            <a:off x="6156494" y="4900709"/>
            <a:ext cx="1631030" cy="61907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MCP enabled Agentic Coding tools. Primarily via  CLI  or TERMINAL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20A8C7-A742-D531-41C1-7E32B5D7FAF3}"/>
              </a:ext>
            </a:extLst>
          </p:cNvPr>
          <p:cNvSpPr/>
          <p:nvPr/>
        </p:nvSpPr>
        <p:spPr>
          <a:xfrm>
            <a:off x="4474278" y="4900709"/>
            <a:ext cx="1484446" cy="61907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Browser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CCD0CDB8-B6A4-7AD0-D987-E8E4B697B0C6}"/>
              </a:ext>
            </a:extLst>
          </p:cNvPr>
          <p:cNvCxnSpPr>
            <a:cxnSpLocks/>
            <a:stCxn id="9" idx="0"/>
            <a:endCxn id="6" idx="2"/>
          </p:cNvCxnSpPr>
          <p:nvPr/>
        </p:nvCxnSpPr>
        <p:spPr>
          <a:xfrm rot="5400000" flipH="1" flipV="1">
            <a:off x="4346124" y="4026840"/>
            <a:ext cx="1744247" cy="3492"/>
          </a:xfrm>
          <a:prstGeom prst="bentConnector3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5A86A0-1154-9764-F789-93CCF73E1176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6972009" y="3164629"/>
            <a:ext cx="0" cy="173608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2671FC6-81D4-2AF5-AE61-C3C34E21475B}"/>
              </a:ext>
            </a:extLst>
          </p:cNvPr>
          <p:cNvSpPr/>
          <p:nvPr/>
        </p:nvSpPr>
        <p:spPr>
          <a:xfrm>
            <a:off x="2503550" y="1658051"/>
            <a:ext cx="1382071" cy="61907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Backend and Database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5FC933C-C0D1-9E82-FAB6-00A3CE21B0BB}"/>
              </a:ext>
            </a:extLst>
          </p:cNvPr>
          <p:cNvCxnSpPr>
            <a:cxnSpLocks/>
            <a:stCxn id="19" idx="3"/>
            <a:endCxn id="4" idx="1"/>
          </p:cNvCxnSpPr>
          <p:nvPr/>
        </p:nvCxnSpPr>
        <p:spPr>
          <a:xfrm>
            <a:off x="3885621" y="1967590"/>
            <a:ext cx="643334" cy="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157F0-5262-0D52-342A-5DDCBC353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25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76230-FBD3-D2CF-C9FC-B753A6580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3BCA-67A1-365E-25E6-5F898F408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Multiuser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A5A9B28-A774-9735-862A-9C8AA228BEBC}"/>
              </a:ext>
            </a:extLst>
          </p:cNvPr>
          <p:cNvSpPr/>
          <p:nvPr/>
        </p:nvSpPr>
        <p:spPr>
          <a:xfrm>
            <a:off x="4528955" y="1447569"/>
            <a:ext cx="3134089" cy="145862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 err="1"/>
              <a:t>GiljoAI</a:t>
            </a:r>
            <a:r>
              <a:rPr lang="en-US" dirty="0"/>
              <a:t> MCP Server</a:t>
            </a:r>
          </a:p>
          <a:p>
            <a:pPr algn="ctr"/>
            <a:r>
              <a:rPr lang="en-US" dirty="0"/>
              <a:t>LAN / WAN / Hosted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7A9F265-8E4F-96DF-0483-C3FF16DA6CEE}"/>
              </a:ext>
            </a:extLst>
          </p:cNvPr>
          <p:cNvSpPr/>
          <p:nvPr/>
        </p:nvSpPr>
        <p:spPr>
          <a:xfrm>
            <a:off x="1586821" y="4604312"/>
            <a:ext cx="1989343" cy="59563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Developer PC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5F6A3D-A7DE-5C35-2009-AEEE538F5639}"/>
              </a:ext>
            </a:extLst>
          </p:cNvPr>
          <p:cNvSpPr/>
          <p:nvPr/>
        </p:nvSpPr>
        <p:spPr>
          <a:xfrm>
            <a:off x="4709277" y="2225925"/>
            <a:ext cx="1382071" cy="61907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Web frontend Visualization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C67A15-F062-DD71-2F5A-DC5D7E98A4CC}"/>
              </a:ext>
            </a:extLst>
          </p:cNvPr>
          <p:cNvSpPr/>
          <p:nvPr/>
        </p:nvSpPr>
        <p:spPr>
          <a:xfrm>
            <a:off x="6157657" y="2219433"/>
            <a:ext cx="1382071" cy="61907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MCP over HTTP Server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7437B5B-A952-44C3-A8F3-0DE56CB1F58C}"/>
              </a:ext>
            </a:extLst>
          </p:cNvPr>
          <p:cNvSpPr/>
          <p:nvPr/>
        </p:nvSpPr>
        <p:spPr>
          <a:xfrm>
            <a:off x="2512855" y="1868014"/>
            <a:ext cx="1382071" cy="61907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Backend and Database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24EE96C-D9AF-DA6D-5052-3278E9F05FB9}"/>
              </a:ext>
            </a:extLst>
          </p:cNvPr>
          <p:cNvCxnSpPr>
            <a:cxnSpLocks/>
            <a:stCxn id="19" idx="3"/>
            <a:endCxn id="4" idx="1"/>
          </p:cNvCxnSpPr>
          <p:nvPr/>
        </p:nvCxnSpPr>
        <p:spPr>
          <a:xfrm flipV="1">
            <a:off x="3894926" y="2176884"/>
            <a:ext cx="634029" cy="66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92C4D7F-221A-DCF9-BF63-606DEC861737}"/>
              </a:ext>
            </a:extLst>
          </p:cNvPr>
          <p:cNvSpPr/>
          <p:nvPr/>
        </p:nvSpPr>
        <p:spPr>
          <a:xfrm>
            <a:off x="5219993" y="4612478"/>
            <a:ext cx="1989343" cy="59563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Developer PC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7CB717E-BD5A-E390-1110-B0D686C52E94}"/>
              </a:ext>
            </a:extLst>
          </p:cNvPr>
          <p:cNvSpPr/>
          <p:nvPr/>
        </p:nvSpPr>
        <p:spPr>
          <a:xfrm>
            <a:off x="8853165" y="4604312"/>
            <a:ext cx="1989343" cy="59563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Developer PC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DC6DE7A-FB98-BD14-2B49-79C34A278A4D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2581493" y="2994485"/>
            <a:ext cx="2600980" cy="1609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2DE803D-B271-94A6-5B6A-F49E02FE8B7E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6177144" y="2994485"/>
            <a:ext cx="37521" cy="16179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CF0DC0E-C9BE-966E-53F1-28F3810E5108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7153059" y="2994485"/>
            <a:ext cx="2694778" cy="1609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63E8D92-6995-8DA9-3D29-0E08836DB602}"/>
              </a:ext>
            </a:extLst>
          </p:cNvPr>
          <p:cNvSpPr/>
          <p:nvPr/>
        </p:nvSpPr>
        <p:spPr>
          <a:xfrm>
            <a:off x="2415132" y="5305558"/>
            <a:ext cx="1631030" cy="61907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MCP enabled Agentic Coding tools. Primarily via  CLI  or TERMINAL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A2F122C-E173-5051-BF45-A6B05E0DDE8E}"/>
              </a:ext>
            </a:extLst>
          </p:cNvPr>
          <p:cNvSpPr/>
          <p:nvPr/>
        </p:nvSpPr>
        <p:spPr>
          <a:xfrm>
            <a:off x="1347169" y="5305558"/>
            <a:ext cx="935341" cy="61907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Browser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20FEF41-C882-0C59-A5E6-000EEB2DA58C}"/>
              </a:ext>
            </a:extLst>
          </p:cNvPr>
          <p:cNvSpPr/>
          <p:nvPr/>
        </p:nvSpPr>
        <p:spPr>
          <a:xfrm>
            <a:off x="5908698" y="5305558"/>
            <a:ext cx="1631030" cy="61907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MCP enabled Agentic Coding tools. Primarily via  CLI  or TERMINAL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35FDC60-A5A5-9B7C-DC34-F75C66A56E24}"/>
              </a:ext>
            </a:extLst>
          </p:cNvPr>
          <p:cNvSpPr/>
          <p:nvPr/>
        </p:nvSpPr>
        <p:spPr>
          <a:xfrm>
            <a:off x="4840735" y="5305558"/>
            <a:ext cx="935341" cy="61907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Browser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3907A03-CCDA-B92E-5851-D508AF45CA0D}"/>
              </a:ext>
            </a:extLst>
          </p:cNvPr>
          <p:cNvSpPr/>
          <p:nvPr/>
        </p:nvSpPr>
        <p:spPr>
          <a:xfrm>
            <a:off x="9722770" y="5305558"/>
            <a:ext cx="1631030" cy="61907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MCP enabled Agentic Coding tools. Primarily via  CLI  or TERMINAL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1E2F878-491E-E313-D38C-9C6913EB3401}"/>
              </a:ext>
            </a:extLst>
          </p:cNvPr>
          <p:cNvSpPr/>
          <p:nvPr/>
        </p:nvSpPr>
        <p:spPr>
          <a:xfrm>
            <a:off x="8654807" y="5305558"/>
            <a:ext cx="935341" cy="61907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Browser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37E8AB-2576-20D5-5973-EDF9C3594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5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8F9B5-0587-31EF-D95F-27FA14E55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015EC-EE42-0F28-7357-990DD3D8B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Server application layers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2B6930-D6F2-50E2-20A4-7F1116D01DCF}"/>
              </a:ext>
            </a:extLst>
          </p:cNvPr>
          <p:cNvSpPr/>
          <p:nvPr/>
        </p:nvSpPr>
        <p:spPr>
          <a:xfrm>
            <a:off x="4480095" y="1123805"/>
            <a:ext cx="2529140" cy="475206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GiljoAI</a:t>
            </a:r>
            <a:r>
              <a:rPr lang="en-US" dirty="0"/>
              <a:t> MCP Server</a:t>
            </a:r>
          </a:p>
          <a:p>
            <a:pPr algn="ctr"/>
            <a:r>
              <a:rPr lang="en-US" dirty="0"/>
              <a:t>LAN / WAN / Hosted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178AA1-3412-72AB-782D-1008920394F8}"/>
              </a:ext>
            </a:extLst>
          </p:cNvPr>
          <p:cNvSpPr/>
          <p:nvPr/>
        </p:nvSpPr>
        <p:spPr>
          <a:xfrm>
            <a:off x="2265057" y="3079598"/>
            <a:ext cx="2027738" cy="36867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PostgreSQL Database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4F48949-7147-3D6C-1B5B-A50BDD809FC7}"/>
              </a:ext>
            </a:extLst>
          </p:cNvPr>
          <p:cNvSpPr/>
          <p:nvPr/>
        </p:nvSpPr>
        <p:spPr>
          <a:xfrm>
            <a:off x="1294821" y="3937709"/>
            <a:ext cx="3001462" cy="42897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Tenant management (Users, with an Admin)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7274B67-9344-EF0D-B5BA-2FAB6E038E51}"/>
              </a:ext>
            </a:extLst>
          </p:cNvPr>
          <p:cNvSpPr/>
          <p:nvPr/>
        </p:nvSpPr>
        <p:spPr>
          <a:xfrm>
            <a:off x="1846252" y="3511096"/>
            <a:ext cx="2446543" cy="36867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Single Org architecture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8F530B0-6FF0-8435-1B4D-B66E30653F60}"/>
              </a:ext>
            </a:extLst>
          </p:cNvPr>
          <p:cNvSpPr/>
          <p:nvPr/>
        </p:nvSpPr>
        <p:spPr>
          <a:xfrm>
            <a:off x="7091831" y="1162930"/>
            <a:ext cx="4383539" cy="61907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MCP integration setup tools</a:t>
            </a:r>
          </a:p>
          <a:p>
            <a:r>
              <a:rPr lang="en-US" sz="1100" dirty="0"/>
              <a:t>(Simplified Integration to CLI/Terminal Agentic coding tools like Claude CLI, Codex CLI and Gemini CLI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FC7CD81-27E2-BDF3-AE81-539F200D409B}"/>
              </a:ext>
            </a:extLst>
          </p:cNvPr>
          <p:cNvSpPr/>
          <p:nvPr/>
        </p:nvSpPr>
        <p:spPr>
          <a:xfrm>
            <a:off x="7091832" y="1876063"/>
            <a:ext cx="4383540" cy="468891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Slash Command Setup tools (Simplified Integration to CLI/Terminal Agentic coding tools like Claude CLI, Codex CLI and Gemini CLI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AA79DDF-4E34-A716-FD99-9C832E565E4D}"/>
              </a:ext>
            </a:extLst>
          </p:cNvPr>
          <p:cNvSpPr/>
          <p:nvPr/>
        </p:nvSpPr>
        <p:spPr>
          <a:xfrm>
            <a:off x="7091830" y="2439009"/>
            <a:ext cx="4383540" cy="468891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Agent Template import setup tools(Simplified Integration to Claude CLI subagent feature)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59687F8-56F6-DA12-AC30-0E050381648E}"/>
              </a:ext>
            </a:extLst>
          </p:cNvPr>
          <p:cNvSpPr/>
          <p:nvPr/>
        </p:nvSpPr>
        <p:spPr>
          <a:xfrm>
            <a:off x="7091830" y="3003975"/>
            <a:ext cx="4383540" cy="31952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Agent Template management, creation and activation/enablement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423BE5A-75AB-B77B-EDD1-8AFE93641094}"/>
              </a:ext>
            </a:extLst>
          </p:cNvPr>
          <p:cNvSpPr/>
          <p:nvPr/>
        </p:nvSpPr>
        <p:spPr>
          <a:xfrm>
            <a:off x="7091830" y="3429000"/>
            <a:ext cx="4383540" cy="64042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Serena MCP integration, a method of prompt modification of our static prompts for “Orchestrator agent”, and context to add to jobs and missions for Agents as they get assigned tasks.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F02F93D-391C-B0A0-9637-2F7856BF9F00}"/>
              </a:ext>
            </a:extLst>
          </p:cNvPr>
          <p:cNvSpPr/>
          <p:nvPr/>
        </p:nvSpPr>
        <p:spPr>
          <a:xfrm>
            <a:off x="1047023" y="1652202"/>
            <a:ext cx="3228905" cy="36867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Public IP based application interaction, not localhost for users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E69A239-643A-5FB0-6619-11C2E7165E6F}"/>
              </a:ext>
            </a:extLst>
          </p:cNvPr>
          <p:cNvSpPr/>
          <p:nvPr/>
        </p:nvSpPr>
        <p:spPr>
          <a:xfrm>
            <a:off x="970242" y="2100354"/>
            <a:ext cx="3322554" cy="42897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Localhost interaction only for system functions between Backend, Frontend and PostgreSQL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59B8274-D99A-377C-800C-712116AABAA8}"/>
              </a:ext>
            </a:extLst>
          </p:cNvPr>
          <p:cNvSpPr/>
          <p:nvPr/>
        </p:nvSpPr>
        <p:spPr>
          <a:xfrm>
            <a:off x="1743294" y="1197830"/>
            <a:ext cx="2532633" cy="36867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OS agnostic Server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421C515-3095-A891-6B96-E03DC9430655}"/>
              </a:ext>
            </a:extLst>
          </p:cNvPr>
          <p:cNvSpPr/>
          <p:nvPr/>
        </p:nvSpPr>
        <p:spPr>
          <a:xfrm>
            <a:off x="931852" y="2587804"/>
            <a:ext cx="3322554" cy="42897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MCP over HTTP, not STDIO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DC113E4-E3B8-C677-BF21-F5002CE6F5DC}"/>
              </a:ext>
            </a:extLst>
          </p:cNvPr>
          <p:cNvSpPr/>
          <p:nvPr/>
        </p:nvSpPr>
        <p:spPr>
          <a:xfrm>
            <a:off x="1294821" y="4433352"/>
            <a:ext cx="3001462" cy="42897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API key and bearer key tenant separation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012B7BD-088D-900F-54B4-AF65800B0A9C}"/>
              </a:ext>
            </a:extLst>
          </p:cNvPr>
          <p:cNvSpPr/>
          <p:nvPr/>
        </p:nvSpPr>
        <p:spPr>
          <a:xfrm>
            <a:off x="855068" y="4940125"/>
            <a:ext cx="3437727" cy="42897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Task, Product and Project management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D094C97-7B9F-66DF-87CB-67FDA6ABEB33}"/>
              </a:ext>
            </a:extLst>
          </p:cNvPr>
          <p:cNvSpPr/>
          <p:nvPr/>
        </p:nvSpPr>
        <p:spPr>
          <a:xfrm>
            <a:off x="7091830" y="4728846"/>
            <a:ext cx="4495223" cy="36771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MCP message center for working Agents, with Developer visualization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B3E7B66-4EE0-0570-D8BF-0D27A9848975}"/>
              </a:ext>
            </a:extLst>
          </p:cNvPr>
          <p:cNvSpPr/>
          <p:nvPr/>
        </p:nvSpPr>
        <p:spPr>
          <a:xfrm>
            <a:off x="495591" y="5446898"/>
            <a:ext cx="3758815" cy="32816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Jobs management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8BE4FB4-C90E-867C-FA64-6167ED300291}"/>
              </a:ext>
            </a:extLst>
          </p:cNvPr>
          <p:cNvSpPr/>
          <p:nvPr/>
        </p:nvSpPr>
        <p:spPr>
          <a:xfrm>
            <a:off x="7091830" y="5204992"/>
            <a:ext cx="4718588" cy="36771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Product , Project and Jobs context management with priority assignment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5D9ECC-0758-BB38-FC59-93FCF42E7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F700D3-858B-8B21-766C-BF147AE79573}"/>
              </a:ext>
            </a:extLst>
          </p:cNvPr>
          <p:cNvSpPr/>
          <p:nvPr/>
        </p:nvSpPr>
        <p:spPr>
          <a:xfrm>
            <a:off x="7091830" y="4167688"/>
            <a:ext cx="4495223" cy="36771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 err="1"/>
              <a:t>Github</a:t>
            </a:r>
            <a:r>
              <a:rPr lang="en-US" sz="1100" dirty="0"/>
              <a:t> integration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8620D9-B6AD-4518-480C-1354C66793EA}"/>
              </a:ext>
            </a:extLst>
          </p:cNvPr>
          <p:cNvSpPr/>
          <p:nvPr/>
        </p:nvSpPr>
        <p:spPr>
          <a:xfrm>
            <a:off x="7091830" y="5709182"/>
            <a:ext cx="4718588" cy="36771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360 memory management, mini git, lifecycle, </a:t>
            </a:r>
            <a:r>
              <a:rPr lang="en-US" sz="1100" dirty="0" err="1"/>
              <a:t>github</a:t>
            </a:r>
            <a:r>
              <a:rPr lang="en-US" sz="1100" dirty="0"/>
              <a:t> tracking</a:t>
            </a:r>
          </a:p>
        </p:txBody>
      </p:sp>
    </p:spTree>
    <p:extLst>
      <p:ext uri="{BB962C8B-B14F-4D97-AF65-F5344CB8AC3E}">
        <p14:creationId xmlns:p14="http://schemas.microsoft.com/office/powerpoint/2010/main" val="203501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84B7-9774-8A29-F45A-1758B4E3D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DC576-C039-89D8-5D96-CCFCB788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Installation and Setup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D5ACBC3-EBDC-6985-251B-1633F108ACC4}"/>
              </a:ext>
            </a:extLst>
          </p:cNvPr>
          <p:cNvSpPr/>
          <p:nvPr/>
        </p:nvSpPr>
        <p:spPr>
          <a:xfrm>
            <a:off x="760836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Download Application from </a:t>
            </a:r>
            <a:r>
              <a:rPr lang="en-US" dirty="0" err="1"/>
              <a:t>Github</a:t>
            </a:r>
            <a:r>
              <a:rPr lang="en-US" dirty="0"/>
              <a:t> or website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523830-F4BF-F4E1-EEEB-2C8BF97B86F8}"/>
              </a:ext>
            </a:extLst>
          </p:cNvPr>
          <p:cNvSpPr/>
          <p:nvPr/>
        </p:nvSpPr>
        <p:spPr>
          <a:xfrm>
            <a:off x="3635495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Install via python</a:t>
            </a:r>
          </a:p>
          <a:p>
            <a:pPr algn="ctr"/>
            <a:r>
              <a:rPr lang="en-US" dirty="0"/>
              <a:t>\python install.py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F49D410-5A48-62AD-3F94-FC3226002B28}"/>
              </a:ext>
            </a:extLst>
          </p:cNvPr>
          <p:cNvSpPr/>
          <p:nvPr/>
        </p:nvSpPr>
        <p:spPr>
          <a:xfrm>
            <a:off x="6510154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OS agnostic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F46336B-70DD-9BD0-4BCA-C6D748D38A91}"/>
              </a:ext>
            </a:extLst>
          </p:cNvPr>
          <p:cNvSpPr/>
          <p:nvPr/>
        </p:nvSpPr>
        <p:spPr>
          <a:xfrm>
            <a:off x="9384813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IP address binding configuration for frontend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4B1F42-FC5A-91E7-47E8-1B1D0109B0A7}"/>
              </a:ext>
            </a:extLst>
          </p:cNvPr>
          <p:cNvSpPr/>
          <p:nvPr/>
        </p:nvSpPr>
        <p:spPr>
          <a:xfrm>
            <a:off x="700341" y="318992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 check requires PostgreSQL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4147053-AD53-937C-2628-5028FB650BF6}"/>
              </a:ext>
            </a:extLst>
          </p:cNvPr>
          <p:cNvSpPr/>
          <p:nvPr/>
        </p:nvSpPr>
        <p:spPr>
          <a:xfrm>
            <a:off x="3635495" y="318992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Developer provides credentials to DB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B66BAA4-F639-9C9D-4AAF-9AFBB10A90F0}"/>
              </a:ext>
            </a:extLst>
          </p:cNvPr>
          <p:cNvSpPr/>
          <p:nvPr/>
        </p:nvSpPr>
        <p:spPr>
          <a:xfrm>
            <a:off x="6510154" y="318992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Dependency downloads from requirements.txt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0EEDD64-790C-2BA6-14DA-274926ECAA85}"/>
              </a:ext>
            </a:extLst>
          </p:cNvPr>
          <p:cNvSpPr/>
          <p:nvPr/>
        </p:nvSpPr>
        <p:spPr>
          <a:xfrm>
            <a:off x="9384813" y="3151541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Required Database configuration setup for first run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B7DCF66-46D2-6405-3D2C-605A9F752903}"/>
              </a:ext>
            </a:extLst>
          </p:cNvPr>
          <p:cNvSpPr/>
          <p:nvPr/>
        </p:nvSpPr>
        <p:spPr>
          <a:xfrm>
            <a:off x="7467015" y="5151352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Instructions for application launch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B3BBC44-2DF3-1AB7-3E7C-F7098365F4A8}"/>
              </a:ext>
            </a:extLst>
          </p:cNvPr>
          <p:cNvCxnSpPr>
            <a:stCxn id="3" idx="3"/>
            <a:endCxn id="25" idx="1"/>
          </p:cNvCxnSpPr>
          <p:nvPr/>
        </p:nvCxnSpPr>
        <p:spPr>
          <a:xfrm>
            <a:off x="3134087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2220820-FDD0-661C-91C8-F2809BA79B6F}"/>
              </a:ext>
            </a:extLst>
          </p:cNvPr>
          <p:cNvCxnSpPr/>
          <p:nvPr/>
        </p:nvCxnSpPr>
        <p:spPr>
          <a:xfrm>
            <a:off x="600874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2B00DCF-E26D-4DD2-21E9-C2A9DA3EF5C3}"/>
              </a:ext>
            </a:extLst>
          </p:cNvPr>
          <p:cNvCxnSpPr/>
          <p:nvPr/>
        </p:nvCxnSpPr>
        <p:spPr>
          <a:xfrm>
            <a:off x="888340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90347001-2A4B-48BE-C3B8-23DA705702A6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 rot="5400000">
            <a:off x="5806904" y="-1574606"/>
            <a:ext cx="844598" cy="868447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81A25DB-DE9D-9842-DFEA-14E2F7950CBE}"/>
              </a:ext>
            </a:extLst>
          </p:cNvPr>
          <p:cNvCxnSpPr/>
          <p:nvPr/>
        </p:nvCxnSpPr>
        <p:spPr>
          <a:xfrm>
            <a:off x="3134087" y="3712278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29EE1CF-A404-D3AC-44F9-1A5B6A872A88}"/>
              </a:ext>
            </a:extLst>
          </p:cNvPr>
          <p:cNvCxnSpPr/>
          <p:nvPr/>
        </p:nvCxnSpPr>
        <p:spPr>
          <a:xfrm>
            <a:off x="6008745" y="3689011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19FCFD1-9763-A5BB-C423-F770ED433FD4}"/>
              </a:ext>
            </a:extLst>
          </p:cNvPr>
          <p:cNvCxnSpPr/>
          <p:nvPr/>
        </p:nvCxnSpPr>
        <p:spPr>
          <a:xfrm>
            <a:off x="8883405" y="3689011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F0C937DB-8F59-2EB4-25D9-849FFA2F4AFD}"/>
              </a:ext>
            </a:extLst>
          </p:cNvPr>
          <p:cNvCxnSpPr>
            <a:cxnSpLocks/>
            <a:stCxn id="31" idx="2"/>
            <a:endCxn id="44" idx="0"/>
          </p:cNvCxnSpPr>
          <p:nvPr/>
        </p:nvCxnSpPr>
        <p:spPr>
          <a:xfrm rot="5400000">
            <a:off x="6339142" y="919054"/>
            <a:ext cx="966749" cy="749784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EF079BF-E627-554F-DF3E-2EECC679B043}"/>
              </a:ext>
            </a:extLst>
          </p:cNvPr>
          <p:cNvSpPr/>
          <p:nvPr/>
        </p:nvSpPr>
        <p:spPr>
          <a:xfrm>
            <a:off x="1886966" y="5151352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 default template creation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EA4EF69-137B-E6E3-F239-572B586FD115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7001093" y="5667883"/>
            <a:ext cx="46592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E3EB8-D10A-CE22-9461-5B5FE318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5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874C732-2B5B-10B3-173A-C50BB23DE15F}"/>
              </a:ext>
            </a:extLst>
          </p:cNvPr>
          <p:cNvSpPr/>
          <p:nvPr/>
        </p:nvSpPr>
        <p:spPr>
          <a:xfrm>
            <a:off x="4627842" y="5151352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360 memory default template creation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987D364-C516-7FD4-1FCC-62DB9DB654F8}"/>
              </a:ext>
            </a:extLst>
          </p:cNvPr>
          <p:cNvCxnSpPr>
            <a:cxnSpLocks/>
            <a:stCxn id="44" idx="3"/>
            <a:endCxn id="7" idx="1"/>
          </p:cNvCxnSpPr>
          <p:nvPr/>
        </p:nvCxnSpPr>
        <p:spPr>
          <a:xfrm>
            <a:off x="4260217" y="5667883"/>
            <a:ext cx="3676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103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F6D18-BDAF-74BE-BD72-6B70BA4AB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6104C-7B33-6687-7C2F-0E49AC136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First run workflow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6726891-6423-49D0-16DE-9A9A172AAA7E}"/>
              </a:ext>
            </a:extLst>
          </p:cNvPr>
          <p:cNvSpPr/>
          <p:nvPr/>
        </p:nvSpPr>
        <p:spPr>
          <a:xfrm>
            <a:off x="279208" y="2498895"/>
            <a:ext cx="2826960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Browse to http:/{</a:t>
            </a:r>
            <a:r>
              <a:rPr lang="en-US" dirty="0" err="1"/>
              <a:t>ip_address</a:t>
            </a:r>
            <a:r>
              <a:rPr lang="en-US" dirty="0"/>
              <a:t>}:7274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E446E29-BDF4-40EB-8816-93F77A2AC67E}"/>
              </a:ext>
            </a:extLst>
          </p:cNvPr>
          <p:cNvSpPr/>
          <p:nvPr/>
        </p:nvSpPr>
        <p:spPr>
          <a:xfrm>
            <a:off x="3607575" y="2498895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Set up Admin user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88CE33D-60D5-5BAD-E4D7-30838C88D543}"/>
              </a:ext>
            </a:extLst>
          </p:cNvPr>
          <p:cNvSpPr/>
          <p:nvPr/>
        </p:nvSpPr>
        <p:spPr>
          <a:xfrm>
            <a:off x="6482234" y="2498895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Creates Tenant for Admin user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A0E206-B287-9C7A-80D8-50F2CDE5BBD7}"/>
              </a:ext>
            </a:extLst>
          </p:cNvPr>
          <p:cNvSpPr/>
          <p:nvPr/>
        </p:nvSpPr>
        <p:spPr>
          <a:xfrm>
            <a:off x="9356893" y="2498895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Welcome page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AF69928-3E95-4584-E8FE-65D12248A6E4}"/>
              </a:ext>
            </a:extLst>
          </p:cNvPr>
          <p:cNvCxnSpPr>
            <a:cxnSpLocks/>
            <a:stCxn id="3" idx="3"/>
            <a:endCxn id="25" idx="1"/>
          </p:cNvCxnSpPr>
          <p:nvPr/>
        </p:nvCxnSpPr>
        <p:spPr>
          <a:xfrm>
            <a:off x="3106168" y="3015426"/>
            <a:ext cx="5014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4C454F8-B5DA-0D46-FDE6-7A5D3B19F1ED}"/>
              </a:ext>
            </a:extLst>
          </p:cNvPr>
          <p:cNvCxnSpPr/>
          <p:nvPr/>
        </p:nvCxnSpPr>
        <p:spPr>
          <a:xfrm>
            <a:off x="5980825" y="3015426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32802E3-020B-6783-5E77-BB279E9411A4}"/>
              </a:ext>
            </a:extLst>
          </p:cNvPr>
          <p:cNvCxnSpPr/>
          <p:nvPr/>
        </p:nvCxnSpPr>
        <p:spPr>
          <a:xfrm>
            <a:off x="8855485" y="3015426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F36F1-1070-52AB-6577-C0AB48E5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24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FD9F5-4343-F9A7-8A66-32D26965E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A3EFE-3FEA-A1C2-941A-7CD1A51A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Setup overview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347DF0B-96D3-8E49-F5A6-D42709B4B8D8}"/>
              </a:ext>
            </a:extLst>
          </p:cNvPr>
          <p:cNvSpPr/>
          <p:nvPr/>
        </p:nvSpPr>
        <p:spPr>
          <a:xfrm>
            <a:off x="760836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Navigate to user settings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3AF89F5-BEAD-77BD-ADEB-EAE86427B078}"/>
              </a:ext>
            </a:extLst>
          </p:cNvPr>
          <p:cNvSpPr/>
          <p:nvPr/>
        </p:nvSpPr>
        <p:spPr>
          <a:xfrm>
            <a:off x="3635495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MCP tool prompt for attaching Terminal Cli tool (Claude, Codex, Gemini)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728CA14-D3B6-E872-6896-B08E62651853}"/>
              </a:ext>
            </a:extLst>
          </p:cNvPr>
          <p:cNvSpPr/>
          <p:nvPr/>
        </p:nvSpPr>
        <p:spPr>
          <a:xfrm>
            <a:off x="6510154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Prompt copy to install slash commands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34A55DB-4779-2E89-4DBE-5E4391D47F76}"/>
              </a:ext>
            </a:extLst>
          </p:cNvPr>
          <p:cNvSpPr/>
          <p:nvPr/>
        </p:nvSpPr>
        <p:spPr>
          <a:xfrm>
            <a:off x="9384813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Prompt copy for installing agents (</a:t>
            </a:r>
            <a:r>
              <a:rPr lang="en-US" dirty="0" err="1"/>
              <a:t>claude</a:t>
            </a:r>
            <a:r>
              <a:rPr lang="en-US" dirty="0"/>
              <a:t> code cli)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8D05FD9-19B6-A50A-C3A5-0663704EEAA3}"/>
              </a:ext>
            </a:extLst>
          </p:cNvPr>
          <p:cNvSpPr/>
          <p:nvPr/>
        </p:nvSpPr>
        <p:spPr>
          <a:xfrm>
            <a:off x="700341" y="318992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Enable Serena MCP and custom configure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EDCF0C4-D9FE-2D3C-EED8-F837D6AC2908}"/>
              </a:ext>
            </a:extLst>
          </p:cNvPr>
          <p:cNvSpPr/>
          <p:nvPr/>
        </p:nvSpPr>
        <p:spPr>
          <a:xfrm>
            <a:off x="3635495" y="3179458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Context priority settings if desired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F23AD5A-AB7F-509D-9621-F7AB8DA062BB}"/>
              </a:ext>
            </a:extLst>
          </p:cNvPr>
          <p:cNvSpPr/>
          <p:nvPr/>
        </p:nvSpPr>
        <p:spPr>
          <a:xfrm>
            <a:off x="9384813" y="3151541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2DF059F-33C0-E594-AE2E-FB7503223E62}"/>
              </a:ext>
            </a:extLst>
          </p:cNvPr>
          <p:cNvSpPr/>
          <p:nvPr/>
        </p:nvSpPr>
        <p:spPr>
          <a:xfrm>
            <a:off x="5072823" y="5151352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21E006F-2C62-31BF-7FAB-74FE0C5F81C9}"/>
              </a:ext>
            </a:extLst>
          </p:cNvPr>
          <p:cNvCxnSpPr>
            <a:stCxn id="3" idx="3"/>
            <a:endCxn id="25" idx="1"/>
          </p:cNvCxnSpPr>
          <p:nvPr/>
        </p:nvCxnSpPr>
        <p:spPr>
          <a:xfrm>
            <a:off x="3134087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B5CBEDB-B310-9C80-8FBA-D1FE90F9C181}"/>
              </a:ext>
            </a:extLst>
          </p:cNvPr>
          <p:cNvCxnSpPr/>
          <p:nvPr/>
        </p:nvCxnSpPr>
        <p:spPr>
          <a:xfrm>
            <a:off x="600874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3BAFFB7-AE0A-355E-062A-D49DA909A684}"/>
              </a:ext>
            </a:extLst>
          </p:cNvPr>
          <p:cNvCxnSpPr/>
          <p:nvPr/>
        </p:nvCxnSpPr>
        <p:spPr>
          <a:xfrm>
            <a:off x="888340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213D7910-F082-29CC-DA21-DE4D749E004C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 rot="5400000">
            <a:off x="5806904" y="-1574606"/>
            <a:ext cx="844598" cy="868447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1B6F19E-2978-B385-4776-67DB4EFBB54F}"/>
              </a:ext>
            </a:extLst>
          </p:cNvPr>
          <p:cNvCxnSpPr/>
          <p:nvPr/>
        </p:nvCxnSpPr>
        <p:spPr>
          <a:xfrm>
            <a:off x="3134087" y="3712278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31D62D2-A06B-66E7-3751-BA8883A0DC03}"/>
              </a:ext>
            </a:extLst>
          </p:cNvPr>
          <p:cNvCxnSpPr/>
          <p:nvPr/>
        </p:nvCxnSpPr>
        <p:spPr>
          <a:xfrm>
            <a:off x="6008745" y="3689011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14F30C2-562A-2A1F-75B8-C4A964F7A666}"/>
              </a:ext>
            </a:extLst>
          </p:cNvPr>
          <p:cNvCxnSpPr/>
          <p:nvPr/>
        </p:nvCxnSpPr>
        <p:spPr>
          <a:xfrm>
            <a:off x="8883405" y="3689011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32D147B6-34F9-F1E5-FED7-DF2B8C8DCABE}"/>
              </a:ext>
            </a:extLst>
          </p:cNvPr>
          <p:cNvCxnSpPr>
            <a:cxnSpLocks/>
            <a:stCxn id="31" idx="2"/>
            <a:endCxn id="44" idx="0"/>
          </p:cNvCxnSpPr>
          <p:nvPr/>
        </p:nvCxnSpPr>
        <p:spPr>
          <a:xfrm rot="5400000">
            <a:off x="6339142" y="919054"/>
            <a:ext cx="966749" cy="749784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A0034AA-519A-DE23-96BC-B878C334565E}"/>
              </a:ext>
            </a:extLst>
          </p:cNvPr>
          <p:cNvSpPr/>
          <p:nvPr/>
        </p:nvSpPr>
        <p:spPr>
          <a:xfrm>
            <a:off x="1886966" y="5151352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C5AFD92-A112-22EB-966B-0572C8B8B57B}"/>
              </a:ext>
            </a:extLst>
          </p:cNvPr>
          <p:cNvCxnSpPr>
            <a:cxnSpLocks/>
            <a:stCxn id="44" idx="3"/>
            <a:endCxn id="32" idx="1"/>
          </p:cNvCxnSpPr>
          <p:nvPr/>
        </p:nvCxnSpPr>
        <p:spPr>
          <a:xfrm>
            <a:off x="4260217" y="5667883"/>
            <a:ext cx="81260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13520-43BF-D185-F13B-5A9964C35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17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542C3-B4A6-E099-A3A4-EEF90C5E0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45D1-15A8-373F-7CBF-6287514B7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Workflow overview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518CAB-19D7-73DD-6E23-8327EA260138}"/>
              </a:ext>
            </a:extLst>
          </p:cNvPr>
          <p:cNvSpPr/>
          <p:nvPr/>
        </p:nvSpPr>
        <p:spPr>
          <a:xfrm>
            <a:off x="760836" y="1598874"/>
            <a:ext cx="2373251" cy="5754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Product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BB2854B-C1A4-52B6-AD11-9D1FE66924ED}"/>
              </a:ext>
            </a:extLst>
          </p:cNvPr>
          <p:cNvSpPr/>
          <p:nvPr/>
        </p:nvSpPr>
        <p:spPr>
          <a:xfrm>
            <a:off x="3635495" y="1598874"/>
            <a:ext cx="2373251" cy="5754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Activate Product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3DE9C58-E5BA-91A4-A881-DE9B505D13FB}"/>
              </a:ext>
            </a:extLst>
          </p:cNvPr>
          <p:cNvSpPr/>
          <p:nvPr/>
        </p:nvSpPr>
        <p:spPr>
          <a:xfrm>
            <a:off x="6510154" y="1598874"/>
            <a:ext cx="2373251" cy="5754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project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5488BF7-2B63-1BB5-6508-BCD9ED6E196E}"/>
              </a:ext>
            </a:extLst>
          </p:cNvPr>
          <p:cNvSpPr/>
          <p:nvPr/>
        </p:nvSpPr>
        <p:spPr>
          <a:xfrm>
            <a:off x="9384813" y="1598874"/>
            <a:ext cx="2373251" cy="5754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Activate project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321229D-29B7-0A73-F110-989B77A69C78}"/>
              </a:ext>
            </a:extLst>
          </p:cNvPr>
          <p:cNvSpPr/>
          <p:nvPr/>
        </p:nvSpPr>
        <p:spPr>
          <a:xfrm>
            <a:off x="3590121" y="2971629"/>
            <a:ext cx="2373251" cy="60071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Stage Project in Job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5D39880-ACB2-D96D-B003-130621370F3B}"/>
              </a:ext>
            </a:extLst>
          </p:cNvPr>
          <p:cNvSpPr/>
          <p:nvPr/>
        </p:nvSpPr>
        <p:spPr>
          <a:xfrm>
            <a:off x="6532843" y="2974124"/>
            <a:ext cx="2373251" cy="60071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Activate Job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1AC5585-3360-2F33-2868-DE8F59FE671C}"/>
              </a:ext>
            </a:extLst>
          </p:cNvPr>
          <p:cNvSpPr/>
          <p:nvPr/>
        </p:nvSpPr>
        <p:spPr>
          <a:xfrm>
            <a:off x="9430187" y="2917281"/>
            <a:ext cx="2373251" cy="60071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Interact with Job and Agents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D043FA8-9C26-9EA8-4C1A-ADEDF3FA498E}"/>
              </a:ext>
            </a:extLst>
          </p:cNvPr>
          <p:cNvSpPr/>
          <p:nvPr/>
        </p:nvSpPr>
        <p:spPr>
          <a:xfrm>
            <a:off x="4854552" y="4851586"/>
            <a:ext cx="954536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Tasks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F66D5C9-4501-6A64-2A0E-6687072A8738}"/>
              </a:ext>
            </a:extLst>
          </p:cNvPr>
          <p:cNvCxnSpPr>
            <a:cxnSpLocks/>
            <a:stCxn id="3" idx="3"/>
            <a:endCxn id="25" idx="1"/>
          </p:cNvCxnSpPr>
          <p:nvPr/>
        </p:nvCxnSpPr>
        <p:spPr>
          <a:xfrm>
            <a:off x="3134087" y="1886596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B44AF01-50D5-8D64-F7B9-97400C510193}"/>
              </a:ext>
            </a:extLst>
          </p:cNvPr>
          <p:cNvCxnSpPr/>
          <p:nvPr/>
        </p:nvCxnSpPr>
        <p:spPr>
          <a:xfrm>
            <a:off x="600874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23A912E-1F73-1B11-9E3F-E6E7E9F576D6}"/>
              </a:ext>
            </a:extLst>
          </p:cNvPr>
          <p:cNvCxnSpPr/>
          <p:nvPr/>
        </p:nvCxnSpPr>
        <p:spPr>
          <a:xfrm>
            <a:off x="888340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2BFBE1BB-37BB-DF42-99F4-184185A17A6B}"/>
              </a:ext>
            </a:extLst>
          </p:cNvPr>
          <p:cNvCxnSpPr>
            <a:cxnSpLocks/>
            <a:stCxn id="27" idx="2"/>
            <a:endCxn id="86" idx="0"/>
          </p:cNvCxnSpPr>
          <p:nvPr/>
        </p:nvCxnSpPr>
        <p:spPr>
          <a:xfrm rot="5400000">
            <a:off x="5801067" y="-1778170"/>
            <a:ext cx="817884" cy="87228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579B7B9-FC55-7EED-CC1C-048C877C5EE0}"/>
              </a:ext>
            </a:extLst>
          </p:cNvPr>
          <p:cNvCxnSpPr/>
          <p:nvPr/>
        </p:nvCxnSpPr>
        <p:spPr>
          <a:xfrm>
            <a:off x="3088713" y="3279924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4D718A6-CFB1-8F39-5BED-D27C92080B00}"/>
              </a:ext>
            </a:extLst>
          </p:cNvPr>
          <p:cNvCxnSpPr/>
          <p:nvPr/>
        </p:nvCxnSpPr>
        <p:spPr>
          <a:xfrm>
            <a:off x="6008745" y="327448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33DC6D6-8513-24AB-CAAF-3E2F61F6DF24}"/>
              </a:ext>
            </a:extLst>
          </p:cNvPr>
          <p:cNvCxnSpPr/>
          <p:nvPr/>
        </p:nvCxnSpPr>
        <p:spPr>
          <a:xfrm>
            <a:off x="8928779" y="3279924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A6F1D1DD-D260-E58F-5AA4-DDA7C3A3F65D}"/>
              </a:ext>
            </a:extLst>
          </p:cNvPr>
          <p:cNvCxnSpPr>
            <a:cxnSpLocks/>
            <a:stCxn id="30" idx="2"/>
            <a:endCxn id="76" idx="0"/>
          </p:cNvCxnSpPr>
          <p:nvPr/>
        </p:nvCxnSpPr>
        <p:spPr>
          <a:xfrm rot="5400000">
            <a:off x="5528584" y="-622276"/>
            <a:ext cx="947961" cy="9228499"/>
          </a:xfrm>
          <a:prstGeom prst="bentConnector3">
            <a:avLst>
              <a:gd name="adj1" fmla="val 67672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F4DF3CF-9C9A-38C9-0C32-12123B415D0C}"/>
              </a:ext>
            </a:extLst>
          </p:cNvPr>
          <p:cNvSpPr/>
          <p:nvPr/>
        </p:nvSpPr>
        <p:spPr>
          <a:xfrm>
            <a:off x="2626533" y="4554504"/>
            <a:ext cx="1617501" cy="6559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Deactivate Project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3FE1CC-2FCA-4CB3-5D63-ABCBF35392D6}"/>
              </a:ext>
            </a:extLst>
          </p:cNvPr>
          <p:cNvSpPr/>
          <p:nvPr/>
        </p:nvSpPr>
        <p:spPr>
          <a:xfrm>
            <a:off x="853031" y="2055503"/>
            <a:ext cx="2282510" cy="4118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(Used as Context Source)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19DC50-AA2B-FE75-D58B-CB874B57D8B4}"/>
              </a:ext>
            </a:extLst>
          </p:cNvPr>
          <p:cNvSpPr/>
          <p:nvPr/>
        </p:nvSpPr>
        <p:spPr>
          <a:xfrm>
            <a:off x="700337" y="3583560"/>
            <a:ext cx="2282510" cy="4118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(Used as Context Source)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088603-E873-EA42-C471-388C5F40A0FC}"/>
              </a:ext>
            </a:extLst>
          </p:cNvPr>
          <p:cNvSpPr/>
          <p:nvPr/>
        </p:nvSpPr>
        <p:spPr>
          <a:xfrm>
            <a:off x="6603803" y="2016170"/>
            <a:ext cx="2282510" cy="4118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(Used as Context Source)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F834E0-102D-C13B-7E89-2C72A32CD177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5809088" y="5368117"/>
            <a:ext cx="2931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5D2CE80-333F-5A56-EDD4-B5D939807DA6}"/>
              </a:ext>
            </a:extLst>
          </p:cNvPr>
          <p:cNvSpPr/>
          <p:nvPr/>
        </p:nvSpPr>
        <p:spPr>
          <a:xfrm>
            <a:off x="7517625" y="403110"/>
            <a:ext cx="4311983" cy="4781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Only one product can be activated in a tenant, Only one project can be activated per product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434CA9A-2921-03BE-9A9B-D6B036C9490D}"/>
              </a:ext>
            </a:extLst>
          </p:cNvPr>
          <p:cNvSpPr/>
          <p:nvPr/>
        </p:nvSpPr>
        <p:spPr>
          <a:xfrm>
            <a:off x="7561691" y="4851586"/>
            <a:ext cx="1697920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Convert Task to project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1E4F697-A747-2203-091B-4D9B19A733DB}"/>
              </a:ext>
            </a:extLst>
          </p:cNvPr>
          <p:cNvSpPr/>
          <p:nvPr/>
        </p:nvSpPr>
        <p:spPr>
          <a:xfrm>
            <a:off x="9547099" y="4831592"/>
            <a:ext cx="2282509" cy="144488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resides under currently active product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D4BE48C9-A62D-9B25-064E-579A931C097C}"/>
              </a:ext>
            </a:extLst>
          </p:cNvPr>
          <p:cNvSpPr/>
          <p:nvPr/>
        </p:nvSpPr>
        <p:spPr>
          <a:xfrm>
            <a:off x="6102115" y="4873772"/>
            <a:ext cx="1166549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Organize tasks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9C441B24-BFD7-2215-A6B2-D00D126570B6}"/>
              </a:ext>
            </a:extLst>
          </p:cNvPr>
          <p:cNvSpPr/>
          <p:nvPr/>
        </p:nvSpPr>
        <p:spPr>
          <a:xfrm>
            <a:off x="627658" y="4465954"/>
            <a:ext cx="1521311" cy="8153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Complete and Close Job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896694D-E6AD-4FC5-C488-91F779C49862}"/>
              </a:ext>
            </a:extLst>
          </p:cNvPr>
          <p:cNvCxnSpPr/>
          <p:nvPr/>
        </p:nvCxnSpPr>
        <p:spPr>
          <a:xfrm>
            <a:off x="2148969" y="4882485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419E2D36-5A81-B17A-1F05-3110B687E73B}"/>
              </a:ext>
            </a:extLst>
          </p:cNvPr>
          <p:cNvSpPr/>
          <p:nvPr/>
        </p:nvSpPr>
        <p:spPr>
          <a:xfrm>
            <a:off x="661952" y="2992202"/>
            <a:ext cx="2373251" cy="5754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 Creates Job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1EC92A5-5298-58E0-2C3F-9EB576F44FAB}"/>
              </a:ext>
            </a:extLst>
          </p:cNvPr>
          <p:cNvCxnSpPr>
            <a:cxnSpLocks/>
          </p:cNvCxnSpPr>
          <p:nvPr/>
        </p:nvCxnSpPr>
        <p:spPr>
          <a:xfrm>
            <a:off x="7268664" y="5297152"/>
            <a:ext cx="2931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5CA0A10-0B66-D6A5-5AA0-552037669C95}"/>
              </a:ext>
            </a:extLst>
          </p:cNvPr>
          <p:cNvCxnSpPr>
            <a:cxnSpLocks/>
          </p:cNvCxnSpPr>
          <p:nvPr/>
        </p:nvCxnSpPr>
        <p:spPr>
          <a:xfrm>
            <a:off x="9253933" y="5247128"/>
            <a:ext cx="2931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3F2E0-0226-3726-A1B4-4B47E769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49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88EB0-D672-E666-681D-69F5312C7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8799-EDE2-82EA-4345-1DDDE9FC4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Workflow overview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0EEA77-8C12-4289-D9D9-73237519C314}"/>
              </a:ext>
            </a:extLst>
          </p:cNvPr>
          <p:cNvSpPr/>
          <p:nvPr/>
        </p:nvSpPr>
        <p:spPr>
          <a:xfrm>
            <a:off x="760836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Product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F1E8F42-C7F3-8F27-7146-5576B5948781}"/>
              </a:ext>
            </a:extLst>
          </p:cNvPr>
          <p:cNvSpPr/>
          <p:nvPr/>
        </p:nvSpPr>
        <p:spPr>
          <a:xfrm>
            <a:off x="3635495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Product name and description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2833D99-9F13-5AEB-390E-ACA22F670EDB}"/>
              </a:ext>
            </a:extLst>
          </p:cNvPr>
          <p:cNvSpPr/>
          <p:nvPr/>
        </p:nvSpPr>
        <p:spPr>
          <a:xfrm>
            <a:off x="6510154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path (optional, future use)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532F686-257E-2F0A-6F35-5690EC939E6A}"/>
              </a:ext>
            </a:extLst>
          </p:cNvPr>
          <p:cNvSpPr/>
          <p:nvPr/>
        </p:nvSpPr>
        <p:spPr>
          <a:xfrm>
            <a:off x="9384813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Vision Document Upload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0CAA77B-B3B7-533F-B741-C46CE53E5AF1}"/>
              </a:ext>
            </a:extLst>
          </p:cNvPr>
          <p:cNvSpPr/>
          <p:nvPr/>
        </p:nvSpPr>
        <p:spPr>
          <a:xfrm>
            <a:off x="700341" y="318992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Vision document chunking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24057E6-C894-BB74-550F-1439ECA2B121}"/>
              </a:ext>
            </a:extLst>
          </p:cNvPr>
          <p:cNvSpPr/>
          <p:nvPr/>
        </p:nvSpPr>
        <p:spPr>
          <a:xfrm>
            <a:off x="3635495" y="318992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stack fields (several)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9ABF046-1BC6-EF4D-11EC-E01A61098DB8}"/>
              </a:ext>
            </a:extLst>
          </p:cNvPr>
          <p:cNvSpPr/>
          <p:nvPr/>
        </p:nvSpPr>
        <p:spPr>
          <a:xfrm>
            <a:off x="6510154" y="318992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Additional product fields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D5181C1-FAA2-73E1-3D16-DFE8B10F001A}"/>
              </a:ext>
            </a:extLst>
          </p:cNvPr>
          <p:cNvSpPr/>
          <p:nvPr/>
        </p:nvSpPr>
        <p:spPr>
          <a:xfrm>
            <a:off x="9384813" y="3151541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 Behavior such as test methodology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E3906D9-D63B-4267-FECB-01B309A3AF7A}"/>
              </a:ext>
            </a:extLst>
          </p:cNvPr>
          <p:cNvSpPr/>
          <p:nvPr/>
        </p:nvSpPr>
        <p:spPr>
          <a:xfrm>
            <a:off x="3384791" y="5137391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Save product</a:t>
            </a:r>
          </a:p>
          <a:p>
            <a:pPr algn="ctr"/>
            <a:r>
              <a:rPr lang="en-US" dirty="0"/>
              <a:t>Creates Product ID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F844E2-5D74-9B4A-3685-552392CC00A5}"/>
              </a:ext>
            </a:extLst>
          </p:cNvPr>
          <p:cNvCxnSpPr>
            <a:stCxn id="3" idx="3"/>
            <a:endCxn id="25" idx="1"/>
          </p:cNvCxnSpPr>
          <p:nvPr/>
        </p:nvCxnSpPr>
        <p:spPr>
          <a:xfrm>
            <a:off x="3134087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E8B9B39-3D02-D573-D3D8-9CFB8E93E674}"/>
              </a:ext>
            </a:extLst>
          </p:cNvPr>
          <p:cNvCxnSpPr/>
          <p:nvPr/>
        </p:nvCxnSpPr>
        <p:spPr>
          <a:xfrm>
            <a:off x="600874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263BD33-3F6C-311E-1A6D-9296E2121460}"/>
              </a:ext>
            </a:extLst>
          </p:cNvPr>
          <p:cNvCxnSpPr/>
          <p:nvPr/>
        </p:nvCxnSpPr>
        <p:spPr>
          <a:xfrm>
            <a:off x="888340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FAA5AFEF-C0D0-08C0-E020-BDE6147902A5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rot="5400000">
            <a:off x="5806904" y="-1574606"/>
            <a:ext cx="844598" cy="868447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E8D8C48-001E-9BDF-C1B9-B343DBA1450B}"/>
              </a:ext>
            </a:extLst>
          </p:cNvPr>
          <p:cNvCxnSpPr/>
          <p:nvPr/>
        </p:nvCxnSpPr>
        <p:spPr>
          <a:xfrm>
            <a:off x="3134087" y="3712278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7FC5A39-88A8-0D23-66C6-DD0B72D36DE1}"/>
              </a:ext>
            </a:extLst>
          </p:cNvPr>
          <p:cNvCxnSpPr/>
          <p:nvPr/>
        </p:nvCxnSpPr>
        <p:spPr>
          <a:xfrm>
            <a:off x="6008745" y="3689011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2A37A5F-C022-C612-C526-907D2CAE8424}"/>
              </a:ext>
            </a:extLst>
          </p:cNvPr>
          <p:cNvCxnSpPr/>
          <p:nvPr/>
        </p:nvCxnSpPr>
        <p:spPr>
          <a:xfrm>
            <a:off x="8883405" y="3689011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4377E39A-5A9A-9717-BFBA-E98CF8181877}"/>
              </a:ext>
            </a:extLst>
          </p:cNvPr>
          <p:cNvCxnSpPr>
            <a:cxnSpLocks/>
            <a:stCxn id="31" idx="2"/>
            <a:endCxn id="44" idx="0"/>
          </p:cNvCxnSpPr>
          <p:nvPr/>
        </p:nvCxnSpPr>
        <p:spPr>
          <a:xfrm rot="5400000">
            <a:off x="5628185" y="194137"/>
            <a:ext cx="952788" cy="893372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13AB349-ADCF-FA04-B1A2-59DEC8056BE2}"/>
              </a:ext>
            </a:extLst>
          </p:cNvPr>
          <p:cNvSpPr/>
          <p:nvPr/>
        </p:nvSpPr>
        <p:spPr>
          <a:xfrm>
            <a:off x="451092" y="5137391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 execution methodologies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D913B29-F283-9D7E-1FB9-0CB3456A0841}"/>
              </a:ext>
            </a:extLst>
          </p:cNvPr>
          <p:cNvCxnSpPr>
            <a:cxnSpLocks/>
            <a:stCxn id="44" idx="3"/>
            <a:endCxn id="32" idx="1"/>
          </p:cNvCxnSpPr>
          <p:nvPr/>
        </p:nvCxnSpPr>
        <p:spPr>
          <a:xfrm>
            <a:off x="2824343" y="5653922"/>
            <a:ext cx="56044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A74B70-AFDC-F417-F91D-874C8AADAA03}"/>
              </a:ext>
            </a:extLst>
          </p:cNvPr>
          <p:cNvSpPr/>
          <p:nvPr/>
        </p:nvSpPr>
        <p:spPr>
          <a:xfrm>
            <a:off x="3680865" y="2139416"/>
            <a:ext cx="2282510" cy="4118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(Used as Context Source)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51E4A3-4C63-2D05-7C61-56A7CB95FC50}"/>
              </a:ext>
            </a:extLst>
          </p:cNvPr>
          <p:cNvSpPr/>
          <p:nvPr/>
        </p:nvSpPr>
        <p:spPr>
          <a:xfrm>
            <a:off x="745711" y="4118290"/>
            <a:ext cx="2282510" cy="4118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(Used as Context Source)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3813ED-2EE0-9A54-D81D-05140C649021}"/>
              </a:ext>
            </a:extLst>
          </p:cNvPr>
          <p:cNvSpPr/>
          <p:nvPr/>
        </p:nvSpPr>
        <p:spPr>
          <a:xfrm>
            <a:off x="3680865" y="4109566"/>
            <a:ext cx="2282510" cy="4118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(Used as Context Source)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421D8A-B1D6-EB65-5E21-5B7671502332}"/>
              </a:ext>
            </a:extLst>
          </p:cNvPr>
          <p:cNvSpPr/>
          <p:nvPr/>
        </p:nvSpPr>
        <p:spPr>
          <a:xfrm>
            <a:off x="6570647" y="4069431"/>
            <a:ext cx="2282510" cy="4118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(Used as Context Source)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90DC93-8F95-D337-D50B-0A43117A17C8}"/>
              </a:ext>
            </a:extLst>
          </p:cNvPr>
          <p:cNvSpPr/>
          <p:nvPr/>
        </p:nvSpPr>
        <p:spPr>
          <a:xfrm>
            <a:off x="9451707" y="4083393"/>
            <a:ext cx="2282510" cy="4118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(Used as Context Source)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57EB0C-71F8-FB25-1115-B3B39DC09824}"/>
              </a:ext>
            </a:extLst>
          </p:cNvPr>
          <p:cNvSpPr/>
          <p:nvPr/>
        </p:nvSpPr>
        <p:spPr>
          <a:xfrm>
            <a:off x="451092" y="6051792"/>
            <a:ext cx="2282510" cy="4118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(Used as Context Source)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022E26-8F22-1306-20C5-FA1B2A6E6D47}"/>
              </a:ext>
            </a:extLst>
          </p:cNvPr>
          <p:cNvSpPr/>
          <p:nvPr/>
        </p:nvSpPr>
        <p:spPr>
          <a:xfrm>
            <a:off x="9504565" y="5151352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Product added in Inactive state / appears as product card in application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C91CCE-2D34-A806-3AC1-9E6A4A49AA29}"/>
              </a:ext>
            </a:extLst>
          </p:cNvPr>
          <p:cNvCxnSpPr>
            <a:cxnSpLocks/>
            <a:stCxn id="23" idx="3"/>
            <a:endCxn id="10" idx="1"/>
          </p:cNvCxnSpPr>
          <p:nvPr/>
        </p:nvCxnSpPr>
        <p:spPr>
          <a:xfrm>
            <a:off x="8817929" y="5667883"/>
            <a:ext cx="6866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28B4E88-DED0-10CC-6FFD-1DC332339409}"/>
              </a:ext>
            </a:extLst>
          </p:cNvPr>
          <p:cNvSpPr/>
          <p:nvPr/>
        </p:nvSpPr>
        <p:spPr>
          <a:xfrm>
            <a:off x="6822516" y="95055"/>
            <a:ext cx="5011749" cy="737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This journey is actively saved while navigated in cache during the logged in session , if a user navigates back and forth during product Add, then information repopulates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5BCB4C-70F0-134F-46B7-DFE30BB41A24}"/>
              </a:ext>
            </a:extLst>
          </p:cNvPr>
          <p:cNvSpPr/>
          <p:nvPr/>
        </p:nvSpPr>
        <p:spPr>
          <a:xfrm>
            <a:off x="6824839" y="900454"/>
            <a:ext cx="5011749" cy="2408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Only one product can be activated in a </a:t>
            </a:r>
            <a:r>
              <a:rPr lang="en-US" sz="1400" dirty="0" err="1"/>
              <a:t>tennant</a:t>
            </a:r>
            <a:endParaRPr lang="en-US" sz="14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9CE3005-69EA-462A-B403-B3F2E9567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9</a:t>
            </a:fld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D462697-BBCD-5506-773F-3C3C98466BDA}"/>
              </a:ext>
            </a:extLst>
          </p:cNvPr>
          <p:cNvSpPr/>
          <p:nvPr/>
        </p:nvSpPr>
        <p:spPr>
          <a:xfrm>
            <a:off x="6444678" y="5151352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Sets up 360 memory for lifecycle and initial first prompt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0638E9C-CAFF-C8D0-41D1-5183A4DC28FF}"/>
              </a:ext>
            </a:extLst>
          </p:cNvPr>
          <p:cNvCxnSpPr>
            <a:cxnSpLocks/>
          </p:cNvCxnSpPr>
          <p:nvPr/>
        </p:nvCxnSpPr>
        <p:spPr>
          <a:xfrm>
            <a:off x="5752682" y="5653922"/>
            <a:ext cx="6866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435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243A-AC2E-780A-61C4-3AE8C2A16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3590A-8794-B2CB-1707-0E92F27D0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activation Workflow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C0D594F-93DA-2846-F9B7-8BE62FF08B2A}"/>
              </a:ext>
            </a:extLst>
          </p:cNvPr>
          <p:cNvSpPr/>
          <p:nvPr/>
        </p:nvSpPr>
        <p:spPr>
          <a:xfrm>
            <a:off x="760836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Existing product and product card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60A0150-7D00-4267-2D89-BC79EF6AF5BF}"/>
              </a:ext>
            </a:extLst>
          </p:cNvPr>
          <p:cNvSpPr/>
          <p:nvPr/>
        </p:nvSpPr>
        <p:spPr>
          <a:xfrm>
            <a:off x="3635495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Product gets activated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78CE27-55B5-4ADD-287B-F34D78B95B84}"/>
              </a:ext>
            </a:extLst>
          </p:cNvPr>
          <p:cNvSpPr/>
          <p:nvPr/>
        </p:nvSpPr>
        <p:spPr>
          <a:xfrm>
            <a:off x="6510154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Another product active?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280D587-7F6A-9170-3ADC-AC01FBC1922A}"/>
              </a:ext>
            </a:extLst>
          </p:cNvPr>
          <p:cNvSpPr/>
          <p:nvPr/>
        </p:nvSpPr>
        <p:spPr>
          <a:xfrm>
            <a:off x="9384813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8F11D76-CEF8-6A3B-3F33-8E89A4373284}"/>
              </a:ext>
            </a:extLst>
          </p:cNvPr>
          <p:cNvSpPr/>
          <p:nvPr/>
        </p:nvSpPr>
        <p:spPr>
          <a:xfrm>
            <a:off x="760835" y="2652462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Deactivates other product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2877D3F-7154-68BF-5D5F-38B98101B7B2}"/>
              </a:ext>
            </a:extLst>
          </p:cNvPr>
          <p:cNvSpPr/>
          <p:nvPr/>
        </p:nvSpPr>
        <p:spPr>
          <a:xfrm>
            <a:off x="3635492" y="2658853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Warning that other product will be deactivated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A3AB187-350F-DD24-0134-18BE4EC2B6DD}"/>
              </a:ext>
            </a:extLst>
          </p:cNvPr>
          <p:cNvSpPr/>
          <p:nvPr/>
        </p:nvSpPr>
        <p:spPr>
          <a:xfrm>
            <a:off x="6510153" y="2652462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FF5BC8D-331C-A343-3DFA-651B7DC18751}"/>
              </a:ext>
            </a:extLst>
          </p:cNvPr>
          <p:cNvSpPr/>
          <p:nvPr/>
        </p:nvSpPr>
        <p:spPr>
          <a:xfrm>
            <a:off x="9384812" y="3992070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 Product gets activated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80FF3D1-1948-E86A-2849-C537792ED530}"/>
              </a:ext>
            </a:extLst>
          </p:cNvPr>
          <p:cNvCxnSpPr>
            <a:stCxn id="3" idx="3"/>
            <a:endCxn id="25" idx="1"/>
          </p:cNvCxnSpPr>
          <p:nvPr/>
        </p:nvCxnSpPr>
        <p:spPr>
          <a:xfrm>
            <a:off x="3134087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460B613-50EF-9C60-0B34-71D2950516C2}"/>
              </a:ext>
            </a:extLst>
          </p:cNvPr>
          <p:cNvCxnSpPr/>
          <p:nvPr/>
        </p:nvCxnSpPr>
        <p:spPr>
          <a:xfrm>
            <a:off x="600874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E21BA87-C63E-57F8-D1FC-12C335C42503}"/>
              </a:ext>
            </a:extLst>
          </p:cNvPr>
          <p:cNvCxnSpPr/>
          <p:nvPr/>
        </p:nvCxnSpPr>
        <p:spPr>
          <a:xfrm>
            <a:off x="888340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BCCFCF7-00C0-CC01-FD50-238511566EEC}"/>
              </a:ext>
            </a:extLst>
          </p:cNvPr>
          <p:cNvCxnSpPr>
            <a:cxnSpLocks/>
            <a:stCxn id="26" idx="2"/>
            <a:endCxn id="30" idx="0"/>
          </p:cNvCxnSpPr>
          <p:nvPr/>
        </p:nvCxnSpPr>
        <p:spPr>
          <a:xfrm flipH="1">
            <a:off x="7696779" y="2345331"/>
            <a:ext cx="1" cy="3071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114D7A1-E5C3-F9CE-35E9-E1B2A3A11584}"/>
              </a:ext>
            </a:extLst>
          </p:cNvPr>
          <p:cNvCxnSpPr>
            <a:cxnSpLocks/>
            <a:stCxn id="27" idx="2"/>
            <a:endCxn id="31" idx="0"/>
          </p:cNvCxnSpPr>
          <p:nvPr/>
        </p:nvCxnSpPr>
        <p:spPr>
          <a:xfrm flipH="1">
            <a:off x="10571438" y="2345331"/>
            <a:ext cx="1" cy="16467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C08831A-513A-3E09-5528-488211EEFAC8}"/>
              </a:ext>
            </a:extLst>
          </p:cNvPr>
          <p:cNvSpPr/>
          <p:nvPr/>
        </p:nvSpPr>
        <p:spPr>
          <a:xfrm>
            <a:off x="7699108" y="539628"/>
            <a:ext cx="4137480" cy="619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Only one product can be activated in a tenant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9CC2D40-23D6-16DA-466E-EC095721C969}"/>
              </a:ext>
            </a:extLst>
          </p:cNvPr>
          <p:cNvSpPr/>
          <p:nvPr/>
        </p:nvSpPr>
        <p:spPr>
          <a:xfrm>
            <a:off x="806206" y="5465631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Badge appears on product card (Active)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4162312-0979-19FA-07A2-F5A8095690E5}"/>
              </a:ext>
            </a:extLst>
          </p:cNvPr>
          <p:cNvSpPr/>
          <p:nvPr/>
        </p:nvSpPr>
        <p:spPr>
          <a:xfrm>
            <a:off x="3680865" y="5415436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Badge appears on Header bar in application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487973C-C5E1-FE68-F5D2-601039996185}"/>
              </a:ext>
            </a:extLst>
          </p:cNvPr>
          <p:cNvSpPr/>
          <p:nvPr/>
        </p:nvSpPr>
        <p:spPr>
          <a:xfrm>
            <a:off x="760834" y="3964730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Deactivates any active projects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DE93D9C-6148-808C-E766-543B6DE91D46}"/>
              </a:ext>
            </a:extLst>
          </p:cNvPr>
          <p:cNvCxnSpPr>
            <a:cxnSpLocks/>
            <a:stCxn id="30" idx="1"/>
            <a:endCxn id="29" idx="3"/>
          </p:cNvCxnSpPr>
          <p:nvPr/>
        </p:nvCxnSpPr>
        <p:spPr>
          <a:xfrm flipH="1">
            <a:off x="6008743" y="3168993"/>
            <a:ext cx="501410" cy="63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216C106-DDD2-B973-AA66-BDC182D3F9A1}"/>
              </a:ext>
            </a:extLst>
          </p:cNvPr>
          <p:cNvCxnSpPr>
            <a:cxnSpLocks/>
            <a:stCxn id="29" idx="1"/>
            <a:endCxn id="28" idx="3"/>
          </p:cNvCxnSpPr>
          <p:nvPr/>
        </p:nvCxnSpPr>
        <p:spPr>
          <a:xfrm flipH="1" flipV="1">
            <a:off x="3134086" y="3168993"/>
            <a:ext cx="501406" cy="63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18E8FB9-DA08-D0F2-1355-A8EAB2CCC263}"/>
              </a:ext>
            </a:extLst>
          </p:cNvPr>
          <p:cNvCxnSpPr>
            <a:cxnSpLocks/>
          </p:cNvCxnSpPr>
          <p:nvPr/>
        </p:nvCxnSpPr>
        <p:spPr>
          <a:xfrm flipH="1">
            <a:off x="1895109" y="3684939"/>
            <a:ext cx="1" cy="3071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24033C0-4083-3E88-0737-718AA309DF2C}"/>
              </a:ext>
            </a:extLst>
          </p:cNvPr>
          <p:cNvCxnSpPr>
            <a:endCxn id="31" idx="1"/>
          </p:cNvCxnSpPr>
          <p:nvPr/>
        </p:nvCxnSpPr>
        <p:spPr>
          <a:xfrm>
            <a:off x="3179457" y="4508601"/>
            <a:ext cx="62053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28449037-C121-9B37-7266-0A7B1664EB5A}"/>
              </a:ext>
            </a:extLst>
          </p:cNvPr>
          <p:cNvCxnSpPr>
            <a:stCxn id="31" idx="2"/>
            <a:endCxn id="13" idx="0"/>
          </p:cNvCxnSpPr>
          <p:nvPr/>
        </p:nvCxnSpPr>
        <p:spPr>
          <a:xfrm rot="5400000">
            <a:off x="6061886" y="956078"/>
            <a:ext cx="440499" cy="857860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924A329-7784-E1BD-A508-C516D344D606}"/>
              </a:ext>
            </a:extLst>
          </p:cNvPr>
          <p:cNvCxnSpPr/>
          <p:nvPr/>
        </p:nvCxnSpPr>
        <p:spPr>
          <a:xfrm>
            <a:off x="3179457" y="5931967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BC899-87A5-A67A-24FB-F5439163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04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D2455-149E-C3CE-0BCD-B88D344A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9747D-F02C-F3D1-B85A-29818B59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Creation Workflow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A461FD7-66FC-A01A-D534-61382F01AD4B}"/>
              </a:ext>
            </a:extLst>
          </p:cNvPr>
          <p:cNvSpPr/>
          <p:nvPr/>
        </p:nvSpPr>
        <p:spPr>
          <a:xfrm>
            <a:off x="864377" y="2726324"/>
            <a:ext cx="2373251" cy="5517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Project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2E64C58-656A-6050-AC89-180CA63C87BF}"/>
              </a:ext>
            </a:extLst>
          </p:cNvPr>
          <p:cNvSpPr/>
          <p:nvPr/>
        </p:nvSpPr>
        <p:spPr>
          <a:xfrm>
            <a:off x="3739036" y="2726324"/>
            <a:ext cx="2373251" cy="5517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Name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D16F1A7-0F10-E372-F4D7-1A4EA6667610}"/>
              </a:ext>
            </a:extLst>
          </p:cNvPr>
          <p:cNvSpPr/>
          <p:nvPr/>
        </p:nvSpPr>
        <p:spPr>
          <a:xfrm>
            <a:off x="6613695" y="2729240"/>
            <a:ext cx="2373251" cy="5517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Description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562B6E6-3FAD-C24D-0B36-5130DBC11311}"/>
              </a:ext>
            </a:extLst>
          </p:cNvPr>
          <p:cNvSpPr/>
          <p:nvPr/>
        </p:nvSpPr>
        <p:spPr>
          <a:xfrm>
            <a:off x="3890272" y="4107728"/>
            <a:ext cx="2373251" cy="5517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Save Project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FEC52DD-BF87-ADC7-B20F-20C55D2DBCAE}"/>
              </a:ext>
            </a:extLst>
          </p:cNvPr>
          <p:cNvSpPr/>
          <p:nvPr/>
        </p:nvSpPr>
        <p:spPr>
          <a:xfrm>
            <a:off x="6636380" y="4068911"/>
            <a:ext cx="2373251" cy="6351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appears on project list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F7AAF2F-5A6C-AC22-5853-AD08469C123C}"/>
              </a:ext>
            </a:extLst>
          </p:cNvPr>
          <p:cNvSpPr/>
          <p:nvPr/>
        </p:nvSpPr>
        <p:spPr>
          <a:xfrm>
            <a:off x="9566303" y="4079080"/>
            <a:ext cx="2373251" cy="6090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is default inactive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1F63A02-50D9-3EDC-1CFA-9B47766B2C1C}"/>
              </a:ext>
            </a:extLst>
          </p:cNvPr>
          <p:cNvCxnSpPr>
            <a:cxnSpLocks/>
            <a:stCxn id="3" idx="3"/>
            <a:endCxn id="25" idx="1"/>
          </p:cNvCxnSpPr>
          <p:nvPr/>
        </p:nvCxnSpPr>
        <p:spPr>
          <a:xfrm>
            <a:off x="3237628" y="3002187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C0D22A4-0BA3-38BD-E19E-D00C0803CCA9}"/>
              </a:ext>
            </a:extLst>
          </p:cNvPr>
          <p:cNvCxnSpPr/>
          <p:nvPr/>
        </p:nvCxnSpPr>
        <p:spPr>
          <a:xfrm>
            <a:off x="6134972" y="3002186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71DE75-4E66-4593-57E1-98273160DEB6}"/>
              </a:ext>
            </a:extLst>
          </p:cNvPr>
          <p:cNvCxnSpPr/>
          <p:nvPr/>
        </p:nvCxnSpPr>
        <p:spPr>
          <a:xfrm>
            <a:off x="8986946" y="3002186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85C5D46-D6A1-F492-6D9E-BA441E682D50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9009631" y="4383592"/>
            <a:ext cx="556672" cy="29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D0255AE-29EC-A0A3-8486-BC7142D4805D}"/>
              </a:ext>
            </a:extLst>
          </p:cNvPr>
          <p:cNvSpPr/>
          <p:nvPr/>
        </p:nvSpPr>
        <p:spPr>
          <a:xfrm>
            <a:off x="6659065" y="365125"/>
            <a:ext cx="5011749" cy="737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Only one project can be active under an activated product at any given time.  Only one product can be activated in any tenant.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246786B-0755-0B62-F127-EFCF14C78FE2}"/>
              </a:ext>
            </a:extLst>
          </p:cNvPr>
          <p:cNvSpPr/>
          <p:nvPr/>
        </p:nvSpPr>
        <p:spPr>
          <a:xfrm>
            <a:off x="6659065" y="3158808"/>
            <a:ext cx="2282510" cy="4118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(Used as Context Source)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3B70E0-5232-2442-97C1-1EE2A4BF97D8}"/>
              </a:ext>
            </a:extLst>
          </p:cNvPr>
          <p:cNvSpPr/>
          <p:nvPr/>
        </p:nvSpPr>
        <p:spPr>
          <a:xfrm>
            <a:off x="9465669" y="2484262"/>
            <a:ext cx="2373251" cy="94473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Orchestrator generated mission shows here {</a:t>
            </a:r>
            <a:r>
              <a:rPr lang="en-US" dirty="0" err="1"/>
              <a:t>if_exist</a:t>
            </a:r>
            <a:r>
              <a:rPr lang="en-US" dirty="0"/>
              <a:t>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34958A3-5A03-1144-9E26-1DFC194F43D4}"/>
              </a:ext>
            </a:extLst>
          </p:cNvPr>
          <p:cNvSpPr/>
          <p:nvPr/>
        </p:nvSpPr>
        <p:spPr>
          <a:xfrm>
            <a:off x="9465669" y="1260040"/>
            <a:ext cx="2373251" cy="94473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This is the same </a:t>
            </a:r>
            <a:r>
              <a:rPr lang="en-US" sz="1400" dirty="0" err="1"/>
              <a:t>vue</a:t>
            </a:r>
            <a:r>
              <a:rPr lang="en-US" sz="1400" dirty="0"/>
              <a:t> component for editing existing projects this is why this appears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CB4C50-D316-9DBB-2231-4A213D68F189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flipV="1">
            <a:off x="10652295" y="2204777"/>
            <a:ext cx="0" cy="2794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DAE13FF-A0F2-9959-CD22-A1C2FBF0739D}"/>
              </a:ext>
            </a:extLst>
          </p:cNvPr>
          <p:cNvSpPr/>
          <p:nvPr/>
        </p:nvSpPr>
        <p:spPr>
          <a:xfrm>
            <a:off x="960349" y="4107727"/>
            <a:ext cx="2373251" cy="5517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Context Budget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A98F5B-7A5D-8E4B-696F-15D5050BA5A8}"/>
              </a:ext>
            </a:extLst>
          </p:cNvPr>
          <p:cNvSpPr/>
          <p:nvPr/>
        </p:nvSpPr>
        <p:spPr>
          <a:xfrm>
            <a:off x="845177" y="5142092"/>
            <a:ext cx="3606023" cy="147270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This value is yet to be determined for its use, I suggest it is an informative value that gets inserted into orchestrator launch prompt as instructions to define context space in tokens before a sessions expires. But this is hard to </a:t>
            </a:r>
            <a:r>
              <a:rPr lang="en-US" sz="1400" dirty="0" err="1"/>
              <a:t>enfoce</a:t>
            </a:r>
            <a:r>
              <a:rPr lang="en-US" sz="1400" dirty="0"/>
              <a:t> so need to think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2E75195-60EB-4A73-4750-048F4B8BC511}"/>
              </a:ext>
            </a:extLst>
          </p:cNvPr>
          <p:cNvCxnSpPr>
            <a:cxnSpLocks/>
            <a:stCxn id="30" idx="2"/>
            <a:endCxn id="4" idx="0"/>
          </p:cNvCxnSpPr>
          <p:nvPr/>
        </p:nvCxnSpPr>
        <p:spPr>
          <a:xfrm>
            <a:off x="2146975" y="4659452"/>
            <a:ext cx="501214" cy="4826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5A7033-8DC5-749F-20C6-F1BE2FEFABDA}"/>
              </a:ext>
            </a:extLst>
          </p:cNvPr>
          <p:cNvSpPr/>
          <p:nvPr/>
        </p:nvSpPr>
        <p:spPr>
          <a:xfrm>
            <a:off x="5153017" y="5157729"/>
            <a:ext cx="3606023" cy="147270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More definition here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31C621-A240-5690-2193-095B4147B584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4451200" y="5878444"/>
            <a:ext cx="701817" cy="156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6110C01-E4E0-6F56-7B95-5F669AEC1964}"/>
              </a:ext>
            </a:extLst>
          </p:cNvPr>
          <p:cNvCxnSpPr>
            <a:cxnSpLocks/>
            <a:stCxn id="30" idx="3"/>
            <a:endCxn id="27" idx="1"/>
          </p:cNvCxnSpPr>
          <p:nvPr/>
        </p:nvCxnSpPr>
        <p:spPr>
          <a:xfrm>
            <a:off x="3333600" y="4383590"/>
            <a:ext cx="556672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10D7575-52EA-BE7F-708C-335F94F78FB6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6263523" y="4383591"/>
            <a:ext cx="372857" cy="29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627F2A17-B183-C273-AB51-AC8FD466BF17}"/>
              </a:ext>
            </a:extLst>
          </p:cNvPr>
          <p:cNvCxnSpPr>
            <a:cxnSpLocks/>
            <a:stCxn id="13" idx="2"/>
            <a:endCxn id="30" idx="0"/>
          </p:cNvCxnSpPr>
          <p:nvPr/>
        </p:nvCxnSpPr>
        <p:spPr>
          <a:xfrm rot="5400000">
            <a:off x="6060271" y="-484297"/>
            <a:ext cx="678728" cy="85053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614D4DBF-7D62-A245-588D-EED199AE6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10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602E2-FE67-0989-211E-B8B45A29F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435B-D730-095D-936E-323D256C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Modification overview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C4B846D-8CE0-A9D4-D666-93FF080F261E}"/>
              </a:ext>
            </a:extLst>
          </p:cNvPr>
          <p:cNvSpPr/>
          <p:nvPr/>
        </p:nvSpPr>
        <p:spPr>
          <a:xfrm>
            <a:off x="3321324" y="3315376"/>
            <a:ext cx="2373251" cy="767785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Project can be inactive, deleted, canceled, activated and completed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A8E9D6A-BE84-6EC2-6957-6CA03DF97670}"/>
              </a:ext>
            </a:extLst>
          </p:cNvPr>
          <p:cNvSpPr/>
          <p:nvPr/>
        </p:nvSpPr>
        <p:spPr>
          <a:xfrm>
            <a:off x="1688775" y="1434123"/>
            <a:ext cx="2373251" cy="425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can be edited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3338FE8-62B6-F97B-612B-F20CF1E6084F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4062026" y="1634171"/>
            <a:ext cx="634191" cy="125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0BD2CE-568F-A8FD-1851-3C1DE89427B0}"/>
              </a:ext>
            </a:extLst>
          </p:cNvPr>
          <p:cNvSpPr/>
          <p:nvPr/>
        </p:nvSpPr>
        <p:spPr>
          <a:xfrm>
            <a:off x="838200" y="3282488"/>
            <a:ext cx="2124291" cy="8335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Deleted projects are soft deleted with 10 days expiry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6D07F2-1C44-4C71-2460-BF102E32A261}"/>
              </a:ext>
            </a:extLst>
          </p:cNvPr>
          <p:cNvCxnSpPr>
            <a:cxnSpLocks/>
            <a:stCxn id="32" idx="1"/>
            <a:endCxn id="10" idx="3"/>
          </p:cNvCxnSpPr>
          <p:nvPr/>
        </p:nvCxnSpPr>
        <p:spPr>
          <a:xfrm flipH="1">
            <a:off x="2962491" y="3699269"/>
            <a:ext cx="3588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BD8E14-7218-5987-2F90-9FCB023F7B76}"/>
              </a:ext>
            </a:extLst>
          </p:cNvPr>
          <p:cNvSpPr/>
          <p:nvPr/>
        </p:nvSpPr>
        <p:spPr>
          <a:xfrm>
            <a:off x="6123924" y="4994930"/>
            <a:ext cx="2373251" cy="663495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Dynamic link is created for Jobs page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18323AA-742A-59AE-5A56-2B64BCBB1923}"/>
              </a:ext>
            </a:extLst>
          </p:cNvPr>
          <p:cNvSpPr/>
          <p:nvPr/>
        </p:nvSpPr>
        <p:spPr>
          <a:xfrm>
            <a:off x="145002" y="5093300"/>
            <a:ext cx="1543773" cy="6634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gets activated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C67D1C8-3E97-E6F9-E9DC-3F8D5877AE8D}"/>
              </a:ext>
            </a:extLst>
          </p:cNvPr>
          <p:cNvSpPr/>
          <p:nvPr/>
        </p:nvSpPr>
        <p:spPr>
          <a:xfrm>
            <a:off x="9013722" y="4746504"/>
            <a:ext cx="2957254" cy="15896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Navigation to jobs page from project list [Launch Project] button or sidebar jobs link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59C39D3-2874-87FD-9383-5BFBAB626110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>
            <a:off x="8497175" y="5326678"/>
            <a:ext cx="516547" cy="2146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DE870D9-7219-8157-1A3A-6ED8415B4A9F}"/>
              </a:ext>
            </a:extLst>
          </p:cNvPr>
          <p:cNvSpPr/>
          <p:nvPr/>
        </p:nvSpPr>
        <p:spPr>
          <a:xfrm>
            <a:off x="7203518" y="365125"/>
            <a:ext cx="4467296" cy="737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Only one project can be active under an activated product at any given time.  Only one product can be activated in any tenant.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94B0624-49D9-7AF6-C6B1-B90757CB4CAB}"/>
              </a:ext>
            </a:extLst>
          </p:cNvPr>
          <p:cNvSpPr/>
          <p:nvPr/>
        </p:nvSpPr>
        <p:spPr>
          <a:xfrm>
            <a:off x="5052171" y="2287283"/>
            <a:ext cx="6618643" cy="8521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Cancelled, Completed and Deactivated projects keep all data (Mission, Agents, Messages, </a:t>
            </a:r>
            <a:r>
              <a:rPr lang="en-US" sz="1400" dirty="0" err="1"/>
              <a:t>etc</a:t>
            </a:r>
            <a:r>
              <a:rPr lang="en-US" sz="1400" dirty="0"/>
              <a:t> ) for future activation or re-activation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772A4D47-2195-ABEA-925F-AB881A821BBA}"/>
              </a:ext>
            </a:extLst>
          </p:cNvPr>
          <p:cNvCxnSpPr>
            <a:cxnSpLocks/>
            <a:stCxn id="32" idx="2"/>
            <a:endCxn id="16" idx="0"/>
          </p:cNvCxnSpPr>
          <p:nvPr/>
        </p:nvCxnSpPr>
        <p:spPr>
          <a:xfrm rot="5400000">
            <a:off x="2207351" y="2792700"/>
            <a:ext cx="1010139" cy="35910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B5BE9843-36C1-62B5-8EA3-22EA0FA32C37}"/>
              </a:ext>
            </a:extLst>
          </p:cNvPr>
          <p:cNvSpPr/>
          <p:nvPr/>
        </p:nvSpPr>
        <p:spPr>
          <a:xfrm>
            <a:off x="2124888" y="5014688"/>
            <a:ext cx="1202910" cy="8207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Already active project?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CE17CA3-7BCF-A792-88DF-1474DDC7D651}"/>
              </a:ext>
            </a:extLst>
          </p:cNvPr>
          <p:cNvSpPr/>
          <p:nvPr/>
        </p:nvSpPr>
        <p:spPr>
          <a:xfrm>
            <a:off x="2290229" y="6025159"/>
            <a:ext cx="872227" cy="4677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A1B0FCE-FB4B-D724-BBFC-65095C000009}"/>
              </a:ext>
            </a:extLst>
          </p:cNvPr>
          <p:cNvSpPr/>
          <p:nvPr/>
        </p:nvSpPr>
        <p:spPr>
          <a:xfrm>
            <a:off x="3963437" y="4883833"/>
            <a:ext cx="872227" cy="39783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</a:p>
        </p:txBody>
      </p: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306726C4-C9B8-D807-4052-AB6B96E92A2C}"/>
              </a:ext>
            </a:extLst>
          </p:cNvPr>
          <p:cNvCxnSpPr>
            <a:cxnSpLocks/>
            <a:stCxn id="65" idx="3"/>
            <a:endCxn id="15" idx="1"/>
          </p:cNvCxnSpPr>
          <p:nvPr/>
        </p:nvCxnSpPr>
        <p:spPr>
          <a:xfrm>
            <a:off x="4835664" y="5082751"/>
            <a:ext cx="1288260" cy="24392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37B4CB74-DE5E-C774-2C49-1B4DBEC0CE3F}"/>
              </a:ext>
            </a:extLst>
          </p:cNvPr>
          <p:cNvSpPr/>
          <p:nvPr/>
        </p:nvSpPr>
        <p:spPr>
          <a:xfrm>
            <a:off x="3480193" y="5548647"/>
            <a:ext cx="1571978" cy="11562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Current active project is deactivated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0202482C-ADE1-E5E3-26A1-14114042258E}"/>
              </a:ext>
            </a:extLst>
          </p:cNvPr>
          <p:cNvSpPr/>
          <p:nvPr/>
        </p:nvSpPr>
        <p:spPr>
          <a:xfrm>
            <a:off x="6258653" y="5974609"/>
            <a:ext cx="2103792" cy="7231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 Project gets activated</a:t>
            </a: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3CCBF17E-35B0-4603-989D-DA0936006FBA}"/>
              </a:ext>
            </a:extLst>
          </p:cNvPr>
          <p:cNvCxnSpPr>
            <a:cxnSpLocks/>
            <a:stCxn id="99" idx="3"/>
            <a:endCxn id="100" idx="1"/>
          </p:cNvCxnSpPr>
          <p:nvPr/>
        </p:nvCxnSpPr>
        <p:spPr>
          <a:xfrm>
            <a:off x="5052171" y="6126769"/>
            <a:ext cx="1206482" cy="20939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C91B57A-C619-9D4B-6C7E-59F28E4DCCF0}"/>
              </a:ext>
            </a:extLst>
          </p:cNvPr>
          <p:cNvCxnSpPr>
            <a:cxnSpLocks/>
            <a:stCxn id="100" idx="0"/>
            <a:endCxn id="15" idx="2"/>
          </p:cNvCxnSpPr>
          <p:nvPr/>
        </p:nvCxnSpPr>
        <p:spPr>
          <a:xfrm flipV="1">
            <a:off x="7310549" y="5658425"/>
            <a:ext cx="1" cy="3161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0FA84D6-E180-694D-5070-6FC0F76337F1}"/>
              </a:ext>
            </a:extLst>
          </p:cNvPr>
          <p:cNvCxnSpPr>
            <a:cxnSpLocks/>
            <a:stCxn id="63" idx="3"/>
            <a:endCxn id="99" idx="1"/>
          </p:cNvCxnSpPr>
          <p:nvPr/>
        </p:nvCxnSpPr>
        <p:spPr>
          <a:xfrm flipV="1">
            <a:off x="3162456" y="6126769"/>
            <a:ext cx="317737" cy="1322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3AF95E25-D75A-CC69-D945-EBB7966F970C}"/>
              </a:ext>
            </a:extLst>
          </p:cNvPr>
          <p:cNvCxnSpPr>
            <a:cxnSpLocks/>
            <a:stCxn id="62" idx="2"/>
            <a:endCxn id="63" idx="0"/>
          </p:cNvCxnSpPr>
          <p:nvPr/>
        </p:nvCxnSpPr>
        <p:spPr>
          <a:xfrm>
            <a:off x="2726343" y="5835408"/>
            <a:ext cx="0" cy="1897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CBACD46-7505-90DC-D85C-C54A83271811}"/>
              </a:ext>
            </a:extLst>
          </p:cNvPr>
          <p:cNvCxnSpPr>
            <a:cxnSpLocks/>
            <a:stCxn id="62" idx="3"/>
            <a:endCxn id="65" idx="1"/>
          </p:cNvCxnSpPr>
          <p:nvPr/>
        </p:nvCxnSpPr>
        <p:spPr>
          <a:xfrm flipV="1">
            <a:off x="3327798" y="5082751"/>
            <a:ext cx="635639" cy="3422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134BE46-E4EF-FA20-448C-6A423C3C8FC5}"/>
              </a:ext>
            </a:extLst>
          </p:cNvPr>
          <p:cNvCxnSpPr>
            <a:cxnSpLocks/>
            <a:stCxn id="16" idx="3"/>
            <a:endCxn id="62" idx="1"/>
          </p:cNvCxnSpPr>
          <p:nvPr/>
        </p:nvCxnSpPr>
        <p:spPr>
          <a:xfrm>
            <a:off x="1688775" y="5425048"/>
            <a:ext cx="4361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4117D7-1835-EA71-65F9-8E276AF9DF23}"/>
              </a:ext>
            </a:extLst>
          </p:cNvPr>
          <p:cNvSpPr/>
          <p:nvPr/>
        </p:nvSpPr>
        <p:spPr>
          <a:xfrm>
            <a:off x="4696217" y="1452546"/>
            <a:ext cx="4317505" cy="6589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Opens same </a:t>
            </a:r>
            <a:r>
              <a:rPr lang="en-US" dirty="0" err="1"/>
              <a:t>vue</a:t>
            </a:r>
            <a:r>
              <a:rPr lang="en-US" dirty="0"/>
              <a:t> component as [+ Create Project] for editing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EC50A40-5645-3B7E-8100-DB740202F222}"/>
              </a:ext>
            </a:extLst>
          </p:cNvPr>
          <p:cNvSpPr/>
          <p:nvPr/>
        </p:nvSpPr>
        <p:spPr>
          <a:xfrm>
            <a:off x="6093223" y="3446575"/>
            <a:ext cx="4536537" cy="8521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dk1"/>
                </a:solidFill>
              </a:rPr>
              <a:t>System keeps unique link </a:t>
            </a:r>
            <a:r>
              <a:rPr lang="en-US" sz="1400" dirty="0"/>
              <a:t>created </a:t>
            </a:r>
            <a:r>
              <a:rPr lang="en-US" sz="1400" dirty="0">
                <a:solidFill>
                  <a:schemeClr val="dk1"/>
                </a:solidFill>
              </a:rPr>
              <a:t>but de-couples from [Launch project] button and jobs navigation on left sidebar with any of these status changes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045E462E-2C3C-3B67-12D8-EA032AFC4C43}"/>
              </a:ext>
            </a:extLst>
          </p:cNvPr>
          <p:cNvCxnSpPr>
            <a:cxnSpLocks/>
            <a:stCxn id="32" idx="0"/>
            <a:endCxn id="23" idx="1"/>
          </p:cNvCxnSpPr>
          <p:nvPr/>
        </p:nvCxnSpPr>
        <p:spPr>
          <a:xfrm rot="5400000" flipH="1" flipV="1">
            <a:off x="4479053" y="2742259"/>
            <a:ext cx="602014" cy="54422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3FADB96-B730-4CEC-FD1B-1AA34E1A6D07}"/>
              </a:ext>
            </a:extLst>
          </p:cNvPr>
          <p:cNvCxnSpPr>
            <a:cxnSpLocks/>
            <a:stCxn id="23" idx="2"/>
            <a:endCxn id="40" idx="0"/>
          </p:cNvCxnSpPr>
          <p:nvPr/>
        </p:nvCxnSpPr>
        <p:spPr>
          <a:xfrm flipH="1">
            <a:off x="8361492" y="3139441"/>
            <a:ext cx="1" cy="3071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3906AC2A-4E49-6507-C00F-4925336F1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40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C655E-2FA9-7A0B-5A6D-B1700561D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33E44-D7EA-D454-BB32-22AD05A1B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Task Workflow overview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412DF82-A1CD-5148-3DAA-5975CF6BF38A}"/>
              </a:ext>
            </a:extLst>
          </p:cNvPr>
          <p:cNvSpPr/>
          <p:nvPr/>
        </p:nvSpPr>
        <p:spPr>
          <a:xfrm>
            <a:off x="760836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Task from web application, are unique to </a:t>
            </a:r>
            <a:r>
              <a:rPr lang="en-US" dirty="0" err="1"/>
              <a:t>tennant</a:t>
            </a:r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00484F5-C3D2-0D5F-B420-ABECF2C08234}"/>
              </a:ext>
            </a:extLst>
          </p:cNvPr>
          <p:cNvSpPr/>
          <p:nvPr/>
        </p:nvSpPr>
        <p:spPr>
          <a:xfrm>
            <a:off x="3520031" y="1309657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Task name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DB47DAB-5852-A821-0B20-CE366FA01148}"/>
              </a:ext>
            </a:extLst>
          </p:cNvPr>
          <p:cNvSpPr/>
          <p:nvPr/>
        </p:nvSpPr>
        <p:spPr>
          <a:xfrm>
            <a:off x="6510154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Task Settings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264045E-4E22-0BF2-708C-01352925B7D8}"/>
              </a:ext>
            </a:extLst>
          </p:cNvPr>
          <p:cNvSpPr/>
          <p:nvPr/>
        </p:nvSpPr>
        <p:spPr>
          <a:xfrm>
            <a:off x="9384813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Status / Priority/ Description / Convert / date created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5A55EC2-8CF0-3FE6-5384-5550DE6987FE}"/>
              </a:ext>
            </a:extLst>
          </p:cNvPr>
          <p:cNvSpPr/>
          <p:nvPr/>
        </p:nvSpPr>
        <p:spPr>
          <a:xfrm>
            <a:off x="758210" y="4265317"/>
            <a:ext cx="2373251" cy="6741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Shows on Task List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DB37CDC-5A77-389F-C4FE-A3F59122B795}"/>
              </a:ext>
            </a:extLst>
          </p:cNvPr>
          <p:cNvSpPr/>
          <p:nvPr/>
        </p:nvSpPr>
        <p:spPr>
          <a:xfrm>
            <a:off x="6880974" y="2847900"/>
            <a:ext cx="2373251" cy="166788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Tasks can only be converted to projects to an / when a product is activated 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1635D41-F657-D6ED-8F71-8996DFCB8B83}"/>
              </a:ext>
            </a:extLst>
          </p:cNvPr>
          <p:cNvSpPr/>
          <p:nvPr/>
        </p:nvSpPr>
        <p:spPr>
          <a:xfrm>
            <a:off x="656710" y="5298378"/>
            <a:ext cx="2373251" cy="103306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Tasks can be Completed, deleted, and …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B2508C3-E234-5E77-E350-D45AC89CACFE}"/>
              </a:ext>
            </a:extLst>
          </p:cNvPr>
          <p:cNvCxnSpPr>
            <a:cxnSpLocks/>
            <a:stCxn id="3" idx="3"/>
            <a:endCxn id="25" idx="1"/>
          </p:cNvCxnSpPr>
          <p:nvPr/>
        </p:nvCxnSpPr>
        <p:spPr>
          <a:xfrm flipV="1">
            <a:off x="3134087" y="1826188"/>
            <a:ext cx="385944" cy="26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CDF3982-3CD8-2987-BB12-974B2FE0A804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>
            <a:off x="5893282" y="1826188"/>
            <a:ext cx="616872" cy="26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A0FA523-0E3B-1700-FD83-0485EEA69D5B}"/>
              </a:ext>
            </a:extLst>
          </p:cNvPr>
          <p:cNvCxnSpPr/>
          <p:nvPr/>
        </p:nvCxnSpPr>
        <p:spPr>
          <a:xfrm>
            <a:off x="888340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796F67BC-C836-8534-7994-B69486E94429}"/>
              </a:ext>
            </a:extLst>
          </p:cNvPr>
          <p:cNvCxnSpPr>
            <a:cxnSpLocks/>
            <a:stCxn id="27" idx="2"/>
            <a:endCxn id="5" idx="0"/>
          </p:cNvCxnSpPr>
          <p:nvPr/>
        </p:nvCxnSpPr>
        <p:spPr>
          <a:xfrm rot="5400000">
            <a:off x="5952134" y="-1661966"/>
            <a:ext cx="612008" cy="86266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5469D05-9B60-3EEA-6892-F9FC236E4C44}"/>
              </a:ext>
            </a:extLst>
          </p:cNvPr>
          <p:cNvSpPr/>
          <p:nvPr/>
        </p:nvSpPr>
        <p:spPr>
          <a:xfrm>
            <a:off x="6659065" y="365125"/>
            <a:ext cx="5011749" cy="737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Tasks created with active product get NULL tag and show up for all products or no products active.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DE59B46-7332-7120-5832-E4688D80870B}"/>
              </a:ext>
            </a:extLst>
          </p:cNvPr>
          <p:cNvSpPr/>
          <p:nvPr/>
        </p:nvSpPr>
        <p:spPr>
          <a:xfrm>
            <a:off x="3722749" y="2838369"/>
            <a:ext cx="2373251" cy="1838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NULL tagged tasks show up when no product is activated or when any product is activated, but still unique to tenant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D8E0A8C-B4CA-9F3C-A4CA-2FB8DBF2D5CF}"/>
              </a:ext>
            </a:extLst>
          </p:cNvPr>
          <p:cNvSpPr/>
          <p:nvPr/>
        </p:nvSpPr>
        <p:spPr>
          <a:xfrm>
            <a:off x="656710" y="2957339"/>
            <a:ext cx="2576252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Tasks which are created with no active product get NULL tag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AA3AD1A-FC3D-06ED-7E39-BC222AF9363D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3232962" y="3473870"/>
            <a:ext cx="489787" cy="2836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F01F8C3-B08B-90A7-BFE4-36A90FF87F96}"/>
              </a:ext>
            </a:extLst>
          </p:cNvPr>
          <p:cNvSpPr/>
          <p:nvPr/>
        </p:nvSpPr>
        <p:spPr>
          <a:xfrm>
            <a:off x="9637547" y="317341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Tasks converted to projects are inactive by default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005C81A-F853-AC4C-F6EE-9EDD13E47B12}"/>
              </a:ext>
            </a:extLst>
          </p:cNvPr>
          <p:cNvCxnSpPr>
            <a:cxnSpLocks/>
            <a:stCxn id="23" idx="3"/>
            <a:endCxn id="29" idx="1"/>
          </p:cNvCxnSpPr>
          <p:nvPr/>
        </p:nvCxnSpPr>
        <p:spPr>
          <a:xfrm flipV="1">
            <a:off x="6096000" y="3681844"/>
            <a:ext cx="784974" cy="756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2B8A5AE-6B10-F93F-CC62-C0B9C059112D}"/>
              </a:ext>
            </a:extLst>
          </p:cNvPr>
          <p:cNvCxnSpPr>
            <a:cxnSpLocks/>
            <a:stCxn id="29" idx="3"/>
            <a:endCxn id="66" idx="1"/>
          </p:cNvCxnSpPr>
          <p:nvPr/>
        </p:nvCxnSpPr>
        <p:spPr>
          <a:xfrm>
            <a:off x="9254225" y="3681844"/>
            <a:ext cx="383322" cy="81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28C0BAC-ABA5-2F70-A13A-FF2E5723FE0D}"/>
              </a:ext>
            </a:extLst>
          </p:cNvPr>
          <p:cNvCxnSpPr>
            <a:cxnSpLocks/>
            <a:stCxn id="5" idx="2"/>
            <a:endCxn id="28" idx="0"/>
          </p:cNvCxnSpPr>
          <p:nvPr/>
        </p:nvCxnSpPr>
        <p:spPr>
          <a:xfrm>
            <a:off x="1944836" y="3990401"/>
            <a:ext cx="0" cy="2749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CAD2C323-89A2-C4DB-95D2-7FE161ECB55D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1843336" y="4939500"/>
            <a:ext cx="101500" cy="3588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E4D5157E-56F8-6223-E8A9-948DAEB4A9CE}"/>
              </a:ext>
            </a:extLst>
          </p:cNvPr>
          <p:cNvSpPr/>
          <p:nvPr/>
        </p:nvSpPr>
        <p:spPr>
          <a:xfrm>
            <a:off x="3984503" y="511893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Task slash command in terminal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80E506A8-8AF5-CC90-39BB-30D3CA7E9C33}"/>
              </a:ext>
            </a:extLst>
          </p:cNvPr>
          <p:cNvSpPr/>
          <p:nvPr/>
        </p:nvSpPr>
        <p:spPr>
          <a:xfrm>
            <a:off x="6880974" y="5118939"/>
            <a:ext cx="3093664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Dumps into task list with randomized Name and user written / pasted content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6E8F667A-4895-A0D6-9618-9A92C8B9CEA4}"/>
              </a:ext>
            </a:extLst>
          </p:cNvPr>
          <p:cNvCxnSpPr>
            <a:cxnSpLocks/>
            <a:stCxn id="111" idx="3"/>
            <a:endCxn id="112" idx="1"/>
          </p:cNvCxnSpPr>
          <p:nvPr/>
        </p:nvCxnSpPr>
        <p:spPr>
          <a:xfrm>
            <a:off x="6357754" y="5635470"/>
            <a:ext cx="5232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488329A1-FAA7-BE58-F0CA-86C57240DBFB}"/>
              </a:ext>
            </a:extLst>
          </p:cNvPr>
          <p:cNvSpPr/>
          <p:nvPr/>
        </p:nvSpPr>
        <p:spPr>
          <a:xfrm>
            <a:off x="10497858" y="5118939"/>
            <a:ext cx="1451873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settings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2B51608-AA44-3199-B8DA-07839C94DFE2}"/>
              </a:ext>
            </a:extLst>
          </p:cNvPr>
          <p:cNvCxnSpPr>
            <a:cxnSpLocks/>
            <a:stCxn id="112" idx="3"/>
            <a:endCxn id="117" idx="1"/>
          </p:cNvCxnSpPr>
          <p:nvPr/>
        </p:nvCxnSpPr>
        <p:spPr>
          <a:xfrm>
            <a:off x="9974638" y="5635470"/>
            <a:ext cx="5232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78F4B-658A-EF14-B6FB-48BCC7D64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93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09D18-C506-2D05-DF8C-CAEF2F05C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25BB6-2149-F86E-CAA4-3792A8955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Agents Workflow overview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A9E7CD5-35C2-3BA0-919F-D4823A1A1C9E}"/>
              </a:ext>
            </a:extLst>
          </p:cNvPr>
          <p:cNvSpPr/>
          <p:nvPr/>
        </p:nvSpPr>
        <p:spPr>
          <a:xfrm>
            <a:off x="55841" y="1044688"/>
            <a:ext cx="3078247" cy="130064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Included Agents get seeded during application installation, but are unique to each tenant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92A95EC-63DF-7761-51D9-1CACE049A633}"/>
              </a:ext>
            </a:extLst>
          </p:cNvPr>
          <p:cNvSpPr/>
          <p:nvPr/>
        </p:nvSpPr>
        <p:spPr>
          <a:xfrm>
            <a:off x="3635495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Orchestrator Agent protected (see red box)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9F57AA2-628E-7B66-927C-7A19503E7F07}"/>
              </a:ext>
            </a:extLst>
          </p:cNvPr>
          <p:cNvSpPr/>
          <p:nvPr/>
        </p:nvSpPr>
        <p:spPr>
          <a:xfrm>
            <a:off x="6510154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agents are enabled in Agent Template Manager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6883BFD-E5E6-543B-D948-312F3ED6873A}"/>
              </a:ext>
            </a:extLst>
          </p:cNvPr>
          <p:cNvSpPr/>
          <p:nvPr/>
        </p:nvSpPr>
        <p:spPr>
          <a:xfrm>
            <a:off x="9384813" y="1312268"/>
            <a:ext cx="2373251" cy="14507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Enabled Agents have their Claude code CLI *.md templates created and staged on server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0E854CE-8858-AB19-5901-2B0D4A682B85}"/>
              </a:ext>
            </a:extLst>
          </p:cNvPr>
          <p:cNvSpPr/>
          <p:nvPr/>
        </p:nvSpPr>
        <p:spPr>
          <a:xfrm>
            <a:off x="160545" y="2508210"/>
            <a:ext cx="2918278" cy="216151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Staged agent templates are used during Agent import function (prompt copy from web interface with tokenized {time out} link) into Claude code cli to fetch Zip and install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316DD8F-39E3-1361-9901-1A34DC433F04}"/>
              </a:ext>
            </a:extLst>
          </p:cNvPr>
          <p:cNvSpPr/>
          <p:nvPr/>
        </p:nvSpPr>
        <p:spPr>
          <a:xfrm>
            <a:off x="3655274" y="2755416"/>
            <a:ext cx="2373251" cy="17275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Enabled Agents are available for orchestrator to choose from during Project Staging in Jobs pane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6C316F5-3A07-D20A-F3B6-F6C314F6436F}"/>
              </a:ext>
            </a:extLst>
          </p:cNvPr>
          <p:cNvCxnSpPr>
            <a:cxnSpLocks/>
            <a:stCxn id="3" idx="3"/>
            <a:endCxn id="25" idx="1"/>
          </p:cNvCxnSpPr>
          <p:nvPr/>
        </p:nvCxnSpPr>
        <p:spPr>
          <a:xfrm>
            <a:off x="3134088" y="1695010"/>
            <a:ext cx="501407" cy="1337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8E9BDB6-1086-699C-0E76-A44BB0DA2F6A}"/>
              </a:ext>
            </a:extLst>
          </p:cNvPr>
          <p:cNvCxnSpPr/>
          <p:nvPr/>
        </p:nvCxnSpPr>
        <p:spPr>
          <a:xfrm>
            <a:off x="600874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8C30100-FAC5-AC6E-468F-0A36D31925C4}"/>
              </a:ext>
            </a:extLst>
          </p:cNvPr>
          <p:cNvCxnSpPr/>
          <p:nvPr/>
        </p:nvCxnSpPr>
        <p:spPr>
          <a:xfrm>
            <a:off x="888340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C5B634B-3591-BE5F-2DA4-C956DD40600C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3078823" y="3588966"/>
            <a:ext cx="576451" cy="302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D783546-1ACD-3600-6111-FE965CAB70CE}"/>
              </a:ext>
            </a:extLst>
          </p:cNvPr>
          <p:cNvSpPr/>
          <p:nvPr/>
        </p:nvSpPr>
        <p:spPr>
          <a:xfrm>
            <a:off x="347541" y="5273500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Agents can be modified in Agent Template Manager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C57FE58-7DEC-AC94-B080-F0A61E72A4CA}"/>
              </a:ext>
            </a:extLst>
          </p:cNvPr>
          <p:cNvSpPr/>
          <p:nvPr/>
        </p:nvSpPr>
        <p:spPr>
          <a:xfrm>
            <a:off x="7487368" y="5255464"/>
            <a:ext cx="185847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Different Agent types can be enabled up to 8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8B0E85-1335-2879-7C61-04CD158AD361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2720792" y="5790031"/>
            <a:ext cx="3580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1502FC-9B4E-32F5-59DA-C060825CD0FE}"/>
              </a:ext>
            </a:extLst>
          </p:cNvPr>
          <p:cNvSpPr/>
          <p:nvPr/>
        </p:nvSpPr>
        <p:spPr>
          <a:xfrm>
            <a:off x="9677103" y="4614904"/>
            <a:ext cx="1788669" cy="187796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Orchestrator agent can be edit only in Admin settings with warnings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8C4F0F8-1CBB-3614-82F2-F6702361F02C}"/>
              </a:ext>
            </a:extLst>
          </p:cNvPr>
          <p:cNvCxnSpPr>
            <a:cxnSpLocks/>
            <a:stCxn id="54" idx="3"/>
            <a:endCxn id="16" idx="1"/>
          </p:cNvCxnSpPr>
          <p:nvPr/>
        </p:nvCxnSpPr>
        <p:spPr>
          <a:xfrm flipV="1">
            <a:off x="7240745" y="5771995"/>
            <a:ext cx="246623" cy="24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B077713-9B7C-B09F-1662-CA6F0AF8E302}"/>
              </a:ext>
            </a:extLst>
          </p:cNvPr>
          <p:cNvSpPr/>
          <p:nvPr/>
        </p:nvSpPr>
        <p:spPr>
          <a:xfrm>
            <a:off x="6659065" y="365125"/>
            <a:ext cx="5011749" cy="737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Only 8 agent types can be active with unlimited number of agents. Agents are unique to tenants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417C6BF-181F-9451-9D64-BCD83D5B0E08}"/>
              </a:ext>
            </a:extLst>
          </p:cNvPr>
          <p:cNvSpPr/>
          <p:nvPr/>
        </p:nvSpPr>
        <p:spPr>
          <a:xfrm>
            <a:off x="9459249" y="3039856"/>
            <a:ext cx="2373251" cy="11848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Example, Documenter, Implementer1, Implementer2, etc.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0E16DC9-E1D3-28DD-DF00-89DE5CDBB540}"/>
              </a:ext>
            </a:extLst>
          </p:cNvPr>
          <p:cNvSpPr/>
          <p:nvPr/>
        </p:nvSpPr>
        <p:spPr>
          <a:xfrm>
            <a:off x="6365599" y="2801363"/>
            <a:ext cx="2576252" cy="16618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 8 Agent types can be enabled, Unlimited number of each type can be activated and assigned by Orchestrator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2417EF-DF3A-6189-5FE2-9E512BC77C6F}"/>
              </a:ext>
            </a:extLst>
          </p:cNvPr>
          <p:cNvCxnSpPr/>
          <p:nvPr/>
        </p:nvCxnSpPr>
        <p:spPr>
          <a:xfrm flipH="1">
            <a:off x="3001466" y="2568696"/>
            <a:ext cx="63833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0EED408-6673-981E-6F12-E3130D438EDD}"/>
              </a:ext>
            </a:extLst>
          </p:cNvPr>
          <p:cNvCxnSpPr>
            <a:cxnSpLocks/>
            <a:stCxn id="29" idx="3"/>
            <a:endCxn id="5" idx="1"/>
          </p:cNvCxnSpPr>
          <p:nvPr/>
        </p:nvCxnSpPr>
        <p:spPr>
          <a:xfrm>
            <a:off x="6028525" y="3619209"/>
            <a:ext cx="337074" cy="130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9140090-01D5-73C0-43E3-CE923038EF1C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8941851" y="3632292"/>
            <a:ext cx="51739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6F68B08-58D3-69FA-10ED-2EA3A600D85C}"/>
              </a:ext>
            </a:extLst>
          </p:cNvPr>
          <p:cNvSpPr/>
          <p:nvPr/>
        </p:nvSpPr>
        <p:spPr>
          <a:xfrm>
            <a:off x="3078822" y="5055953"/>
            <a:ext cx="1507138" cy="143692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can create their own agents if they want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19D3E00-D412-9AED-8217-3A20F942E86C}"/>
              </a:ext>
            </a:extLst>
          </p:cNvPr>
          <p:cNvSpPr/>
          <p:nvPr/>
        </p:nvSpPr>
        <p:spPr>
          <a:xfrm>
            <a:off x="4867494" y="5055952"/>
            <a:ext cx="2373251" cy="14369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Any self created agents can also be exported to Claude code CLI via export tool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F4C7FAD-3B1D-BB3F-C861-A7A32923CE9C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 flipV="1">
            <a:off x="4585960" y="5774413"/>
            <a:ext cx="281534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CF9EC9B2-4FBC-EE36-6877-7CC470676DC6}"/>
              </a:ext>
            </a:extLst>
          </p:cNvPr>
          <p:cNvSpPr/>
          <p:nvPr/>
        </p:nvSpPr>
        <p:spPr>
          <a:xfrm>
            <a:off x="3829762" y="4450138"/>
            <a:ext cx="2282510" cy="4118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(Used as Context Source)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E7DD4-1708-B46E-0EA5-EA5E83CFF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534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601C7-667A-FFD4-23B2-872AF38F2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4D05F-F8B0-80E9-B1EB-4C916FE74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MCP CLI setup Workflow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EC315E-D1FC-7D4B-1035-6DC0E39ED096}"/>
              </a:ext>
            </a:extLst>
          </p:cNvPr>
          <p:cNvSpPr/>
          <p:nvPr/>
        </p:nvSpPr>
        <p:spPr>
          <a:xfrm>
            <a:off x="760836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Settings menu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CC1DB16-B77D-6266-BF98-08F3B304FF9C}"/>
              </a:ext>
            </a:extLst>
          </p:cNvPr>
          <p:cNvSpPr/>
          <p:nvPr/>
        </p:nvSpPr>
        <p:spPr>
          <a:xfrm>
            <a:off x="3635494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integrations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1F62342-7A2E-BAE8-124A-E215AE1EF69E}"/>
              </a:ext>
            </a:extLst>
          </p:cNvPr>
          <p:cNvSpPr/>
          <p:nvPr/>
        </p:nvSpPr>
        <p:spPr>
          <a:xfrm>
            <a:off x="6510154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MCP Setup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D79E73-A7F0-1F17-550C-27C1F8CC9F2E}"/>
              </a:ext>
            </a:extLst>
          </p:cNvPr>
          <p:cNvSpPr/>
          <p:nvPr/>
        </p:nvSpPr>
        <p:spPr>
          <a:xfrm>
            <a:off x="9384813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Auto tool to create prompt for copy which injects API key or bearer key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F7C8169-A014-6743-3AB4-F40A4BD134B4}"/>
              </a:ext>
            </a:extLst>
          </p:cNvPr>
          <p:cNvSpPr/>
          <p:nvPr/>
        </p:nvSpPr>
        <p:spPr>
          <a:xfrm>
            <a:off x="705571" y="2910725"/>
            <a:ext cx="2373251" cy="11621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API Key for Claude code and Gemini, Bearer Key for Codex or Gemini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C401F77-6F3A-50A5-E3AF-12A92E85E7E5}"/>
              </a:ext>
            </a:extLst>
          </p:cNvPr>
          <p:cNvSpPr/>
          <p:nvPr/>
        </p:nvSpPr>
        <p:spPr>
          <a:xfrm>
            <a:off x="3655274" y="2975291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pastes in </a:t>
            </a:r>
            <a:r>
              <a:rPr lang="en-US" dirty="0" err="1"/>
              <a:t>cmd</a:t>
            </a:r>
            <a:r>
              <a:rPr lang="en-US" dirty="0"/>
              <a:t> line in terminal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E57462E-13F5-C865-0C0A-16BFF5388C4A}"/>
              </a:ext>
            </a:extLst>
          </p:cNvPr>
          <p:cNvCxnSpPr>
            <a:stCxn id="3" idx="3"/>
            <a:endCxn id="25" idx="1"/>
          </p:cNvCxnSpPr>
          <p:nvPr/>
        </p:nvCxnSpPr>
        <p:spPr>
          <a:xfrm>
            <a:off x="3134087" y="1828800"/>
            <a:ext cx="5014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1C42CC4-FF1F-EBD4-2CFC-87378F5E4A4E}"/>
              </a:ext>
            </a:extLst>
          </p:cNvPr>
          <p:cNvCxnSpPr/>
          <p:nvPr/>
        </p:nvCxnSpPr>
        <p:spPr>
          <a:xfrm>
            <a:off x="600874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CF86DBD-3306-069F-4077-01B654847C3D}"/>
              </a:ext>
            </a:extLst>
          </p:cNvPr>
          <p:cNvCxnSpPr/>
          <p:nvPr/>
        </p:nvCxnSpPr>
        <p:spPr>
          <a:xfrm>
            <a:off x="888340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1817ED09-9AB1-4D0C-D5A3-45C0A4635D9F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rot="5400000">
            <a:off x="5949121" y="-1711593"/>
            <a:ext cx="565394" cy="867924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90B1D0C-9814-FE16-BC94-E52FDE6A482B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3078822" y="3491822"/>
            <a:ext cx="576452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A2DB13-B8A3-DF51-F579-8AF1DE0F90B2}"/>
              </a:ext>
            </a:extLst>
          </p:cNvPr>
          <p:cNvSpPr/>
          <p:nvPr/>
        </p:nvSpPr>
        <p:spPr>
          <a:xfrm>
            <a:off x="6536928" y="2975291"/>
            <a:ext cx="2576252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MCP configures per CLI tool syntax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7B55B89-FDD0-F4E2-60B0-94CAF25ACB70}"/>
              </a:ext>
            </a:extLst>
          </p:cNvPr>
          <p:cNvCxnSpPr>
            <a:cxnSpLocks/>
            <a:stCxn id="29" idx="3"/>
            <a:endCxn id="5" idx="1"/>
          </p:cNvCxnSpPr>
          <p:nvPr/>
        </p:nvCxnSpPr>
        <p:spPr>
          <a:xfrm>
            <a:off x="6028525" y="3491822"/>
            <a:ext cx="50840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CB24531-561A-E91E-FC1E-DDDC94813483}"/>
              </a:ext>
            </a:extLst>
          </p:cNvPr>
          <p:cNvSpPr/>
          <p:nvPr/>
        </p:nvSpPr>
        <p:spPr>
          <a:xfrm>
            <a:off x="5069932" y="4740106"/>
            <a:ext cx="2576252" cy="11930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 tool is authenticated to tenant ID with API key or Bearer key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886AC79-99BD-54A0-3B97-C1E12997D206}"/>
              </a:ext>
            </a:extLst>
          </p:cNvPr>
          <p:cNvCxnSpPr>
            <a:stCxn id="5" idx="2"/>
            <a:endCxn id="14" idx="0"/>
          </p:cNvCxnSpPr>
          <p:nvPr/>
        </p:nvCxnSpPr>
        <p:spPr>
          <a:xfrm rot="5400000">
            <a:off x="6725680" y="3640731"/>
            <a:ext cx="731753" cy="146699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2767B5-F0F8-D73C-C41C-C7CFFE08889F}"/>
              </a:ext>
            </a:extLst>
          </p:cNvPr>
          <p:cNvSpPr/>
          <p:nvPr/>
        </p:nvSpPr>
        <p:spPr>
          <a:xfrm>
            <a:off x="8777548" y="5299851"/>
            <a:ext cx="2576252" cy="11930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Link exists in MCP setup for developer to directly download ZIP and self install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A90367-B8DA-DE0A-76BA-D72614D4178E}"/>
              </a:ext>
            </a:extLst>
          </p:cNvPr>
          <p:cNvSpPr/>
          <p:nvPr/>
        </p:nvSpPr>
        <p:spPr>
          <a:xfrm>
            <a:off x="8777548" y="4805714"/>
            <a:ext cx="2576252" cy="49413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Alternative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1849C-5AD6-B14E-1BF3-0A1130DF7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70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E794C-3F46-A1A7-ECC7-7C3B20C89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965-CB40-58AC-B5B6-3FD6BFCB9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Slash command setup Workflow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583C97-B041-78FE-A69C-14DD05512D13}"/>
              </a:ext>
            </a:extLst>
          </p:cNvPr>
          <p:cNvSpPr/>
          <p:nvPr/>
        </p:nvSpPr>
        <p:spPr>
          <a:xfrm>
            <a:off x="760836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Settings menu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9D85D5D-FB13-5536-7127-1A19ACF8A89D}"/>
              </a:ext>
            </a:extLst>
          </p:cNvPr>
          <p:cNvSpPr/>
          <p:nvPr/>
        </p:nvSpPr>
        <p:spPr>
          <a:xfrm>
            <a:off x="3635494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integrations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064E9B5-DFF3-575D-9374-864DFDFB62DC}"/>
              </a:ext>
            </a:extLst>
          </p:cNvPr>
          <p:cNvSpPr/>
          <p:nvPr/>
        </p:nvSpPr>
        <p:spPr>
          <a:xfrm>
            <a:off x="6510154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Slash command Setup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581FD84-9331-0659-D025-2DA61EB3C7CE}"/>
              </a:ext>
            </a:extLst>
          </p:cNvPr>
          <p:cNvSpPr/>
          <p:nvPr/>
        </p:nvSpPr>
        <p:spPr>
          <a:xfrm>
            <a:off x="9384813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Copyable prompt for download zip file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E0FE660-6A96-1AE0-2152-B4BF9AE03027}"/>
              </a:ext>
            </a:extLst>
          </p:cNvPr>
          <p:cNvSpPr/>
          <p:nvPr/>
        </p:nvSpPr>
        <p:spPr>
          <a:xfrm>
            <a:off x="705571" y="2910725"/>
            <a:ext cx="2373251" cy="11621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Paste in CLI tool and agent will download and install slash commands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7E363B1-CC22-F232-1602-3616A0381CA1}"/>
              </a:ext>
            </a:extLst>
          </p:cNvPr>
          <p:cNvSpPr/>
          <p:nvPr/>
        </p:nvSpPr>
        <p:spPr>
          <a:xfrm>
            <a:off x="3655274" y="2975291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reboots cli tool and slash commands appear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10CB79C-6DA9-46D1-3514-547FAD3B4B96}"/>
              </a:ext>
            </a:extLst>
          </p:cNvPr>
          <p:cNvCxnSpPr>
            <a:stCxn id="3" idx="3"/>
            <a:endCxn id="25" idx="1"/>
          </p:cNvCxnSpPr>
          <p:nvPr/>
        </p:nvCxnSpPr>
        <p:spPr>
          <a:xfrm>
            <a:off x="3134087" y="1828800"/>
            <a:ext cx="5014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0A8C5B1-E6CD-B246-F1A9-4D19436DAACE}"/>
              </a:ext>
            </a:extLst>
          </p:cNvPr>
          <p:cNvCxnSpPr/>
          <p:nvPr/>
        </p:nvCxnSpPr>
        <p:spPr>
          <a:xfrm>
            <a:off x="600874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319702A-3F3B-B342-6029-8084021AC5AD}"/>
              </a:ext>
            </a:extLst>
          </p:cNvPr>
          <p:cNvCxnSpPr/>
          <p:nvPr/>
        </p:nvCxnSpPr>
        <p:spPr>
          <a:xfrm>
            <a:off x="888340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90CCC63F-586F-2F0B-4854-270149C6D39B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rot="5400000">
            <a:off x="5949121" y="-1711593"/>
            <a:ext cx="565394" cy="867924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278A105-CE07-7F79-DF35-917BEF682430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3078822" y="3491822"/>
            <a:ext cx="576452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B3E28A-76B8-5B36-4F31-98DCC8C88140}"/>
              </a:ext>
            </a:extLst>
          </p:cNvPr>
          <p:cNvSpPr/>
          <p:nvPr/>
        </p:nvSpPr>
        <p:spPr>
          <a:xfrm>
            <a:off x="8655098" y="4923964"/>
            <a:ext cx="2576252" cy="172031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Link exists in Slash command setup for developer to directly download ZIP and self install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E4BC065-DCD5-1119-3277-FD3D55B61E08}"/>
              </a:ext>
            </a:extLst>
          </p:cNvPr>
          <p:cNvSpPr/>
          <p:nvPr/>
        </p:nvSpPr>
        <p:spPr>
          <a:xfrm>
            <a:off x="6830080" y="3039858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Slash commands require connected MCP server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7617D2-6A04-1CC0-2584-2950A62F06D3}"/>
              </a:ext>
            </a:extLst>
          </p:cNvPr>
          <p:cNvCxnSpPr>
            <a:cxnSpLocks/>
            <a:stCxn id="29" idx="3"/>
            <a:endCxn id="6" idx="1"/>
          </p:cNvCxnSpPr>
          <p:nvPr/>
        </p:nvCxnSpPr>
        <p:spPr>
          <a:xfrm>
            <a:off x="6028525" y="3491822"/>
            <a:ext cx="801555" cy="645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6983DF-9D25-798E-EC4A-74C2AC487187}"/>
              </a:ext>
            </a:extLst>
          </p:cNvPr>
          <p:cNvSpPr/>
          <p:nvPr/>
        </p:nvSpPr>
        <p:spPr>
          <a:xfrm>
            <a:off x="8575117" y="4429827"/>
            <a:ext cx="2576252" cy="49413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Alternative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D451B1-AF38-735F-6377-6440ABF1F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97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4E904-CF6F-F404-3904-3DBB0B955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FFFC2-C7CC-4204-A0C8-3C72C4287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Serena MCO integration setup Workflow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65F45F-F85E-D9A0-69D1-BC84E795F74C}"/>
              </a:ext>
            </a:extLst>
          </p:cNvPr>
          <p:cNvSpPr/>
          <p:nvPr/>
        </p:nvSpPr>
        <p:spPr>
          <a:xfrm>
            <a:off x="760836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Settings menu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F19ABC0-5150-ACFE-0C2E-2A7317C423C5}"/>
              </a:ext>
            </a:extLst>
          </p:cNvPr>
          <p:cNvSpPr/>
          <p:nvPr/>
        </p:nvSpPr>
        <p:spPr>
          <a:xfrm>
            <a:off x="3635494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integrations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2818BA3-CE1A-C1E8-952E-98B3942CFDE4}"/>
              </a:ext>
            </a:extLst>
          </p:cNvPr>
          <p:cNvSpPr/>
          <p:nvPr/>
        </p:nvSpPr>
        <p:spPr>
          <a:xfrm>
            <a:off x="6510154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Serena MCP 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6880B9B-2ACE-83C2-7584-F883B8BAC1B3}"/>
              </a:ext>
            </a:extLst>
          </p:cNvPr>
          <p:cNvSpPr/>
          <p:nvPr/>
        </p:nvSpPr>
        <p:spPr>
          <a:xfrm>
            <a:off x="9384813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Enable or disable toggle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9119B35-B1FC-B32A-B315-406B560CA185}"/>
              </a:ext>
            </a:extLst>
          </p:cNvPr>
          <p:cNvSpPr/>
          <p:nvPr/>
        </p:nvSpPr>
        <p:spPr>
          <a:xfrm>
            <a:off x="705571" y="3042475"/>
            <a:ext cx="2373251" cy="11621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Advanced settings if user wants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E16009F-3CB6-E69C-A3EF-E1DD36672056}"/>
              </a:ext>
            </a:extLst>
          </p:cNvPr>
          <p:cNvSpPr/>
          <p:nvPr/>
        </p:nvSpPr>
        <p:spPr>
          <a:xfrm>
            <a:off x="3655274" y="2975291"/>
            <a:ext cx="3680866" cy="12965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Enable modifies canned orchestrator prompts for [Stage Project] for orchestrator to create mission and summon right agents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4EFC7C4-678B-F737-17DC-CF25A94B4E66}"/>
              </a:ext>
            </a:extLst>
          </p:cNvPr>
          <p:cNvCxnSpPr>
            <a:stCxn id="3" idx="3"/>
            <a:endCxn id="25" idx="1"/>
          </p:cNvCxnSpPr>
          <p:nvPr/>
        </p:nvCxnSpPr>
        <p:spPr>
          <a:xfrm>
            <a:off x="3134087" y="1828800"/>
            <a:ext cx="5014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D043D30-EE64-EAA2-A210-97A7EC2A6589}"/>
              </a:ext>
            </a:extLst>
          </p:cNvPr>
          <p:cNvCxnSpPr/>
          <p:nvPr/>
        </p:nvCxnSpPr>
        <p:spPr>
          <a:xfrm>
            <a:off x="600874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486AB0A-85EA-4C66-876D-174F0EF45D34}"/>
              </a:ext>
            </a:extLst>
          </p:cNvPr>
          <p:cNvCxnSpPr/>
          <p:nvPr/>
        </p:nvCxnSpPr>
        <p:spPr>
          <a:xfrm>
            <a:off x="888340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40D8EDF8-19DB-1F04-4A38-D653C62FA980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rot="5400000">
            <a:off x="5883246" y="-1645718"/>
            <a:ext cx="697144" cy="8679242"/>
          </a:xfrm>
          <a:prstGeom prst="bentConnector3">
            <a:avLst>
              <a:gd name="adj1" fmla="val 37985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DBA52EB-8FA4-F594-4EE4-6872B6F65894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3078822" y="3623573"/>
            <a:ext cx="5764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BC6916-292A-BA36-62FD-0F438D26788A}"/>
              </a:ext>
            </a:extLst>
          </p:cNvPr>
          <p:cNvSpPr/>
          <p:nvPr/>
        </p:nvSpPr>
        <p:spPr>
          <a:xfrm>
            <a:off x="8010304" y="2740582"/>
            <a:ext cx="2373251" cy="176597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Instructs orchestrator when jobs are assigned to tell agents they have Serena MCP they can use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FD07FF-7BE0-F65F-BFBA-BB65667F85AD}"/>
              </a:ext>
            </a:extLst>
          </p:cNvPr>
          <p:cNvCxnSpPr>
            <a:cxnSpLocks/>
            <a:stCxn id="29" idx="3"/>
            <a:endCxn id="6" idx="1"/>
          </p:cNvCxnSpPr>
          <p:nvPr/>
        </p:nvCxnSpPr>
        <p:spPr>
          <a:xfrm flipV="1">
            <a:off x="7336140" y="3623572"/>
            <a:ext cx="674164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834C51-31A8-B7A9-01CA-55484B55172A}"/>
              </a:ext>
            </a:extLst>
          </p:cNvPr>
          <p:cNvSpPr/>
          <p:nvPr/>
        </p:nvSpPr>
        <p:spPr>
          <a:xfrm>
            <a:off x="760836" y="4495741"/>
            <a:ext cx="5247909" cy="209997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dirty="0"/>
              <a:t>Toggles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 in Prompts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Include Serena usage guidance in agent prompts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Tailor by mission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Adjust guidance to mission type (bugfix, feature, tests,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Dynamic Tool catalog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Recommend only Serena tools detected as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Prefer range reads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Prefer reading only relevant line ranges before full-file</a:t>
            </a:r>
            <a:endParaRPr lang="en-US" sz="1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5BCF09-87C7-BD55-B55A-4C57B7E8237F}"/>
              </a:ext>
            </a:extLst>
          </p:cNvPr>
          <p:cNvSpPr/>
          <p:nvPr/>
        </p:nvSpPr>
        <p:spPr>
          <a:xfrm>
            <a:off x="7020577" y="4852951"/>
            <a:ext cx="2113532" cy="12965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 range lines</a:t>
            </a:r>
          </a:p>
          <a:p>
            <a:pPr algn="ctr"/>
            <a:r>
              <a:rPr lang="en-US" dirty="0"/>
              <a:t>Context halo lines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46BCF2-568E-576F-4A0B-B2C8789586C2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001704" y="5501232"/>
            <a:ext cx="1018873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CE1B93-B4C2-A56C-8C5E-271CC21FDB1E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1892196" y="4204670"/>
            <a:ext cx="1" cy="2910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57A1455-5A20-7271-79DF-A8D072926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10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D9790-F056-7619-7AE7-6C307CE88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3D7ED-08C7-CCD2-13AA-5B0130596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Gitub</a:t>
            </a:r>
            <a:r>
              <a:rPr lang="en-US" dirty="0"/>
              <a:t> integration setup Workflow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55E665D-6053-D5E5-FA7E-D342816CE802}"/>
              </a:ext>
            </a:extLst>
          </p:cNvPr>
          <p:cNvSpPr/>
          <p:nvPr/>
        </p:nvSpPr>
        <p:spPr>
          <a:xfrm>
            <a:off x="760836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Settings menu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8AA1874-41E9-4F65-EEB4-97ED65CDECCC}"/>
              </a:ext>
            </a:extLst>
          </p:cNvPr>
          <p:cNvSpPr/>
          <p:nvPr/>
        </p:nvSpPr>
        <p:spPr>
          <a:xfrm>
            <a:off x="3635494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integrations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074F5DB-0BA0-C5C1-E1E5-E08CA951AE35}"/>
              </a:ext>
            </a:extLst>
          </p:cNvPr>
          <p:cNvSpPr/>
          <p:nvPr/>
        </p:nvSpPr>
        <p:spPr>
          <a:xfrm>
            <a:off x="6510154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Github</a:t>
            </a:r>
            <a:r>
              <a:rPr lang="en-US" dirty="0"/>
              <a:t> menu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CCE1745-567C-7507-5A6D-7744552792E0}"/>
              </a:ext>
            </a:extLst>
          </p:cNvPr>
          <p:cNvSpPr/>
          <p:nvPr/>
        </p:nvSpPr>
        <p:spPr>
          <a:xfrm>
            <a:off x="9384813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Enable or disable toggle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68542C5-C1D5-DDE7-B8E9-DF6FE994AB8D}"/>
              </a:ext>
            </a:extLst>
          </p:cNvPr>
          <p:cNvCxnSpPr>
            <a:stCxn id="3" idx="3"/>
            <a:endCxn id="25" idx="1"/>
          </p:cNvCxnSpPr>
          <p:nvPr/>
        </p:nvCxnSpPr>
        <p:spPr>
          <a:xfrm>
            <a:off x="3134087" y="1828800"/>
            <a:ext cx="5014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93D8C55-C801-8235-641B-4156406264AA}"/>
              </a:ext>
            </a:extLst>
          </p:cNvPr>
          <p:cNvCxnSpPr/>
          <p:nvPr/>
        </p:nvCxnSpPr>
        <p:spPr>
          <a:xfrm>
            <a:off x="600874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526479C-7C0C-ECF4-9087-14FCDBB1F7C1}"/>
              </a:ext>
            </a:extLst>
          </p:cNvPr>
          <p:cNvCxnSpPr/>
          <p:nvPr/>
        </p:nvCxnSpPr>
        <p:spPr>
          <a:xfrm>
            <a:off x="888340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A24296E5-9CF2-ABE0-78F9-03B02A20B585}"/>
              </a:ext>
            </a:extLst>
          </p:cNvPr>
          <p:cNvCxnSpPr>
            <a:cxnSpLocks/>
            <a:stCxn id="27" idx="2"/>
          </p:cNvCxnSpPr>
          <p:nvPr/>
        </p:nvCxnSpPr>
        <p:spPr>
          <a:xfrm rot="5400000">
            <a:off x="5883246" y="-1645718"/>
            <a:ext cx="697144" cy="8679242"/>
          </a:xfrm>
          <a:prstGeom prst="bentConnector3">
            <a:avLst>
              <a:gd name="adj1" fmla="val 37985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C68F99F-A4F8-ADEA-8064-DA28CA4AD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48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EC596-FF78-C351-EEC1-D35518825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ABD44-DA52-CEBE-4E87-0EA78CC6A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Context configuration integration setup Workflow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FD4BE89-27EE-71FE-5CF7-75CF0B3BDC9F}"/>
              </a:ext>
            </a:extLst>
          </p:cNvPr>
          <p:cNvSpPr/>
          <p:nvPr/>
        </p:nvSpPr>
        <p:spPr>
          <a:xfrm>
            <a:off x="760836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Settings menu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56FAACB-C8CB-E3C8-BE1E-9C267CD41567}"/>
              </a:ext>
            </a:extLst>
          </p:cNvPr>
          <p:cNvSpPr/>
          <p:nvPr/>
        </p:nvSpPr>
        <p:spPr>
          <a:xfrm>
            <a:off x="3635494" y="1312269"/>
            <a:ext cx="2373251" cy="10330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Context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D1E2B0B-BAEE-F9F3-F158-ECD5BA36FE31}"/>
              </a:ext>
            </a:extLst>
          </p:cNvPr>
          <p:cNvSpPr/>
          <p:nvPr/>
        </p:nvSpPr>
        <p:spPr>
          <a:xfrm>
            <a:off x="6510154" y="1312269"/>
            <a:ext cx="2373251" cy="190034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selects context priorities and how they rank in orchestrator prompt for [Stage Project] in jobs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715F524-E8C3-B375-955E-56DFD6D7C641}"/>
              </a:ext>
            </a:extLst>
          </p:cNvPr>
          <p:cNvSpPr/>
          <p:nvPr/>
        </p:nvSpPr>
        <p:spPr>
          <a:xfrm>
            <a:off x="9384813" y="1312268"/>
            <a:ext cx="2373251" cy="190034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These are all fields in the active Product and the active project description 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49483FA-C930-8AA5-FFB4-6FD91275C61A}"/>
              </a:ext>
            </a:extLst>
          </p:cNvPr>
          <p:cNvCxnSpPr>
            <a:stCxn id="3" idx="3"/>
            <a:endCxn id="25" idx="1"/>
          </p:cNvCxnSpPr>
          <p:nvPr/>
        </p:nvCxnSpPr>
        <p:spPr>
          <a:xfrm>
            <a:off x="3134087" y="1828800"/>
            <a:ext cx="5014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883E419-8A66-A8DC-43B8-295E4D5E4289}"/>
              </a:ext>
            </a:extLst>
          </p:cNvPr>
          <p:cNvCxnSpPr/>
          <p:nvPr/>
        </p:nvCxnSpPr>
        <p:spPr>
          <a:xfrm>
            <a:off x="600874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6379EC4-181A-6BC8-D54C-88EBEB43F994}"/>
              </a:ext>
            </a:extLst>
          </p:cNvPr>
          <p:cNvCxnSpPr/>
          <p:nvPr/>
        </p:nvCxnSpPr>
        <p:spPr>
          <a:xfrm>
            <a:off x="8883405" y="1828800"/>
            <a:ext cx="5014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8943BF-211C-40C9-AC6D-08109DBDAF01}"/>
              </a:ext>
            </a:extLst>
          </p:cNvPr>
          <p:cNvSpPr/>
          <p:nvPr/>
        </p:nvSpPr>
        <p:spPr>
          <a:xfrm>
            <a:off x="5180089" y="3862641"/>
            <a:ext cx="4399005" cy="176597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Controls which product configuration fields are prioritized when generating AI agent missions. Fields are included top-to-bottom until token budget (2000) is reached.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91E69E-9790-A679-BCFB-DB1D3D70E7E9}"/>
              </a:ext>
            </a:extLst>
          </p:cNvPr>
          <p:cNvSpPr/>
          <p:nvPr/>
        </p:nvSpPr>
        <p:spPr>
          <a:xfrm>
            <a:off x="6555524" y="3128855"/>
            <a:ext cx="2282510" cy="4118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(Used as Context Source)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A12944-EC42-AE6E-A6B4-9C3EB2227F45}"/>
              </a:ext>
            </a:extLst>
          </p:cNvPr>
          <p:cNvSpPr/>
          <p:nvPr/>
        </p:nvSpPr>
        <p:spPr>
          <a:xfrm>
            <a:off x="9579094" y="3059049"/>
            <a:ext cx="2282510" cy="4118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(Used as Context Source)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C2EE24-5F67-6ADC-164B-A42C16AD0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266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C759A-4BAB-8D8A-298F-56EFFFAB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CBEA-2226-6103-8A94-717AC2EF5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Admin Settings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D2B7F06-F7ED-BE57-2F72-0618685985B7}"/>
              </a:ext>
            </a:extLst>
          </p:cNvPr>
          <p:cNvSpPr/>
          <p:nvPr/>
        </p:nvSpPr>
        <p:spPr>
          <a:xfrm>
            <a:off x="726919" y="984202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Network configuration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B74142B-5048-0D21-CD5A-73F85695A4C0}"/>
              </a:ext>
            </a:extLst>
          </p:cNvPr>
          <p:cNvSpPr/>
          <p:nvPr/>
        </p:nvSpPr>
        <p:spPr>
          <a:xfrm>
            <a:off x="2588407" y="993500"/>
            <a:ext cx="1646105" cy="8097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4381F43-1B39-ECE5-190C-44AE20F2324D}"/>
              </a:ext>
            </a:extLst>
          </p:cNvPr>
          <p:cNvSpPr/>
          <p:nvPr/>
        </p:nvSpPr>
        <p:spPr>
          <a:xfrm>
            <a:off x="4465320" y="993501"/>
            <a:ext cx="1646105" cy="8097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Integrations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575CB47-8040-58C5-CA69-FDF7C36498C7}"/>
              </a:ext>
            </a:extLst>
          </p:cNvPr>
          <p:cNvSpPr/>
          <p:nvPr/>
        </p:nvSpPr>
        <p:spPr>
          <a:xfrm>
            <a:off x="6344627" y="993498"/>
            <a:ext cx="1646105" cy="8097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Security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1952E9D-1C49-D258-3A8E-15D27C22067B}"/>
              </a:ext>
            </a:extLst>
          </p:cNvPr>
          <p:cNvSpPr/>
          <p:nvPr/>
        </p:nvSpPr>
        <p:spPr>
          <a:xfrm>
            <a:off x="8221540" y="993498"/>
            <a:ext cx="1646105" cy="8097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System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79C7220-8F71-2D77-AF0A-0D2653D2DF1F}"/>
              </a:ext>
            </a:extLst>
          </p:cNvPr>
          <p:cNvSpPr/>
          <p:nvPr/>
        </p:nvSpPr>
        <p:spPr>
          <a:xfrm>
            <a:off x="711494" y="1874264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External Host IP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F74D61B-ED65-4E36-A409-5F3769AB0138}"/>
              </a:ext>
            </a:extLst>
          </p:cNvPr>
          <p:cNvSpPr/>
          <p:nvPr/>
        </p:nvSpPr>
        <p:spPr>
          <a:xfrm>
            <a:off x="711494" y="2805843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Api Port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93717AD-55DD-73F0-579E-CFCA9D59F22D}"/>
              </a:ext>
            </a:extLst>
          </p:cNvPr>
          <p:cNvSpPr/>
          <p:nvPr/>
        </p:nvSpPr>
        <p:spPr>
          <a:xfrm>
            <a:off x="711494" y="3737422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Frontend Port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B379ECE-9F7C-DDDE-B376-30FF3F5EC906}"/>
              </a:ext>
            </a:extLst>
          </p:cNvPr>
          <p:cNvSpPr/>
          <p:nvPr/>
        </p:nvSpPr>
        <p:spPr>
          <a:xfrm>
            <a:off x="711494" y="4669001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CORS origins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E09FF5E-8767-0D88-E22D-F6909D0106F1}"/>
              </a:ext>
            </a:extLst>
          </p:cNvPr>
          <p:cNvSpPr/>
          <p:nvPr/>
        </p:nvSpPr>
        <p:spPr>
          <a:xfrm>
            <a:off x="2588407" y="1909647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Host for intra application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0C277F4-BF86-986F-D3B9-C46EA6B252FA}"/>
              </a:ext>
            </a:extLst>
          </p:cNvPr>
          <p:cNvSpPr/>
          <p:nvPr/>
        </p:nvSpPr>
        <p:spPr>
          <a:xfrm>
            <a:off x="2588407" y="2841226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Port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127ECBE-4B41-EF17-FA43-AFB5143DAC3C}"/>
              </a:ext>
            </a:extLst>
          </p:cNvPr>
          <p:cNvSpPr/>
          <p:nvPr/>
        </p:nvSpPr>
        <p:spPr>
          <a:xfrm>
            <a:off x="2588407" y="3772805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DB Name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25B5921-52AD-60BB-4488-A955F730BAA9}"/>
              </a:ext>
            </a:extLst>
          </p:cNvPr>
          <p:cNvSpPr/>
          <p:nvPr/>
        </p:nvSpPr>
        <p:spPr>
          <a:xfrm>
            <a:off x="2588407" y="4704384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Username / Password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E8CE9E4-523B-860F-2F4B-277B8CE00762}"/>
              </a:ext>
            </a:extLst>
          </p:cNvPr>
          <p:cNvSpPr/>
          <p:nvPr/>
        </p:nvSpPr>
        <p:spPr>
          <a:xfrm>
            <a:off x="2588407" y="5584196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Test connection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91A6FB0-B7A5-780C-886B-38926D45ECBD}"/>
              </a:ext>
            </a:extLst>
          </p:cNvPr>
          <p:cNvSpPr/>
          <p:nvPr/>
        </p:nvSpPr>
        <p:spPr>
          <a:xfrm>
            <a:off x="4465320" y="1950338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Lists our integrations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8DA3DAE-21A1-A228-EF1D-B1F781AE7DC9}"/>
              </a:ext>
            </a:extLst>
          </p:cNvPr>
          <p:cNvSpPr/>
          <p:nvPr/>
        </p:nvSpPr>
        <p:spPr>
          <a:xfrm>
            <a:off x="4465320" y="2835724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Explains how our integrations work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F16C6C8-ADB8-F0E2-6849-9297753D21B0}"/>
              </a:ext>
            </a:extLst>
          </p:cNvPr>
          <p:cNvSpPr/>
          <p:nvPr/>
        </p:nvSpPr>
        <p:spPr>
          <a:xfrm>
            <a:off x="6446520" y="1950338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Cookie Domain Whitelist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19071C4-DAE6-7ADE-D226-0EC6B42A032C}"/>
              </a:ext>
            </a:extLst>
          </p:cNvPr>
          <p:cNvSpPr/>
          <p:nvPr/>
        </p:nvSpPr>
        <p:spPr>
          <a:xfrm>
            <a:off x="8236965" y="1950338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Orchestrator template editor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7D7A754-F1B7-C72B-F0AC-FBEBA8525FD2}"/>
              </a:ext>
            </a:extLst>
          </p:cNvPr>
          <p:cNvSpPr/>
          <p:nvPr/>
        </p:nvSpPr>
        <p:spPr>
          <a:xfrm>
            <a:off x="10098453" y="1013845"/>
            <a:ext cx="1646105" cy="8097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Users?</a:t>
            </a:r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069675F5-DADB-FA6C-19B3-14CC31EF7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8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CB64-3106-08BD-0BD6-509FA35ED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663A5-390D-AE2E-E175-7A75CD83B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User Settings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7F968C-2613-9602-7B80-D231A6A19A89}"/>
              </a:ext>
            </a:extLst>
          </p:cNvPr>
          <p:cNvSpPr/>
          <p:nvPr/>
        </p:nvSpPr>
        <p:spPr>
          <a:xfrm>
            <a:off x="853625" y="984202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Setup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0570868-E7D5-49C5-06E1-F7FBE7E8C19A}"/>
              </a:ext>
            </a:extLst>
          </p:cNvPr>
          <p:cNvSpPr/>
          <p:nvPr/>
        </p:nvSpPr>
        <p:spPr>
          <a:xfrm>
            <a:off x="2715113" y="993500"/>
            <a:ext cx="1646105" cy="8097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Appearance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D8DD278-A978-F58D-C887-EFD21C77D3FE}"/>
              </a:ext>
            </a:extLst>
          </p:cNvPr>
          <p:cNvSpPr/>
          <p:nvPr/>
        </p:nvSpPr>
        <p:spPr>
          <a:xfrm>
            <a:off x="4592026" y="993501"/>
            <a:ext cx="1646105" cy="8097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Notifications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6B21AB4-8090-F332-7B98-A31EA8688251}"/>
              </a:ext>
            </a:extLst>
          </p:cNvPr>
          <p:cNvSpPr/>
          <p:nvPr/>
        </p:nvSpPr>
        <p:spPr>
          <a:xfrm>
            <a:off x="8441228" y="1007461"/>
            <a:ext cx="1646105" cy="8097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15C6383-77D0-5064-C46A-BE0DDB9E2900}"/>
              </a:ext>
            </a:extLst>
          </p:cNvPr>
          <p:cNvSpPr/>
          <p:nvPr/>
        </p:nvSpPr>
        <p:spPr>
          <a:xfrm>
            <a:off x="10318141" y="1007461"/>
            <a:ext cx="1646105" cy="8097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System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EE2682-D73B-7726-0F87-2446AB1A3B67}"/>
              </a:ext>
            </a:extLst>
          </p:cNvPr>
          <p:cNvSpPr/>
          <p:nvPr/>
        </p:nvSpPr>
        <p:spPr>
          <a:xfrm>
            <a:off x="838200" y="1874264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292B71C-B5F8-8D83-871A-52563A19DD5C}"/>
              </a:ext>
            </a:extLst>
          </p:cNvPr>
          <p:cNvSpPr/>
          <p:nvPr/>
        </p:nvSpPr>
        <p:spPr>
          <a:xfrm>
            <a:off x="838200" y="2805843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3C83AF0-6CD5-C960-46E8-8D1D0F4BE169}"/>
              </a:ext>
            </a:extLst>
          </p:cNvPr>
          <p:cNvSpPr/>
          <p:nvPr/>
        </p:nvSpPr>
        <p:spPr>
          <a:xfrm>
            <a:off x="838200" y="3737422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61F9F79-A788-7112-1FE3-A91EC29477DE}"/>
              </a:ext>
            </a:extLst>
          </p:cNvPr>
          <p:cNvSpPr/>
          <p:nvPr/>
        </p:nvSpPr>
        <p:spPr>
          <a:xfrm>
            <a:off x="838200" y="4669001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8B50B67-7EFA-AE3D-6DCF-954D61924EBC}"/>
              </a:ext>
            </a:extLst>
          </p:cNvPr>
          <p:cNvSpPr/>
          <p:nvPr/>
        </p:nvSpPr>
        <p:spPr>
          <a:xfrm>
            <a:off x="2715113" y="1909647"/>
            <a:ext cx="1630680" cy="51565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Themes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AC6BB1E-CF7B-A294-9AEF-1B0EBD79150D}"/>
              </a:ext>
            </a:extLst>
          </p:cNvPr>
          <p:cNvSpPr/>
          <p:nvPr/>
        </p:nvSpPr>
        <p:spPr>
          <a:xfrm>
            <a:off x="2715113" y="2517582"/>
            <a:ext cx="1630680" cy="51565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Mascot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EF2A3BA-FF4A-2778-2F8F-ED86C0142EBC}"/>
              </a:ext>
            </a:extLst>
          </p:cNvPr>
          <p:cNvSpPr/>
          <p:nvPr/>
        </p:nvSpPr>
        <p:spPr>
          <a:xfrm>
            <a:off x="2715113" y="3125517"/>
            <a:ext cx="1630680" cy="5100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9F7A6A3-D9D4-30A4-0492-98A004587B34}"/>
              </a:ext>
            </a:extLst>
          </p:cNvPr>
          <p:cNvSpPr/>
          <p:nvPr/>
        </p:nvSpPr>
        <p:spPr>
          <a:xfrm>
            <a:off x="2715113" y="3723709"/>
            <a:ext cx="1630680" cy="5100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Tooltips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BEF93E0-8A0C-A054-39C1-BDA762DD3766}"/>
              </a:ext>
            </a:extLst>
          </p:cNvPr>
          <p:cNvSpPr/>
          <p:nvPr/>
        </p:nvSpPr>
        <p:spPr>
          <a:xfrm>
            <a:off x="2715113" y="4321901"/>
            <a:ext cx="1630680" cy="5100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High Contrast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B0482DE-21EB-C396-F1F7-F603F743E4C8}"/>
              </a:ext>
            </a:extLst>
          </p:cNvPr>
          <p:cNvSpPr/>
          <p:nvPr/>
        </p:nvSpPr>
        <p:spPr>
          <a:xfrm>
            <a:off x="4496648" y="1909647"/>
            <a:ext cx="1821435" cy="144651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Message notifications</a:t>
            </a:r>
          </a:p>
          <a:p>
            <a:r>
              <a:rPr lang="en-US" sz="1400" dirty="0"/>
              <a:t>- New Message</a:t>
            </a:r>
          </a:p>
          <a:p>
            <a:r>
              <a:rPr lang="en-US" sz="1400" dirty="0"/>
              <a:t>- Urgent Message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8A64B6B-0AE6-47EB-84B4-71AF63FBAB00}"/>
              </a:ext>
            </a:extLst>
          </p:cNvPr>
          <p:cNvSpPr/>
          <p:nvPr/>
        </p:nvSpPr>
        <p:spPr>
          <a:xfrm>
            <a:off x="8448940" y="1964301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Template Manager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3A1B214-665F-51E6-5D7B-2D762AB139F2}"/>
              </a:ext>
            </a:extLst>
          </p:cNvPr>
          <p:cNvSpPr/>
          <p:nvPr/>
        </p:nvSpPr>
        <p:spPr>
          <a:xfrm>
            <a:off x="10333566" y="1964301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Orchestrator template editor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FDA2EC-AE90-7607-850E-411059FE9BB6}"/>
              </a:ext>
            </a:extLst>
          </p:cNvPr>
          <p:cNvSpPr/>
          <p:nvPr/>
        </p:nvSpPr>
        <p:spPr>
          <a:xfrm>
            <a:off x="4592025" y="3414064"/>
            <a:ext cx="1630680" cy="11231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Agent notifications</a:t>
            </a:r>
          </a:p>
          <a:p>
            <a:r>
              <a:rPr lang="en-US" sz="1400" dirty="0"/>
              <a:t>- Status Change</a:t>
            </a:r>
          </a:p>
          <a:p>
            <a:r>
              <a:rPr lang="en-US" sz="1400" dirty="0"/>
              <a:t>- Agent Errors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9E6FB3-403A-D402-A5EA-609BD259762C}"/>
              </a:ext>
            </a:extLst>
          </p:cNvPr>
          <p:cNvSpPr/>
          <p:nvPr/>
        </p:nvSpPr>
        <p:spPr>
          <a:xfrm>
            <a:off x="4592025" y="4669001"/>
            <a:ext cx="1630680" cy="7353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Notification display location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A8266E-FB50-6D17-144E-E1FF0A830828}"/>
              </a:ext>
            </a:extLst>
          </p:cNvPr>
          <p:cNvSpPr/>
          <p:nvPr/>
        </p:nvSpPr>
        <p:spPr>
          <a:xfrm>
            <a:off x="8438832" y="2872637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See separate flow chart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03CA70-E439-35B9-639D-555F5C525603}"/>
              </a:ext>
            </a:extLst>
          </p:cNvPr>
          <p:cNvSpPr/>
          <p:nvPr/>
        </p:nvSpPr>
        <p:spPr>
          <a:xfrm>
            <a:off x="6492075" y="988884"/>
            <a:ext cx="1646105" cy="8097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Context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D57D7D-200A-306C-0AED-9260611C4919}"/>
              </a:ext>
            </a:extLst>
          </p:cNvPr>
          <p:cNvSpPr/>
          <p:nvPr/>
        </p:nvSpPr>
        <p:spPr>
          <a:xfrm>
            <a:off x="6499787" y="1945724"/>
            <a:ext cx="163068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defined Context priority configuration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D32C2B-16A5-0E1E-9DCD-4F9C79BF34E1}"/>
              </a:ext>
            </a:extLst>
          </p:cNvPr>
          <p:cNvSpPr/>
          <p:nvPr/>
        </p:nvSpPr>
        <p:spPr>
          <a:xfrm>
            <a:off x="6561919" y="2713690"/>
            <a:ext cx="1471652" cy="41182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(Used as Context Source)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45D60E-A577-F058-E8FC-6392FF20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36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41FE4-DFC0-FD85-DD04-4000989EA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43AE4-719E-47DB-3478-B190CA416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Agent Manager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D701159-47EC-A36B-635E-AABD3F21FB14}"/>
              </a:ext>
            </a:extLst>
          </p:cNvPr>
          <p:cNvSpPr/>
          <p:nvPr/>
        </p:nvSpPr>
        <p:spPr>
          <a:xfrm>
            <a:off x="1426847" y="951446"/>
            <a:ext cx="8012430" cy="4634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 Listing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F812BB3-011D-4A15-18F4-EA20C3E3BC50}"/>
              </a:ext>
            </a:extLst>
          </p:cNvPr>
          <p:cNvSpPr/>
          <p:nvPr/>
        </p:nvSpPr>
        <p:spPr>
          <a:xfrm>
            <a:off x="6408423" y="5201398"/>
            <a:ext cx="1253304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Template Preview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6ABF6EF-C4EC-EAB6-23B8-32F7CAFD6770}"/>
              </a:ext>
            </a:extLst>
          </p:cNvPr>
          <p:cNvSpPr/>
          <p:nvPr/>
        </p:nvSpPr>
        <p:spPr>
          <a:xfrm>
            <a:off x="1009936" y="5205404"/>
            <a:ext cx="2594610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Edit Template</a:t>
            </a:r>
          </a:p>
          <a:p>
            <a:pPr algn="ctr"/>
            <a:r>
              <a:rPr lang="en-US" dirty="0"/>
              <a:t>(see [+ New Template]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9781357-20C4-9E65-6518-06B91FEBA1D7}"/>
              </a:ext>
            </a:extLst>
          </p:cNvPr>
          <p:cNvSpPr/>
          <p:nvPr/>
        </p:nvSpPr>
        <p:spPr>
          <a:xfrm>
            <a:off x="3676752" y="5205404"/>
            <a:ext cx="1352081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Duplicate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F3FB23-0E3B-325E-B9CF-D4EC1B3DB8C8}"/>
              </a:ext>
            </a:extLst>
          </p:cNvPr>
          <p:cNvSpPr/>
          <p:nvPr/>
        </p:nvSpPr>
        <p:spPr>
          <a:xfrm>
            <a:off x="5135699" y="5205404"/>
            <a:ext cx="1165858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Version history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419B68-643E-FB7E-CC00-5A4ACFEC406A}"/>
              </a:ext>
            </a:extLst>
          </p:cNvPr>
          <p:cNvSpPr/>
          <p:nvPr/>
        </p:nvSpPr>
        <p:spPr>
          <a:xfrm>
            <a:off x="7768593" y="5201398"/>
            <a:ext cx="1352081" cy="11268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Compare with system default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F558C4-2E3B-FD61-DDE3-68A1EA7CD4D9}"/>
              </a:ext>
            </a:extLst>
          </p:cNvPr>
          <p:cNvSpPr/>
          <p:nvPr/>
        </p:nvSpPr>
        <p:spPr>
          <a:xfrm>
            <a:off x="9227540" y="5197392"/>
            <a:ext cx="1033351" cy="10372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Reset Default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1DB0D5-2C67-205F-5BB2-D3770977A51F}"/>
              </a:ext>
            </a:extLst>
          </p:cNvPr>
          <p:cNvSpPr/>
          <p:nvPr/>
        </p:nvSpPr>
        <p:spPr>
          <a:xfrm>
            <a:off x="10367757" y="5197392"/>
            <a:ext cx="944500" cy="10372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Delete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0865F51-37FD-347C-EAF8-2095642ADC48}"/>
              </a:ext>
            </a:extLst>
          </p:cNvPr>
          <p:cNvSpPr/>
          <p:nvPr/>
        </p:nvSpPr>
        <p:spPr>
          <a:xfrm>
            <a:off x="1009936" y="1498193"/>
            <a:ext cx="2148839" cy="25651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Sort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Agent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Actions</a:t>
            </a:r>
          </a:p>
          <a:p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212391C-F2EE-41EC-5C0D-A842053D91E3}"/>
              </a:ext>
            </a:extLst>
          </p:cNvPr>
          <p:cNvSpPr/>
          <p:nvPr/>
        </p:nvSpPr>
        <p:spPr>
          <a:xfrm>
            <a:off x="3304239" y="1825119"/>
            <a:ext cx="1352081" cy="7998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Active Agent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AA9B75-441B-A486-D8BE-CF29C5B9CFFD}"/>
              </a:ext>
            </a:extLst>
          </p:cNvPr>
          <p:cNvSpPr/>
          <p:nvPr/>
        </p:nvSpPr>
        <p:spPr>
          <a:xfrm>
            <a:off x="4712979" y="1811060"/>
            <a:ext cx="3177155" cy="13874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Only active agents are electable by Orchestrator when assigning agents to jobs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C56A4D0-9E3B-4429-5DFB-BC375065BC08}"/>
              </a:ext>
            </a:extLst>
          </p:cNvPr>
          <p:cNvSpPr/>
          <p:nvPr/>
        </p:nvSpPr>
        <p:spPr>
          <a:xfrm>
            <a:off x="7946793" y="1811060"/>
            <a:ext cx="2036292" cy="13874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 8 Agent types can be active at any time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592BAAC-B05D-4A04-A2FA-82FD2F6369DA}"/>
              </a:ext>
            </a:extLst>
          </p:cNvPr>
          <p:cNvSpPr/>
          <p:nvPr/>
        </p:nvSpPr>
        <p:spPr>
          <a:xfrm>
            <a:off x="10046094" y="1808232"/>
            <a:ext cx="1808371" cy="25651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Unlimited number of agents can be assigned to a job such as Tester_1</a:t>
            </a:r>
          </a:p>
          <a:p>
            <a:pPr algn="ctr"/>
            <a:r>
              <a:rPr lang="en-US" dirty="0"/>
              <a:t>Tester_2</a:t>
            </a:r>
          </a:p>
          <a:p>
            <a:pPr algn="ctr"/>
            <a:r>
              <a:rPr lang="en-US" dirty="0"/>
              <a:t>Etc.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EA48742-FC7D-279A-031B-80F665DB76DA}"/>
              </a:ext>
            </a:extLst>
          </p:cNvPr>
          <p:cNvCxnSpPr>
            <a:stCxn id="11" idx="2"/>
            <a:endCxn id="31" idx="0"/>
          </p:cNvCxnSpPr>
          <p:nvPr/>
        </p:nvCxnSpPr>
        <p:spPr>
          <a:xfrm rot="16200000" flipH="1">
            <a:off x="1624758" y="4522921"/>
            <a:ext cx="1142080" cy="22288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272120F-7307-0D55-2435-B3BB79DC2960}"/>
              </a:ext>
            </a:extLst>
          </p:cNvPr>
          <p:cNvCxnSpPr>
            <a:cxnSpLocks/>
            <a:stCxn id="11" idx="2"/>
            <a:endCxn id="33" idx="0"/>
          </p:cNvCxnSpPr>
          <p:nvPr/>
        </p:nvCxnSpPr>
        <p:spPr>
          <a:xfrm rot="16200000" flipH="1">
            <a:off x="2647534" y="3500145"/>
            <a:ext cx="1142080" cy="226843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CDCC24B-D120-06E1-BD44-F2E55605F8F2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rot="16200000" flipH="1">
            <a:off x="3330452" y="2817228"/>
            <a:ext cx="1142080" cy="36342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CD8E4341-8C10-CA7B-3346-43352D8108FB}"/>
              </a:ext>
            </a:extLst>
          </p:cNvPr>
          <p:cNvCxnSpPr>
            <a:cxnSpLocks/>
            <a:stCxn id="11" idx="2"/>
            <a:endCxn id="30" idx="0"/>
          </p:cNvCxnSpPr>
          <p:nvPr/>
        </p:nvCxnSpPr>
        <p:spPr>
          <a:xfrm rot="16200000" flipH="1">
            <a:off x="3990678" y="2157001"/>
            <a:ext cx="1138074" cy="49507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9B5C4B60-2029-A26D-E16C-F15E41F16A99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 rot="16200000" flipH="1">
            <a:off x="4695458" y="1452222"/>
            <a:ext cx="1138074" cy="63602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F1787FE-36BD-F9D1-5026-1131326905BC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 rot="16200000" flipH="1">
            <a:off x="5347252" y="800428"/>
            <a:ext cx="1134068" cy="76598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B8F4A3F7-65A1-6BA1-6120-F3246C67E280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 rot="16200000" flipH="1">
            <a:off x="5895147" y="252532"/>
            <a:ext cx="1134068" cy="87556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5A1E3269-F766-1CAC-FDCB-2CFAFC1613E8}"/>
              </a:ext>
            </a:extLst>
          </p:cNvPr>
          <p:cNvCxnSpPr>
            <a:cxnSpLocks/>
            <a:stCxn id="11" idx="3"/>
            <a:endCxn id="12" idx="2"/>
          </p:cNvCxnSpPr>
          <p:nvPr/>
        </p:nvCxnSpPr>
        <p:spPr>
          <a:xfrm flipV="1">
            <a:off x="3158775" y="2624921"/>
            <a:ext cx="821505" cy="15583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6F30A271-2AB4-AE23-FE96-09747E701690}"/>
              </a:ext>
            </a:extLst>
          </p:cNvPr>
          <p:cNvCxnSpPr>
            <a:cxnSpLocks/>
            <a:stCxn id="12" idx="0"/>
            <a:endCxn id="13" idx="0"/>
          </p:cNvCxnSpPr>
          <p:nvPr/>
        </p:nvCxnSpPr>
        <p:spPr>
          <a:xfrm rot="5400000" flipH="1" flipV="1">
            <a:off x="5133889" y="657452"/>
            <a:ext cx="14059" cy="2321277"/>
          </a:xfrm>
          <a:prstGeom prst="bentConnector3">
            <a:avLst>
              <a:gd name="adj1" fmla="val 1726005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6648CE15-4903-103B-29F1-1FB6BD465D0E}"/>
              </a:ext>
            </a:extLst>
          </p:cNvPr>
          <p:cNvCxnSpPr>
            <a:cxnSpLocks/>
            <a:stCxn id="12" idx="0"/>
            <a:endCxn id="14" idx="0"/>
          </p:cNvCxnSpPr>
          <p:nvPr/>
        </p:nvCxnSpPr>
        <p:spPr>
          <a:xfrm rot="5400000" flipH="1" flipV="1">
            <a:off x="6465580" y="-674239"/>
            <a:ext cx="14059" cy="4984659"/>
          </a:xfrm>
          <a:prstGeom prst="bentConnector3">
            <a:avLst>
              <a:gd name="adj1" fmla="val 1726005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68B27D17-0A72-DED8-B4FE-E8306C48A022}"/>
              </a:ext>
            </a:extLst>
          </p:cNvPr>
          <p:cNvCxnSpPr>
            <a:cxnSpLocks/>
            <a:stCxn id="12" idx="0"/>
            <a:endCxn id="15" idx="0"/>
          </p:cNvCxnSpPr>
          <p:nvPr/>
        </p:nvCxnSpPr>
        <p:spPr>
          <a:xfrm rot="5400000" flipH="1" flipV="1">
            <a:off x="7456837" y="-1668324"/>
            <a:ext cx="16887" cy="6970000"/>
          </a:xfrm>
          <a:prstGeom prst="bentConnector3">
            <a:avLst>
              <a:gd name="adj1" fmla="val 1453704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Slide Number Placeholder 66">
            <a:extLst>
              <a:ext uri="{FF2B5EF4-FFF2-40B4-BE49-F238E27FC236}">
                <a16:creationId xmlns:a16="http://schemas.microsoft.com/office/drawing/2014/main" id="{ED2E859F-2312-B356-27C9-215CA4A6E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188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B7F50-899C-07DC-3617-DFA9C10A9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85152-8E71-3396-C26E-BBEA99B81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360 memory Manager for orchestrator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593CB8-47D3-49BD-94B4-8E23A642A60F}"/>
              </a:ext>
            </a:extLst>
          </p:cNvPr>
          <p:cNvSpPr/>
          <p:nvPr/>
        </p:nvSpPr>
        <p:spPr>
          <a:xfrm>
            <a:off x="716769" y="1072403"/>
            <a:ext cx="2148839" cy="214544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Manages context of work done in past to assist orchestrator in defining mission for a new project and its jobs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FB09DF8-611E-04F7-7BBF-6DBDBB3BEC92}"/>
              </a:ext>
            </a:extLst>
          </p:cNvPr>
          <p:cNvSpPr/>
          <p:nvPr/>
        </p:nvSpPr>
        <p:spPr>
          <a:xfrm>
            <a:off x="3707759" y="1498194"/>
            <a:ext cx="1352081" cy="15032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presses [Stage Project]</a:t>
            </a:r>
          </a:p>
        </p:txBody>
      </p:sp>
      <p:sp>
        <p:nvSpPr>
          <p:cNvPr id="67" name="Slide Number Placeholder 66">
            <a:extLst>
              <a:ext uri="{FF2B5EF4-FFF2-40B4-BE49-F238E27FC236}">
                <a16:creationId xmlns:a16="http://schemas.microsoft.com/office/drawing/2014/main" id="{AF63FE36-A6BC-4128-5B0E-69C4F9A6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23</a:t>
            </a:fld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87F0168-A60F-FC28-F276-735A776B54CD}"/>
              </a:ext>
            </a:extLst>
          </p:cNvPr>
          <p:cNvSpPr/>
          <p:nvPr/>
        </p:nvSpPr>
        <p:spPr>
          <a:xfrm>
            <a:off x="5298071" y="1498193"/>
            <a:ext cx="2561581" cy="15032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Orchestrator collects context data to build mission and to assign missions to agents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29E0FE3-092E-13A1-3D56-68A7AF808C74}"/>
              </a:ext>
            </a:extLst>
          </p:cNvPr>
          <p:cNvSpPr/>
          <p:nvPr/>
        </p:nvSpPr>
        <p:spPr>
          <a:xfrm>
            <a:off x="8848565" y="652073"/>
            <a:ext cx="2561581" cy="16638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Agents get tuned missions based on project description and entire product context including 360 memory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AC6CA9A-9462-4374-4181-0F71859F9D26}"/>
              </a:ext>
            </a:extLst>
          </p:cNvPr>
          <p:cNvSpPr/>
          <p:nvPr/>
        </p:nvSpPr>
        <p:spPr>
          <a:xfrm>
            <a:off x="8425179" y="5252801"/>
            <a:ext cx="2561581" cy="9448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Orchestrator finishes with agent team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4508765-C78F-C4C9-1C36-240C4E07D960}"/>
              </a:ext>
            </a:extLst>
          </p:cNvPr>
          <p:cNvSpPr/>
          <p:nvPr/>
        </p:nvSpPr>
        <p:spPr>
          <a:xfrm>
            <a:off x="8366935" y="3484952"/>
            <a:ext cx="2561581" cy="9448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Jobs for the current project are executed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9490AEF-6256-FCB6-F8B1-0E859213869C}"/>
              </a:ext>
            </a:extLst>
          </p:cNvPr>
          <p:cNvSpPr/>
          <p:nvPr/>
        </p:nvSpPr>
        <p:spPr>
          <a:xfrm>
            <a:off x="5381833" y="3484951"/>
            <a:ext cx="2561581" cy="13871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Orchestrator runs out of context and needs itself a handover.  This is user monitored, and determined, not automated. User triggers through webapp.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A8B36FF-8682-F137-DC2D-8ADA205206E5}"/>
              </a:ext>
            </a:extLst>
          </p:cNvPr>
          <p:cNvSpPr/>
          <p:nvPr/>
        </p:nvSpPr>
        <p:spPr>
          <a:xfrm>
            <a:off x="319608" y="3334166"/>
            <a:ext cx="2290970" cy="141085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As orchestrator is paused/between tasks/ partially finished the User presses [handover] button on agent card (always present)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E0A29EF-6F36-B31C-99D5-377F0B344CC9}"/>
              </a:ext>
            </a:extLst>
          </p:cNvPr>
          <p:cNvSpPr/>
          <p:nvPr/>
        </p:nvSpPr>
        <p:spPr>
          <a:xfrm>
            <a:off x="196553" y="5118681"/>
            <a:ext cx="4187246" cy="13864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Handover button copies a decommission prompt for the existing orchestrator, with instructions for self-decommission and write 360 memory. .  It also triggers system to create a new orchestrator card,  points to the original project mission, context sources for an orchestrator and 360 memory and then a fresh agent card appears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4984876-D5A2-25F6-6EC5-38FE0759885D}"/>
              </a:ext>
            </a:extLst>
          </p:cNvPr>
          <p:cNvSpPr/>
          <p:nvPr/>
        </p:nvSpPr>
        <p:spPr>
          <a:xfrm>
            <a:off x="2879103" y="3334166"/>
            <a:ext cx="2290970" cy="15881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Users are always in need to view terminals, the web app does not replace this, ever.  It just simplifies the interactions, statuses and communications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9774A34-B5BA-2C9D-266E-66E21E17C0C3}"/>
              </a:ext>
            </a:extLst>
          </p:cNvPr>
          <p:cNvSpPr/>
          <p:nvPr/>
        </p:nvSpPr>
        <p:spPr>
          <a:xfrm>
            <a:off x="4953199" y="5005664"/>
            <a:ext cx="2906453" cy="171581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copies [Launch Agent] button from new orchestrator card , pastes prompt in terminal and new orchestrator takes over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FA597519-CA53-31B2-B8FA-51AF1122EA68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2865608" y="2145127"/>
            <a:ext cx="842151" cy="10470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B810472A-62A1-7483-3ED4-079BAB95A37A}"/>
              </a:ext>
            </a:extLst>
          </p:cNvPr>
          <p:cNvCxnSpPr>
            <a:stCxn id="12" idx="3"/>
            <a:endCxn id="20" idx="1"/>
          </p:cNvCxnSpPr>
          <p:nvPr/>
        </p:nvCxnSpPr>
        <p:spPr>
          <a:xfrm flipV="1">
            <a:off x="5059840" y="2249829"/>
            <a:ext cx="238231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6C6AF25-5BEC-6C26-7DC2-8CD3B1EDB637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 flipV="1">
            <a:off x="7859652" y="1483981"/>
            <a:ext cx="988913" cy="765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C2417ED-82F5-DB15-AA09-5C152EBAC8AC}"/>
              </a:ext>
            </a:extLst>
          </p:cNvPr>
          <p:cNvCxnSpPr>
            <a:cxnSpLocks/>
            <a:stCxn id="21" idx="2"/>
            <a:endCxn id="70" idx="0"/>
          </p:cNvCxnSpPr>
          <p:nvPr/>
        </p:nvCxnSpPr>
        <p:spPr>
          <a:xfrm flipH="1">
            <a:off x="9974630" y="2315889"/>
            <a:ext cx="154726" cy="314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B7DE74F-F2DB-CC41-519F-DDABE5AFB0E3}"/>
              </a:ext>
            </a:extLst>
          </p:cNvPr>
          <p:cNvCxnSpPr>
            <a:stCxn id="24" idx="1"/>
            <a:endCxn id="26" idx="3"/>
          </p:cNvCxnSpPr>
          <p:nvPr/>
        </p:nvCxnSpPr>
        <p:spPr>
          <a:xfrm flipH="1">
            <a:off x="7943414" y="3957390"/>
            <a:ext cx="423521" cy="221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5FDE184-7AA3-0514-8997-35407B409B12}"/>
              </a:ext>
            </a:extLst>
          </p:cNvPr>
          <p:cNvCxnSpPr>
            <a:stCxn id="26" idx="1"/>
            <a:endCxn id="34" idx="3"/>
          </p:cNvCxnSpPr>
          <p:nvPr/>
        </p:nvCxnSpPr>
        <p:spPr>
          <a:xfrm flipH="1" flipV="1">
            <a:off x="5170073" y="4128240"/>
            <a:ext cx="211760" cy="50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6F5E4FD-060B-A81A-BBD3-D0DA03626EA5}"/>
              </a:ext>
            </a:extLst>
          </p:cNvPr>
          <p:cNvCxnSpPr>
            <a:cxnSpLocks/>
            <a:stCxn id="34" idx="1"/>
            <a:endCxn id="27" idx="3"/>
          </p:cNvCxnSpPr>
          <p:nvPr/>
        </p:nvCxnSpPr>
        <p:spPr>
          <a:xfrm flipH="1" flipV="1">
            <a:off x="2610578" y="4039595"/>
            <a:ext cx="268525" cy="88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63D5EFA-6500-0C49-42F9-F29952C79122}"/>
              </a:ext>
            </a:extLst>
          </p:cNvPr>
          <p:cNvCxnSpPr>
            <a:cxnSpLocks/>
            <a:stCxn id="27" idx="2"/>
            <a:endCxn id="32" idx="0"/>
          </p:cNvCxnSpPr>
          <p:nvPr/>
        </p:nvCxnSpPr>
        <p:spPr>
          <a:xfrm>
            <a:off x="1465093" y="4745023"/>
            <a:ext cx="825083" cy="373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560197F-85B5-AA5E-239F-C2F687E7286A}"/>
              </a:ext>
            </a:extLst>
          </p:cNvPr>
          <p:cNvCxnSpPr>
            <a:cxnSpLocks/>
            <a:stCxn id="32" idx="3"/>
            <a:endCxn id="36" idx="1"/>
          </p:cNvCxnSpPr>
          <p:nvPr/>
        </p:nvCxnSpPr>
        <p:spPr>
          <a:xfrm>
            <a:off x="4383799" y="5811886"/>
            <a:ext cx="569400" cy="51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0DA5CC4-B025-C28F-201D-5A59F3481BC2}"/>
              </a:ext>
            </a:extLst>
          </p:cNvPr>
          <p:cNvCxnSpPr>
            <a:cxnSpLocks/>
            <a:stCxn id="36" idx="3"/>
            <a:endCxn id="23" idx="1"/>
          </p:cNvCxnSpPr>
          <p:nvPr/>
        </p:nvCxnSpPr>
        <p:spPr>
          <a:xfrm flipV="1">
            <a:off x="7859652" y="5725239"/>
            <a:ext cx="565527" cy="13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75E41B0-B26E-87BA-F161-747E98760CAF}"/>
              </a:ext>
            </a:extLst>
          </p:cNvPr>
          <p:cNvCxnSpPr>
            <a:stCxn id="24" idx="2"/>
            <a:endCxn id="23" idx="0"/>
          </p:cNvCxnSpPr>
          <p:nvPr/>
        </p:nvCxnSpPr>
        <p:spPr>
          <a:xfrm>
            <a:off x="9647726" y="4429828"/>
            <a:ext cx="58244" cy="822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2848425-6055-CD45-7CA5-61DE904A5940}"/>
              </a:ext>
            </a:extLst>
          </p:cNvPr>
          <p:cNvSpPr/>
          <p:nvPr/>
        </p:nvSpPr>
        <p:spPr>
          <a:xfrm>
            <a:off x="8693839" y="2630193"/>
            <a:ext cx="2561581" cy="6065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launches Jobs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5ED0880-18D5-B3DB-D65E-E9081A062EE3}"/>
              </a:ext>
            </a:extLst>
          </p:cNvPr>
          <p:cNvCxnSpPr>
            <a:stCxn id="70" idx="2"/>
            <a:endCxn id="24" idx="0"/>
          </p:cNvCxnSpPr>
          <p:nvPr/>
        </p:nvCxnSpPr>
        <p:spPr>
          <a:xfrm flipH="1">
            <a:off x="9647726" y="3236706"/>
            <a:ext cx="326904" cy="248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169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8B2CF-B954-64E7-B5CF-7700D8D05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0E731-1CC0-2CC6-D232-ECEE88CD0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019" y="362731"/>
            <a:ext cx="8146405" cy="619077"/>
          </a:xfrm>
        </p:spPr>
        <p:txBody>
          <a:bodyPr>
            <a:noAutofit/>
          </a:bodyPr>
          <a:lstStyle/>
          <a:p>
            <a:r>
              <a:rPr lang="en-US" sz="3200" dirty="0"/>
              <a:t>360 memory Manager for subagents Legacy CLI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5D29D93-86DC-6092-1E9A-929A53BF8A3D}"/>
              </a:ext>
            </a:extLst>
          </p:cNvPr>
          <p:cNvSpPr/>
          <p:nvPr/>
        </p:nvSpPr>
        <p:spPr>
          <a:xfrm>
            <a:off x="716769" y="1072403"/>
            <a:ext cx="2148839" cy="214544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Manages context of work done in past to assist orchestrator and agents in defining how to proceed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6DC590F-B0CF-8018-60DB-D29DDA279C44}"/>
              </a:ext>
            </a:extLst>
          </p:cNvPr>
          <p:cNvSpPr/>
          <p:nvPr/>
        </p:nvSpPr>
        <p:spPr>
          <a:xfrm>
            <a:off x="3707759" y="1498194"/>
            <a:ext cx="1352081" cy="15032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presses [Stage Project]</a:t>
            </a:r>
          </a:p>
        </p:txBody>
      </p:sp>
      <p:sp>
        <p:nvSpPr>
          <p:cNvPr id="67" name="Slide Number Placeholder 66">
            <a:extLst>
              <a:ext uri="{FF2B5EF4-FFF2-40B4-BE49-F238E27FC236}">
                <a16:creationId xmlns:a16="http://schemas.microsoft.com/office/drawing/2014/main" id="{E3A0EEF1-0602-15EB-6722-F0ABC8E09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24</a:t>
            </a:fld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2F607CD-9BE0-930F-893B-FB8D2148E47A}"/>
              </a:ext>
            </a:extLst>
          </p:cNvPr>
          <p:cNvSpPr/>
          <p:nvPr/>
        </p:nvSpPr>
        <p:spPr>
          <a:xfrm>
            <a:off x="5298071" y="1498193"/>
            <a:ext cx="2561581" cy="15032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Orchestrator collects context data to build mission and to assign missions to agents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5472BB2-7738-3165-EABA-064E531D4BF5}"/>
              </a:ext>
            </a:extLst>
          </p:cNvPr>
          <p:cNvSpPr/>
          <p:nvPr/>
        </p:nvSpPr>
        <p:spPr>
          <a:xfrm>
            <a:off x="8848565" y="652073"/>
            <a:ext cx="2561581" cy="16638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Agents get tuned missions based on project description and entire product context including 360 memory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CDC52DE-030C-1CCA-6AD8-7F9255F28426}"/>
              </a:ext>
            </a:extLst>
          </p:cNvPr>
          <p:cNvSpPr/>
          <p:nvPr/>
        </p:nvSpPr>
        <p:spPr>
          <a:xfrm>
            <a:off x="8155174" y="4922314"/>
            <a:ext cx="2561581" cy="11197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 finished the job</a:t>
            </a:r>
          </a:p>
          <a:p>
            <a:pPr algn="ctr"/>
            <a:r>
              <a:rPr lang="en-US" dirty="0"/>
              <a:t>Reports completed on badge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940F867-7148-B232-0FEC-407750567819}"/>
              </a:ext>
            </a:extLst>
          </p:cNvPr>
          <p:cNvSpPr/>
          <p:nvPr/>
        </p:nvSpPr>
        <p:spPr>
          <a:xfrm>
            <a:off x="8366935" y="3484952"/>
            <a:ext cx="2561581" cy="9448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Jobs for the current project are executed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BF7C7AA-C661-F396-DCE8-1143665828E2}"/>
              </a:ext>
            </a:extLst>
          </p:cNvPr>
          <p:cNvSpPr/>
          <p:nvPr/>
        </p:nvSpPr>
        <p:spPr>
          <a:xfrm>
            <a:off x="5381833" y="3484951"/>
            <a:ext cx="2561581" cy="13871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Agent runs out of context and needs to be replaced. This is user monitored, and determined, not automated. User triggers through webapp.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1B2E536-301F-D34A-EFCB-401CCD05C233}"/>
              </a:ext>
            </a:extLst>
          </p:cNvPr>
          <p:cNvSpPr/>
          <p:nvPr/>
        </p:nvSpPr>
        <p:spPr>
          <a:xfrm>
            <a:off x="319608" y="3358616"/>
            <a:ext cx="2290970" cy="138640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As agent is paused/between tasks/ partially finished the User presses [handover] button on agent card (always present)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80466D3-206E-57EA-AE33-AF8BE65CBB1F}"/>
              </a:ext>
            </a:extLst>
          </p:cNvPr>
          <p:cNvSpPr/>
          <p:nvPr/>
        </p:nvSpPr>
        <p:spPr>
          <a:xfrm>
            <a:off x="196552" y="5118681"/>
            <a:ext cx="3447087" cy="13864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Handover button copies a decommission prompt for the existing agent, with instructions for self-decommission and write 360 memory.  It also triggers system to create a new agent card,  backend copies the original </a:t>
            </a:r>
            <a:r>
              <a:rPr lang="en-US" sz="1200" dirty="0" err="1"/>
              <a:t>agent_ID</a:t>
            </a:r>
            <a:r>
              <a:rPr lang="en-US" sz="1200" dirty="0"/>
              <a:t> mission to the new </a:t>
            </a:r>
            <a:r>
              <a:rPr lang="en-US" sz="1200" dirty="0" err="1"/>
              <a:t>agent_ID</a:t>
            </a:r>
            <a:r>
              <a:rPr lang="en-US" sz="1200" dirty="0"/>
              <a:t> mission and then a fresh agent card appears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BF4FE73-97F7-8F4C-E76B-53742BAFCC0D}"/>
              </a:ext>
            </a:extLst>
          </p:cNvPr>
          <p:cNvSpPr/>
          <p:nvPr/>
        </p:nvSpPr>
        <p:spPr>
          <a:xfrm>
            <a:off x="2879103" y="3334166"/>
            <a:ext cx="2290970" cy="15881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Users are always in need to view terminals, the web app does not replace this, ever.  It just simplifies the interactions, statuses and communications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69C0F48A-1DF7-D897-7F90-EBCF68A5C6F0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2865608" y="2145127"/>
            <a:ext cx="842151" cy="10470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3B5EB5E3-C2A0-A0C8-FED1-589D97420041}"/>
              </a:ext>
            </a:extLst>
          </p:cNvPr>
          <p:cNvCxnSpPr>
            <a:stCxn id="12" idx="3"/>
            <a:endCxn id="20" idx="1"/>
          </p:cNvCxnSpPr>
          <p:nvPr/>
        </p:nvCxnSpPr>
        <p:spPr>
          <a:xfrm flipV="1">
            <a:off x="5059840" y="2249829"/>
            <a:ext cx="238231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5B18D62-902E-5F2A-9575-1AD960C09D12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 flipV="1">
            <a:off x="7859652" y="1483981"/>
            <a:ext cx="988913" cy="765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2FC86B8-82A1-3D5C-1E62-A876B75EBFCF}"/>
              </a:ext>
            </a:extLst>
          </p:cNvPr>
          <p:cNvCxnSpPr>
            <a:cxnSpLocks/>
            <a:stCxn id="21" idx="2"/>
            <a:endCxn id="70" idx="0"/>
          </p:cNvCxnSpPr>
          <p:nvPr/>
        </p:nvCxnSpPr>
        <p:spPr>
          <a:xfrm flipH="1">
            <a:off x="9974630" y="2315889"/>
            <a:ext cx="154726" cy="314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1DB367D-1824-0714-8DD9-F243367498C0}"/>
              </a:ext>
            </a:extLst>
          </p:cNvPr>
          <p:cNvCxnSpPr>
            <a:stCxn id="24" idx="1"/>
            <a:endCxn id="26" idx="3"/>
          </p:cNvCxnSpPr>
          <p:nvPr/>
        </p:nvCxnSpPr>
        <p:spPr>
          <a:xfrm flipH="1">
            <a:off x="7943414" y="3957390"/>
            <a:ext cx="423521" cy="221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A378E32-5CE1-CED6-8587-99C7AB527057}"/>
              </a:ext>
            </a:extLst>
          </p:cNvPr>
          <p:cNvCxnSpPr>
            <a:stCxn id="26" idx="1"/>
            <a:endCxn id="34" idx="3"/>
          </p:cNvCxnSpPr>
          <p:nvPr/>
        </p:nvCxnSpPr>
        <p:spPr>
          <a:xfrm flipH="1" flipV="1">
            <a:off x="5170073" y="4128240"/>
            <a:ext cx="211760" cy="50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D9F5A2C-F2DE-B95D-A1B1-8B843B2AA594}"/>
              </a:ext>
            </a:extLst>
          </p:cNvPr>
          <p:cNvCxnSpPr>
            <a:cxnSpLocks/>
            <a:stCxn id="34" idx="1"/>
            <a:endCxn id="27" idx="3"/>
          </p:cNvCxnSpPr>
          <p:nvPr/>
        </p:nvCxnSpPr>
        <p:spPr>
          <a:xfrm flipH="1" flipV="1">
            <a:off x="2610578" y="4051820"/>
            <a:ext cx="268525" cy="76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DD0EB15-6983-8CBA-A9E4-BEA536196EB6}"/>
              </a:ext>
            </a:extLst>
          </p:cNvPr>
          <p:cNvCxnSpPr>
            <a:cxnSpLocks/>
            <a:stCxn id="27" idx="2"/>
            <a:endCxn id="32" idx="0"/>
          </p:cNvCxnSpPr>
          <p:nvPr/>
        </p:nvCxnSpPr>
        <p:spPr>
          <a:xfrm>
            <a:off x="1465093" y="4745024"/>
            <a:ext cx="455003" cy="3736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3DD4E3F-7996-F0BD-84BD-9154C4E86E8D}"/>
              </a:ext>
            </a:extLst>
          </p:cNvPr>
          <p:cNvCxnSpPr>
            <a:cxnSpLocks/>
            <a:stCxn id="32" idx="3"/>
            <a:endCxn id="7" idx="1"/>
          </p:cNvCxnSpPr>
          <p:nvPr/>
        </p:nvCxnSpPr>
        <p:spPr>
          <a:xfrm flipV="1">
            <a:off x="3643639" y="5811885"/>
            <a:ext cx="29491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1B8DEE5-503D-0AF8-9106-31498833228F}"/>
              </a:ext>
            </a:extLst>
          </p:cNvPr>
          <p:cNvCxnSpPr>
            <a:cxnSpLocks/>
            <a:stCxn id="7" idx="3"/>
            <a:endCxn id="23" idx="1"/>
          </p:cNvCxnSpPr>
          <p:nvPr/>
        </p:nvCxnSpPr>
        <p:spPr>
          <a:xfrm flipV="1">
            <a:off x="5809184" y="5482192"/>
            <a:ext cx="2345990" cy="329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439750C-32DB-8FDB-C4EE-BD43C33C5E1E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>
          <a:xfrm flipH="1">
            <a:off x="9435965" y="4429828"/>
            <a:ext cx="211761" cy="492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75C69F3E-8947-3965-778F-66511729B8A9}"/>
              </a:ext>
            </a:extLst>
          </p:cNvPr>
          <p:cNvSpPr/>
          <p:nvPr/>
        </p:nvSpPr>
        <p:spPr>
          <a:xfrm>
            <a:off x="8693839" y="2630193"/>
            <a:ext cx="2561581" cy="6065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launches Jobs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E26D717-5F70-3457-2984-BA7152EF6E16}"/>
              </a:ext>
            </a:extLst>
          </p:cNvPr>
          <p:cNvCxnSpPr>
            <a:stCxn id="70" idx="2"/>
            <a:endCxn id="24" idx="0"/>
          </p:cNvCxnSpPr>
          <p:nvPr/>
        </p:nvCxnSpPr>
        <p:spPr>
          <a:xfrm flipH="1">
            <a:off x="9647726" y="3236706"/>
            <a:ext cx="326904" cy="248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C42882-DA87-B7BF-B9E3-EBC21F3A39D6}"/>
              </a:ext>
            </a:extLst>
          </p:cNvPr>
          <p:cNvSpPr/>
          <p:nvPr/>
        </p:nvSpPr>
        <p:spPr>
          <a:xfrm>
            <a:off x="3938557" y="5081871"/>
            <a:ext cx="1870627" cy="146002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clicks [Launch Agent] on new agent card and agent starts working</a:t>
            </a:r>
          </a:p>
        </p:txBody>
      </p:sp>
    </p:spTree>
    <p:extLst>
      <p:ext uri="{BB962C8B-B14F-4D97-AF65-F5344CB8AC3E}">
        <p14:creationId xmlns:p14="http://schemas.microsoft.com/office/powerpoint/2010/main" val="3821459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0ACDE-F9E7-9815-2392-D719FABAD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08609-4639-430C-AFBE-933B59E02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019" y="362731"/>
            <a:ext cx="8511546" cy="619077"/>
          </a:xfrm>
        </p:spPr>
        <p:txBody>
          <a:bodyPr>
            <a:noAutofit/>
          </a:bodyPr>
          <a:lstStyle/>
          <a:p>
            <a:r>
              <a:rPr lang="en-US" sz="3200" dirty="0"/>
              <a:t>360 memory Manager for subagents Claude Code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50F2BD1-9195-DDC9-4EA4-3B27A003C323}"/>
              </a:ext>
            </a:extLst>
          </p:cNvPr>
          <p:cNvSpPr/>
          <p:nvPr/>
        </p:nvSpPr>
        <p:spPr>
          <a:xfrm>
            <a:off x="716769" y="1072403"/>
            <a:ext cx="2148839" cy="214544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Manages context of work done in past to assist orchestrator in defining mission for subagents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A458031-2473-A4D2-FA35-A0CC32FFEC38}"/>
              </a:ext>
            </a:extLst>
          </p:cNvPr>
          <p:cNvSpPr/>
          <p:nvPr/>
        </p:nvSpPr>
        <p:spPr>
          <a:xfrm>
            <a:off x="3707759" y="1498194"/>
            <a:ext cx="1352081" cy="15032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presses [Stage Project]</a:t>
            </a:r>
          </a:p>
        </p:txBody>
      </p:sp>
      <p:sp>
        <p:nvSpPr>
          <p:cNvPr id="67" name="Slide Number Placeholder 66">
            <a:extLst>
              <a:ext uri="{FF2B5EF4-FFF2-40B4-BE49-F238E27FC236}">
                <a16:creationId xmlns:a16="http://schemas.microsoft.com/office/drawing/2014/main" id="{90D5D73D-125B-2E22-60B4-12E95B4E3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25</a:t>
            </a:fld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8BC83C4-1EFA-0018-AB38-A803FD4B2BC6}"/>
              </a:ext>
            </a:extLst>
          </p:cNvPr>
          <p:cNvSpPr/>
          <p:nvPr/>
        </p:nvSpPr>
        <p:spPr>
          <a:xfrm>
            <a:off x="5298071" y="1498193"/>
            <a:ext cx="2561581" cy="15032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Orchestrator collects context data to build mission and to assign missions to agents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C73DAD1-41DF-BC26-F6B9-C149BD133734}"/>
              </a:ext>
            </a:extLst>
          </p:cNvPr>
          <p:cNvSpPr/>
          <p:nvPr/>
        </p:nvSpPr>
        <p:spPr>
          <a:xfrm>
            <a:off x="8848565" y="652073"/>
            <a:ext cx="2561581" cy="16638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Agents get tuned missions based on project description and entire product context including 360 memory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8038700-921A-97AD-641E-71B3CBF01B59}"/>
              </a:ext>
            </a:extLst>
          </p:cNvPr>
          <p:cNvSpPr/>
          <p:nvPr/>
        </p:nvSpPr>
        <p:spPr>
          <a:xfrm>
            <a:off x="1776259" y="3706110"/>
            <a:ext cx="2561581" cy="9448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Orchestrator finishes with agent team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19744EF-CC03-A0B2-40C0-54283B3D6B78}"/>
              </a:ext>
            </a:extLst>
          </p:cNvPr>
          <p:cNvSpPr/>
          <p:nvPr/>
        </p:nvSpPr>
        <p:spPr>
          <a:xfrm>
            <a:off x="8693839" y="3540221"/>
            <a:ext cx="2561581" cy="94487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Jobs for the current project are executed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F55D0B3-AEAF-E78F-6EAF-2C1AA0743CFD}"/>
              </a:ext>
            </a:extLst>
          </p:cNvPr>
          <p:cNvSpPr/>
          <p:nvPr/>
        </p:nvSpPr>
        <p:spPr>
          <a:xfrm>
            <a:off x="5381833" y="3484951"/>
            <a:ext cx="2561581" cy="13871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Claude Code orchestrator manages, and spawns' subagents as needed to finish the job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F3126D0F-8B6C-9005-E359-33FEF8359B55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2865608" y="2145127"/>
            <a:ext cx="842151" cy="10470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2C303619-FEB8-47CF-96EE-48C67AA269A0}"/>
              </a:ext>
            </a:extLst>
          </p:cNvPr>
          <p:cNvCxnSpPr>
            <a:stCxn id="12" idx="3"/>
            <a:endCxn id="20" idx="1"/>
          </p:cNvCxnSpPr>
          <p:nvPr/>
        </p:nvCxnSpPr>
        <p:spPr>
          <a:xfrm flipV="1">
            <a:off x="5059840" y="2249829"/>
            <a:ext cx="238231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2E57FDA-2679-9C38-E653-D18A8C2811A9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 flipV="1">
            <a:off x="7859652" y="1483981"/>
            <a:ext cx="988913" cy="765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4140ABC-50D6-C4C3-B436-40A483928BEE}"/>
              </a:ext>
            </a:extLst>
          </p:cNvPr>
          <p:cNvCxnSpPr>
            <a:cxnSpLocks/>
            <a:stCxn id="21" idx="2"/>
            <a:endCxn id="70" idx="0"/>
          </p:cNvCxnSpPr>
          <p:nvPr/>
        </p:nvCxnSpPr>
        <p:spPr>
          <a:xfrm>
            <a:off x="10129356" y="2315889"/>
            <a:ext cx="42501" cy="314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85FDDA8-BA84-5BD7-2727-1A87A10C9E3E}"/>
              </a:ext>
            </a:extLst>
          </p:cNvPr>
          <p:cNvCxnSpPr>
            <a:stCxn id="24" idx="1"/>
            <a:endCxn id="26" idx="3"/>
          </p:cNvCxnSpPr>
          <p:nvPr/>
        </p:nvCxnSpPr>
        <p:spPr>
          <a:xfrm flipH="1">
            <a:off x="7943414" y="4012659"/>
            <a:ext cx="750425" cy="165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DAE3229-8F96-B6BE-7505-9E8F6AD49D79}"/>
              </a:ext>
            </a:extLst>
          </p:cNvPr>
          <p:cNvCxnSpPr>
            <a:cxnSpLocks/>
            <a:stCxn id="26" idx="1"/>
            <a:endCxn id="23" idx="3"/>
          </p:cNvCxnSpPr>
          <p:nvPr/>
        </p:nvCxnSpPr>
        <p:spPr>
          <a:xfrm flipH="1" flipV="1">
            <a:off x="4337840" y="4178548"/>
            <a:ext cx="104399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9165678-73A7-8720-5DE0-84E5712196B4}"/>
              </a:ext>
            </a:extLst>
          </p:cNvPr>
          <p:cNvSpPr/>
          <p:nvPr/>
        </p:nvSpPr>
        <p:spPr>
          <a:xfrm>
            <a:off x="8693839" y="2630193"/>
            <a:ext cx="2956036" cy="6065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launches Jobs in singular terminal window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FB77763-5A03-D36F-B00B-969254EB1181}"/>
              </a:ext>
            </a:extLst>
          </p:cNvPr>
          <p:cNvCxnSpPr>
            <a:cxnSpLocks/>
            <a:stCxn id="70" idx="2"/>
            <a:endCxn id="24" idx="0"/>
          </p:cNvCxnSpPr>
          <p:nvPr/>
        </p:nvCxnSpPr>
        <p:spPr>
          <a:xfrm flipH="1">
            <a:off x="9974630" y="3236706"/>
            <a:ext cx="197227" cy="3035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346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7B0AD-1F22-1D1F-D3F2-783AECB4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98AB0-3C0E-832D-E989-B7ED6EA89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975" y="493082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Job Staging Workflow Part 1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7BA7B30-3B54-3D5D-7132-B9F32F1144E6}"/>
              </a:ext>
            </a:extLst>
          </p:cNvPr>
          <p:cNvSpPr/>
          <p:nvPr/>
        </p:nvSpPr>
        <p:spPr>
          <a:xfrm>
            <a:off x="711975" y="2540776"/>
            <a:ext cx="2373251" cy="50605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is Activated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2D5C3C7-18EE-E2C2-39B2-66F606492358}"/>
              </a:ext>
            </a:extLst>
          </p:cNvPr>
          <p:cNvSpPr/>
          <p:nvPr/>
        </p:nvSpPr>
        <p:spPr>
          <a:xfrm>
            <a:off x="3392344" y="2365093"/>
            <a:ext cx="1782263" cy="85742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Unique product link is created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167C513-ADDE-7AC0-D2F7-88DA0B56E4D2}"/>
              </a:ext>
            </a:extLst>
          </p:cNvPr>
          <p:cNvSpPr/>
          <p:nvPr/>
        </p:nvSpPr>
        <p:spPr>
          <a:xfrm>
            <a:off x="5765595" y="2458913"/>
            <a:ext cx="3315001" cy="66426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" dirty="0"/>
              <a:t>http://</a:t>
            </a:r>
          </a:p>
          <a:p>
            <a:pPr algn="ctr"/>
            <a:r>
              <a:rPr lang="en-US" sz="1200" dirty="0"/>
              <a:t>{host or IP}:port/projects/{</a:t>
            </a:r>
            <a:r>
              <a:rPr lang="en-US" sz="1200" dirty="0" err="1"/>
              <a:t>project_ID</a:t>
            </a:r>
            <a:r>
              <a:rPr lang="en-US" sz="1200" dirty="0"/>
              <a:t>}?via=jobs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9418187-9F9C-EF77-EDAA-8FEDB90ADA7A}"/>
              </a:ext>
            </a:extLst>
          </p:cNvPr>
          <p:cNvSpPr/>
          <p:nvPr/>
        </p:nvSpPr>
        <p:spPr>
          <a:xfrm>
            <a:off x="9743129" y="1693863"/>
            <a:ext cx="2216779" cy="152865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Reachable via [Launch Project] button in project list or Jobs left side nav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AE03266-ADB5-04A8-3A1E-64B6A85CDC13}"/>
              </a:ext>
            </a:extLst>
          </p:cNvPr>
          <p:cNvSpPr/>
          <p:nvPr/>
        </p:nvSpPr>
        <p:spPr>
          <a:xfrm>
            <a:off x="62821" y="3628537"/>
            <a:ext cx="2967141" cy="7480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 appears with</a:t>
            </a:r>
          </a:p>
          <a:p>
            <a:pPr algn="ctr"/>
            <a:r>
              <a:rPr lang="en-US" dirty="0"/>
              <a:t> [ &gt; Stage Project] Button</a:t>
            </a:r>
          </a:p>
          <a:p>
            <a:pPr algn="ctr"/>
            <a:r>
              <a:rPr lang="en-US" dirty="0"/>
              <a:t>Startin in </a:t>
            </a:r>
            <a:r>
              <a:rPr lang="en-US" dirty="0" err="1"/>
              <a:t>vue</a:t>
            </a:r>
            <a:r>
              <a:rPr lang="en-US" dirty="0"/>
              <a:t> TAB ‘Launch’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15F1299-955E-18BD-F198-34FFFDD9A047}"/>
              </a:ext>
            </a:extLst>
          </p:cNvPr>
          <p:cNvCxnSpPr>
            <a:cxnSpLocks/>
            <a:stCxn id="3" idx="3"/>
            <a:endCxn id="25" idx="1"/>
          </p:cNvCxnSpPr>
          <p:nvPr/>
        </p:nvCxnSpPr>
        <p:spPr>
          <a:xfrm flipV="1">
            <a:off x="3085226" y="2793804"/>
            <a:ext cx="30711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AB3F87F-F82D-4284-4B11-FC98EA16B9B1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 flipV="1">
            <a:off x="5174607" y="2791047"/>
            <a:ext cx="590988" cy="2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6E14F2D-925E-D310-622C-4E61BCBF1A7A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080596" y="2791047"/>
            <a:ext cx="6625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2E8BD93F-BAE3-8065-1BC3-B7374DD36A4D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rot="5400000">
            <a:off x="5995945" y="-1227037"/>
            <a:ext cx="406022" cy="93051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C6F7BE3-AB3C-41E8-0C7A-01CDBF0A07E1}"/>
              </a:ext>
            </a:extLst>
          </p:cNvPr>
          <p:cNvCxnSpPr>
            <a:cxnSpLocks/>
            <a:stCxn id="28" idx="3"/>
            <a:endCxn id="5" idx="1"/>
          </p:cNvCxnSpPr>
          <p:nvPr/>
        </p:nvCxnSpPr>
        <p:spPr>
          <a:xfrm>
            <a:off x="3029962" y="4002547"/>
            <a:ext cx="4436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4F9C33C-1014-FF1A-7F67-14614E19EFE1}"/>
              </a:ext>
            </a:extLst>
          </p:cNvPr>
          <p:cNvSpPr/>
          <p:nvPr/>
        </p:nvSpPr>
        <p:spPr>
          <a:xfrm>
            <a:off x="6440789" y="3614652"/>
            <a:ext cx="2844128" cy="78284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 empty “Orchestrator Generated Mission” window appears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1229CD-5876-6C83-4372-240446F42BC3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6049900" y="4002547"/>
            <a:ext cx="390889" cy="35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8D5791E-91EB-C301-A56F-50184CF96219}"/>
              </a:ext>
            </a:extLst>
          </p:cNvPr>
          <p:cNvSpPr/>
          <p:nvPr/>
        </p:nvSpPr>
        <p:spPr>
          <a:xfrm>
            <a:off x="8973856" y="4504089"/>
            <a:ext cx="2373251" cy="2277269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Initial Agent card for the system specified Orchestrator Agent appears with {</a:t>
            </a:r>
            <a:r>
              <a:rPr lang="en-US" dirty="0" err="1"/>
              <a:t>agent_ID</a:t>
            </a:r>
            <a:r>
              <a:rPr lang="en-US" dirty="0"/>
              <a:t>} and simple role description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B28C5F-E427-1E14-C746-DD9CF4806614}"/>
              </a:ext>
            </a:extLst>
          </p:cNvPr>
          <p:cNvSpPr/>
          <p:nvPr/>
        </p:nvSpPr>
        <p:spPr>
          <a:xfrm>
            <a:off x="3473648" y="3719878"/>
            <a:ext cx="2576252" cy="56533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project description appear and is editable</a:t>
            </a:r>
          </a:p>
        </p:txBody>
      </p:sp>
      <p:sp>
        <p:nvSpPr>
          <p:cNvPr id="111" name="Title 1">
            <a:extLst>
              <a:ext uri="{FF2B5EF4-FFF2-40B4-BE49-F238E27FC236}">
                <a16:creationId xmlns:a16="http://schemas.microsoft.com/office/drawing/2014/main" id="{F77DB1FE-9CA2-98EC-61DE-8B4835AA6EBB}"/>
              </a:ext>
            </a:extLst>
          </p:cNvPr>
          <p:cNvSpPr txBox="1">
            <a:spLocks/>
          </p:cNvSpPr>
          <p:nvPr/>
        </p:nvSpPr>
        <p:spPr>
          <a:xfrm>
            <a:off x="1108680" y="5369627"/>
            <a:ext cx="10515600" cy="619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See Job Staging Workflow Part 2</a:t>
            </a:r>
          </a:p>
        </p:txBody>
      </p: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1DE4C457-EC22-4E33-F8FE-6F3A9A4E87B6}"/>
              </a:ext>
            </a:extLst>
          </p:cNvPr>
          <p:cNvCxnSpPr>
            <a:cxnSpLocks/>
            <a:stCxn id="10" idx="3"/>
            <a:endCxn id="23" idx="0"/>
          </p:cNvCxnSpPr>
          <p:nvPr/>
        </p:nvCxnSpPr>
        <p:spPr>
          <a:xfrm>
            <a:off x="9284917" y="4006075"/>
            <a:ext cx="875565" cy="49801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E44441A3-2D38-321C-E6E0-32107A9D4EE0}"/>
              </a:ext>
            </a:extLst>
          </p:cNvPr>
          <p:cNvSpPr/>
          <p:nvPr/>
        </p:nvSpPr>
        <p:spPr>
          <a:xfrm>
            <a:off x="686381" y="1060829"/>
            <a:ext cx="6496196" cy="66426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/>
              <a:t>http://{host or IP}:port/projects/{</a:t>
            </a:r>
            <a:r>
              <a:rPr lang="en-US" sz="1400" dirty="0" err="1"/>
              <a:t>project_ID</a:t>
            </a:r>
            <a:r>
              <a:rPr lang="en-US" sz="1400" dirty="0"/>
              <a:t>}?via=jobs </a:t>
            </a:r>
            <a:r>
              <a:rPr lang="en-US" sz="1400" dirty="0" err="1"/>
              <a:t>vue</a:t>
            </a:r>
            <a:r>
              <a:rPr lang="en-US" sz="1400" dirty="0"/>
              <a:t> TAB called ‘Launch’</a:t>
            </a:r>
          </a:p>
        </p:txBody>
      </p:sp>
      <p:sp>
        <p:nvSpPr>
          <p:cNvPr id="121" name="Slide Number Placeholder 120">
            <a:extLst>
              <a:ext uri="{FF2B5EF4-FFF2-40B4-BE49-F238E27FC236}">
                <a16:creationId xmlns:a16="http://schemas.microsoft.com/office/drawing/2014/main" id="{C360738C-DA3B-9A16-C91D-1022AA2D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13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DE599-4DB4-E3F4-EA3A-6BA7E394D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A0DA-B068-41A4-4E5C-C6B1B949C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Job Staging Workflow Part 2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9369A28-D29E-3B90-E549-8B739AAEF650}"/>
              </a:ext>
            </a:extLst>
          </p:cNvPr>
          <p:cNvSpPr/>
          <p:nvPr/>
        </p:nvSpPr>
        <p:spPr>
          <a:xfrm>
            <a:off x="234758" y="2484865"/>
            <a:ext cx="2782472" cy="214923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Button creates dynamic “system prompt” for copy and paste into a terminal running  Agentic AI coding tool so it can stage the job for the project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A897651-033E-8B51-BC11-606BED712D4A}"/>
              </a:ext>
            </a:extLst>
          </p:cNvPr>
          <p:cNvSpPr/>
          <p:nvPr/>
        </p:nvSpPr>
        <p:spPr>
          <a:xfrm>
            <a:off x="481825" y="5220812"/>
            <a:ext cx="2288337" cy="8155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copies and pastes Prompt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6860367-8E90-878B-C94A-1B63F3787F8A}"/>
              </a:ext>
            </a:extLst>
          </p:cNvPr>
          <p:cNvSpPr/>
          <p:nvPr/>
        </p:nvSpPr>
        <p:spPr>
          <a:xfrm>
            <a:off x="3256775" y="5220811"/>
            <a:ext cx="2288337" cy="14940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Agentic CLI tool becomes “Orchestrator” Agent and executes prompt instructions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2373C9D-5BD4-2CA8-5156-7F035D487E16}"/>
              </a:ext>
            </a:extLst>
          </p:cNvPr>
          <p:cNvSpPr/>
          <p:nvPr/>
        </p:nvSpPr>
        <p:spPr>
          <a:xfrm>
            <a:off x="3255706" y="2484865"/>
            <a:ext cx="2288337" cy="20725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Orchestrator reads contexts and sources material available via MCP commands see Slide 8,9,11,14,17,18,20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EC4AC0E-9440-B71D-B44C-E2D837C5D303}"/>
              </a:ext>
            </a:extLst>
          </p:cNvPr>
          <p:cNvSpPr/>
          <p:nvPr/>
        </p:nvSpPr>
        <p:spPr>
          <a:xfrm>
            <a:off x="6030343" y="977842"/>
            <a:ext cx="2666449" cy="179814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Orchestrator selects agents (see slides 5,7,8,9,14,17,18,20, 21) based on which are enabled in Agent template manager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B6FAFA54-C001-1C1C-59C7-F70C93C5DC77}"/>
              </a:ext>
            </a:extLst>
          </p:cNvPr>
          <p:cNvSpPr/>
          <p:nvPr/>
        </p:nvSpPr>
        <p:spPr>
          <a:xfrm>
            <a:off x="5877730" y="4522735"/>
            <a:ext cx="2828695" cy="6596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Mission appears on the Jobs window once written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B501FADB-2AF5-4856-15FE-AA4DA1FD6B32}"/>
              </a:ext>
            </a:extLst>
          </p:cNvPr>
          <p:cNvSpPr/>
          <p:nvPr/>
        </p:nvSpPr>
        <p:spPr>
          <a:xfrm>
            <a:off x="5958854" y="3123431"/>
            <a:ext cx="2666449" cy="10905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Orchestrator creates mission and assigns jobs to agents creating their prompts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F7FC0CFD-CA71-1114-3E15-6938957F1249}"/>
              </a:ext>
            </a:extLst>
          </p:cNvPr>
          <p:cNvSpPr/>
          <p:nvPr/>
        </p:nvSpPr>
        <p:spPr>
          <a:xfrm>
            <a:off x="5884710" y="5796061"/>
            <a:ext cx="2828695" cy="6596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 cards appear with {</a:t>
            </a:r>
            <a:r>
              <a:rPr lang="en-US" dirty="0" err="1"/>
              <a:t>agent_ID</a:t>
            </a:r>
            <a:r>
              <a:rPr lang="en-US" dirty="0"/>
              <a:t>} and their job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187078E8-0E61-E85B-FDAD-1960A137FA2D}"/>
              </a:ext>
            </a:extLst>
          </p:cNvPr>
          <p:cNvSpPr/>
          <p:nvPr/>
        </p:nvSpPr>
        <p:spPr>
          <a:xfrm>
            <a:off x="9541867" y="4666032"/>
            <a:ext cx="2255937" cy="145984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[Launch Jobs] Button appears, a nav link to new </a:t>
            </a:r>
            <a:r>
              <a:rPr lang="en-US" dirty="0" err="1"/>
              <a:t>vue</a:t>
            </a:r>
            <a:r>
              <a:rPr lang="en-US" dirty="0"/>
              <a:t> TAB in jobs link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E90AABC0-0B51-0F09-D14C-197766B1EB28}"/>
              </a:ext>
            </a:extLst>
          </p:cNvPr>
          <p:cNvCxnSpPr>
            <a:cxnSpLocks/>
            <a:stCxn id="44" idx="2"/>
          </p:cNvCxnSpPr>
          <p:nvPr/>
        </p:nvCxnSpPr>
        <p:spPr>
          <a:xfrm rot="16200000" flipH="1">
            <a:off x="2359834" y="5302501"/>
            <a:ext cx="162035" cy="162971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547A650B-F3D4-8F44-4699-F988C20E99EC}"/>
              </a:ext>
            </a:extLst>
          </p:cNvPr>
          <p:cNvCxnSpPr>
            <a:cxnSpLocks/>
            <a:stCxn id="37" idx="0"/>
            <a:endCxn id="40" idx="2"/>
          </p:cNvCxnSpPr>
          <p:nvPr/>
        </p:nvCxnSpPr>
        <p:spPr>
          <a:xfrm rot="16200000" flipV="1">
            <a:off x="4068735" y="4888601"/>
            <a:ext cx="663351" cy="10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EE73E546-31FC-D16D-C0AC-99825CD40FD1}"/>
              </a:ext>
            </a:extLst>
          </p:cNvPr>
          <p:cNvCxnSpPr>
            <a:cxnSpLocks/>
            <a:stCxn id="40" idx="0"/>
            <a:endCxn id="41" idx="1"/>
          </p:cNvCxnSpPr>
          <p:nvPr/>
        </p:nvCxnSpPr>
        <p:spPr>
          <a:xfrm rot="5400000" flipH="1" flipV="1">
            <a:off x="4911135" y="1365657"/>
            <a:ext cx="607948" cy="163046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9E00B487-5BA7-4301-2374-F62B369A3543}"/>
              </a:ext>
            </a:extLst>
          </p:cNvPr>
          <p:cNvCxnSpPr>
            <a:cxnSpLocks/>
          </p:cNvCxnSpPr>
          <p:nvPr/>
        </p:nvCxnSpPr>
        <p:spPr>
          <a:xfrm>
            <a:off x="6440499" y="2775992"/>
            <a:ext cx="0" cy="3474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60FF4DC-E874-84BF-81DC-D4E39E0B3C9D}"/>
              </a:ext>
            </a:extLst>
          </p:cNvPr>
          <p:cNvCxnSpPr>
            <a:cxnSpLocks/>
            <a:stCxn id="81" idx="2"/>
            <a:endCxn id="80" idx="0"/>
          </p:cNvCxnSpPr>
          <p:nvPr/>
        </p:nvCxnSpPr>
        <p:spPr>
          <a:xfrm flipH="1">
            <a:off x="7292078" y="4213981"/>
            <a:ext cx="1" cy="3087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F12CF013-0EFE-68D0-4D08-7D4F25E544B4}"/>
              </a:ext>
            </a:extLst>
          </p:cNvPr>
          <p:cNvCxnSpPr>
            <a:cxnSpLocks/>
            <a:stCxn id="80" idx="2"/>
            <a:endCxn id="82" idx="0"/>
          </p:cNvCxnSpPr>
          <p:nvPr/>
        </p:nvCxnSpPr>
        <p:spPr>
          <a:xfrm rot="16200000" flipH="1">
            <a:off x="6988717" y="5485720"/>
            <a:ext cx="613702" cy="69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EF4EE550-ADE5-027B-A9BF-5FAEAB6DBF96}"/>
              </a:ext>
            </a:extLst>
          </p:cNvPr>
          <p:cNvCxnSpPr>
            <a:cxnSpLocks/>
            <a:stCxn id="82" idx="3"/>
            <a:endCxn id="83" idx="1"/>
          </p:cNvCxnSpPr>
          <p:nvPr/>
        </p:nvCxnSpPr>
        <p:spPr>
          <a:xfrm flipV="1">
            <a:off x="8713405" y="5395953"/>
            <a:ext cx="828462" cy="7299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F76CD54-263C-BAF1-30A4-2F41C42C32AA}"/>
              </a:ext>
            </a:extLst>
          </p:cNvPr>
          <p:cNvSpPr/>
          <p:nvPr/>
        </p:nvSpPr>
        <p:spPr>
          <a:xfrm>
            <a:off x="93561" y="977842"/>
            <a:ext cx="5601001" cy="7534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Uses presses [ &gt; Stage Project] Button from </a:t>
            </a:r>
          </a:p>
          <a:p>
            <a:pPr algn="ctr"/>
            <a:r>
              <a:rPr lang="en-US" dirty="0"/>
              <a:t>http://{host or IP}:port/projects/{</a:t>
            </a:r>
            <a:r>
              <a:rPr lang="en-US" dirty="0" err="1"/>
              <a:t>project_ID</a:t>
            </a:r>
            <a:r>
              <a:rPr lang="en-US" dirty="0"/>
              <a:t>}?via=jobs</a:t>
            </a:r>
          </a:p>
          <a:p>
            <a:pPr algn="ctr"/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90A903D-2C3E-B16D-A171-6232A80AF8CB}"/>
              </a:ext>
            </a:extLst>
          </p:cNvPr>
          <p:cNvCxnSpPr>
            <a:stCxn id="29" idx="2"/>
            <a:endCxn id="44" idx="0"/>
          </p:cNvCxnSpPr>
          <p:nvPr/>
        </p:nvCxnSpPr>
        <p:spPr>
          <a:xfrm>
            <a:off x="1625994" y="4634099"/>
            <a:ext cx="0" cy="5867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AB0B4DA-E3DA-6BC9-E537-D326EE986B18}"/>
              </a:ext>
            </a:extLst>
          </p:cNvPr>
          <p:cNvCxnSpPr>
            <a:cxnSpLocks/>
          </p:cNvCxnSpPr>
          <p:nvPr/>
        </p:nvCxnSpPr>
        <p:spPr>
          <a:xfrm>
            <a:off x="1625993" y="1731249"/>
            <a:ext cx="0" cy="753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0" name="Slide Number Placeholder 99">
            <a:extLst>
              <a:ext uri="{FF2B5EF4-FFF2-40B4-BE49-F238E27FC236}">
                <a16:creationId xmlns:a16="http://schemas.microsoft.com/office/drawing/2014/main" id="{33BD4776-C936-4443-8AC2-EF618129E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188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633DC-B880-9FDA-EB3F-7B82E4F09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49054-934E-3F86-63BB-E12541B40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Job Implementation Workflow START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264BDC-CA55-9DD7-BB3D-B9E1A56C73F6}"/>
              </a:ext>
            </a:extLst>
          </p:cNvPr>
          <p:cNvSpPr/>
          <p:nvPr/>
        </p:nvSpPr>
        <p:spPr>
          <a:xfrm>
            <a:off x="319924" y="1828800"/>
            <a:ext cx="3205054" cy="119011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User clicks dynamic button [Launch Jobs] after orchestrator finishes mission and agent assignments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D1D0C6-484B-32D5-A3FC-E28DD1F3069A}"/>
              </a:ext>
            </a:extLst>
          </p:cNvPr>
          <p:cNvSpPr/>
          <p:nvPr/>
        </p:nvSpPr>
        <p:spPr>
          <a:xfrm>
            <a:off x="3962397" y="1828800"/>
            <a:ext cx="3813493" cy="116219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Implementation window orchestrator with Toggle option for “Claude Code CLI” or “Legacy CLI coding mode”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2F3CAEC-31B6-5D47-B4D2-15E0114E7DA3}"/>
              </a:ext>
            </a:extLst>
          </p:cNvPr>
          <p:cNvSpPr/>
          <p:nvPr/>
        </p:nvSpPr>
        <p:spPr>
          <a:xfrm>
            <a:off x="7962024" y="2114320"/>
            <a:ext cx="1258758" cy="6190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Claude toggled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E0C6E02-8053-6882-83FB-96B5B6FFB925}"/>
              </a:ext>
            </a:extLst>
          </p:cNvPr>
          <p:cNvSpPr/>
          <p:nvPr/>
        </p:nvSpPr>
        <p:spPr>
          <a:xfrm>
            <a:off x="8247630" y="1329926"/>
            <a:ext cx="687546" cy="4386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08CCDE6-03DF-DB50-C649-45A523C65FEA}"/>
              </a:ext>
            </a:extLst>
          </p:cNvPr>
          <p:cNvCxnSpPr>
            <a:cxnSpLocks/>
            <a:stCxn id="3" idx="3"/>
            <a:endCxn id="25" idx="1"/>
          </p:cNvCxnSpPr>
          <p:nvPr/>
        </p:nvCxnSpPr>
        <p:spPr>
          <a:xfrm flipV="1">
            <a:off x="3524978" y="2409899"/>
            <a:ext cx="437419" cy="139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D0972B-A94A-3436-3080-1467906DA8A2}"/>
              </a:ext>
            </a:extLst>
          </p:cNvPr>
          <p:cNvSpPr/>
          <p:nvPr/>
        </p:nvSpPr>
        <p:spPr>
          <a:xfrm>
            <a:off x="781188" y="901031"/>
            <a:ext cx="6994702" cy="66426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/>
              <a:t>http://{host or IP}:port/projects/{</a:t>
            </a:r>
            <a:r>
              <a:rPr lang="en-US" sz="1400" dirty="0" err="1"/>
              <a:t>project_ID</a:t>
            </a:r>
            <a:r>
              <a:rPr lang="en-US" sz="1400" dirty="0"/>
              <a:t>}?via=jobs </a:t>
            </a:r>
            <a:r>
              <a:rPr lang="en-US" sz="1400" dirty="0" err="1"/>
              <a:t>vue</a:t>
            </a:r>
            <a:r>
              <a:rPr lang="en-US" sz="1400" dirty="0"/>
              <a:t> TAB called ‘Implementation’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B1CAA28-3201-2005-2926-4F63C25A18B6}"/>
              </a:ext>
            </a:extLst>
          </p:cNvPr>
          <p:cNvSpPr/>
          <p:nvPr/>
        </p:nvSpPr>
        <p:spPr>
          <a:xfrm>
            <a:off x="8247630" y="3018918"/>
            <a:ext cx="687546" cy="4386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A0C8649-33AA-A8E6-63DD-928061CC5EF7}"/>
              </a:ext>
            </a:extLst>
          </p:cNvPr>
          <p:cNvSpPr/>
          <p:nvPr/>
        </p:nvSpPr>
        <p:spPr>
          <a:xfrm>
            <a:off x="477178" y="4448766"/>
            <a:ext cx="3813493" cy="9632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Orchestrator prompt button for Claude Code is enabled. </a:t>
            </a:r>
          </a:p>
          <a:p>
            <a:pPr algn="ctr"/>
            <a:r>
              <a:rPr lang="en-US" dirty="0"/>
              <a:t>Legacy CLI Prompt is disabled.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F84A8C3-9B07-4A8D-2120-8144A75CAFA5}"/>
              </a:ext>
            </a:extLst>
          </p:cNvPr>
          <p:cNvSpPr/>
          <p:nvPr/>
        </p:nvSpPr>
        <p:spPr>
          <a:xfrm>
            <a:off x="4898311" y="3079115"/>
            <a:ext cx="3114904" cy="176511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All assigned agents have their individual prompt disabled in their agent cards, Orchestrator will instead  use Claude Code CLI’s native subagent system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867915A-99DC-00A5-4BFB-33EA33D7EE05}"/>
              </a:ext>
            </a:extLst>
          </p:cNvPr>
          <p:cNvSpPr/>
          <p:nvPr/>
        </p:nvSpPr>
        <p:spPr>
          <a:xfrm>
            <a:off x="908128" y="3238252"/>
            <a:ext cx="2951595" cy="9632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Claude code CLI mode uses built in Agent templates and subsystems in Claude Code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11854C9-4B8D-4B9A-BE86-C6381CB3E5E0}"/>
              </a:ext>
            </a:extLst>
          </p:cNvPr>
          <p:cNvSpPr/>
          <p:nvPr/>
        </p:nvSpPr>
        <p:spPr>
          <a:xfrm>
            <a:off x="592731" y="5687466"/>
            <a:ext cx="3813493" cy="9632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Orchestrator prompt instructs it to assign the staged generated jobs to subagents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DF44E4C-E9EB-8C70-49EF-9BFCDA484D2F}"/>
              </a:ext>
            </a:extLst>
          </p:cNvPr>
          <p:cNvSpPr/>
          <p:nvPr/>
        </p:nvSpPr>
        <p:spPr>
          <a:xfrm>
            <a:off x="4689891" y="5060413"/>
            <a:ext cx="3547495" cy="6352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User copes and pastes prompt in Singular terminal window work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C438023-60E0-D744-8ED9-B64FE88B4894}"/>
              </a:ext>
            </a:extLst>
          </p:cNvPr>
          <p:cNvSpPr/>
          <p:nvPr/>
        </p:nvSpPr>
        <p:spPr>
          <a:xfrm>
            <a:off x="9615740" y="326763"/>
            <a:ext cx="2133018" cy="131487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Orchestrator Legacy Cli mode prompt button is activated (this is default)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9DFB2F2-2F57-C8C2-A5B6-857269547A5E}"/>
              </a:ext>
            </a:extLst>
          </p:cNvPr>
          <p:cNvSpPr/>
          <p:nvPr/>
        </p:nvSpPr>
        <p:spPr>
          <a:xfrm>
            <a:off x="9720441" y="3634296"/>
            <a:ext cx="2133018" cy="149781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Orchestrator, after determination from above unlocks individual prompt buttons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26E0967-A3DB-E1BE-C48B-D92A2952AAFC}"/>
              </a:ext>
            </a:extLst>
          </p:cNvPr>
          <p:cNvSpPr/>
          <p:nvPr/>
        </p:nvSpPr>
        <p:spPr>
          <a:xfrm>
            <a:off x="8989263" y="5380369"/>
            <a:ext cx="2133018" cy="13686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User copies each prompt to a unique terminal window to start agents work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40B32F0-C701-100D-3B2A-204575A54277}"/>
              </a:ext>
            </a:extLst>
          </p:cNvPr>
          <p:cNvSpPr/>
          <p:nvPr/>
        </p:nvSpPr>
        <p:spPr>
          <a:xfrm>
            <a:off x="9406916" y="1902484"/>
            <a:ext cx="2613487" cy="14978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User instructed to launch orchestrator first, to determine parallel or sequential agent use for the project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AF62D7C2-3897-A17B-AC82-2258DD6DD69C}"/>
              </a:ext>
            </a:extLst>
          </p:cNvPr>
          <p:cNvCxnSpPr>
            <a:stCxn id="25" idx="3"/>
            <a:endCxn id="26" idx="1"/>
          </p:cNvCxnSpPr>
          <p:nvPr/>
        </p:nvCxnSpPr>
        <p:spPr>
          <a:xfrm>
            <a:off x="7775890" y="2409899"/>
            <a:ext cx="186134" cy="1396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72D52C5-6B65-6546-61E9-D7BDB53A4D6F}"/>
              </a:ext>
            </a:extLst>
          </p:cNvPr>
          <p:cNvCxnSpPr>
            <a:stCxn id="26" idx="0"/>
            <a:endCxn id="27" idx="2"/>
          </p:cNvCxnSpPr>
          <p:nvPr/>
        </p:nvCxnSpPr>
        <p:spPr>
          <a:xfrm flipV="1">
            <a:off x="8591403" y="1768595"/>
            <a:ext cx="0" cy="345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88C40782-E82B-09DB-0763-1396D8E75E8D}"/>
              </a:ext>
            </a:extLst>
          </p:cNvPr>
          <p:cNvCxnSpPr>
            <a:stCxn id="27" idx="0"/>
            <a:endCxn id="41" idx="1"/>
          </p:cNvCxnSpPr>
          <p:nvPr/>
        </p:nvCxnSpPr>
        <p:spPr>
          <a:xfrm rot="5400000" flipH="1" flipV="1">
            <a:off x="8930709" y="644896"/>
            <a:ext cx="345724" cy="102433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B672E93-7C1A-123D-27C1-E42F7FB34AF7}"/>
              </a:ext>
            </a:extLst>
          </p:cNvPr>
          <p:cNvCxnSpPr>
            <a:stCxn id="26" idx="2"/>
            <a:endCxn id="24" idx="0"/>
          </p:cNvCxnSpPr>
          <p:nvPr/>
        </p:nvCxnSpPr>
        <p:spPr>
          <a:xfrm>
            <a:off x="8591403" y="2733397"/>
            <a:ext cx="0" cy="2855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9AF92AA-B09D-16A4-A0DA-5EDC90527AA8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8013215" y="3238253"/>
            <a:ext cx="2344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CCBD09D-09DF-D57F-FED8-C57980E830D6}"/>
              </a:ext>
            </a:extLst>
          </p:cNvPr>
          <p:cNvCxnSpPr>
            <a:cxnSpLocks/>
            <a:stCxn id="31" idx="1"/>
            <a:endCxn id="33" idx="3"/>
          </p:cNvCxnSpPr>
          <p:nvPr/>
        </p:nvCxnSpPr>
        <p:spPr>
          <a:xfrm flipH="1" flipV="1">
            <a:off x="3859723" y="3719882"/>
            <a:ext cx="1038588" cy="2417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770AFA9-ED5C-1DB3-17C9-4E116082676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>
          <a:xfrm flipH="1">
            <a:off x="2383925" y="4201512"/>
            <a:ext cx="1" cy="2472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5F62596-1A1C-01F8-819F-781D9837C64E}"/>
              </a:ext>
            </a:extLst>
          </p:cNvPr>
          <p:cNvCxnSpPr>
            <a:cxnSpLocks/>
            <a:stCxn id="30" idx="2"/>
            <a:endCxn id="37" idx="0"/>
          </p:cNvCxnSpPr>
          <p:nvPr/>
        </p:nvCxnSpPr>
        <p:spPr>
          <a:xfrm>
            <a:off x="2383925" y="5412026"/>
            <a:ext cx="115553" cy="2754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C92C21B-30C5-BAAE-E3F9-720A41398E16}"/>
              </a:ext>
            </a:extLst>
          </p:cNvPr>
          <p:cNvCxnSpPr>
            <a:cxnSpLocks/>
            <a:stCxn id="37" idx="3"/>
            <a:endCxn id="40" idx="1"/>
          </p:cNvCxnSpPr>
          <p:nvPr/>
        </p:nvCxnSpPr>
        <p:spPr>
          <a:xfrm flipV="1">
            <a:off x="4406224" y="5378035"/>
            <a:ext cx="283667" cy="7910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AE517C3-5F33-E7FE-54C1-F29A3AC3CC6F}"/>
              </a:ext>
            </a:extLst>
          </p:cNvPr>
          <p:cNvCxnSpPr>
            <a:cxnSpLocks/>
            <a:stCxn id="41" idx="2"/>
            <a:endCxn id="48" idx="0"/>
          </p:cNvCxnSpPr>
          <p:nvPr/>
        </p:nvCxnSpPr>
        <p:spPr>
          <a:xfrm>
            <a:off x="10682249" y="1641641"/>
            <a:ext cx="31411" cy="2608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68D76C4-EBA2-105D-B331-0F7FF417A198}"/>
              </a:ext>
            </a:extLst>
          </p:cNvPr>
          <p:cNvCxnSpPr>
            <a:cxnSpLocks/>
            <a:stCxn id="48" idx="2"/>
            <a:endCxn id="43" idx="0"/>
          </p:cNvCxnSpPr>
          <p:nvPr/>
        </p:nvCxnSpPr>
        <p:spPr>
          <a:xfrm>
            <a:off x="10713660" y="3400294"/>
            <a:ext cx="73290" cy="2340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CE2A84F-3B15-B4D8-5D1A-8280535D92A8}"/>
              </a:ext>
            </a:extLst>
          </p:cNvPr>
          <p:cNvCxnSpPr>
            <a:cxnSpLocks/>
            <a:stCxn id="43" idx="2"/>
            <a:endCxn id="45" idx="0"/>
          </p:cNvCxnSpPr>
          <p:nvPr/>
        </p:nvCxnSpPr>
        <p:spPr>
          <a:xfrm flipH="1">
            <a:off x="10055772" y="5132107"/>
            <a:ext cx="731178" cy="2482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1B3A52D9-69C4-D67C-BA94-5796D95BFB82}"/>
              </a:ext>
            </a:extLst>
          </p:cNvPr>
          <p:cNvSpPr/>
          <p:nvPr/>
        </p:nvSpPr>
        <p:spPr>
          <a:xfrm>
            <a:off x="4874461" y="5895464"/>
            <a:ext cx="2743201" cy="8200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sz="1400" dirty="0"/>
              <a:t>Agents start work</a:t>
            </a:r>
          </a:p>
          <a:p>
            <a:pPr algn="ctr"/>
            <a:r>
              <a:rPr lang="en-US" sz="1400" dirty="0"/>
              <a:t>See Job Implementations</a:t>
            </a:r>
          </a:p>
          <a:p>
            <a:pPr algn="ctr"/>
            <a:r>
              <a:rPr lang="en-US" sz="1400" dirty="0"/>
              <a:t>Workflows ACTION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FAF69B5-63C5-D0C5-8B35-BC4C14D2007C}"/>
              </a:ext>
            </a:extLst>
          </p:cNvPr>
          <p:cNvCxnSpPr>
            <a:cxnSpLocks/>
            <a:stCxn id="45" idx="1"/>
            <a:endCxn id="85" idx="3"/>
          </p:cNvCxnSpPr>
          <p:nvPr/>
        </p:nvCxnSpPr>
        <p:spPr>
          <a:xfrm flipH="1">
            <a:off x="7617662" y="6064694"/>
            <a:ext cx="1371601" cy="2407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61087B2-FA70-4790-E317-2462438069D6}"/>
              </a:ext>
            </a:extLst>
          </p:cNvPr>
          <p:cNvCxnSpPr>
            <a:cxnSpLocks/>
            <a:stCxn id="40" idx="2"/>
            <a:endCxn id="85" idx="0"/>
          </p:cNvCxnSpPr>
          <p:nvPr/>
        </p:nvCxnSpPr>
        <p:spPr>
          <a:xfrm flipH="1">
            <a:off x="6246062" y="5695657"/>
            <a:ext cx="217577" cy="1998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3" name="Slide Number Placeholder 92">
            <a:extLst>
              <a:ext uri="{FF2B5EF4-FFF2-40B4-BE49-F238E27FC236}">
                <a16:creationId xmlns:a16="http://schemas.microsoft.com/office/drawing/2014/main" id="{0BED4BCA-C861-6650-2DEE-73C35FE08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52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80BBC-3B25-DFF0-2CC5-28D2F73A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942B4-F971-989D-FB00-794D2E28A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077"/>
          </a:xfrm>
        </p:spPr>
        <p:txBody>
          <a:bodyPr>
            <a:normAutofit fontScale="90000"/>
          </a:bodyPr>
          <a:lstStyle/>
          <a:p>
            <a:r>
              <a:rPr lang="en-US" dirty="0"/>
              <a:t>Job Implementation Workflow ACTION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B63C60-23C4-8B5E-81FA-9635CC8F327F}"/>
              </a:ext>
            </a:extLst>
          </p:cNvPr>
          <p:cNvSpPr/>
          <p:nvPr/>
        </p:nvSpPr>
        <p:spPr>
          <a:xfrm>
            <a:off x="312944" y="1878877"/>
            <a:ext cx="3205054" cy="4446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Agents are working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71A640C-BC75-5883-8C69-6D1FDF030F2C}"/>
              </a:ext>
            </a:extLst>
          </p:cNvPr>
          <p:cNvSpPr/>
          <p:nvPr/>
        </p:nvSpPr>
        <p:spPr>
          <a:xfrm>
            <a:off x="7785778" y="1791776"/>
            <a:ext cx="3205054" cy="9748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Agents communicate via MCP to update status , visible in a message pane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591F3FD-1999-AE04-2D17-E8BBC1E59EF2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7233468" y="2279214"/>
            <a:ext cx="552310" cy="1306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05E07A-6078-0B51-1256-86B11E676038}"/>
              </a:ext>
            </a:extLst>
          </p:cNvPr>
          <p:cNvSpPr/>
          <p:nvPr/>
        </p:nvSpPr>
        <p:spPr>
          <a:xfrm>
            <a:off x="781188" y="901031"/>
            <a:ext cx="6994702" cy="66426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/>
              <a:t>http://{host or IP}:port/projects/{</a:t>
            </a:r>
            <a:r>
              <a:rPr lang="en-US" sz="1400" dirty="0" err="1"/>
              <a:t>project_ID</a:t>
            </a:r>
            <a:r>
              <a:rPr lang="en-US" sz="1400" dirty="0"/>
              <a:t>}?via=jobs </a:t>
            </a:r>
            <a:r>
              <a:rPr lang="en-US" sz="1400" dirty="0" err="1"/>
              <a:t>vue</a:t>
            </a:r>
            <a:r>
              <a:rPr lang="en-US" sz="1400" dirty="0"/>
              <a:t> TAB called ‘Implementation’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6231A7D-802C-93F1-4E3C-251145A4BA89}"/>
              </a:ext>
            </a:extLst>
          </p:cNvPr>
          <p:cNvSpPr/>
          <p:nvPr/>
        </p:nvSpPr>
        <p:spPr>
          <a:xfrm>
            <a:off x="7830853" y="3381436"/>
            <a:ext cx="3114904" cy="1236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Use can send messages to agent via message pane.  Orchestrator direct or Broadcast to all agents.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4AE6459-4C22-CA7D-5E66-C6544BDD4171}"/>
              </a:ext>
            </a:extLst>
          </p:cNvPr>
          <p:cNvSpPr/>
          <p:nvPr/>
        </p:nvSpPr>
        <p:spPr>
          <a:xfrm>
            <a:off x="4639183" y="3219000"/>
            <a:ext cx="2133018" cy="15611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Messages become part of auditable functions (future), currently the user is just informed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07A67B8-636C-EFB5-D44A-9BD573F0666D}"/>
              </a:ext>
            </a:extLst>
          </p:cNvPr>
          <p:cNvSpPr/>
          <p:nvPr/>
        </p:nvSpPr>
        <p:spPr>
          <a:xfrm>
            <a:off x="465627" y="2989932"/>
            <a:ext cx="3114904" cy="1236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User can at any time interact via CLI tool terminal windows and often will, as it bypasses check ins and queues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99B75D9-D436-137D-AED9-E370D66195E7}"/>
              </a:ext>
            </a:extLst>
          </p:cNvPr>
          <p:cNvSpPr/>
          <p:nvPr/>
        </p:nvSpPr>
        <p:spPr>
          <a:xfrm>
            <a:off x="4028414" y="1791776"/>
            <a:ext cx="3205054" cy="1236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Agent templates and job instructions enforce the need for MCP communications as they work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752A62D-5D9D-A338-694C-9185050F4AC4}"/>
              </a:ext>
            </a:extLst>
          </p:cNvPr>
          <p:cNvCxnSpPr>
            <a:cxnSpLocks/>
            <a:stCxn id="3" idx="3"/>
            <a:endCxn id="23" idx="1"/>
          </p:cNvCxnSpPr>
          <p:nvPr/>
        </p:nvCxnSpPr>
        <p:spPr>
          <a:xfrm>
            <a:off x="3517998" y="2101205"/>
            <a:ext cx="510416" cy="3086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ED8A782-0830-A9DD-678F-1B52063D8AC2}"/>
              </a:ext>
            </a:extLst>
          </p:cNvPr>
          <p:cNvSpPr/>
          <p:nvPr/>
        </p:nvSpPr>
        <p:spPr>
          <a:xfrm>
            <a:off x="465627" y="4342175"/>
            <a:ext cx="3114904" cy="1236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When all agents are complete user can after reviews , tests, validation close out the project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19BE6F5-B495-E5CC-FD40-CA866C048D5D}"/>
              </a:ext>
            </a:extLst>
          </p:cNvPr>
          <p:cNvSpPr/>
          <p:nvPr/>
        </p:nvSpPr>
        <p:spPr>
          <a:xfrm>
            <a:off x="4639183" y="4926601"/>
            <a:ext cx="2784807" cy="172655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sz="1600" dirty="0"/>
              <a:t>Project gets tagged as completed and agents are decommissioned.  Cannot be MCP interacted with, nor can the project be modified from outside during other projects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09A2470-52A9-3258-C19D-92831B9CC0D4}"/>
              </a:ext>
            </a:extLst>
          </p:cNvPr>
          <p:cNvSpPr/>
          <p:nvPr/>
        </p:nvSpPr>
        <p:spPr>
          <a:xfrm>
            <a:off x="8238896" y="5114484"/>
            <a:ext cx="3114904" cy="135078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Project is readable, shows in history of dashboard, can be reactivated if needed, reactivating agents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0CB9701-4743-126B-4E7F-CCC23CFB6D41}"/>
              </a:ext>
            </a:extLst>
          </p:cNvPr>
          <p:cNvSpPr/>
          <p:nvPr/>
        </p:nvSpPr>
        <p:spPr>
          <a:xfrm>
            <a:off x="460296" y="5789878"/>
            <a:ext cx="3114904" cy="9587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algn="ctr"/>
            <a:r>
              <a:rPr lang="en-US" dirty="0"/>
              <a:t>User can keep instruction agents and change their status to keep going if needed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65C7CA7-9737-4C08-F69E-984D3B8DFF8A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9388305" y="2766651"/>
            <a:ext cx="0" cy="6147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1532850-53E1-12C0-F18D-EE27FE04049A}"/>
              </a:ext>
            </a:extLst>
          </p:cNvPr>
          <p:cNvCxnSpPr>
            <a:cxnSpLocks/>
            <a:stCxn id="31" idx="1"/>
            <a:endCxn id="41" idx="3"/>
          </p:cNvCxnSpPr>
          <p:nvPr/>
        </p:nvCxnSpPr>
        <p:spPr>
          <a:xfrm flipH="1">
            <a:off x="6772201" y="3999556"/>
            <a:ext cx="1058652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24E55F1-A486-E6EC-E93D-977907005BEE}"/>
              </a:ext>
            </a:extLst>
          </p:cNvPr>
          <p:cNvCxnSpPr>
            <a:cxnSpLocks/>
            <a:stCxn id="41" idx="1"/>
            <a:endCxn id="17" idx="3"/>
          </p:cNvCxnSpPr>
          <p:nvPr/>
        </p:nvCxnSpPr>
        <p:spPr>
          <a:xfrm flipH="1" flipV="1">
            <a:off x="3580531" y="3608052"/>
            <a:ext cx="1058652" cy="3915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36F34F3F-364B-5304-52B1-92FE03A04EE0}"/>
              </a:ext>
            </a:extLst>
          </p:cNvPr>
          <p:cNvCxnSpPr>
            <a:stCxn id="17" idx="1"/>
            <a:endCxn id="46" idx="1"/>
          </p:cNvCxnSpPr>
          <p:nvPr/>
        </p:nvCxnSpPr>
        <p:spPr>
          <a:xfrm rot="10800000" flipV="1">
            <a:off x="465627" y="3608051"/>
            <a:ext cx="12700" cy="1352243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7225A3C-7B68-6AD2-03A2-EAD4DC5B5D5B}"/>
              </a:ext>
            </a:extLst>
          </p:cNvPr>
          <p:cNvCxnSpPr>
            <a:cxnSpLocks/>
            <a:stCxn id="46" idx="2"/>
            <a:endCxn id="51" idx="0"/>
          </p:cNvCxnSpPr>
          <p:nvPr/>
        </p:nvCxnSpPr>
        <p:spPr>
          <a:xfrm flipH="1">
            <a:off x="2017748" y="5578414"/>
            <a:ext cx="5331" cy="2114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3423874-3B9A-A867-B570-830FAD25F9D0}"/>
              </a:ext>
            </a:extLst>
          </p:cNvPr>
          <p:cNvCxnSpPr>
            <a:cxnSpLocks/>
            <a:stCxn id="51" idx="3"/>
            <a:endCxn id="47" idx="1"/>
          </p:cNvCxnSpPr>
          <p:nvPr/>
        </p:nvCxnSpPr>
        <p:spPr>
          <a:xfrm flipV="1">
            <a:off x="3575200" y="5789877"/>
            <a:ext cx="1063983" cy="4793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5A6BC2B-50D2-9DD9-D04E-03CE941E8EAF}"/>
              </a:ext>
            </a:extLst>
          </p:cNvPr>
          <p:cNvCxnSpPr>
            <a:cxnSpLocks/>
            <a:stCxn id="47" idx="3"/>
            <a:endCxn id="49" idx="1"/>
          </p:cNvCxnSpPr>
          <p:nvPr/>
        </p:nvCxnSpPr>
        <p:spPr>
          <a:xfrm>
            <a:off x="7423990" y="5789877"/>
            <a:ext cx="81490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5" name="Slide Number Placeholder 94">
            <a:extLst>
              <a:ext uri="{FF2B5EF4-FFF2-40B4-BE49-F238E27FC236}">
                <a16:creationId xmlns:a16="http://schemas.microsoft.com/office/drawing/2014/main" id="{0D2C9402-9B77-1C2C-7ED3-C7928D0A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123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8393C-18F8-0A0B-009D-9494D383C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14D95-395A-687B-4BBF-489392847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019" y="362731"/>
            <a:ext cx="8511546" cy="619077"/>
          </a:xfrm>
        </p:spPr>
        <p:txBody>
          <a:bodyPr>
            <a:noAutofit/>
          </a:bodyPr>
          <a:lstStyle/>
          <a:p>
            <a:r>
              <a:rPr lang="en-US" sz="3200" dirty="0"/>
              <a:t>Decommissioning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5FD4A7-8B9A-426E-249B-86E6D6D4D759}"/>
              </a:ext>
            </a:extLst>
          </p:cNvPr>
          <p:cNvSpPr/>
          <p:nvPr/>
        </p:nvSpPr>
        <p:spPr>
          <a:xfrm>
            <a:off x="724733" y="1091259"/>
            <a:ext cx="2148839" cy="214544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TO BE DETERMINED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169678-415C-DB87-FA86-E4477896F99F}"/>
              </a:ext>
            </a:extLst>
          </p:cNvPr>
          <p:cNvSpPr/>
          <p:nvPr/>
        </p:nvSpPr>
        <p:spPr>
          <a:xfrm>
            <a:off x="3707759" y="1498194"/>
            <a:ext cx="1352081" cy="15032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Slide Number Placeholder 66">
            <a:extLst>
              <a:ext uri="{FF2B5EF4-FFF2-40B4-BE49-F238E27FC236}">
                <a16:creationId xmlns:a16="http://schemas.microsoft.com/office/drawing/2014/main" id="{DE7285BC-C3CF-052D-9C4D-E965083C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7BB-1724-4FC6-81FD-F79A3AB07237}" type="slidenum">
              <a:rPr lang="en-US" smtClean="0"/>
              <a:t>30</a:t>
            </a:fld>
            <a:endParaRPr lang="en-US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200C426A-3BF9-5332-F6D0-839605FF7F6F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2873572" y="2163983"/>
            <a:ext cx="834187" cy="8584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796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703d3c-b907-432f-b066-88f7af9ca3af}" enabled="0" method="" siteId="{78703d3c-b907-432f-b066-88f7af9ca3a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1306</TotalTime>
  <Words>3103</Words>
  <Application>Microsoft Office PowerPoint</Application>
  <PresentationFormat>Widescreen</PresentationFormat>
  <Paragraphs>436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GiljoAI MCP Server </vt:lpstr>
      <vt:lpstr>Overall operational architecture</vt:lpstr>
      <vt:lpstr>Multiuser architecture</vt:lpstr>
      <vt:lpstr>Server application layers</vt:lpstr>
      <vt:lpstr>Installation and Setup</vt:lpstr>
      <vt:lpstr>First run workflow</vt:lpstr>
      <vt:lpstr>Application Setup overview</vt:lpstr>
      <vt:lpstr>Application Workflow overview</vt:lpstr>
      <vt:lpstr>Product Workflow overview</vt:lpstr>
      <vt:lpstr>Product activation Workflow</vt:lpstr>
      <vt:lpstr>Project Creation Workflow </vt:lpstr>
      <vt:lpstr>Project Modification overview</vt:lpstr>
      <vt:lpstr>Task Workflow overview</vt:lpstr>
      <vt:lpstr>Agents Workflow overview</vt:lpstr>
      <vt:lpstr>MCP CLI setup Workflow</vt:lpstr>
      <vt:lpstr>Slash command setup Workflow</vt:lpstr>
      <vt:lpstr>Serena MCO integration setup Workflow</vt:lpstr>
      <vt:lpstr>Gitub integration setup Workflow</vt:lpstr>
      <vt:lpstr>Context configuration integration setup Workflow</vt:lpstr>
      <vt:lpstr>Admin Settings</vt:lpstr>
      <vt:lpstr>User Settings</vt:lpstr>
      <vt:lpstr>Agent Manager </vt:lpstr>
      <vt:lpstr>360 memory Manager for orchestrator </vt:lpstr>
      <vt:lpstr>360 memory Manager for subagents Legacy CLI </vt:lpstr>
      <vt:lpstr>360 memory Manager for subagents Claude Code</vt:lpstr>
      <vt:lpstr>Job Staging Workflow Part 1</vt:lpstr>
      <vt:lpstr>Job Staging Workflow Part 2</vt:lpstr>
      <vt:lpstr>Job Implementation Workflow START</vt:lpstr>
      <vt:lpstr>Job Implementation Workflow ACTION</vt:lpstr>
      <vt:lpstr>Decommissioning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Patrik Pettersson</dc:creator>
  <cp:lastModifiedBy>Patrik Pettersson</cp:lastModifiedBy>
  <cp:revision>7</cp:revision>
  <dcterms:created xsi:type="dcterms:W3CDTF">2025-11-14T15:50:25Z</dcterms:created>
  <dcterms:modified xsi:type="dcterms:W3CDTF">2025-11-17T02:58:59Z</dcterms:modified>
</cp:coreProperties>
</file>