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3"/>
  </p:notesMasterIdLst>
  <p:sldIdLst>
    <p:sldId id="256" r:id="rId5"/>
    <p:sldId id="257" r:id="rId6"/>
    <p:sldId id="269" r:id="rId7"/>
    <p:sldId id="275" r:id="rId8"/>
    <p:sldId id="270" r:id="rId9"/>
    <p:sldId id="272" r:id="rId10"/>
    <p:sldId id="271" r:id="rId11"/>
    <p:sldId id="262" r:id="rId12"/>
    <p:sldId id="273" r:id="rId13"/>
    <p:sldId id="274" r:id="rId14"/>
    <p:sldId id="280" r:id="rId15"/>
    <p:sldId id="285" r:id="rId16"/>
    <p:sldId id="286" r:id="rId17"/>
    <p:sldId id="282" r:id="rId18"/>
    <p:sldId id="283" r:id="rId19"/>
    <p:sldId id="287" r:id="rId20"/>
    <p:sldId id="284" r:id="rId21"/>
    <p:sldId id="276" r:id="rId22"/>
    <p:sldId id="288" r:id="rId23"/>
    <p:sldId id="281" r:id="rId24"/>
    <p:sldId id="297" r:id="rId25"/>
    <p:sldId id="298" r:id="rId26"/>
    <p:sldId id="299" r:id="rId27"/>
    <p:sldId id="293" r:id="rId28"/>
    <p:sldId id="294" r:id="rId29"/>
    <p:sldId id="295" r:id="rId30"/>
    <p:sldId id="296" r:id="rId31"/>
    <p:sldId id="267"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F97B7"/>
    <a:srgbClr val="0E1C2D"/>
    <a:srgbClr val="1E3147"/>
    <a:srgbClr val="E1E1E1"/>
    <a:srgbClr val="A32A1D"/>
    <a:srgbClr val="FFC300"/>
    <a:srgbClr val="A9866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4660"/>
  </p:normalViewPr>
  <p:slideViewPr>
    <p:cSldViewPr snapToGrid="0">
      <p:cViewPr varScale="1">
        <p:scale>
          <a:sx n="91" d="100"/>
          <a:sy n="91" d="100"/>
        </p:scale>
        <p:origin x="2292"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CCA69D-40C2-495A-9C60-245CE29B8043}" type="datetimeFigureOut">
              <a:rPr lang="en-US" smtClean="0"/>
              <a:t>11/21/2025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968687-D2B4-4D75-80E6-CAC32A15F547}" type="slidenum">
              <a:rPr lang="en-US" smtClean="0"/>
              <a:t>‹#›</a:t>
            </a:fld>
            <a:endParaRPr lang="en-US"/>
          </a:p>
        </p:txBody>
      </p:sp>
    </p:spTree>
    <p:extLst>
      <p:ext uri="{BB962C8B-B14F-4D97-AF65-F5344CB8AC3E}">
        <p14:creationId xmlns:p14="http://schemas.microsoft.com/office/powerpoint/2010/main" val="12101460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968687-D2B4-4D75-80E6-CAC32A15F547}" type="slidenum">
              <a:rPr lang="en-US" smtClean="0"/>
              <a:t>2</a:t>
            </a:fld>
            <a:endParaRPr lang="en-US"/>
          </a:p>
        </p:txBody>
      </p:sp>
    </p:spTree>
    <p:extLst>
      <p:ext uri="{BB962C8B-B14F-4D97-AF65-F5344CB8AC3E}">
        <p14:creationId xmlns:p14="http://schemas.microsoft.com/office/powerpoint/2010/main" val="3069564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65556-04FB-E6F6-508A-33A6CCCB64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E38345-7259-AA91-9970-BEE487016F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4385F1-6EAD-6218-1E36-B26C327030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916DE75-9CA6-86F5-4521-FFD2BE99AB32}"/>
              </a:ext>
            </a:extLst>
          </p:cNvPr>
          <p:cNvSpPr>
            <a:spLocks noGrp="1"/>
          </p:cNvSpPr>
          <p:nvPr>
            <p:ph type="sldNum" sz="quarter" idx="5"/>
          </p:nvPr>
        </p:nvSpPr>
        <p:spPr/>
        <p:txBody>
          <a:bodyPr/>
          <a:lstStyle/>
          <a:p>
            <a:fld id="{F9968687-D2B4-4D75-80E6-CAC32A15F547}" type="slidenum">
              <a:rPr lang="en-US" smtClean="0"/>
              <a:t>3</a:t>
            </a:fld>
            <a:endParaRPr lang="en-US"/>
          </a:p>
        </p:txBody>
      </p:sp>
    </p:spTree>
    <p:extLst>
      <p:ext uri="{BB962C8B-B14F-4D97-AF65-F5344CB8AC3E}">
        <p14:creationId xmlns:p14="http://schemas.microsoft.com/office/powerpoint/2010/main" val="33565579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A8D72-EC5D-6DD3-DB74-305277D1F4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44B1F5-B755-0AD3-75CF-D54D23FADB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2C02D0-5AD8-F54E-A24A-7F860FBE3E8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9861FEC-8DAF-EFEE-CE69-C00891067DD2}"/>
              </a:ext>
            </a:extLst>
          </p:cNvPr>
          <p:cNvSpPr>
            <a:spLocks noGrp="1"/>
          </p:cNvSpPr>
          <p:nvPr>
            <p:ph type="sldNum" sz="quarter" idx="5"/>
          </p:nvPr>
        </p:nvSpPr>
        <p:spPr/>
        <p:txBody>
          <a:bodyPr/>
          <a:lstStyle/>
          <a:p>
            <a:fld id="{F9968687-D2B4-4D75-80E6-CAC32A15F547}" type="slidenum">
              <a:rPr lang="en-US" smtClean="0"/>
              <a:t>5</a:t>
            </a:fld>
            <a:endParaRPr lang="en-US"/>
          </a:p>
        </p:txBody>
      </p:sp>
    </p:spTree>
    <p:extLst>
      <p:ext uri="{BB962C8B-B14F-4D97-AF65-F5344CB8AC3E}">
        <p14:creationId xmlns:p14="http://schemas.microsoft.com/office/powerpoint/2010/main" val="40633451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E2BB5-424F-2D97-B971-934A726F2C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4835C2-4B52-F30F-3C0D-9E158332CD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72CDEF-54F1-5F0B-826E-E20C131254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C0B1DD4-0B39-574F-E5BE-9D80E0FE4CEA}"/>
              </a:ext>
            </a:extLst>
          </p:cNvPr>
          <p:cNvSpPr>
            <a:spLocks noGrp="1"/>
          </p:cNvSpPr>
          <p:nvPr>
            <p:ph type="sldNum" sz="quarter" idx="5"/>
          </p:nvPr>
        </p:nvSpPr>
        <p:spPr/>
        <p:txBody>
          <a:bodyPr/>
          <a:lstStyle/>
          <a:p>
            <a:fld id="{F9968687-D2B4-4D75-80E6-CAC32A15F547}" type="slidenum">
              <a:rPr lang="en-US" smtClean="0"/>
              <a:t>6</a:t>
            </a:fld>
            <a:endParaRPr lang="en-US"/>
          </a:p>
        </p:txBody>
      </p:sp>
    </p:spTree>
    <p:extLst>
      <p:ext uri="{BB962C8B-B14F-4D97-AF65-F5344CB8AC3E}">
        <p14:creationId xmlns:p14="http://schemas.microsoft.com/office/powerpoint/2010/main" val="21141255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5A066-1755-4E54-2CB1-4A7E5B4D84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267FAE-1DCD-C34C-C809-05648F4C12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34AD84-DF2E-A552-04B7-75068A1D29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0B6A84-0282-76AF-707C-29CB7978F45D}"/>
              </a:ext>
            </a:extLst>
          </p:cNvPr>
          <p:cNvSpPr>
            <a:spLocks noGrp="1"/>
          </p:cNvSpPr>
          <p:nvPr>
            <p:ph type="sldNum" sz="quarter" idx="5"/>
          </p:nvPr>
        </p:nvSpPr>
        <p:spPr/>
        <p:txBody>
          <a:bodyPr/>
          <a:lstStyle/>
          <a:p>
            <a:fld id="{F9968687-D2B4-4D75-80E6-CAC32A15F547}" type="slidenum">
              <a:rPr lang="en-US" smtClean="0"/>
              <a:t>7</a:t>
            </a:fld>
            <a:endParaRPr lang="en-US"/>
          </a:p>
        </p:txBody>
      </p:sp>
    </p:spTree>
    <p:extLst>
      <p:ext uri="{BB962C8B-B14F-4D97-AF65-F5344CB8AC3E}">
        <p14:creationId xmlns:p14="http://schemas.microsoft.com/office/powerpoint/2010/main" val="41047836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2C1B6-51D8-1B5E-0F04-064C2BF275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4FBAAA-006E-1843-B220-99409B9AB0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9F19AF-D0A7-3D15-EA1C-767BCF3C403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5787E2E-047C-C179-5E20-0ECF26DA0ABC}"/>
              </a:ext>
            </a:extLst>
          </p:cNvPr>
          <p:cNvSpPr>
            <a:spLocks noGrp="1"/>
          </p:cNvSpPr>
          <p:nvPr>
            <p:ph type="sldNum" sz="quarter" idx="5"/>
          </p:nvPr>
        </p:nvSpPr>
        <p:spPr/>
        <p:txBody>
          <a:bodyPr/>
          <a:lstStyle/>
          <a:p>
            <a:fld id="{F9968687-D2B4-4D75-80E6-CAC32A15F547}" type="slidenum">
              <a:rPr lang="en-US" smtClean="0"/>
              <a:t>8</a:t>
            </a:fld>
            <a:endParaRPr lang="en-US"/>
          </a:p>
        </p:txBody>
      </p:sp>
    </p:spTree>
    <p:extLst>
      <p:ext uri="{BB962C8B-B14F-4D97-AF65-F5344CB8AC3E}">
        <p14:creationId xmlns:p14="http://schemas.microsoft.com/office/powerpoint/2010/main" val="31749976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75640-A843-216C-FDB4-3D14938AD4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A3E5DB-557A-3A3F-6CE3-93D588D3F2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416564-3814-AB16-A103-5E9FA1FD3CC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171A1B-CFF0-6192-5078-5DA4EDD9A27F}"/>
              </a:ext>
            </a:extLst>
          </p:cNvPr>
          <p:cNvSpPr>
            <a:spLocks noGrp="1"/>
          </p:cNvSpPr>
          <p:nvPr>
            <p:ph type="sldNum" sz="quarter" idx="5"/>
          </p:nvPr>
        </p:nvSpPr>
        <p:spPr/>
        <p:txBody>
          <a:bodyPr/>
          <a:lstStyle/>
          <a:p>
            <a:fld id="{F9968687-D2B4-4D75-80E6-CAC32A15F547}" type="slidenum">
              <a:rPr lang="en-US" smtClean="0"/>
              <a:t>9</a:t>
            </a:fld>
            <a:endParaRPr lang="en-US"/>
          </a:p>
        </p:txBody>
      </p:sp>
    </p:spTree>
    <p:extLst>
      <p:ext uri="{BB962C8B-B14F-4D97-AF65-F5344CB8AC3E}">
        <p14:creationId xmlns:p14="http://schemas.microsoft.com/office/powerpoint/2010/main" val="7735306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65487-FB4A-5C43-03A6-18FF918584D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0FB1065-C471-3424-8DB2-BF7AC81EBD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166D974-1760-CAFB-F712-B18FA8DB5369}"/>
              </a:ext>
            </a:extLst>
          </p:cNvPr>
          <p:cNvSpPr>
            <a:spLocks noGrp="1"/>
          </p:cNvSpPr>
          <p:nvPr>
            <p:ph type="dt" sz="half" idx="10"/>
          </p:nvPr>
        </p:nvSpPr>
        <p:spPr/>
        <p:txBody>
          <a:bodyPr/>
          <a:lstStyle/>
          <a:p>
            <a:fld id="{89BE5FB9-5A84-4DD5-8694-DC159969498D}" type="datetimeFigureOut">
              <a:rPr lang="en-US" smtClean="0"/>
              <a:t>11/21/2025</a:t>
            </a:fld>
            <a:endParaRPr lang="en-US"/>
          </a:p>
        </p:txBody>
      </p:sp>
      <p:sp>
        <p:nvSpPr>
          <p:cNvPr id="5" name="Footer Placeholder 4">
            <a:extLst>
              <a:ext uri="{FF2B5EF4-FFF2-40B4-BE49-F238E27FC236}">
                <a16:creationId xmlns:a16="http://schemas.microsoft.com/office/drawing/2014/main" id="{12714F38-DAD3-A41D-F921-1D6B28995D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D5B49E-219D-152A-B8C3-DCB1CFED1146}"/>
              </a:ext>
            </a:extLst>
          </p:cNvPr>
          <p:cNvSpPr>
            <a:spLocks noGrp="1"/>
          </p:cNvSpPr>
          <p:nvPr>
            <p:ph type="sldNum" sz="quarter" idx="12"/>
          </p:nvPr>
        </p:nvSpPr>
        <p:spPr/>
        <p:txBody>
          <a:bodyPr/>
          <a:lstStyle/>
          <a:p>
            <a:fld id="{66B3B853-CE87-4510-B71B-71120E53AEC1}" type="slidenum">
              <a:rPr lang="en-US" smtClean="0"/>
              <a:t>‹#›</a:t>
            </a:fld>
            <a:endParaRPr lang="en-US"/>
          </a:p>
        </p:txBody>
      </p:sp>
    </p:spTree>
    <p:extLst>
      <p:ext uri="{BB962C8B-B14F-4D97-AF65-F5344CB8AC3E}">
        <p14:creationId xmlns:p14="http://schemas.microsoft.com/office/powerpoint/2010/main" val="14299254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C4284-0546-DAF4-0256-1120D58361A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0F6C630-82C3-C8B8-C2CF-05D739703EC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EB4612-6904-5983-7887-E0784B4AA165}"/>
              </a:ext>
            </a:extLst>
          </p:cNvPr>
          <p:cNvSpPr>
            <a:spLocks noGrp="1"/>
          </p:cNvSpPr>
          <p:nvPr>
            <p:ph type="dt" sz="half" idx="10"/>
          </p:nvPr>
        </p:nvSpPr>
        <p:spPr/>
        <p:txBody>
          <a:bodyPr/>
          <a:lstStyle/>
          <a:p>
            <a:fld id="{89BE5FB9-5A84-4DD5-8694-DC159969498D}" type="datetimeFigureOut">
              <a:rPr lang="en-US" smtClean="0"/>
              <a:t>11/21/2025</a:t>
            </a:fld>
            <a:endParaRPr lang="en-US"/>
          </a:p>
        </p:txBody>
      </p:sp>
      <p:sp>
        <p:nvSpPr>
          <p:cNvPr id="5" name="Footer Placeholder 4">
            <a:extLst>
              <a:ext uri="{FF2B5EF4-FFF2-40B4-BE49-F238E27FC236}">
                <a16:creationId xmlns:a16="http://schemas.microsoft.com/office/drawing/2014/main" id="{F55E7C34-10BB-139F-64F7-0A167BC735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FBEA3B-9149-7E61-5121-272003C502DF}"/>
              </a:ext>
            </a:extLst>
          </p:cNvPr>
          <p:cNvSpPr>
            <a:spLocks noGrp="1"/>
          </p:cNvSpPr>
          <p:nvPr>
            <p:ph type="sldNum" sz="quarter" idx="12"/>
          </p:nvPr>
        </p:nvSpPr>
        <p:spPr/>
        <p:txBody>
          <a:bodyPr/>
          <a:lstStyle/>
          <a:p>
            <a:fld id="{66B3B853-CE87-4510-B71B-71120E53AEC1}" type="slidenum">
              <a:rPr lang="en-US" smtClean="0"/>
              <a:t>‹#›</a:t>
            </a:fld>
            <a:endParaRPr lang="en-US"/>
          </a:p>
        </p:txBody>
      </p:sp>
    </p:spTree>
    <p:extLst>
      <p:ext uri="{BB962C8B-B14F-4D97-AF65-F5344CB8AC3E}">
        <p14:creationId xmlns:p14="http://schemas.microsoft.com/office/powerpoint/2010/main" val="9353540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0138E-A031-72A4-6949-4EEBE17410E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C9B8EA2-6A8F-40FF-DA94-87DF7747088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377D3B0-A1AC-AA60-2365-8F3C9B388626}"/>
              </a:ext>
            </a:extLst>
          </p:cNvPr>
          <p:cNvSpPr>
            <a:spLocks noGrp="1"/>
          </p:cNvSpPr>
          <p:nvPr>
            <p:ph type="dt" sz="half" idx="10"/>
          </p:nvPr>
        </p:nvSpPr>
        <p:spPr/>
        <p:txBody>
          <a:bodyPr/>
          <a:lstStyle/>
          <a:p>
            <a:fld id="{89BE5FB9-5A84-4DD5-8694-DC159969498D}" type="datetimeFigureOut">
              <a:rPr lang="en-US" smtClean="0"/>
              <a:t>11/21/2025</a:t>
            </a:fld>
            <a:endParaRPr lang="en-US"/>
          </a:p>
        </p:txBody>
      </p:sp>
      <p:sp>
        <p:nvSpPr>
          <p:cNvPr id="5" name="Footer Placeholder 4">
            <a:extLst>
              <a:ext uri="{FF2B5EF4-FFF2-40B4-BE49-F238E27FC236}">
                <a16:creationId xmlns:a16="http://schemas.microsoft.com/office/drawing/2014/main" id="{86DFCA2F-7E0A-F4AB-0A4B-911FF63F52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676C14-AFE1-3747-5163-4668180C5531}"/>
              </a:ext>
            </a:extLst>
          </p:cNvPr>
          <p:cNvSpPr>
            <a:spLocks noGrp="1"/>
          </p:cNvSpPr>
          <p:nvPr>
            <p:ph type="sldNum" sz="quarter" idx="12"/>
          </p:nvPr>
        </p:nvSpPr>
        <p:spPr/>
        <p:txBody>
          <a:bodyPr/>
          <a:lstStyle/>
          <a:p>
            <a:fld id="{66B3B853-CE87-4510-B71B-71120E53AEC1}" type="slidenum">
              <a:rPr lang="en-US" smtClean="0"/>
              <a:t>‹#›</a:t>
            </a:fld>
            <a:endParaRPr lang="en-US"/>
          </a:p>
        </p:txBody>
      </p:sp>
    </p:spTree>
    <p:extLst>
      <p:ext uri="{BB962C8B-B14F-4D97-AF65-F5344CB8AC3E}">
        <p14:creationId xmlns:p14="http://schemas.microsoft.com/office/powerpoint/2010/main" val="38841833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600E4-92D9-8533-5CA2-4D8D101410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3D0AD4-DB8B-DDFB-C815-0DB7818D380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8ECE1EB-80CB-1D59-E8AF-CDE6D7071DB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44B4B0A-B8F6-76FC-449F-78F03B7BB2C1}"/>
              </a:ext>
            </a:extLst>
          </p:cNvPr>
          <p:cNvSpPr>
            <a:spLocks noGrp="1"/>
          </p:cNvSpPr>
          <p:nvPr>
            <p:ph type="dt" sz="half" idx="10"/>
          </p:nvPr>
        </p:nvSpPr>
        <p:spPr/>
        <p:txBody>
          <a:bodyPr/>
          <a:lstStyle/>
          <a:p>
            <a:fld id="{89BE5FB9-5A84-4DD5-8694-DC159969498D}" type="datetimeFigureOut">
              <a:rPr lang="en-US" smtClean="0"/>
              <a:t>11/21/2025</a:t>
            </a:fld>
            <a:endParaRPr lang="en-US"/>
          </a:p>
        </p:txBody>
      </p:sp>
      <p:sp>
        <p:nvSpPr>
          <p:cNvPr id="6" name="Footer Placeholder 5">
            <a:extLst>
              <a:ext uri="{FF2B5EF4-FFF2-40B4-BE49-F238E27FC236}">
                <a16:creationId xmlns:a16="http://schemas.microsoft.com/office/drawing/2014/main" id="{24829308-59DF-A03A-49EB-66B75311576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B2C7F0-46EC-F712-0130-540A51198F1D}"/>
              </a:ext>
            </a:extLst>
          </p:cNvPr>
          <p:cNvSpPr>
            <a:spLocks noGrp="1"/>
          </p:cNvSpPr>
          <p:nvPr>
            <p:ph type="sldNum" sz="quarter" idx="12"/>
          </p:nvPr>
        </p:nvSpPr>
        <p:spPr/>
        <p:txBody>
          <a:bodyPr/>
          <a:lstStyle/>
          <a:p>
            <a:fld id="{66B3B853-CE87-4510-B71B-71120E53AEC1}" type="slidenum">
              <a:rPr lang="en-US" smtClean="0"/>
              <a:t>‹#›</a:t>
            </a:fld>
            <a:endParaRPr lang="en-US"/>
          </a:p>
        </p:txBody>
      </p:sp>
    </p:spTree>
    <p:extLst>
      <p:ext uri="{BB962C8B-B14F-4D97-AF65-F5344CB8AC3E}">
        <p14:creationId xmlns:p14="http://schemas.microsoft.com/office/powerpoint/2010/main" val="27529955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E5CC5-3539-3F33-9357-CF38A0BD0E7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282AE44-6BC3-689C-51C1-829F8949617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1BE100C-DA39-3859-8359-BFA65B98F3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FDEA9A2-B8F5-539A-2F2B-E9F1B1C4CB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8A2AB58-A0AF-BB4A-F8C2-E3E9D9C6346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35CE7A0-0DE6-543C-1538-3976E6DF5EE9}"/>
              </a:ext>
            </a:extLst>
          </p:cNvPr>
          <p:cNvSpPr>
            <a:spLocks noGrp="1"/>
          </p:cNvSpPr>
          <p:nvPr>
            <p:ph type="dt" sz="half" idx="10"/>
          </p:nvPr>
        </p:nvSpPr>
        <p:spPr/>
        <p:txBody>
          <a:bodyPr/>
          <a:lstStyle/>
          <a:p>
            <a:fld id="{89BE5FB9-5A84-4DD5-8694-DC159969498D}" type="datetimeFigureOut">
              <a:rPr lang="en-US" smtClean="0"/>
              <a:t>11/21/2025</a:t>
            </a:fld>
            <a:endParaRPr lang="en-US"/>
          </a:p>
        </p:txBody>
      </p:sp>
      <p:sp>
        <p:nvSpPr>
          <p:cNvPr id="8" name="Footer Placeholder 7">
            <a:extLst>
              <a:ext uri="{FF2B5EF4-FFF2-40B4-BE49-F238E27FC236}">
                <a16:creationId xmlns:a16="http://schemas.microsoft.com/office/drawing/2014/main" id="{9DE3C505-A0C3-D0DF-7FB9-5B2EC5B5325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130E8E0-AAF0-4A3C-121C-9DDED336CD12}"/>
              </a:ext>
            </a:extLst>
          </p:cNvPr>
          <p:cNvSpPr>
            <a:spLocks noGrp="1"/>
          </p:cNvSpPr>
          <p:nvPr>
            <p:ph type="sldNum" sz="quarter" idx="12"/>
          </p:nvPr>
        </p:nvSpPr>
        <p:spPr/>
        <p:txBody>
          <a:bodyPr/>
          <a:lstStyle/>
          <a:p>
            <a:fld id="{66B3B853-CE87-4510-B71B-71120E53AEC1}" type="slidenum">
              <a:rPr lang="en-US" smtClean="0"/>
              <a:t>‹#›</a:t>
            </a:fld>
            <a:endParaRPr lang="en-US"/>
          </a:p>
        </p:txBody>
      </p:sp>
    </p:spTree>
    <p:extLst>
      <p:ext uri="{BB962C8B-B14F-4D97-AF65-F5344CB8AC3E}">
        <p14:creationId xmlns:p14="http://schemas.microsoft.com/office/powerpoint/2010/main" val="37706606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3C1EC-F981-A2C8-048C-752EF38B0D5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E96C54B-15B8-E793-4EED-094057F07B3F}"/>
              </a:ext>
            </a:extLst>
          </p:cNvPr>
          <p:cNvSpPr>
            <a:spLocks noGrp="1"/>
          </p:cNvSpPr>
          <p:nvPr>
            <p:ph type="dt" sz="half" idx="10"/>
          </p:nvPr>
        </p:nvSpPr>
        <p:spPr/>
        <p:txBody>
          <a:bodyPr/>
          <a:lstStyle/>
          <a:p>
            <a:fld id="{89BE5FB9-5A84-4DD5-8694-DC159969498D}" type="datetimeFigureOut">
              <a:rPr lang="en-US" smtClean="0"/>
              <a:t>11/21/2025</a:t>
            </a:fld>
            <a:endParaRPr lang="en-US"/>
          </a:p>
        </p:txBody>
      </p:sp>
      <p:sp>
        <p:nvSpPr>
          <p:cNvPr id="4" name="Footer Placeholder 3">
            <a:extLst>
              <a:ext uri="{FF2B5EF4-FFF2-40B4-BE49-F238E27FC236}">
                <a16:creationId xmlns:a16="http://schemas.microsoft.com/office/drawing/2014/main" id="{FCDD5B83-E0A1-FDB6-70DD-D12F2578AD9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917AACC-C7AD-96E5-A7C7-4CDEA4ADE669}"/>
              </a:ext>
            </a:extLst>
          </p:cNvPr>
          <p:cNvSpPr>
            <a:spLocks noGrp="1"/>
          </p:cNvSpPr>
          <p:nvPr>
            <p:ph type="sldNum" sz="quarter" idx="12"/>
          </p:nvPr>
        </p:nvSpPr>
        <p:spPr/>
        <p:txBody>
          <a:bodyPr/>
          <a:lstStyle/>
          <a:p>
            <a:fld id="{66B3B853-CE87-4510-B71B-71120E53AEC1}" type="slidenum">
              <a:rPr lang="en-US" smtClean="0"/>
              <a:t>‹#›</a:t>
            </a:fld>
            <a:endParaRPr lang="en-US"/>
          </a:p>
        </p:txBody>
      </p:sp>
    </p:spTree>
    <p:extLst>
      <p:ext uri="{BB962C8B-B14F-4D97-AF65-F5344CB8AC3E}">
        <p14:creationId xmlns:p14="http://schemas.microsoft.com/office/powerpoint/2010/main" val="41828052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7882FD-084F-5F59-9EF9-1544FF84C467}"/>
              </a:ext>
            </a:extLst>
          </p:cNvPr>
          <p:cNvSpPr>
            <a:spLocks noGrp="1"/>
          </p:cNvSpPr>
          <p:nvPr>
            <p:ph type="dt" sz="half" idx="10"/>
          </p:nvPr>
        </p:nvSpPr>
        <p:spPr/>
        <p:txBody>
          <a:bodyPr/>
          <a:lstStyle/>
          <a:p>
            <a:fld id="{89BE5FB9-5A84-4DD5-8694-DC159969498D}" type="datetimeFigureOut">
              <a:rPr lang="en-US" smtClean="0"/>
              <a:t>11/21/2025</a:t>
            </a:fld>
            <a:endParaRPr lang="en-US"/>
          </a:p>
        </p:txBody>
      </p:sp>
      <p:sp>
        <p:nvSpPr>
          <p:cNvPr id="3" name="Footer Placeholder 2">
            <a:extLst>
              <a:ext uri="{FF2B5EF4-FFF2-40B4-BE49-F238E27FC236}">
                <a16:creationId xmlns:a16="http://schemas.microsoft.com/office/drawing/2014/main" id="{B1C534BA-E62A-FE2B-43F4-86F3AAE3CB2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19196AD-E9EA-E38C-473B-9B283F7B6E1A}"/>
              </a:ext>
            </a:extLst>
          </p:cNvPr>
          <p:cNvSpPr>
            <a:spLocks noGrp="1"/>
          </p:cNvSpPr>
          <p:nvPr>
            <p:ph type="sldNum" sz="quarter" idx="12"/>
          </p:nvPr>
        </p:nvSpPr>
        <p:spPr/>
        <p:txBody>
          <a:bodyPr/>
          <a:lstStyle/>
          <a:p>
            <a:fld id="{66B3B853-CE87-4510-B71B-71120E53AEC1}" type="slidenum">
              <a:rPr lang="en-US" smtClean="0"/>
              <a:t>‹#›</a:t>
            </a:fld>
            <a:endParaRPr lang="en-US"/>
          </a:p>
        </p:txBody>
      </p:sp>
    </p:spTree>
    <p:extLst>
      <p:ext uri="{BB962C8B-B14F-4D97-AF65-F5344CB8AC3E}">
        <p14:creationId xmlns:p14="http://schemas.microsoft.com/office/powerpoint/2010/main" val="2678943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8CAD8-558D-D481-8B77-415E9BC81D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7239C80-28AF-679C-A5CB-BFCAB84F8E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6C1E1D0-B5B5-3A09-766D-0AE8C59AC1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4BE1C6-65BF-64F2-A45C-5CF8F889B9DC}"/>
              </a:ext>
            </a:extLst>
          </p:cNvPr>
          <p:cNvSpPr>
            <a:spLocks noGrp="1"/>
          </p:cNvSpPr>
          <p:nvPr>
            <p:ph type="dt" sz="half" idx="10"/>
          </p:nvPr>
        </p:nvSpPr>
        <p:spPr/>
        <p:txBody>
          <a:bodyPr/>
          <a:lstStyle/>
          <a:p>
            <a:fld id="{89BE5FB9-5A84-4DD5-8694-DC159969498D}" type="datetimeFigureOut">
              <a:rPr lang="en-US" smtClean="0"/>
              <a:t>11/21/2025</a:t>
            </a:fld>
            <a:endParaRPr lang="en-US"/>
          </a:p>
        </p:txBody>
      </p:sp>
      <p:sp>
        <p:nvSpPr>
          <p:cNvPr id="6" name="Footer Placeholder 5">
            <a:extLst>
              <a:ext uri="{FF2B5EF4-FFF2-40B4-BE49-F238E27FC236}">
                <a16:creationId xmlns:a16="http://schemas.microsoft.com/office/drawing/2014/main" id="{7F19EC03-E70E-EA8B-7CE0-BF774566C9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A818550-6A09-B571-9F46-024CA62DF0EF}"/>
              </a:ext>
            </a:extLst>
          </p:cNvPr>
          <p:cNvSpPr>
            <a:spLocks noGrp="1"/>
          </p:cNvSpPr>
          <p:nvPr>
            <p:ph type="sldNum" sz="quarter" idx="12"/>
          </p:nvPr>
        </p:nvSpPr>
        <p:spPr/>
        <p:txBody>
          <a:bodyPr/>
          <a:lstStyle/>
          <a:p>
            <a:fld id="{66B3B853-CE87-4510-B71B-71120E53AEC1}" type="slidenum">
              <a:rPr lang="en-US" smtClean="0"/>
              <a:t>‹#›</a:t>
            </a:fld>
            <a:endParaRPr lang="en-US"/>
          </a:p>
        </p:txBody>
      </p:sp>
    </p:spTree>
    <p:extLst>
      <p:ext uri="{BB962C8B-B14F-4D97-AF65-F5344CB8AC3E}">
        <p14:creationId xmlns:p14="http://schemas.microsoft.com/office/powerpoint/2010/main" val="15405084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8D551-D152-864B-6C0C-DAF7007F85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181AEBF-4484-1B2E-AD06-E680123A7A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9E7192C-845F-6B52-C7DF-334FDB9514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412BE6-80FC-8D65-24E7-238556E70009}"/>
              </a:ext>
            </a:extLst>
          </p:cNvPr>
          <p:cNvSpPr>
            <a:spLocks noGrp="1"/>
          </p:cNvSpPr>
          <p:nvPr>
            <p:ph type="dt" sz="half" idx="10"/>
          </p:nvPr>
        </p:nvSpPr>
        <p:spPr/>
        <p:txBody>
          <a:bodyPr/>
          <a:lstStyle/>
          <a:p>
            <a:fld id="{89BE5FB9-5A84-4DD5-8694-DC159969498D}" type="datetimeFigureOut">
              <a:rPr lang="en-US" smtClean="0"/>
              <a:t>11/21/2025</a:t>
            </a:fld>
            <a:endParaRPr lang="en-US"/>
          </a:p>
        </p:txBody>
      </p:sp>
      <p:sp>
        <p:nvSpPr>
          <p:cNvPr id="6" name="Footer Placeholder 5">
            <a:extLst>
              <a:ext uri="{FF2B5EF4-FFF2-40B4-BE49-F238E27FC236}">
                <a16:creationId xmlns:a16="http://schemas.microsoft.com/office/drawing/2014/main" id="{417C991C-00AA-4558-6501-306E9356F8E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452F8F-D49E-DCA0-A51D-B1675DE452C3}"/>
              </a:ext>
            </a:extLst>
          </p:cNvPr>
          <p:cNvSpPr>
            <a:spLocks noGrp="1"/>
          </p:cNvSpPr>
          <p:nvPr>
            <p:ph type="sldNum" sz="quarter" idx="12"/>
          </p:nvPr>
        </p:nvSpPr>
        <p:spPr/>
        <p:txBody>
          <a:bodyPr/>
          <a:lstStyle/>
          <a:p>
            <a:fld id="{66B3B853-CE87-4510-B71B-71120E53AEC1}" type="slidenum">
              <a:rPr lang="en-US" smtClean="0"/>
              <a:t>‹#›</a:t>
            </a:fld>
            <a:endParaRPr lang="en-US"/>
          </a:p>
        </p:txBody>
      </p:sp>
    </p:spTree>
    <p:extLst>
      <p:ext uri="{BB962C8B-B14F-4D97-AF65-F5344CB8AC3E}">
        <p14:creationId xmlns:p14="http://schemas.microsoft.com/office/powerpoint/2010/main" val="2602282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32900-B46A-BCBD-88A4-7006E49A3C2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643237C-CCAA-4AA5-C67C-88AA5833534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57C522-ED87-9F3A-D08C-87FAF08900A9}"/>
              </a:ext>
            </a:extLst>
          </p:cNvPr>
          <p:cNvSpPr>
            <a:spLocks noGrp="1"/>
          </p:cNvSpPr>
          <p:nvPr>
            <p:ph type="dt" sz="half" idx="10"/>
          </p:nvPr>
        </p:nvSpPr>
        <p:spPr/>
        <p:txBody>
          <a:bodyPr/>
          <a:lstStyle/>
          <a:p>
            <a:fld id="{89BE5FB9-5A84-4DD5-8694-DC159969498D}" type="datetimeFigureOut">
              <a:rPr lang="en-US" smtClean="0"/>
              <a:t>11/21/2025</a:t>
            </a:fld>
            <a:endParaRPr lang="en-US"/>
          </a:p>
        </p:txBody>
      </p:sp>
      <p:sp>
        <p:nvSpPr>
          <p:cNvPr id="5" name="Footer Placeholder 4">
            <a:extLst>
              <a:ext uri="{FF2B5EF4-FFF2-40B4-BE49-F238E27FC236}">
                <a16:creationId xmlns:a16="http://schemas.microsoft.com/office/drawing/2014/main" id="{88BDF5EE-2A7D-6C15-5EB9-179F97A3B1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5DF3D7-B226-1CF4-062A-E5FEB8419BCD}"/>
              </a:ext>
            </a:extLst>
          </p:cNvPr>
          <p:cNvSpPr>
            <a:spLocks noGrp="1"/>
          </p:cNvSpPr>
          <p:nvPr>
            <p:ph type="sldNum" sz="quarter" idx="12"/>
          </p:nvPr>
        </p:nvSpPr>
        <p:spPr/>
        <p:txBody>
          <a:bodyPr/>
          <a:lstStyle/>
          <a:p>
            <a:fld id="{66B3B853-CE87-4510-B71B-71120E53AEC1}" type="slidenum">
              <a:rPr lang="en-US" smtClean="0"/>
              <a:t>‹#›</a:t>
            </a:fld>
            <a:endParaRPr lang="en-US"/>
          </a:p>
        </p:txBody>
      </p:sp>
    </p:spTree>
    <p:extLst>
      <p:ext uri="{BB962C8B-B14F-4D97-AF65-F5344CB8AC3E}">
        <p14:creationId xmlns:p14="http://schemas.microsoft.com/office/powerpoint/2010/main" val="33609840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C3F1728-7263-4EB9-DFC5-0AF8C5078EB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3FE73CD-AC6A-0760-84B0-F7001DCC53A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14F0EB-6D2E-334B-1F69-89236FFE21C1}"/>
              </a:ext>
            </a:extLst>
          </p:cNvPr>
          <p:cNvSpPr>
            <a:spLocks noGrp="1"/>
          </p:cNvSpPr>
          <p:nvPr>
            <p:ph type="dt" sz="half" idx="10"/>
          </p:nvPr>
        </p:nvSpPr>
        <p:spPr/>
        <p:txBody>
          <a:bodyPr/>
          <a:lstStyle/>
          <a:p>
            <a:fld id="{89BE5FB9-5A84-4DD5-8694-DC159969498D}" type="datetimeFigureOut">
              <a:rPr lang="en-US" smtClean="0"/>
              <a:t>11/21/2025</a:t>
            </a:fld>
            <a:endParaRPr lang="en-US"/>
          </a:p>
        </p:txBody>
      </p:sp>
      <p:sp>
        <p:nvSpPr>
          <p:cNvPr id="5" name="Footer Placeholder 4">
            <a:extLst>
              <a:ext uri="{FF2B5EF4-FFF2-40B4-BE49-F238E27FC236}">
                <a16:creationId xmlns:a16="http://schemas.microsoft.com/office/drawing/2014/main" id="{CD4F7CA3-379E-B4CA-1449-2C59558EF0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D3A0ED-0C85-33A0-7296-875067DD03EB}"/>
              </a:ext>
            </a:extLst>
          </p:cNvPr>
          <p:cNvSpPr>
            <a:spLocks noGrp="1"/>
          </p:cNvSpPr>
          <p:nvPr>
            <p:ph type="sldNum" sz="quarter" idx="12"/>
          </p:nvPr>
        </p:nvSpPr>
        <p:spPr/>
        <p:txBody>
          <a:bodyPr/>
          <a:lstStyle/>
          <a:p>
            <a:fld id="{66B3B853-CE87-4510-B71B-71120E53AEC1}" type="slidenum">
              <a:rPr lang="en-US" smtClean="0"/>
              <a:t>‹#›</a:t>
            </a:fld>
            <a:endParaRPr lang="en-US"/>
          </a:p>
        </p:txBody>
      </p:sp>
    </p:spTree>
    <p:extLst>
      <p:ext uri="{BB962C8B-B14F-4D97-AF65-F5344CB8AC3E}">
        <p14:creationId xmlns:p14="http://schemas.microsoft.com/office/powerpoint/2010/main" val="35413390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E1C2D"/>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790B0B-113E-3874-5917-1121FEE140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3BEC608-827E-FB3D-AF99-273A750BFF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10FC65-07EF-CADB-44D8-B1AFD98D6F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9BE5FB9-5A84-4DD5-8694-DC159969498D}" type="datetimeFigureOut">
              <a:rPr lang="en-US" smtClean="0"/>
              <a:t>11/21/2025</a:t>
            </a:fld>
            <a:endParaRPr lang="en-US"/>
          </a:p>
        </p:txBody>
      </p:sp>
      <p:sp>
        <p:nvSpPr>
          <p:cNvPr id="5" name="Footer Placeholder 4">
            <a:extLst>
              <a:ext uri="{FF2B5EF4-FFF2-40B4-BE49-F238E27FC236}">
                <a16:creationId xmlns:a16="http://schemas.microsoft.com/office/drawing/2014/main" id="{5EA122C9-F936-31E8-24CF-DA6F57A49E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9EA3AA7-5C37-1E05-4F8E-852EE07E5A6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6B3B853-CE87-4510-B71B-71120E53AEC1}" type="slidenum">
              <a:rPr lang="en-US" smtClean="0"/>
              <a:t>‹#›</a:t>
            </a:fld>
            <a:endParaRPr lang="en-US"/>
          </a:p>
        </p:txBody>
      </p:sp>
    </p:spTree>
    <p:extLst>
      <p:ext uri="{BB962C8B-B14F-4D97-AF65-F5344CB8AC3E}">
        <p14:creationId xmlns:p14="http://schemas.microsoft.com/office/powerpoint/2010/main" val="14546858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sv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sv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s/_rels/slide6.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sv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s/_rels/slide7.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2.png"/><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15.svg"/><Relationship Id="rId4" Type="http://schemas.openxmlformats.org/officeDocument/2006/relationships/image" Target="../media/image3.svg"/><Relationship Id="rId9" Type="http://schemas.openxmlformats.org/officeDocument/2006/relationships/image" Target="../media/image14.png"/></Relationships>
</file>

<file path=ppt/slides/_rels/slide9.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15.svg"/><Relationship Id="rId4" Type="http://schemas.openxmlformats.org/officeDocument/2006/relationships/image" Target="../media/image3.svg"/><Relationship Id="rId9" Type="http://schemas.openxmlformats.org/officeDocument/2006/relationships/image" Target="../media/image14.png"/></Relationships>
</file>

<file path=ppt/slides/_rels/slide10.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3.svg"/><Relationship Id="rId7"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7.svg"/><Relationship Id="rId4" Type="http://schemas.openxmlformats.org/officeDocument/2006/relationships/image" Target="../media/image16.png"/><Relationship Id="rId9" Type="http://schemas.openxmlformats.org/officeDocument/2006/relationships/image" Target="../media/image19.svg"/></Relationships>
</file>

<file path=ppt/slides/_rels/slide11.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3.svg"/><Relationship Id="rId7"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7.svg"/><Relationship Id="rId4" Type="http://schemas.openxmlformats.org/officeDocument/2006/relationships/image" Target="../media/image16.png"/><Relationship Id="rId9" Type="http://schemas.openxmlformats.org/officeDocument/2006/relationships/image" Target="../media/image19.svg"/></Relationships>
</file>

<file path=ppt/slides/_rels/slide1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3.svg"/><Relationship Id="rId7"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7.svg"/><Relationship Id="rId4" Type="http://schemas.openxmlformats.org/officeDocument/2006/relationships/image" Target="../media/image16.png"/><Relationship Id="rId9" Type="http://schemas.openxmlformats.org/officeDocument/2006/relationships/image" Target="../media/image19.svg"/></Relationships>
</file>

<file path=ppt/slides/_rels/slide13.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3.svg"/><Relationship Id="rId7"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7.svg"/><Relationship Id="rId4" Type="http://schemas.openxmlformats.org/officeDocument/2006/relationships/image" Target="../media/image16.png"/><Relationship Id="rId9" Type="http://schemas.openxmlformats.org/officeDocument/2006/relationships/image" Target="../media/image19.svg"/></Relationships>
</file>

<file path=ppt/slides/_rels/slide14.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3.svg"/><Relationship Id="rId7"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7.svg"/><Relationship Id="rId4" Type="http://schemas.openxmlformats.org/officeDocument/2006/relationships/image" Target="../media/image16.png"/><Relationship Id="rId9" Type="http://schemas.openxmlformats.org/officeDocument/2006/relationships/image" Target="../media/image19.svg"/></Relationships>
</file>

<file path=ppt/slides/_rels/slide15.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3.svg"/><Relationship Id="rId7"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2.png"/><Relationship Id="rId11" Type="http://schemas.openxmlformats.org/officeDocument/2006/relationships/image" Target="../media/image23.svg"/><Relationship Id="rId5" Type="http://schemas.openxmlformats.org/officeDocument/2006/relationships/image" Target="../media/image17.sv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svg"/></Relationships>
</file>

<file path=ppt/slides/_rels/slide1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3.svg"/><Relationship Id="rId7"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2.png"/><Relationship Id="rId11" Type="http://schemas.openxmlformats.org/officeDocument/2006/relationships/image" Target="../media/image23.svg"/><Relationship Id="rId5" Type="http://schemas.openxmlformats.org/officeDocument/2006/relationships/image" Target="../media/image17.sv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svg"/></Relationships>
</file>

<file path=ppt/slides/_rels/slide1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3.svg"/><Relationship Id="rId7"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2.png"/><Relationship Id="rId11" Type="http://schemas.openxmlformats.org/officeDocument/2006/relationships/image" Target="../media/image23.svg"/><Relationship Id="rId5" Type="http://schemas.openxmlformats.org/officeDocument/2006/relationships/image" Target="../media/image17.sv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svg"/></Relationships>
</file>

<file path=ppt/slides/_rels/slide1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3.svg"/><Relationship Id="rId7"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2.png"/><Relationship Id="rId11" Type="http://schemas.openxmlformats.org/officeDocument/2006/relationships/image" Target="../media/image23.svg"/><Relationship Id="rId5" Type="http://schemas.openxmlformats.org/officeDocument/2006/relationships/image" Target="../media/image17.sv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svg"/></Relationships>
</file>

<file path=ppt/slides/_rels/slide19.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3.svg"/><Relationship Id="rId7"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7.svg"/><Relationship Id="rId4" Type="http://schemas.openxmlformats.org/officeDocument/2006/relationships/image" Target="../media/image16.png"/><Relationship Id="rId9" Type="http://schemas.openxmlformats.org/officeDocument/2006/relationships/image" Target="../media/image19.svg"/></Relationships>
</file>

<file path=ppt/slides/_rels/slide20.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3.svg"/><Relationship Id="rId7" Type="http://schemas.openxmlformats.org/officeDocument/2006/relationships/image" Target="../media/image19.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 Id="rId9" Type="http://schemas.openxmlformats.org/officeDocument/2006/relationships/image" Target="../media/image13.svg"/></Relationships>
</file>

<file path=ppt/slides/_rels/slide21.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3.svg"/><Relationship Id="rId7" Type="http://schemas.openxmlformats.org/officeDocument/2006/relationships/image" Target="../media/image19.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 Id="rId9" Type="http://schemas.openxmlformats.org/officeDocument/2006/relationships/image" Target="../media/image13.svg"/></Relationships>
</file>

<file path=ppt/slides/_rels/slide2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3.svg"/><Relationship Id="rId7" Type="http://schemas.openxmlformats.org/officeDocument/2006/relationships/image" Target="../media/image19.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 Id="rId9" Type="http://schemas.openxmlformats.org/officeDocument/2006/relationships/image" Target="../media/image13.svg"/></Relationships>
</file>

<file path=ppt/slides/_rels/slide2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3.svg"/><Relationship Id="rId7" Type="http://schemas.openxmlformats.org/officeDocument/2006/relationships/image" Target="../media/image19.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 Id="rId9" Type="http://schemas.openxmlformats.org/officeDocument/2006/relationships/image" Target="../media/image13.svg"/></Relationships>
</file>

<file path=ppt/slides/_rels/slide2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3.svg"/><Relationship Id="rId7" Type="http://schemas.openxmlformats.org/officeDocument/2006/relationships/image" Target="../media/image21.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image" Target="../media/image23.svg"/><Relationship Id="rId5" Type="http://schemas.openxmlformats.org/officeDocument/2006/relationships/image" Target="../media/image17.sv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13.svg"/></Relationships>
</file>

<file path=ppt/slides/_rels/slide25.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3.svg"/><Relationship Id="rId7"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2.png"/><Relationship Id="rId11" Type="http://schemas.openxmlformats.org/officeDocument/2006/relationships/image" Target="../media/image21.svg"/><Relationship Id="rId5" Type="http://schemas.openxmlformats.org/officeDocument/2006/relationships/image" Target="../media/image17.svg"/><Relationship Id="rId10" Type="http://schemas.openxmlformats.org/officeDocument/2006/relationships/image" Target="../media/image20.png"/><Relationship Id="rId4" Type="http://schemas.openxmlformats.org/officeDocument/2006/relationships/image" Target="../media/image16.png"/><Relationship Id="rId9" Type="http://schemas.openxmlformats.org/officeDocument/2006/relationships/image" Target="../media/image23.svg"/></Relationships>
</file>

<file path=ppt/slides/_rels/slide26.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3.svg"/><Relationship Id="rId7"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2.png"/><Relationship Id="rId11" Type="http://schemas.openxmlformats.org/officeDocument/2006/relationships/image" Target="../media/image21.svg"/><Relationship Id="rId5" Type="http://schemas.openxmlformats.org/officeDocument/2006/relationships/image" Target="../media/image17.svg"/><Relationship Id="rId10" Type="http://schemas.openxmlformats.org/officeDocument/2006/relationships/image" Target="../media/image20.png"/><Relationship Id="rId4" Type="http://schemas.openxmlformats.org/officeDocument/2006/relationships/image" Target="../media/image16.png"/><Relationship Id="rId9" Type="http://schemas.openxmlformats.org/officeDocument/2006/relationships/image" Target="../media/image23.svg"/></Relationships>
</file>

<file path=ppt/slides/_rels/slide2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3.svg"/><Relationship Id="rId7"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2.png"/><Relationship Id="rId11" Type="http://schemas.openxmlformats.org/officeDocument/2006/relationships/image" Target="../media/image21.svg"/><Relationship Id="rId5" Type="http://schemas.openxmlformats.org/officeDocument/2006/relationships/image" Target="../media/image17.svg"/><Relationship Id="rId10" Type="http://schemas.openxmlformats.org/officeDocument/2006/relationships/image" Target="../media/image20.png"/><Relationship Id="rId4" Type="http://schemas.openxmlformats.org/officeDocument/2006/relationships/image" Target="../media/image16.png"/><Relationship Id="rId9" Type="http://schemas.openxmlformats.org/officeDocument/2006/relationships/image" Target="../media/image23.svg"/></Relationships>
</file>

<file path=ppt/slides/_rels/slide28.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17.svg"/><Relationship Id="rId3" Type="http://schemas.openxmlformats.org/officeDocument/2006/relationships/image" Target="../media/image3.svg"/><Relationship Id="rId7" Type="http://schemas.openxmlformats.org/officeDocument/2006/relationships/image" Target="../media/image25.svg"/><Relationship Id="rId12"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4.png"/><Relationship Id="rId11" Type="http://schemas.openxmlformats.org/officeDocument/2006/relationships/image" Target="../media/image29.svg"/><Relationship Id="rId5" Type="http://schemas.openxmlformats.org/officeDocument/2006/relationships/image" Target="../media/image13.svg"/><Relationship Id="rId10" Type="http://schemas.openxmlformats.org/officeDocument/2006/relationships/image" Target="../media/image28.png"/><Relationship Id="rId4" Type="http://schemas.openxmlformats.org/officeDocument/2006/relationships/image" Target="../media/image12.png"/><Relationship Id="rId9" Type="http://schemas.openxmlformats.org/officeDocument/2006/relationships/image" Target="../media/image2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8D148-1BF9-572C-35BF-9DBBB2644B0D}"/>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A714A2EC-4FC0-EF53-EAAC-A5A0F7E6EFB2}"/>
              </a:ext>
            </a:extLst>
          </p:cNvPr>
          <p:cNvSpPr>
            <a:spLocks noGrp="1"/>
          </p:cNvSpPr>
          <p:nvPr>
            <p:ph type="subTitle" idx="1"/>
          </p:nvPr>
        </p:nvSpPr>
        <p:spPr/>
        <p:txBody>
          <a:bodyPr/>
          <a:lstStyle/>
          <a:p>
            <a:endParaRPr lang="en-US"/>
          </a:p>
        </p:txBody>
      </p:sp>
      <p:pic>
        <p:nvPicPr>
          <p:cNvPr id="7" name="Picture 6">
            <a:extLst>
              <a:ext uri="{FF2B5EF4-FFF2-40B4-BE49-F238E27FC236}">
                <a16:creationId xmlns:a16="http://schemas.microsoft.com/office/drawing/2014/main" id="{3611D5E5-6037-DE23-0620-E0715635910D}"/>
              </a:ext>
            </a:extLst>
          </p:cNvPr>
          <p:cNvPicPr>
            <a:picLocks noChangeAspect="1"/>
          </p:cNvPicPr>
          <p:nvPr/>
        </p:nvPicPr>
        <p:blipFill>
          <a:blip r:embed="rId2"/>
          <a:stretch>
            <a:fillRect/>
          </a:stretch>
        </p:blipFill>
        <p:spPr>
          <a:xfrm>
            <a:off x="27633" y="0"/>
            <a:ext cx="12136733" cy="6858000"/>
          </a:xfrm>
          <a:prstGeom prst="rect">
            <a:avLst/>
          </a:prstGeom>
        </p:spPr>
      </p:pic>
      <p:sp>
        <p:nvSpPr>
          <p:cNvPr id="8" name="TextBox 7">
            <a:extLst>
              <a:ext uri="{FF2B5EF4-FFF2-40B4-BE49-F238E27FC236}">
                <a16:creationId xmlns:a16="http://schemas.microsoft.com/office/drawing/2014/main" id="{06BC6648-4FF5-0C24-B470-6D851BC3C123}"/>
              </a:ext>
            </a:extLst>
          </p:cNvPr>
          <p:cNvSpPr txBox="1"/>
          <p:nvPr/>
        </p:nvSpPr>
        <p:spPr>
          <a:xfrm>
            <a:off x="3867005" y="4299774"/>
            <a:ext cx="4648781" cy="1077218"/>
          </a:xfrm>
          <a:prstGeom prst="rect">
            <a:avLst/>
          </a:prstGeom>
          <a:noFill/>
        </p:spPr>
        <p:txBody>
          <a:bodyPr wrap="square" rtlCol="0">
            <a:spAutoFit/>
          </a:bodyPr>
          <a:lstStyle/>
          <a:p>
            <a:r>
              <a:rPr lang="en-US" sz="3200" dirty="0">
                <a:solidFill>
                  <a:srgbClr val="FF0000"/>
                </a:solidFill>
              </a:rPr>
              <a:t>WE ARE MOVING AWAY FROM THIS</a:t>
            </a:r>
          </a:p>
        </p:txBody>
      </p:sp>
    </p:spTree>
    <p:extLst>
      <p:ext uri="{BB962C8B-B14F-4D97-AF65-F5344CB8AC3E}">
        <p14:creationId xmlns:p14="http://schemas.microsoft.com/office/powerpoint/2010/main" val="21519821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E1C2D"/>
        </a:solidFill>
        <a:effectLst/>
      </p:bgPr>
    </p:bg>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3967ED17-C0DA-4AC4-0B49-E47AB29177B2}"/>
              </a:ext>
            </a:extLst>
          </p:cNvPr>
          <p:cNvSpPr/>
          <p:nvPr/>
        </p:nvSpPr>
        <p:spPr>
          <a:xfrm>
            <a:off x="1308100" y="1354149"/>
            <a:ext cx="2174995" cy="505137"/>
          </a:xfrm>
          <a:prstGeom prst="roundRect">
            <a:avLst>
              <a:gd name="adj" fmla="val 35041"/>
            </a:avLst>
          </a:prstGeom>
          <a:no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D7BD6F7C-1F53-9B66-05AC-1DA517CC8496}"/>
              </a:ext>
            </a:extLst>
          </p:cNvPr>
          <p:cNvSpPr txBox="1"/>
          <p:nvPr/>
        </p:nvSpPr>
        <p:spPr>
          <a:xfrm>
            <a:off x="516531" y="677075"/>
            <a:ext cx="2514919" cy="553998"/>
          </a:xfrm>
          <a:prstGeom prst="rect">
            <a:avLst/>
          </a:prstGeom>
          <a:noFill/>
        </p:spPr>
        <p:txBody>
          <a:bodyPr wrap="none" rtlCol="0">
            <a:spAutoFit/>
          </a:bodyPr>
          <a:lstStyle/>
          <a:p>
            <a:r>
              <a:rPr lang="en-US" dirty="0">
                <a:solidFill>
                  <a:srgbClr val="E1E1E1"/>
                </a:solidFill>
              </a:rPr>
              <a:t>Project: </a:t>
            </a:r>
            <a:r>
              <a:rPr lang="en-US" dirty="0">
                <a:solidFill>
                  <a:srgbClr val="FFC300"/>
                </a:solidFill>
              </a:rPr>
              <a:t>{</a:t>
            </a:r>
            <a:r>
              <a:rPr lang="en-US" dirty="0" err="1">
                <a:solidFill>
                  <a:srgbClr val="FFC300"/>
                </a:solidFill>
              </a:rPr>
              <a:t>project_name</a:t>
            </a:r>
            <a:r>
              <a:rPr lang="en-US" dirty="0">
                <a:solidFill>
                  <a:srgbClr val="FFC300"/>
                </a:solidFill>
              </a:rPr>
              <a:t>}</a:t>
            </a:r>
          </a:p>
          <a:p>
            <a:r>
              <a:rPr lang="en-US" sz="1200" dirty="0">
                <a:solidFill>
                  <a:srgbClr val="8F97B7"/>
                </a:solidFill>
              </a:rPr>
              <a:t>Project ID: {</a:t>
            </a:r>
            <a:r>
              <a:rPr lang="en-US" sz="1200" dirty="0" err="1">
                <a:solidFill>
                  <a:srgbClr val="8F97B7"/>
                </a:solidFill>
              </a:rPr>
              <a:t>full_UUID</a:t>
            </a:r>
            <a:r>
              <a:rPr lang="en-US" sz="1200" dirty="0">
                <a:solidFill>
                  <a:srgbClr val="8F97B7"/>
                </a:solidFill>
              </a:rPr>
              <a:t>}</a:t>
            </a:r>
          </a:p>
        </p:txBody>
      </p:sp>
      <p:sp>
        <p:nvSpPr>
          <p:cNvPr id="3" name="Rectangle: Rounded Corners 2">
            <a:extLst>
              <a:ext uri="{FF2B5EF4-FFF2-40B4-BE49-F238E27FC236}">
                <a16:creationId xmlns:a16="http://schemas.microsoft.com/office/drawing/2014/main" id="{E1C9EF91-258F-A18F-BC9D-6D8F1ED7EA07}"/>
              </a:ext>
            </a:extLst>
          </p:cNvPr>
          <p:cNvSpPr/>
          <p:nvPr/>
        </p:nvSpPr>
        <p:spPr>
          <a:xfrm>
            <a:off x="503405" y="1354150"/>
            <a:ext cx="1212683" cy="969932"/>
          </a:xfrm>
          <a:prstGeom prst="roundRect">
            <a:avLst>
              <a:gd name="adj" fmla="val 17766"/>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D8CB7B6-CFB7-9717-85E7-6701A432880E}"/>
              </a:ext>
            </a:extLst>
          </p:cNvPr>
          <p:cNvSpPr txBox="1"/>
          <p:nvPr/>
        </p:nvSpPr>
        <p:spPr>
          <a:xfrm>
            <a:off x="658965" y="1326537"/>
            <a:ext cx="929678" cy="369332"/>
          </a:xfrm>
          <a:prstGeom prst="rect">
            <a:avLst/>
          </a:prstGeom>
          <a:noFill/>
        </p:spPr>
        <p:txBody>
          <a:bodyPr wrap="none" rtlCol="0">
            <a:spAutoFit/>
          </a:bodyPr>
          <a:lstStyle/>
          <a:p>
            <a:r>
              <a:rPr lang="en-US" dirty="0">
                <a:solidFill>
                  <a:srgbClr val="E1E1E1"/>
                </a:solidFill>
              </a:rPr>
              <a:t>Launch</a:t>
            </a:r>
          </a:p>
        </p:txBody>
      </p:sp>
      <p:sp>
        <p:nvSpPr>
          <p:cNvPr id="6" name="Rectangle: Rounded Corners 5">
            <a:extLst>
              <a:ext uri="{FF2B5EF4-FFF2-40B4-BE49-F238E27FC236}">
                <a16:creationId xmlns:a16="http://schemas.microsoft.com/office/drawing/2014/main" id="{CE8D6C19-4E1C-94C2-57E7-2829C79510A9}"/>
              </a:ext>
            </a:extLst>
          </p:cNvPr>
          <p:cNvSpPr/>
          <p:nvPr/>
        </p:nvSpPr>
        <p:spPr>
          <a:xfrm>
            <a:off x="503403" y="1668256"/>
            <a:ext cx="11185191" cy="4565020"/>
          </a:xfrm>
          <a:prstGeom prst="roundRect">
            <a:avLst>
              <a:gd name="adj" fmla="val 5962"/>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5F2C106B-A7DC-833C-0694-20979BE60FB9}"/>
              </a:ext>
            </a:extLst>
          </p:cNvPr>
          <p:cNvSpPr/>
          <p:nvPr/>
        </p:nvSpPr>
        <p:spPr>
          <a:xfrm>
            <a:off x="512825" y="1626758"/>
            <a:ext cx="1192150" cy="287650"/>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9C461C87-3E21-AD2B-8B8A-6E900B974D32}"/>
              </a:ext>
            </a:extLst>
          </p:cNvPr>
          <p:cNvSpPr/>
          <p:nvPr/>
        </p:nvSpPr>
        <p:spPr>
          <a:xfrm>
            <a:off x="818741" y="1818947"/>
            <a:ext cx="1198523" cy="286492"/>
          </a:xfrm>
          <a:prstGeom prst="roundRect">
            <a:avLst>
              <a:gd name="adj" fmla="val 32223"/>
            </a:avLst>
          </a:prstGeom>
          <a:noFill/>
          <a:ln>
            <a:solidFill>
              <a:srgbClr val="FFC3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Stage project</a:t>
            </a:r>
          </a:p>
        </p:txBody>
      </p:sp>
      <p:sp>
        <p:nvSpPr>
          <p:cNvPr id="8" name="Rectangle: Rounded Corners 7">
            <a:extLst>
              <a:ext uri="{FF2B5EF4-FFF2-40B4-BE49-F238E27FC236}">
                <a16:creationId xmlns:a16="http://schemas.microsoft.com/office/drawing/2014/main" id="{18105802-B9CF-DD16-BD36-7E47095065CA}"/>
              </a:ext>
            </a:extLst>
          </p:cNvPr>
          <p:cNvSpPr/>
          <p:nvPr/>
        </p:nvSpPr>
        <p:spPr>
          <a:xfrm>
            <a:off x="658964" y="2296470"/>
            <a:ext cx="3301961" cy="3818144"/>
          </a:xfrm>
          <a:prstGeom prst="roundRect">
            <a:avLst>
              <a:gd name="adj" fmla="val 8358"/>
            </a:avLst>
          </a:prstGeom>
          <a:solidFill>
            <a:srgbClr val="0E1C2D"/>
          </a:solid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34C9DFD-2900-AFA1-2D68-0A083BE060CD}"/>
              </a:ext>
            </a:extLst>
          </p:cNvPr>
          <p:cNvSpPr/>
          <p:nvPr/>
        </p:nvSpPr>
        <p:spPr>
          <a:xfrm>
            <a:off x="818741" y="2195310"/>
            <a:ext cx="1396030" cy="224288"/>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Project Description</a:t>
            </a:r>
          </a:p>
        </p:txBody>
      </p:sp>
      <p:cxnSp>
        <p:nvCxnSpPr>
          <p:cNvPr id="12" name="Straight Connector 11">
            <a:extLst>
              <a:ext uri="{FF2B5EF4-FFF2-40B4-BE49-F238E27FC236}">
                <a16:creationId xmlns:a16="http://schemas.microsoft.com/office/drawing/2014/main" id="{57A49831-0FF6-2B76-2509-EF56CFACD63A}"/>
              </a:ext>
            </a:extLst>
          </p:cNvPr>
          <p:cNvCxnSpPr>
            <a:cxnSpLocks/>
          </p:cNvCxnSpPr>
          <p:nvPr/>
        </p:nvCxnSpPr>
        <p:spPr>
          <a:xfrm>
            <a:off x="3788148" y="2767630"/>
            <a:ext cx="0" cy="3018916"/>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71956DC6-D52D-D6A0-DCE9-5D2E215732F5}"/>
              </a:ext>
            </a:extLst>
          </p:cNvPr>
          <p:cNvCxnSpPr>
            <a:cxnSpLocks/>
          </p:cNvCxnSpPr>
          <p:nvPr/>
        </p:nvCxnSpPr>
        <p:spPr>
          <a:xfrm>
            <a:off x="3788148" y="2764279"/>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sp>
        <p:nvSpPr>
          <p:cNvPr id="18" name="Rectangle: Rounded Corners 17">
            <a:extLst>
              <a:ext uri="{FF2B5EF4-FFF2-40B4-BE49-F238E27FC236}">
                <a16:creationId xmlns:a16="http://schemas.microsoft.com/office/drawing/2014/main" id="{3C0D9041-2C16-E72E-013A-3FD3CA11059D}"/>
              </a:ext>
            </a:extLst>
          </p:cNvPr>
          <p:cNvSpPr/>
          <p:nvPr/>
        </p:nvSpPr>
        <p:spPr>
          <a:xfrm>
            <a:off x="4102232" y="2296469"/>
            <a:ext cx="3359547" cy="3818144"/>
          </a:xfrm>
          <a:prstGeom prst="roundRect">
            <a:avLst>
              <a:gd name="adj" fmla="val 8358"/>
            </a:avLst>
          </a:prstGeom>
          <a:solidFill>
            <a:srgbClr val="0E1C2D"/>
          </a:solid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p>
        </p:txBody>
      </p:sp>
      <p:sp>
        <p:nvSpPr>
          <p:cNvPr id="19" name="Rectangle 18">
            <a:extLst>
              <a:ext uri="{FF2B5EF4-FFF2-40B4-BE49-F238E27FC236}">
                <a16:creationId xmlns:a16="http://schemas.microsoft.com/office/drawing/2014/main" id="{2D3841B3-437A-B928-0B6D-4CAB81CA21BA}"/>
              </a:ext>
            </a:extLst>
          </p:cNvPr>
          <p:cNvSpPr/>
          <p:nvPr/>
        </p:nvSpPr>
        <p:spPr>
          <a:xfrm>
            <a:off x="4294848" y="2195256"/>
            <a:ext cx="2687874" cy="210746"/>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Orchestrator Generated Mission</a:t>
            </a:r>
          </a:p>
        </p:txBody>
      </p:sp>
      <p:cxnSp>
        <p:nvCxnSpPr>
          <p:cNvPr id="21" name="Straight Connector 20">
            <a:extLst>
              <a:ext uri="{FF2B5EF4-FFF2-40B4-BE49-F238E27FC236}">
                <a16:creationId xmlns:a16="http://schemas.microsoft.com/office/drawing/2014/main" id="{71144B60-3E80-507F-5963-D53B6DA485FC}"/>
              </a:ext>
            </a:extLst>
          </p:cNvPr>
          <p:cNvCxnSpPr>
            <a:cxnSpLocks/>
          </p:cNvCxnSpPr>
          <p:nvPr/>
        </p:nvCxnSpPr>
        <p:spPr>
          <a:xfrm>
            <a:off x="7315178" y="2767630"/>
            <a:ext cx="0" cy="3018916"/>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C3D9764E-8725-FC79-F999-DDD8B3DE8B5C}"/>
              </a:ext>
            </a:extLst>
          </p:cNvPr>
          <p:cNvCxnSpPr>
            <a:cxnSpLocks/>
          </p:cNvCxnSpPr>
          <p:nvPr/>
        </p:nvCxnSpPr>
        <p:spPr>
          <a:xfrm>
            <a:off x="7315178" y="2767630"/>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FED1E1CE-20FA-B836-15C5-238AE19D84B7}"/>
              </a:ext>
            </a:extLst>
          </p:cNvPr>
          <p:cNvSpPr txBox="1"/>
          <p:nvPr/>
        </p:nvSpPr>
        <p:spPr>
          <a:xfrm>
            <a:off x="1899316" y="1330953"/>
            <a:ext cx="1273105" cy="369332"/>
          </a:xfrm>
          <a:prstGeom prst="rect">
            <a:avLst/>
          </a:prstGeom>
          <a:noFill/>
        </p:spPr>
        <p:txBody>
          <a:bodyPr wrap="none" rtlCol="0">
            <a:spAutoFit/>
          </a:bodyPr>
          <a:lstStyle/>
          <a:p>
            <a:r>
              <a:rPr lang="en-US" dirty="0">
                <a:solidFill>
                  <a:srgbClr val="8F97B7"/>
                </a:solidFill>
              </a:rPr>
              <a:t>Implement</a:t>
            </a:r>
          </a:p>
        </p:txBody>
      </p:sp>
      <p:sp>
        <p:nvSpPr>
          <p:cNvPr id="30" name="Rectangle: Rounded Corners 29">
            <a:extLst>
              <a:ext uri="{FF2B5EF4-FFF2-40B4-BE49-F238E27FC236}">
                <a16:creationId xmlns:a16="http://schemas.microsoft.com/office/drawing/2014/main" id="{531561DD-2C7B-F78F-A40D-C4D894DBC064}"/>
              </a:ext>
            </a:extLst>
          </p:cNvPr>
          <p:cNvSpPr/>
          <p:nvPr/>
        </p:nvSpPr>
        <p:spPr>
          <a:xfrm>
            <a:off x="10105965" y="1859749"/>
            <a:ext cx="1198523" cy="286492"/>
          </a:xfrm>
          <a:prstGeom prst="roundRect">
            <a:avLst>
              <a:gd name="adj" fmla="val 32223"/>
            </a:avLst>
          </a:prstGeom>
          <a:no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1E3147"/>
                </a:solidFill>
              </a:rPr>
              <a:t>Launch Jobs</a:t>
            </a:r>
          </a:p>
        </p:txBody>
      </p:sp>
      <p:cxnSp>
        <p:nvCxnSpPr>
          <p:cNvPr id="31" name="Straight Connector 30">
            <a:extLst>
              <a:ext uri="{FF2B5EF4-FFF2-40B4-BE49-F238E27FC236}">
                <a16:creationId xmlns:a16="http://schemas.microsoft.com/office/drawing/2014/main" id="{77BA3087-D0C9-55AA-31C8-8E2BCF2B8CE1}"/>
              </a:ext>
            </a:extLst>
          </p:cNvPr>
          <p:cNvCxnSpPr>
            <a:cxnSpLocks/>
          </p:cNvCxnSpPr>
          <p:nvPr/>
        </p:nvCxnSpPr>
        <p:spPr>
          <a:xfrm>
            <a:off x="7315178" y="2767630"/>
            <a:ext cx="0" cy="3018916"/>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23BE6EED-A8E0-9E2B-BB6F-E1D8A969D345}"/>
              </a:ext>
            </a:extLst>
          </p:cNvPr>
          <p:cNvCxnSpPr>
            <a:cxnSpLocks/>
          </p:cNvCxnSpPr>
          <p:nvPr/>
        </p:nvCxnSpPr>
        <p:spPr>
          <a:xfrm>
            <a:off x="7315178" y="2767630"/>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sp>
        <p:nvSpPr>
          <p:cNvPr id="33" name="Rectangle: Rounded Corners 32">
            <a:extLst>
              <a:ext uri="{FF2B5EF4-FFF2-40B4-BE49-F238E27FC236}">
                <a16:creationId xmlns:a16="http://schemas.microsoft.com/office/drawing/2014/main" id="{23538F55-9C2A-7B64-613D-5799BA8BC403}"/>
              </a:ext>
            </a:extLst>
          </p:cNvPr>
          <p:cNvSpPr/>
          <p:nvPr/>
        </p:nvSpPr>
        <p:spPr>
          <a:xfrm>
            <a:off x="7740989" y="2497733"/>
            <a:ext cx="2919197" cy="540961"/>
          </a:xfrm>
          <a:prstGeom prst="roundRect">
            <a:avLst>
              <a:gd name="adj" fmla="val 30861"/>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4C7B8D93-FA09-18CB-A31E-829F6F8972BB}"/>
              </a:ext>
            </a:extLst>
          </p:cNvPr>
          <p:cNvSpPr/>
          <p:nvPr/>
        </p:nvSpPr>
        <p:spPr>
          <a:xfrm>
            <a:off x="7810271" y="2553194"/>
            <a:ext cx="429926" cy="418406"/>
          </a:xfrm>
          <a:prstGeom prst="ellipse">
            <a:avLst/>
          </a:prstGeom>
          <a:solidFill>
            <a:srgbClr val="A9866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3B7C3C0F-C2FF-B7C8-1318-BB492B68B38A}"/>
              </a:ext>
            </a:extLst>
          </p:cNvPr>
          <p:cNvSpPr txBox="1"/>
          <p:nvPr/>
        </p:nvSpPr>
        <p:spPr>
          <a:xfrm>
            <a:off x="7810270" y="2582965"/>
            <a:ext cx="439544" cy="369332"/>
          </a:xfrm>
          <a:prstGeom prst="rect">
            <a:avLst/>
          </a:prstGeom>
          <a:noFill/>
        </p:spPr>
        <p:txBody>
          <a:bodyPr wrap="none" rtlCol="0">
            <a:spAutoFit/>
          </a:bodyPr>
          <a:lstStyle/>
          <a:p>
            <a:r>
              <a:rPr lang="en-US" b="1" dirty="0">
                <a:solidFill>
                  <a:srgbClr val="0E1C2D"/>
                </a:solidFill>
              </a:rPr>
              <a:t>Or</a:t>
            </a:r>
          </a:p>
        </p:txBody>
      </p:sp>
      <p:sp>
        <p:nvSpPr>
          <p:cNvPr id="36" name="TextBox 35">
            <a:extLst>
              <a:ext uri="{FF2B5EF4-FFF2-40B4-BE49-F238E27FC236}">
                <a16:creationId xmlns:a16="http://schemas.microsoft.com/office/drawing/2014/main" id="{CF7F92BE-67FE-6FBB-8658-8D33672FD185}"/>
              </a:ext>
            </a:extLst>
          </p:cNvPr>
          <p:cNvSpPr txBox="1"/>
          <p:nvPr/>
        </p:nvSpPr>
        <p:spPr>
          <a:xfrm>
            <a:off x="8294119" y="2576473"/>
            <a:ext cx="1825087" cy="369332"/>
          </a:xfrm>
          <a:prstGeom prst="rect">
            <a:avLst/>
          </a:prstGeom>
          <a:noFill/>
        </p:spPr>
        <p:txBody>
          <a:bodyPr wrap="square" rtlCol="0">
            <a:spAutoFit/>
          </a:bodyPr>
          <a:lstStyle/>
          <a:p>
            <a:r>
              <a:rPr lang="en-US" dirty="0">
                <a:solidFill>
                  <a:srgbClr val="E1E1E1"/>
                </a:solidFill>
              </a:rPr>
              <a:t>Orchestrator</a:t>
            </a:r>
          </a:p>
        </p:txBody>
      </p:sp>
      <p:pic>
        <p:nvPicPr>
          <p:cNvPr id="37" name="Graphic 36" descr="Information with solid fill">
            <a:extLst>
              <a:ext uri="{FF2B5EF4-FFF2-40B4-BE49-F238E27FC236}">
                <a16:creationId xmlns:a16="http://schemas.microsoft.com/office/drawing/2014/main" id="{E2C98105-694C-4554-846D-32EFC5F3B21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54874" y="2632972"/>
            <a:ext cx="270481" cy="270481"/>
          </a:xfrm>
          <a:prstGeom prst="rect">
            <a:avLst/>
          </a:prstGeom>
        </p:spPr>
      </p:pic>
      <p:cxnSp>
        <p:nvCxnSpPr>
          <p:cNvPr id="43" name="Straight Connector 42">
            <a:extLst>
              <a:ext uri="{FF2B5EF4-FFF2-40B4-BE49-F238E27FC236}">
                <a16:creationId xmlns:a16="http://schemas.microsoft.com/office/drawing/2014/main" id="{04A3E73C-0190-4035-1CE8-27708BF9FDF3}"/>
              </a:ext>
            </a:extLst>
          </p:cNvPr>
          <p:cNvCxnSpPr>
            <a:cxnSpLocks/>
          </p:cNvCxnSpPr>
          <p:nvPr/>
        </p:nvCxnSpPr>
        <p:spPr>
          <a:xfrm flipH="1">
            <a:off x="7740989" y="2324082"/>
            <a:ext cx="3168990" cy="0"/>
          </a:xfrm>
          <a:prstGeom prst="line">
            <a:avLst/>
          </a:prstGeom>
          <a:ln w="22225"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6E034ADF-5FEA-67D4-724A-44CCC81379A8}"/>
              </a:ext>
            </a:extLst>
          </p:cNvPr>
          <p:cNvCxnSpPr>
            <a:cxnSpLocks/>
          </p:cNvCxnSpPr>
          <p:nvPr/>
        </p:nvCxnSpPr>
        <p:spPr>
          <a:xfrm flipH="1">
            <a:off x="7740989" y="3328061"/>
            <a:ext cx="3168990" cy="0"/>
          </a:xfrm>
          <a:prstGeom prst="line">
            <a:avLst/>
          </a:prstGeom>
          <a:ln w="22225"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D3F4E906-2460-3F92-1FDB-F38DADE1257F}"/>
              </a:ext>
            </a:extLst>
          </p:cNvPr>
          <p:cNvCxnSpPr>
            <a:cxnSpLocks/>
          </p:cNvCxnSpPr>
          <p:nvPr/>
        </p:nvCxnSpPr>
        <p:spPr>
          <a:xfrm>
            <a:off x="11147051" y="3584306"/>
            <a:ext cx="0" cy="2327883"/>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B565A49C-91DB-CE65-8023-70CE0BBFF616}"/>
              </a:ext>
            </a:extLst>
          </p:cNvPr>
          <p:cNvCxnSpPr>
            <a:cxnSpLocks/>
          </p:cNvCxnSpPr>
          <p:nvPr/>
        </p:nvCxnSpPr>
        <p:spPr>
          <a:xfrm>
            <a:off x="11147051" y="3584306"/>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sp>
        <p:nvSpPr>
          <p:cNvPr id="57" name="Rectangle 56">
            <a:extLst>
              <a:ext uri="{FF2B5EF4-FFF2-40B4-BE49-F238E27FC236}">
                <a16:creationId xmlns:a16="http://schemas.microsoft.com/office/drawing/2014/main" id="{58D9DEEF-D22A-E870-55EE-BD677C914FFC}"/>
              </a:ext>
            </a:extLst>
          </p:cNvPr>
          <p:cNvSpPr/>
          <p:nvPr/>
        </p:nvSpPr>
        <p:spPr>
          <a:xfrm>
            <a:off x="8089767" y="2195257"/>
            <a:ext cx="1040765" cy="238699"/>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Default agent</a:t>
            </a:r>
          </a:p>
        </p:txBody>
      </p:sp>
      <p:sp>
        <p:nvSpPr>
          <p:cNvPr id="58" name="Rectangle 57">
            <a:extLst>
              <a:ext uri="{FF2B5EF4-FFF2-40B4-BE49-F238E27FC236}">
                <a16:creationId xmlns:a16="http://schemas.microsoft.com/office/drawing/2014/main" id="{AFA28203-FEFE-EDA6-3BF4-BC5F6642EE15}"/>
              </a:ext>
            </a:extLst>
          </p:cNvPr>
          <p:cNvSpPr/>
          <p:nvPr/>
        </p:nvSpPr>
        <p:spPr>
          <a:xfrm>
            <a:off x="8089768" y="3202756"/>
            <a:ext cx="936325" cy="200896"/>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Agent Team</a:t>
            </a:r>
          </a:p>
        </p:txBody>
      </p:sp>
      <p:pic>
        <p:nvPicPr>
          <p:cNvPr id="62" name="Graphic 61" descr="Lock with solid fill">
            <a:extLst>
              <a:ext uri="{FF2B5EF4-FFF2-40B4-BE49-F238E27FC236}">
                <a16:creationId xmlns:a16="http://schemas.microsoft.com/office/drawing/2014/main" id="{3A036CFE-3B1B-7B5D-B134-52A40E26CF7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239078" y="2620009"/>
            <a:ext cx="279802" cy="279802"/>
          </a:xfrm>
          <a:prstGeom prst="rect">
            <a:avLst/>
          </a:prstGeom>
        </p:spPr>
      </p:pic>
      <p:sp>
        <p:nvSpPr>
          <p:cNvPr id="63" name="TextBox 62">
            <a:extLst>
              <a:ext uri="{FF2B5EF4-FFF2-40B4-BE49-F238E27FC236}">
                <a16:creationId xmlns:a16="http://schemas.microsoft.com/office/drawing/2014/main" id="{0CB7206F-0EDB-3B1F-02D9-E0B74CDD5BCB}"/>
              </a:ext>
            </a:extLst>
          </p:cNvPr>
          <p:cNvSpPr txBox="1"/>
          <p:nvPr/>
        </p:nvSpPr>
        <p:spPr>
          <a:xfrm>
            <a:off x="5421251" y="1736107"/>
            <a:ext cx="985078" cy="369332"/>
          </a:xfrm>
          <a:prstGeom prst="rect">
            <a:avLst/>
          </a:prstGeom>
          <a:noFill/>
        </p:spPr>
        <p:txBody>
          <a:bodyPr wrap="none" rtlCol="0">
            <a:spAutoFit/>
          </a:bodyPr>
          <a:lstStyle/>
          <a:p>
            <a:r>
              <a:rPr lang="en-US" i="1" dirty="0">
                <a:solidFill>
                  <a:srgbClr val="FFC000"/>
                </a:solidFill>
              </a:rPr>
              <a:t>Waiting.</a:t>
            </a:r>
          </a:p>
        </p:txBody>
      </p:sp>
      <p:sp>
        <p:nvSpPr>
          <p:cNvPr id="71" name="TextBox 70">
            <a:extLst>
              <a:ext uri="{FF2B5EF4-FFF2-40B4-BE49-F238E27FC236}">
                <a16:creationId xmlns:a16="http://schemas.microsoft.com/office/drawing/2014/main" id="{0DADD1A2-0009-123F-AC9C-AFB36FA811A9}"/>
              </a:ext>
            </a:extLst>
          </p:cNvPr>
          <p:cNvSpPr txBox="1"/>
          <p:nvPr/>
        </p:nvSpPr>
        <p:spPr>
          <a:xfrm>
            <a:off x="4287543" y="265323"/>
            <a:ext cx="6797550" cy="1200329"/>
          </a:xfrm>
          <a:prstGeom prst="rect">
            <a:avLst/>
          </a:prstGeom>
          <a:noFill/>
        </p:spPr>
        <p:txBody>
          <a:bodyPr wrap="square" rtlCol="0">
            <a:spAutoFit/>
          </a:bodyPr>
          <a:lstStyle/>
          <a:p>
            <a:r>
              <a:rPr lang="en-US" sz="2400" dirty="0">
                <a:solidFill>
                  <a:schemeClr val="accent5">
                    <a:lumMod val="60000"/>
                    <a:lumOff val="40000"/>
                  </a:schemeClr>
                </a:solidFill>
              </a:rPr>
              <a:t>Before Stage project button is pressed and prompt is copied, and before user has pasted in CLI tool to launch orchestrator</a:t>
            </a:r>
          </a:p>
        </p:txBody>
      </p:sp>
      <p:sp>
        <p:nvSpPr>
          <p:cNvPr id="72" name="TextBox 71">
            <a:extLst>
              <a:ext uri="{FF2B5EF4-FFF2-40B4-BE49-F238E27FC236}">
                <a16:creationId xmlns:a16="http://schemas.microsoft.com/office/drawing/2014/main" id="{E450CE15-E4C6-13A2-67F0-078A49E48DD2}"/>
              </a:ext>
            </a:extLst>
          </p:cNvPr>
          <p:cNvSpPr txBox="1"/>
          <p:nvPr/>
        </p:nvSpPr>
        <p:spPr>
          <a:xfrm>
            <a:off x="39778" y="47732"/>
            <a:ext cx="3645806" cy="369332"/>
          </a:xfrm>
          <a:prstGeom prst="rect">
            <a:avLst/>
          </a:prstGeom>
          <a:noFill/>
        </p:spPr>
        <p:txBody>
          <a:bodyPr wrap="none" rtlCol="0">
            <a:spAutoFit/>
          </a:bodyPr>
          <a:lstStyle/>
          <a:p>
            <a:r>
              <a:rPr lang="en-US" dirty="0">
                <a:solidFill>
                  <a:schemeClr val="accent5">
                    <a:lumMod val="60000"/>
                    <a:lumOff val="40000"/>
                  </a:schemeClr>
                </a:solidFill>
              </a:rPr>
              <a:t>SLIDE 1a – Prestaging – Launch Tab</a:t>
            </a:r>
          </a:p>
        </p:txBody>
      </p:sp>
      <p:cxnSp>
        <p:nvCxnSpPr>
          <p:cNvPr id="74" name="Connector: Elbow 73">
            <a:extLst>
              <a:ext uri="{FF2B5EF4-FFF2-40B4-BE49-F238E27FC236}">
                <a16:creationId xmlns:a16="http://schemas.microsoft.com/office/drawing/2014/main" id="{CA4096BA-AEDF-5C84-AA6F-B1D96B7747BC}"/>
              </a:ext>
            </a:extLst>
          </p:cNvPr>
          <p:cNvCxnSpPr>
            <a:cxnSpLocks/>
          </p:cNvCxnSpPr>
          <p:nvPr/>
        </p:nvCxnSpPr>
        <p:spPr>
          <a:xfrm rot="16200000" flipH="1">
            <a:off x="-232127" y="739024"/>
            <a:ext cx="1048589" cy="293166"/>
          </a:xfrm>
          <a:prstGeom prst="bentConnector3">
            <a:avLst>
              <a:gd name="adj1" fmla="val 99925"/>
            </a:avLst>
          </a:prstGeom>
          <a:ln>
            <a:tailEnd type="triangle"/>
          </a:ln>
        </p:spPr>
        <p:style>
          <a:lnRef idx="2">
            <a:schemeClr val="accent5"/>
          </a:lnRef>
          <a:fillRef idx="0">
            <a:schemeClr val="accent5"/>
          </a:fillRef>
          <a:effectRef idx="1">
            <a:schemeClr val="accent5"/>
          </a:effectRef>
          <a:fontRef idx="minor">
            <a:schemeClr val="tx1"/>
          </a:fontRef>
        </p:style>
      </p:cxnSp>
      <p:sp>
        <p:nvSpPr>
          <p:cNvPr id="79" name="TextBox 78">
            <a:extLst>
              <a:ext uri="{FF2B5EF4-FFF2-40B4-BE49-F238E27FC236}">
                <a16:creationId xmlns:a16="http://schemas.microsoft.com/office/drawing/2014/main" id="{7552268E-9497-16C4-C291-9FD22C9E966F}"/>
              </a:ext>
            </a:extLst>
          </p:cNvPr>
          <p:cNvSpPr txBox="1"/>
          <p:nvPr/>
        </p:nvSpPr>
        <p:spPr>
          <a:xfrm>
            <a:off x="721581" y="2490502"/>
            <a:ext cx="2884531" cy="3166680"/>
          </a:xfrm>
          <a:prstGeom prst="rect">
            <a:avLst/>
          </a:prstGeom>
          <a:noFill/>
        </p:spPr>
        <p:txBody>
          <a:bodyPr wrap="square" rtlCol="0">
            <a:noAutofit/>
          </a:bodyPr>
          <a:lstStyle/>
          <a:p>
            <a:r>
              <a:rPr lang="en-US" sz="1000" dirty="0">
                <a:solidFill>
                  <a:srgbClr val="8F97B7"/>
                </a:solidFill>
              </a:rPr>
              <a:t>Lorem ipsum dolor sit </a:t>
            </a:r>
            <a:r>
              <a:rPr lang="en-US" sz="1000" dirty="0" err="1">
                <a:solidFill>
                  <a:srgbClr val="8F97B7"/>
                </a:solidFill>
              </a:rPr>
              <a:t>amet</a:t>
            </a:r>
            <a:r>
              <a:rPr lang="en-US" sz="1000" dirty="0">
                <a:solidFill>
                  <a:srgbClr val="8F97B7"/>
                </a:solidFill>
              </a:rPr>
              <a:t>, </a:t>
            </a:r>
            <a:r>
              <a:rPr lang="en-US" sz="1000" dirty="0" err="1">
                <a:solidFill>
                  <a:srgbClr val="8F97B7"/>
                </a:solidFill>
              </a:rPr>
              <a:t>consectetur</a:t>
            </a:r>
            <a:r>
              <a:rPr lang="en-US" sz="1000" dirty="0">
                <a:solidFill>
                  <a:srgbClr val="8F97B7"/>
                </a:solidFill>
              </a:rPr>
              <a:t> </a:t>
            </a:r>
            <a:r>
              <a:rPr lang="en-US" sz="1000" dirty="0" err="1">
                <a:solidFill>
                  <a:srgbClr val="8F97B7"/>
                </a:solidFill>
              </a:rPr>
              <a:t>adipiscing</a:t>
            </a:r>
            <a:r>
              <a:rPr lang="en-US" sz="1000" dirty="0">
                <a:solidFill>
                  <a:srgbClr val="8F97B7"/>
                </a:solidFill>
              </a:rPr>
              <a:t> </a:t>
            </a:r>
            <a:r>
              <a:rPr lang="en-US" sz="1000" dirty="0" err="1">
                <a:solidFill>
                  <a:srgbClr val="8F97B7"/>
                </a:solidFill>
              </a:rPr>
              <a:t>elit</a:t>
            </a:r>
            <a:r>
              <a:rPr lang="en-US" sz="1000" dirty="0">
                <a:solidFill>
                  <a:srgbClr val="8F97B7"/>
                </a:solidFill>
              </a:rPr>
              <a:t>. Nulla </a:t>
            </a:r>
            <a:r>
              <a:rPr lang="en-US" sz="1000" dirty="0" err="1">
                <a:solidFill>
                  <a:srgbClr val="8F97B7"/>
                </a:solidFill>
              </a:rPr>
              <a:t>tincidunt</a:t>
            </a:r>
            <a:r>
              <a:rPr lang="en-US" sz="1000" dirty="0">
                <a:solidFill>
                  <a:srgbClr val="8F97B7"/>
                </a:solidFill>
              </a:rPr>
              <a:t> </a:t>
            </a:r>
            <a:r>
              <a:rPr lang="en-US" sz="1000" dirty="0" err="1">
                <a:solidFill>
                  <a:srgbClr val="8F97B7"/>
                </a:solidFill>
              </a:rPr>
              <a:t>consequat</a:t>
            </a:r>
            <a:r>
              <a:rPr lang="en-US" sz="1000" dirty="0">
                <a:solidFill>
                  <a:srgbClr val="8F97B7"/>
                </a:solidFill>
              </a:rPr>
              <a:t> dolor. </a:t>
            </a:r>
            <a:r>
              <a:rPr lang="en-US" sz="1000" dirty="0" err="1">
                <a:solidFill>
                  <a:srgbClr val="8F97B7"/>
                </a:solidFill>
              </a:rPr>
              <a:t>Praesent</a:t>
            </a:r>
            <a:r>
              <a:rPr lang="en-US" sz="1000" dirty="0">
                <a:solidFill>
                  <a:srgbClr val="8F97B7"/>
                </a:solidFill>
              </a:rPr>
              <a:t> sed </a:t>
            </a:r>
            <a:r>
              <a:rPr lang="en-US" sz="1000" dirty="0" err="1">
                <a:solidFill>
                  <a:srgbClr val="8F97B7"/>
                </a:solidFill>
              </a:rPr>
              <a:t>tempor</a:t>
            </a:r>
            <a:r>
              <a:rPr lang="en-US" sz="1000" dirty="0">
                <a:solidFill>
                  <a:srgbClr val="8F97B7"/>
                </a:solidFill>
              </a:rPr>
              <a:t> </a:t>
            </a:r>
            <a:r>
              <a:rPr lang="en-US" sz="1000" dirty="0" err="1">
                <a:solidFill>
                  <a:srgbClr val="8F97B7"/>
                </a:solidFill>
              </a:rPr>
              <a:t>risus</a:t>
            </a:r>
            <a:r>
              <a:rPr lang="en-US" sz="1000" dirty="0">
                <a:solidFill>
                  <a:srgbClr val="8F97B7"/>
                </a:solidFill>
              </a:rPr>
              <a:t>, vitae convallis </a:t>
            </a:r>
            <a:r>
              <a:rPr lang="en-US" sz="1000" dirty="0" err="1">
                <a:solidFill>
                  <a:srgbClr val="8F97B7"/>
                </a:solidFill>
              </a:rPr>
              <a:t>sapien</a:t>
            </a:r>
            <a:r>
              <a:rPr lang="en-US" sz="1000" dirty="0">
                <a:solidFill>
                  <a:srgbClr val="8F97B7"/>
                </a:solidFill>
              </a:rPr>
              <a:t>. Aenean </a:t>
            </a:r>
            <a:r>
              <a:rPr lang="en-US" sz="1000" dirty="0" err="1">
                <a:solidFill>
                  <a:srgbClr val="8F97B7"/>
                </a:solidFill>
              </a:rPr>
              <a:t>accumsan</a:t>
            </a:r>
            <a:r>
              <a:rPr lang="en-US" sz="1000" dirty="0">
                <a:solidFill>
                  <a:srgbClr val="8F97B7"/>
                </a:solidFill>
              </a:rPr>
              <a:t> </a:t>
            </a:r>
            <a:r>
              <a:rPr lang="en-US" sz="1000" dirty="0" err="1">
                <a:solidFill>
                  <a:srgbClr val="8F97B7"/>
                </a:solidFill>
              </a:rPr>
              <a:t>quis</a:t>
            </a:r>
            <a:r>
              <a:rPr lang="en-US" sz="1000" dirty="0">
                <a:solidFill>
                  <a:srgbClr val="8F97B7"/>
                </a:solidFill>
              </a:rPr>
              <a:t> lorem vitae </a:t>
            </a:r>
            <a:r>
              <a:rPr lang="en-US" sz="1000" dirty="0" err="1">
                <a:solidFill>
                  <a:srgbClr val="8F97B7"/>
                </a:solidFill>
              </a:rPr>
              <a:t>eleifend</a:t>
            </a:r>
            <a:r>
              <a:rPr lang="en-US" sz="1000" dirty="0">
                <a:solidFill>
                  <a:srgbClr val="8F97B7"/>
                </a:solidFill>
              </a:rPr>
              <a:t>. Vestibulum </a:t>
            </a:r>
            <a:r>
              <a:rPr lang="en-US" sz="1000" dirty="0" err="1">
                <a:solidFill>
                  <a:srgbClr val="8F97B7"/>
                </a:solidFill>
              </a:rPr>
              <a:t>sagittis</a:t>
            </a:r>
            <a:r>
              <a:rPr lang="en-US" sz="1000" dirty="0">
                <a:solidFill>
                  <a:srgbClr val="8F97B7"/>
                </a:solidFill>
              </a:rPr>
              <a:t> ipsum nec </a:t>
            </a:r>
            <a:r>
              <a:rPr lang="en-US" sz="1000" dirty="0" err="1">
                <a:solidFill>
                  <a:srgbClr val="8F97B7"/>
                </a:solidFill>
              </a:rPr>
              <a:t>mauris</a:t>
            </a:r>
            <a:r>
              <a:rPr lang="en-US" sz="1000" dirty="0">
                <a:solidFill>
                  <a:srgbClr val="8F97B7"/>
                </a:solidFill>
              </a:rPr>
              <a:t> </a:t>
            </a:r>
            <a:r>
              <a:rPr lang="en-US" sz="1000" dirty="0" err="1">
                <a:solidFill>
                  <a:srgbClr val="8F97B7"/>
                </a:solidFill>
              </a:rPr>
              <a:t>consectetur</a:t>
            </a:r>
            <a:r>
              <a:rPr lang="en-US" sz="1000" dirty="0">
                <a:solidFill>
                  <a:srgbClr val="8F97B7"/>
                </a:solidFill>
              </a:rPr>
              <a:t>, </a:t>
            </a:r>
            <a:r>
              <a:rPr lang="en-US" sz="1000" dirty="0" err="1">
                <a:solidFill>
                  <a:srgbClr val="8F97B7"/>
                </a:solidFill>
              </a:rPr>
              <a:t>commodo</a:t>
            </a:r>
            <a:r>
              <a:rPr lang="en-US" sz="1000" dirty="0">
                <a:solidFill>
                  <a:srgbClr val="8F97B7"/>
                </a:solidFill>
              </a:rPr>
              <a:t> </a:t>
            </a:r>
            <a:r>
              <a:rPr lang="en-US" sz="1000" dirty="0" err="1">
                <a:solidFill>
                  <a:srgbClr val="8F97B7"/>
                </a:solidFill>
              </a:rPr>
              <a:t>posuere</a:t>
            </a:r>
            <a:r>
              <a:rPr lang="en-US" sz="1000" dirty="0">
                <a:solidFill>
                  <a:srgbClr val="8F97B7"/>
                </a:solidFill>
              </a:rPr>
              <a:t> libero </a:t>
            </a:r>
            <a:r>
              <a:rPr lang="en-US" sz="1000" dirty="0" err="1">
                <a:solidFill>
                  <a:srgbClr val="8F97B7"/>
                </a:solidFill>
              </a:rPr>
              <a:t>consectetur</a:t>
            </a:r>
            <a:r>
              <a:rPr lang="en-US" sz="1000" dirty="0">
                <a:solidFill>
                  <a:srgbClr val="8F97B7"/>
                </a:solidFill>
              </a:rPr>
              <a:t>. </a:t>
            </a:r>
          </a:p>
          <a:p>
            <a:endParaRPr lang="en-US" sz="1000" dirty="0">
              <a:solidFill>
                <a:srgbClr val="8F97B7"/>
              </a:solidFill>
            </a:endParaRPr>
          </a:p>
          <a:p>
            <a:r>
              <a:rPr lang="en-US" sz="1000" dirty="0">
                <a:solidFill>
                  <a:srgbClr val="8F97B7"/>
                </a:solidFill>
              </a:rPr>
              <a:t>Donec </a:t>
            </a:r>
            <a:r>
              <a:rPr lang="en-US" sz="1000" dirty="0" err="1">
                <a:solidFill>
                  <a:srgbClr val="8F97B7"/>
                </a:solidFill>
              </a:rPr>
              <a:t>eget</a:t>
            </a:r>
            <a:r>
              <a:rPr lang="en-US" sz="1000" dirty="0">
                <a:solidFill>
                  <a:srgbClr val="8F97B7"/>
                </a:solidFill>
              </a:rPr>
              <a:t> </a:t>
            </a:r>
            <a:r>
              <a:rPr lang="en-US" sz="1000" dirty="0" err="1">
                <a:solidFill>
                  <a:srgbClr val="8F97B7"/>
                </a:solidFill>
              </a:rPr>
              <a:t>tempor</a:t>
            </a:r>
            <a:r>
              <a:rPr lang="en-US" sz="1000" dirty="0">
                <a:solidFill>
                  <a:srgbClr val="8F97B7"/>
                </a:solidFill>
              </a:rPr>
              <a:t> </a:t>
            </a:r>
            <a:r>
              <a:rPr lang="en-US" sz="1000" dirty="0" err="1">
                <a:solidFill>
                  <a:srgbClr val="8F97B7"/>
                </a:solidFill>
              </a:rPr>
              <a:t>nibh</a:t>
            </a:r>
            <a:r>
              <a:rPr lang="en-US" sz="1000" dirty="0">
                <a:solidFill>
                  <a:srgbClr val="8F97B7"/>
                </a:solidFill>
              </a:rPr>
              <a:t>. </a:t>
            </a:r>
            <a:r>
              <a:rPr lang="en-US" sz="1000" dirty="0" err="1">
                <a:solidFill>
                  <a:srgbClr val="8F97B7"/>
                </a:solidFill>
              </a:rPr>
              <a:t>Fusce</a:t>
            </a:r>
            <a:r>
              <a:rPr lang="en-US" sz="1000" dirty="0">
                <a:solidFill>
                  <a:srgbClr val="8F97B7"/>
                </a:solidFill>
              </a:rPr>
              <a:t> </a:t>
            </a:r>
            <a:r>
              <a:rPr lang="en-US" sz="1000" dirty="0" err="1">
                <a:solidFill>
                  <a:srgbClr val="8F97B7"/>
                </a:solidFill>
              </a:rPr>
              <a:t>vehicula</a:t>
            </a:r>
            <a:r>
              <a:rPr lang="en-US" sz="1000" dirty="0">
                <a:solidFill>
                  <a:srgbClr val="8F97B7"/>
                </a:solidFill>
              </a:rPr>
              <a:t> </a:t>
            </a:r>
            <a:r>
              <a:rPr lang="en-US" sz="1000" dirty="0" err="1">
                <a:solidFill>
                  <a:srgbClr val="8F97B7"/>
                </a:solidFill>
              </a:rPr>
              <a:t>ultrices</a:t>
            </a:r>
            <a:r>
              <a:rPr lang="en-US" sz="1000" dirty="0">
                <a:solidFill>
                  <a:srgbClr val="8F97B7"/>
                </a:solidFill>
              </a:rPr>
              <a:t> </a:t>
            </a:r>
            <a:r>
              <a:rPr lang="en-US" sz="1000" dirty="0" err="1">
                <a:solidFill>
                  <a:srgbClr val="8F97B7"/>
                </a:solidFill>
              </a:rPr>
              <a:t>vehicula</a:t>
            </a:r>
            <a:r>
              <a:rPr lang="en-US" sz="1000" dirty="0">
                <a:solidFill>
                  <a:srgbClr val="8F97B7"/>
                </a:solidFill>
              </a:rPr>
              <a:t>. Donec </a:t>
            </a:r>
            <a:r>
              <a:rPr lang="en-US" sz="1000" dirty="0" err="1">
                <a:solidFill>
                  <a:srgbClr val="8F97B7"/>
                </a:solidFill>
              </a:rPr>
              <a:t>consequat</a:t>
            </a:r>
            <a:r>
              <a:rPr lang="en-US" sz="1000" dirty="0">
                <a:solidFill>
                  <a:srgbClr val="8F97B7"/>
                </a:solidFill>
              </a:rPr>
              <a:t>, </a:t>
            </a:r>
            <a:r>
              <a:rPr lang="en-US" sz="1000" dirty="0" err="1">
                <a:solidFill>
                  <a:srgbClr val="8F97B7"/>
                </a:solidFill>
              </a:rPr>
              <a:t>purus</a:t>
            </a:r>
            <a:r>
              <a:rPr lang="en-US" sz="1000" dirty="0">
                <a:solidFill>
                  <a:srgbClr val="8F97B7"/>
                </a:solidFill>
              </a:rPr>
              <a:t> vitae </a:t>
            </a:r>
            <a:r>
              <a:rPr lang="en-US" sz="1000" dirty="0" err="1">
                <a:solidFill>
                  <a:srgbClr val="8F97B7"/>
                </a:solidFill>
              </a:rPr>
              <a:t>vehicula</a:t>
            </a:r>
            <a:r>
              <a:rPr lang="en-US" sz="1000" dirty="0">
                <a:solidFill>
                  <a:srgbClr val="8F97B7"/>
                </a:solidFill>
              </a:rPr>
              <a:t> </a:t>
            </a:r>
            <a:r>
              <a:rPr lang="en-US" sz="1000" dirty="0" err="1">
                <a:solidFill>
                  <a:srgbClr val="8F97B7"/>
                </a:solidFill>
              </a:rPr>
              <a:t>placerat</a:t>
            </a:r>
            <a:r>
              <a:rPr lang="en-US" sz="1000" dirty="0">
                <a:solidFill>
                  <a:srgbClr val="8F97B7"/>
                </a:solidFill>
              </a:rPr>
              <a:t>, </a:t>
            </a:r>
            <a:r>
              <a:rPr lang="en-US" sz="1000" dirty="0" err="1">
                <a:solidFill>
                  <a:srgbClr val="8F97B7"/>
                </a:solidFill>
              </a:rPr>
              <a:t>erat</a:t>
            </a:r>
            <a:r>
              <a:rPr lang="en-US" sz="1000" dirty="0">
                <a:solidFill>
                  <a:srgbClr val="8F97B7"/>
                </a:solidFill>
              </a:rPr>
              <a:t> </a:t>
            </a:r>
            <a:r>
              <a:rPr lang="en-US" sz="1000" dirty="0" err="1">
                <a:solidFill>
                  <a:srgbClr val="8F97B7"/>
                </a:solidFill>
              </a:rPr>
              <a:t>velit</a:t>
            </a:r>
            <a:r>
              <a:rPr lang="en-US" sz="1000" dirty="0">
                <a:solidFill>
                  <a:srgbClr val="8F97B7"/>
                </a:solidFill>
              </a:rPr>
              <a:t> pharetra </a:t>
            </a:r>
            <a:r>
              <a:rPr lang="en-US" sz="1000" dirty="0" err="1">
                <a:solidFill>
                  <a:srgbClr val="8F97B7"/>
                </a:solidFill>
              </a:rPr>
              <a:t>mauris</a:t>
            </a:r>
            <a:r>
              <a:rPr lang="en-US" sz="1000" dirty="0">
                <a:solidFill>
                  <a:srgbClr val="8F97B7"/>
                </a:solidFill>
              </a:rPr>
              <a:t>, </a:t>
            </a:r>
            <a:r>
              <a:rPr lang="en-US" sz="1000" dirty="0" err="1">
                <a:solidFill>
                  <a:srgbClr val="8F97B7"/>
                </a:solidFill>
              </a:rPr>
              <a:t>eu</a:t>
            </a:r>
            <a:r>
              <a:rPr lang="en-US" sz="1000" dirty="0">
                <a:solidFill>
                  <a:srgbClr val="8F97B7"/>
                </a:solidFill>
              </a:rPr>
              <a:t> vestibulum </a:t>
            </a:r>
            <a:r>
              <a:rPr lang="en-US" sz="1000" dirty="0" err="1">
                <a:solidFill>
                  <a:srgbClr val="8F97B7"/>
                </a:solidFill>
              </a:rPr>
              <a:t>tellus</a:t>
            </a:r>
            <a:r>
              <a:rPr lang="en-US" sz="1000" dirty="0">
                <a:solidFill>
                  <a:srgbClr val="8F97B7"/>
                </a:solidFill>
              </a:rPr>
              <a:t> </a:t>
            </a:r>
            <a:r>
              <a:rPr lang="en-US" sz="1000" dirty="0" err="1">
                <a:solidFill>
                  <a:srgbClr val="8F97B7"/>
                </a:solidFill>
              </a:rPr>
              <a:t>sem</a:t>
            </a:r>
            <a:r>
              <a:rPr lang="en-US" sz="1000" dirty="0">
                <a:solidFill>
                  <a:srgbClr val="8F97B7"/>
                </a:solidFill>
              </a:rPr>
              <a:t> at </a:t>
            </a:r>
            <a:r>
              <a:rPr lang="en-US" sz="1000" dirty="0" err="1">
                <a:solidFill>
                  <a:srgbClr val="8F97B7"/>
                </a:solidFill>
              </a:rPr>
              <a:t>massa</a:t>
            </a:r>
            <a:r>
              <a:rPr lang="en-US" sz="1000" dirty="0">
                <a:solidFill>
                  <a:srgbClr val="8F97B7"/>
                </a:solidFill>
              </a:rPr>
              <a:t>. </a:t>
            </a:r>
            <a:r>
              <a:rPr lang="en-US" sz="1000" dirty="0" err="1">
                <a:solidFill>
                  <a:srgbClr val="8F97B7"/>
                </a:solidFill>
              </a:rPr>
              <a:t>Pellentesque</a:t>
            </a:r>
            <a:r>
              <a:rPr lang="en-US" sz="1000" dirty="0">
                <a:solidFill>
                  <a:srgbClr val="8F97B7"/>
                </a:solidFill>
              </a:rPr>
              <a:t> a </a:t>
            </a:r>
            <a:r>
              <a:rPr lang="en-US" sz="1000" dirty="0" err="1">
                <a:solidFill>
                  <a:srgbClr val="8F97B7"/>
                </a:solidFill>
              </a:rPr>
              <a:t>euismod</a:t>
            </a:r>
            <a:r>
              <a:rPr lang="en-US" sz="1000" dirty="0">
                <a:solidFill>
                  <a:srgbClr val="8F97B7"/>
                </a:solidFill>
              </a:rPr>
              <a:t> </a:t>
            </a:r>
            <a:r>
              <a:rPr lang="en-US" sz="1000" dirty="0" err="1">
                <a:solidFill>
                  <a:srgbClr val="8F97B7"/>
                </a:solidFill>
              </a:rPr>
              <a:t>tortor</a:t>
            </a:r>
            <a:r>
              <a:rPr lang="en-US" sz="1000" dirty="0">
                <a:solidFill>
                  <a:srgbClr val="8F97B7"/>
                </a:solidFill>
              </a:rPr>
              <a:t>. Maecenas </a:t>
            </a:r>
            <a:r>
              <a:rPr lang="en-US" sz="1000" dirty="0" err="1">
                <a:solidFill>
                  <a:srgbClr val="8F97B7"/>
                </a:solidFill>
              </a:rPr>
              <a:t>pretium</a:t>
            </a:r>
            <a:r>
              <a:rPr lang="en-US" sz="1000" dirty="0">
                <a:solidFill>
                  <a:srgbClr val="8F97B7"/>
                </a:solidFill>
              </a:rPr>
              <a:t> </a:t>
            </a:r>
            <a:r>
              <a:rPr lang="en-US" sz="1000" dirty="0" err="1">
                <a:solidFill>
                  <a:srgbClr val="8F97B7"/>
                </a:solidFill>
              </a:rPr>
              <a:t>ultrices</a:t>
            </a:r>
            <a:r>
              <a:rPr lang="en-US" sz="1000" dirty="0">
                <a:solidFill>
                  <a:srgbClr val="8F97B7"/>
                </a:solidFill>
              </a:rPr>
              <a:t> </a:t>
            </a:r>
            <a:r>
              <a:rPr lang="en-US" sz="1000" dirty="0" err="1">
                <a:solidFill>
                  <a:srgbClr val="8F97B7"/>
                </a:solidFill>
              </a:rPr>
              <a:t>rutrum</a:t>
            </a:r>
            <a:r>
              <a:rPr lang="en-US" sz="1000" dirty="0">
                <a:solidFill>
                  <a:srgbClr val="8F97B7"/>
                </a:solidFill>
              </a:rPr>
              <a:t>. Cras </a:t>
            </a:r>
            <a:r>
              <a:rPr lang="en-US" sz="1000" dirty="0" err="1">
                <a:solidFill>
                  <a:srgbClr val="8F97B7"/>
                </a:solidFill>
              </a:rPr>
              <a:t>bibendum</a:t>
            </a:r>
            <a:r>
              <a:rPr lang="en-US" sz="1000" dirty="0">
                <a:solidFill>
                  <a:srgbClr val="8F97B7"/>
                </a:solidFill>
              </a:rPr>
              <a:t>, lorem sit </a:t>
            </a:r>
            <a:r>
              <a:rPr lang="en-US" sz="1000" dirty="0" err="1">
                <a:solidFill>
                  <a:srgbClr val="8F97B7"/>
                </a:solidFill>
              </a:rPr>
              <a:t>amet</a:t>
            </a:r>
            <a:r>
              <a:rPr lang="en-US" sz="1000" dirty="0">
                <a:solidFill>
                  <a:srgbClr val="8F97B7"/>
                </a:solidFill>
              </a:rPr>
              <a:t> </a:t>
            </a:r>
            <a:r>
              <a:rPr lang="en-US" sz="1000" dirty="0" err="1">
                <a:solidFill>
                  <a:srgbClr val="8F97B7"/>
                </a:solidFill>
              </a:rPr>
              <a:t>euismod</a:t>
            </a:r>
            <a:r>
              <a:rPr lang="en-US" sz="1000" dirty="0">
                <a:solidFill>
                  <a:srgbClr val="8F97B7"/>
                </a:solidFill>
              </a:rPr>
              <a:t> </a:t>
            </a:r>
            <a:r>
              <a:rPr lang="en-US" sz="1000" dirty="0" err="1">
                <a:solidFill>
                  <a:srgbClr val="8F97B7"/>
                </a:solidFill>
              </a:rPr>
              <a:t>elementum</a:t>
            </a:r>
            <a:r>
              <a:rPr lang="en-US" sz="1000" dirty="0">
                <a:solidFill>
                  <a:srgbClr val="8F97B7"/>
                </a:solidFill>
              </a:rPr>
              <a:t>, </a:t>
            </a:r>
            <a:r>
              <a:rPr lang="en-US" sz="1000" dirty="0" err="1">
                <a:solidFill>
                  <a:srgbClr val="8F97B7"/>
                </a:solidFill>
              </a:rPr>
              <a:t>quam</a:t>
            </a:r>
            <a:r>
              <a:rPr lang="en-US" sz="1000" dirty="0">
                <a:solidFill>
                  <a:srgbClr val="8F97B7"/>
                </a:solidFill>
              </a:rPr>
              <a:t> </a:t>
            </a:r>
            <a:r>
              <a:rPr lang="en-US" sz="1000" dirty="0" err="1">
                <a:solidFill>
                  <a:srgbClr val="8F97B7"/>
                </a:solidFill>
              </a:rPr>
              <a:t>velit</a:t>
            </a:r>
            <a:r>
              <a:rPr lang="en-US" sz="1000" dirty="0">
                <a:solidFill>
                  <a:srgbClr val="8F97B7"/>
                </a:solidFill>
              </a:rPr>
              <a:t> </a:t>
            </a:r>
            <a:r>
              <a:rPr lang="en-US" sz="1000" dirty="0" err="1">
                <a:solidFill>
                  <a:srgbClr val="8F97B7"/>
                </a:solidFill>
              </a:rPr>
              <a:t>lobortis</a:t>
            </a:r>
            <a:r>
              <a:rPr lang="en-US" sz="1000" dirty="0">
                <a:solidFill>
                  <a:srgbClr val="8F97B7"/>
                </a:solidFill>
              </a:rPr>
              <a:t> ex, a </a:t>
            </a:r>
            <a:r>
              <a:rPr lang="en-US" sz="1000" dirty="0" err="1">
                <a:solidFill>
                  <a:srgbClr val="8F97B7"/>
                </a:solidFill>
              </a:rPr>
              <a:t>commodo</a:t>
            </a:r>
            <a:r>
              <a:rPr lang="en-US" sz="1000" dirty="0">
                <a:solidFill>
                  <a:srgbClr val="8F97B7"/>
                </a:solidFill>
              </a:rPr>
              <a:t> </a:t>
            </a:r>
            <a:r>
              <a:rPr lang="en-US" sz="1000" dirty="0" err="1">
                <a:solidFill>
                  <a:srgbClr val="8F97B7"/>
                </a:solidFill>
              </a:rPr>
              <a:t>sem</a:t>
            </a:r>
            <a:r>
              <a:rPr lang="en-US" sz="1000" dirty="0">
                <a:solidFill>
                  <a:srgbClr val="8F97B7"/>
                </a:solidFill>
              </a:rPr>
              <a:t> </a:t>
            </a:r>
            <a:r>
              <a:rPr lang="en-US" sz="1000" dirty="0" err="1">
                <a:solidFill>
                  <a:srgbClr val="8F97B7"/>
                </a:solidFill>
              </a:rPr>
              <a:t>neque</a:t>
            </a:r>
            <a:r>
              <a:rPr lang="en-US" sz="1000" dirty="0">
                <a:solidFill>
                  <a:srgbClr val="8F97B7"/>
                </a:solidFill>
              </a:rPr>
              <a:t> in </a:t>
            </a:r>
            <a:r>
              <a:rPr lang="en-US" sz="1000" dirty="0" err="1">
                <a:solidFill>
                  <a:srgbClr val="8F97B7"/>
                </a:solidFill>
              </a:rPr>
              <a:t>turpis</a:t>
            </a:r>
            <a:r>
              <a:rPr lang="en-US" sz="1000" dirty="0">
                <a:solidFill>
                  <a:srgbClr val="8F97B7"/>
                </a:solidFill>
              </a:rPr>
              <a:t>. </a:t>
            </a:r>
          </a:p>
          <a:p>
            <a:endParaRPr lang="en-US" sz="1000" dirty="0">
              <a:solidFill>
                <a:srgbClr val="8F97B7"/>
              </a:solidFill>
            </a:endParaRPr>
          </a:p>
          <a:p>
            <a:r>
              <a:rPr lang="en-US" sz="1000" dirty="0">
                <a:solidFill>
                  <a:srgbClr val="8F97B7"/>
                </a:solidFill>
              </a:rPr>
              <a:t>Proin a </a:t>
            </a:r>
            <a:r>
              <a:rPr lang="en-US" sz="1000" dirty="0" err="1">
                <a:solidFill>
                  <a:srgbClr val="8F97B7"/>
                </a:solidFill>
              </a:rPr>
              <a:t>massa</a:t>
            </a:r>
            <a:r>
              <a:rPr lang="en-US" sz="1000" dirty="0">
                <a:solidFill>
                  <a:srgbClr val="8F97B7"/>
                </a:solidFill>
              </a:rPr>
              <a:t> </a:t>
            </a:r>
            <a:r>
              <a:rPr lang="en-US" sz="1000" dirty="0" err="1">
                <a:solidFill>
                  <a:srgbClr val="8F97B7"/>
                </a:solidFill>
              </a:rPr>
              <a:t>eget</a:t>
            </a:r>
            <a:r>
              <a:rPr lang="en-US" sz="1000" dirty="0">
                <a:solidFill>
                  <a:srgbClr val="8F97B7"/>
                </a:solidFill>
              </a:rPr>
              <a:t> </a:t>
            </a:r>
            <a:r>
              <a:rPr lang="en-US" sz="1000" dirty="0" err="1">
                <a:solidFill>
                  <a:srgbClr val="8F97B7"/>
                </a:solidFill>
              </a:rPr>
              <a:t>sapien</a:t>
            </a:r>
            <a:r>
              <a:rPr lang="en-US" sz="1000" dirty="0">
                <a:solidFill>
                  <a:srgbClr val="8F97B7"/>
                </a:solidFill>
              </a:rPr>
              <a:t> </a:t>
            </a:r>
            <a:r>
              <a:rPr lang="en-US" sz="1000" dirty="0" err="1">
                <a:solidFill>
                  <a:srgbClr val="8F97B7"/>
                </a:solidFill>
              </a:rPr>
              <a:t>sagittis</a:t>
            </a:r>
            <a:r>
              <a:rPr lang="en-US" sz="1000" dirty="0">
                <a:solidFill>
                  <a:srgbClr val="8F97B7"/>
                </a:solidFill>
              </a:rPr>
              <a:t> convallis. </a:t>
            </a:r>
            <a:r>
              <a:rPr lang="en-US" sz="1000" dirty="0" err="1">
                <a:solidFill>
                  <a:srgbClr val="8F97B7"/>
                </a:solidFill>
              </a:rPr>
              <a:t>Suspendisse</a:t>
            </a:r>
            <a:r>
              <a:rPr lang="en-US" sz="1000" dirty="0">
                <a:solidFill>
                  <a:srgbClr val="8F97B7"/>
                </a:solidFill>
              </a:rPr>
              <a:t> </a:t>
            </a:r>
            <a:r>
              <a:rPr lang="en-US" sz="1000" dirty="0" err="1">
                <a:solidFill>
                  <a:srgbClr val="8F97B7"/>
                </a:solidFill>
              </a:rPr>
              <a:t>commodo</a:t>
            </a:r>
            <a:r>
              <a:rPr lang="en-US" sz="1000" dirty="0">
                <a:solidFill>
                  <a:srgbClr val="8F97B7"/>
                </a:solidFill>
              </a:rPr>
              <a:t> </a:t>
            </a:r>
            <a:r>
              <a:rPr lang="en-US" sz="1000" dirty="0" err="1">
                <a:solidFill>
                  <a:srgbClr val="8F97B7"/>
                </a:solidFill>
              </a:rPr>
              <a:t>elit</a:t>
            </a:r>
            <a:r>
              <a:rPr lang="en-US" sz="1000" dirty="0">
                <a:solidFill>
                  <a:srgbClr val="8F97B7"/>
                </a:solidFill>
              </a:rPr>
              <a:t> </a:t>
            </a:r>
            <a:r>
              <a:rPr lang="en-US" sz="1000" dirty="0" err="1">
                <a:solidFill>
                  <a:srgbClr val="8F97B7"/>
                </a:solidFill>
              </a:rPr>
              <a:t>quis</a:t>
            </a:r>
            <a:r>
              <a:rPr lang="en-US" sz="1000" dirty="0">
                <a:solidFill>
                  <a:srgbClr val="8F97B7"/>
                </a:solidFill>
              </a:rPr>
              <a:t> </a:t>
            </a:r>
            <a:r>
              <a:rPr lang="en-US" sz="1000" dirty="0" err="1">
                <a:solidFill>
                  <a:srgbClr val="8F97B7"/>
                </a:solidFill>
              </a:rPr>
              <a:t>arcu</a:t>
            </a:r>
            <a:r>
              <a:rPr lang="en-US" sz="1000" dirty="0">
                <a:solidFill>
                  <a:srgbClr val="8F97B7"/>
                </a:solidFill>
              </a:rPr>
              <a:t> dictum porta. Sed </a:t>
            </a:r>
            <a:r>
              <a:rPr lang="en-US" sz="1000" dirty="0" err="1">
                <a:solidFill>
                  <a:srgbClr val="8F97B7"/>
                </a:solidFill>
              </a:rPr>
              <a:t>consequat</a:t>
            </a:r>
            <a:r>
              <a:rPr lang="en-US" sz="1000" dirty="0">
                <a:solidFill>
                  <a:srgbClr val="8F97B7"/>
                </a:solidFill>
              </a:rPr>
              <a:t> </a:t>
            </a:r>
            <a:r>
              <a:rPr lang="en-US" sz="1000" dirty="0" err="1">
                <a:solidFill>
                  <a:srgbClr val="8F97B7"/>
                </a:solidFill>
              </a:rPr>
              <a:t>ullamcorper</a:t>
            </a:r>
            <a:r>
              <a:rPr lang="en-US" sz="1000" dirty="0">
                <a:solidFill>
                  <a:srgbClr val="8F97B7"/>
                </a:solidFill>
              </a:rPr>
              <a:t> eros, id……..</a:t>
            </a:r>
          </a:p>
        </p:txBody>
      </p:sp>
      <p:pic>
        <p:nvPicPr>
          <p:cNvPr id="80" name="Graphic 79" descr="Pencil with solid fill">
            <a:extLst>
              <a:ext uri="{FF2B5EF4-FFF2-40B4-BE49-F238E27FC236}">
                <a16:creationId xmlns:a16="http://schemas.microsoft.com/office/drawing/2014/main" id="{B02503AD-30C5-67C0-44DE-CB94BB1DE77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108216" y="5719185"/>
            <a:ext cx="258055" cy="258055"/>
          </a:xfrm>
          <a:prstGeom prst="rect">
            <a:avLst/>
          </a:prstGeom>
        </p:spPr>
      </p:pic>
      <p:pic>
        <p:nvPicPr>
          <p:cNvPr id="81" name="Graphic 80">
            <a:extLst>
              <a:ext uri="{FF2B5EF4-FFF2-40B4-BE49-F238E27FC236}">
                <a16:creationId xmlns:a16="http://schemas.microsoft.com/office/drawing/2014/main" id="{F1B43614-0270-A749-B14C-EBA3F9A706C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448858" y="3717758"/>
            <a:ext cx="1632316" cy="1632316"/>
          </a:xfrm>
          <a:prstGeom prst="rect">
            <a:avLst/>
          </a:prstGeom>
        </p:spPr>
      </p:pic>
      <p:pic>
        <p:nvPicPr>
          <p:cNvPr id="85" name="Graphic 84" descr="Document with solid fill">
            <a:extLst>
              <a:ext uri="{FF2B5EF4-FFF2-40B4-BE49-F238E27FC236}">
                <a16:creationId xmlns:a16="http://schemas.microsoft.com/office/drawing/2014/main" id="{CDADD104-76C7-D99A-B83D-61BCAF1971CA}"/>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197889" y="3886894"/>
            <a:ext cx="1130210" cy="1130210"/>
          </a:xfrm>
          <a:prstGeom prst="rect">
            <a:avLst/>
          </a:prstGeom>
        </p:spPr>
      </p:pic>
    </p:spTree>
    <p:extLst>
      <p:ext uri="{BB962C8B-B14F-4D97-AF65-F5344CB8AC3E}">
        <p14:creationId xmlns:p14="http://schemas.microsoft.com/office/powerpoint/2010/main" val="38128818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E1C2D"/>
        </a:solidFill>
        <a:effectLst/>
      </p:bgPr>
    </p:bg>
    <p:spTree>
      <p:nvGrpSpPr>
        <p:cNvPr id="1" name="">
          <a:extLst>
            <a:ext uri="{FF2B5EF4-FFF2-40B4-BE49-F238E27FC236}">
              <a16:creationId xmlns:a16="http://schemas.microsoft.com/office/drawing/2014/main" id="{A188C92A-36A2-09FB-AF1E-A7BC8C178EAB}"/>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B741AA78-9C14-E39B-3D5A-68E9AC754F02}"/>
              </a:ext>
            </a:extLst>
          </p:cNvPr>
          <p:cNvSpPr/>
          <p:nvPr/>
        </p:nvSpPr>
        <p:spPr>
          <a:xfrm>
            <a:off x="1308100" y="1354149"/>
            <a:ext cx="2174995" cy="505137"/>
          </a:xfrm>
          <a:prstGeom prst="roundRect">
            <a:avLst>
              <a:gd name="adj" fmla="val 35041"/>
            </a:avLst>
          </a:prstGeom>
          <a:no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37192332-2502-B4C9-6EA8-239ECC628924}"/>
              </a:ext>
            </a:extLst>
          </p:cNvPr>
          <p:cNvSpPr txBox="1"/>
          <p:nvPr/>
        </p:nvSpPr>
        <p:spPr>
          <a:xfrm>
            <a:off x="516531" y="677075"/>
            <a:ext cx="2514919" cy="553998"/>
          </a:xfrm>
          <a:prstGeom prst="rect">
            <a:avLst/>
          </a:prstGeom>
          <a:noFill/>
        </p:spPr>
        <p:txBody>
          <a:bodyPr wrap="none" rtlCol="0">
            <a:spAutoFit/>
          </a:bodyPr>
          <a:lstStyle/>
          <a:p>
            <a:r>
              <a:rPr lang="en-US" dirty="0">
                <a:solidFill>
                  <a:srgbClr val="E1E1E1"/>
                </a:solidFill>
              </a:rPr>
              <a:t>Project: </a:t>
            </a:r>
            <a:r>
              <a:rPr lang="en-US" dirty="0">
                <a:solidFill>
                  <a:srgbClr val="FFC300"/>
                </a:solidFill>
              </a:rPr>
              <a:t>{</a:t>
            </a:r>
            <a:r>
              <a:rPr lang="en-US" dirty="0" err="1">
                <a:solidFill>
                  <a:srgbClr val="FFC300"/>
                </a:solidFill>
              </a:rPr>
              <a:t>project_name</a:t>
            </a:r>
            <a:r>
              <a:rPr lang="en-US" dirty="0">
                <a:solidFill>
                  <a:srgbClr val="FFC300"/>
                </a:solidFill>
              </a:rPr>
              <a:t>}</a:t>
            </a:r>
          </a:p>
          <a:p>
            <a:r>
              <a:rPr lang="en-US" sz="1200" dirty="0">
                <a:solidFill>
                  <a:srgbClr val="8F97B7"/>
                </a:solidFill>
              </a:rPr>
              <a:t>Project ID: {</a:t>
            </a:r>
            <a:r>
              <a:rPr lang="en-US" sz="1200" dirty="0" err="1">
                <a:solidFill>
                  <a:srgbClr val="8F97B7"/>
                </a:solidFill>
              </a:rPr>
              <a:t>full_UUID</a:t>
            </a:r>
            <a:r>
              <a:rPr lang="en-US" sz="1200" dirty="0">
                <a:solidFill>
                  <a:srgbClr val="8F97B7"/>
                </a:solidFill>
              </a:rPr>
              <a:t>}</a:t>
            </a:r>
          </a:p>
        </p:txBody>
      </p:sp>
      <p:sp>
        <p:nvSpPr>
          <p:cNvPr id="3" name="Rectangle: Rounded Corners 2">
            <a:extLst>
              <a:ext uri="{FF2B5EF4-FFF2-40B4-BE49-F238E27FC236}">
                <a16:creationId xmlns:a16="http://schemas.microsoft.com/office/drawing/2014/main" id="{8A387970-000B-02DB-A211-334554C5377B}"/>
              </a:ext>
            </a:extLst>
          </p:cNvPr>
          <p:cNvSpPr/>
          <p:nvPr/>
        </p:nvSpPr>
        <p:spPr>
          <a:xfrm>
            <a:off x="503405" y="1354150"/>
            <a:ext cx="1212683" cy="969932"/>
          </a:xfrm>
          <a:prstGeom prst="roundRect">
            <a:avLst>
              <a:gd name="adj" fmla="val 17766"/>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7BEA1D1-45DC-CD66-6BC6-ED4A7BD3709B}"/>
              </a:ext>
            </a:extLst>
          </p:cNvPr>
          <p:cNvSpPr txBox="1"/>
          <p:nvPr/>
        </p:nvSpPr>
        <p:spPr>
          <a:xfrm>
            <a:off x="658965" y="1326537"/>
            <a:ext cx="929678" cy="369332"/>
          </a:xfrm>
          <a:prstGeom prst="rect">
            <a:avLst/>
          </a:prstGeom>
          <a:noFill/>
        </p:spPr>
        <p:txBody>
          <a:bodyPr wrap="none" rtlCol="0">
            <a:spAutoFit/>
          </a:bodyPr>
          <a:lstStyle/>
          <a:p>
            <a:r>
              <a:rPr lang="en-US" dirty="0">
                <a:solidFill>
                  <a:srgbClr val="E1E1E1"/>
                </a:solidFill>
              </a:rPr>
              <a:t>Launch</a:t>
            </a:r>
          </a:p>
        </p:txBody>
      </p:sp>
      <p:sp>
        <p:nvSpPr>
          <p:cNvPr id="6" name="Rectangle: Rounded Corners 5">
            <a:extLst>
              <a:ext uri="{FF2B5EF4-FFF2-40B4-BE49-F238E27FC236}">
                <a16:creationId xmlns:a16="http://schemas.microsoft.com/office/drawing/2014/main" id="{CBCE8B49-A766-2C39-22B8-69219EB2BA6A}"/>
              </a:ext>
            </a:extLst>
          </p:cNvPr>
          <p:cNvSpPr/>
          <p:nvPr/>
        </p:nvSpPr>
        <p:spPr>
          <a:xfrm>
            <a:off x="503403" y="1668256"/>
            <a:ext cx="11185191" cy="4565020"/>
          </a:xfrm>
          <a:prstGeom prst="roundRect">
            <a:avLst>
              <a:gd name="adj" fmla="val 5962"/>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663E2224-78F7-A50B-F8B8-11650F05ECE9}"/>
              </a:ext>
            </a:extLst>
          </p:cNvPr>
          <p:cNvSpPr/>
          <p:nvPr/>
        </p:nvSpPr>
        <p:spPr>
          <a:xfrm>
            <a:off x="512825" y="1626758"/>
            <a:ext cx="1192150" cy="287650"/>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1BF9D2D3-770B-EE9B-859E-FFCDEC59AC65}"/>
              </a:ext>
            </a:extLst>
          </p:cNvPr>
          <p:cNvSpPr/>
          <p:nvPr/>
        </p:nvSpPr>
        <p:spPr>
          <a:xfrm>
            <a:off x="818741" y="1818947"/>
            <a:ext cx="1198523" cy="286492"/>
          </a:xfrm>
          <a:prstGeom prst="roundRect">
            <a:avLst>
              <a:gd name="adj" fmla="val 32223"/>
            </a:avLst>
          </a:prstGeom>
          <a:noFill/>
          <a:ln>
            <a:solidFill>
              <a:srgbClr val="FFC3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Stage project</a:t>
            </a:r>
          </a:p>
        </p:txBody>
      </p:sp>
      <p:sp>
        <p:nvSpPr>
          <p:cNvPr id="8" name="Rectangle: Rounded Corners 7">
            <a:extLst>
              <a:ext uri="{FF2B5EF4-FFF2-40B4-BE49-F238E27FC236}">
                <a16:creationId xmlns:a16="http://schemas.microsoft.com/office/drawing/2014/main" id="{AD6FFBBC-BB5B-380C-8392-7184689AFD33}"/>
              </a:ext>
            </a:extLst>
          </p:cNvPr>
          <p:cNvSpPr/>
          <p:nvPr/>
        </p:nvSpPr>
        <p:spPr>
          <a:xfrm>
            <a:off x="658964" y="2296470"/>
            <a:ext cx="3301961" cy="3818144"/>
          </a:xfrm>
          <a:prstGeom prst="roundRect">
            <a:avLst>
              <a:gd name="adj" fmla="val 8358"/>
            </a:avLst>
          </a:prstGeom>
          <a:solidFill>
            <a:srgbClr val="0E1C2D"/>
          </a:solid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A40283D5-AA25-95BF-D6F9-8F54F62B203C}"/>
              </a:ext>
            </a:extLst>
          </p:cNvPr>
          <p:cNvSpPr/>
          <p:nvPr/>
        </p:nvSpPr>
        <p:spPr>
          <a:xfrm>
            <a:off x="818741" y="2195310"/>
            <a:ext cx="1396030" cy="224288"/>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Project Description</a:t>
            </a:r>
          </a:p>
        </p:txBody>
      </p:sp>
      <p:cxnSp>
        <p:nvCxnSpPr>
          <p:cNvPr id="12" name="Straight Connector 11">
            <a:extLst>
              <a:ext uri="{FF2B5EF4-FFF2-40B4-BE49-F238E27FC236}">
                <a16:creationId xmlns:a16="http://schemas.microsoft.com/office/drawing/2014/main" id="{58DD983A-C488-B35F-EE24-5135FB912D14}"/>
              </a:ext>
            </a:extLst>
          </p:cNvPr>
          <p:cNvCxnSpPr>
            <a:cxnSpLocks/>
          </p:cNvCxnSpPr>
          <p:nvPr/>
        </p:nvCxnSpPr>
        <p:spPr>
          <a:xfrm>
            <a:off x="3788148" y="2767630"/>
            <a:ext cx="0" cy="3018916"/>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EA381159-50AE-6DAD-0DCE-F3EA8FAB25E8}"/>
              </a:ext>
            </a:extLst>
          </p:cNvPr>
          <p:cNvCxnSpPr>
            <a:cxnSpLocks/>
          </p:cNvCxnSpPr>
          <p:nvPr/>
        </p:nvCxnSpPr>
        <p:spPr>
          <a:xfrm>
            <a:off x="3788148" y="2764279"/>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sp>
        <p:nvSpPr>
          <p:cNvPr id="18" name="Rectangle: Rounded Corners 17">
            <a:extLst>
              <a:ext uri="{FF2B5EF4-FFF2-40B4-BE49-F238E27FC236}">
                <a16:creationId xmlns:a16="http://schemas.microsoft.com/office/drawing/2014/main" id="{74983132-F1A5-52D6-BB3E-A8C74690DB17}"/>
              </a:ext>
            </a:extLst>
          </p:cNvPr>
          <p:cNvSpPr/>
          <p:nvPr/>
        </p:nvSpPr>
        <p:spPr>
          <a:xfrm>
            <a:off x="4102232" y="2296469"/>
            <a:ext cx="3359547" cy="3818144"/>
          </a:xfrm>
          <a:prstGeom prst="roundRect">
            <a:avLst>
              <a:gd name="adj" fmla="val 8358"/>
            </a:avLst>
          </a:prstGeom>
          <a:solidFill>
            <a:srgbClr val="0E1C2D"/>
          </a:solid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p>
        </p:txBody>
      </p:sp>
      <p:sp>
        <p:nvSpPr>
          <p:cNvPr id="19" name="Rectangle 18">
            <a:extLst>
              <a:ext uri="{FF2B5EF4-FFF2-40B4-BE49-F238E27FC236}">
                <a16:creationId xmlns:a16="http://schemas.microsoft.com/office/drawing/2014/main" id="{AB9B9B13-73F0-BFB2-61B0-8B9C78A2AE97}"/>
              </a:ext>
            </a:extLst>
          </p:cNvPr>
          <p:cNvSpPr/>
          <p:nvPr/>
        </p:nvSpPr>
        <p:spPr>
          <a:xfrm>
            <a:off x="4294848" y="2195256"/>
            <a:ext cx="2687874" cy="210746"/>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Orchestrator Generated Mission</a:t>
            </a:r>
          </a:p>
        </p:txBody>
      </p:sp>
      <p:cxnSp>
        <p:nvCxnSpPr>
          <p:cNvPr id="21" name="Straight Connector 20">
            <a:extLst>
              <a:ext uri="{FF2B5EF4-FFF2-40B4-BE49-F238E27FC236}">
                <a16:creationId xmlns:a16="http://schemas.microsoft.com/office/drawing/2014/main" id="{44B3079D-2262-410C-7A18-030E569C3C0D}"/>
              </a:ext>
            </a:extLst>
          </p:cNvPr>
          <p:cNvCxnSpPr>
            <a:cxnSpLocks/>
          </p:cNvCxnSpPr>
          <p:nvPr/>
        </p:nvCxnSpPr>
        <p:spPr>
          <a:xfrm>
            <a:off x="7315178" y="2767630"/>
            <a:ext cx="0" cy="3018916"/>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F092744B-900B-550C-51A3-8D044411E17D}"/>
              </a:ext>
            </a:extLst>
          </p:cNvPr>
          <p:cNvCxnSpPr>
            <a:cxnSpLocks/>
          </p:cNvCxnSpPr>
          <p:nvPr/>
        </p:nvCxnSpPr>
        <p:spPr>
          <a:xfrm>
            <a:off x="7315178" y="2767630"/>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E306A92D-C3C4-24D1-E720-B626BD1F8BD1}"/>
              </a:ext>
            </a:extLst>
          </p:cNvPr>
          <p:cNvSpPr txBox="1"/>
          <p:nvPr/>
        </p:nvSpPr>
        <p:spPr>
          <a:xfrm>
            <a:off x="1899316" y="1330953"/>
            <a:ext cx="1273105" cy="369332"/>
          </a:xfrm>
          <a:prstGeom prst="rect">
            <a:avLst/>
          </a:prstGeom>
          <a:noFill/>
        </p:spPr>
        <p:txBody>
          <a:bodyPr wrap="none" rtlCol="0">
            <a:spAutoFit/>
          </a:bodyPr>
          <a:lstStyle/>
          <a:p>
            <a:r>
              <a:rPr lang="en-US" dirty="0">
                <a:solidFill>
                  <a:srgbClr val="8F97B7"/>
                </a:solidFill>
              </a:rPr>
              <a:t>Implement</a:t>
            </a:r>
          </a:p>
        </p:txBody>
      </p:sp>
      <p:sp>
        <p:nvSpPr>
          <p:cNvPr id="30" name="Rectangle: Rounded Corners 29">
            <a:extLst>
              <a:ext uri="{FF2B5EF4-FFF2-40B4-BE49-F238E27FC236}">
                <a16:creationId xmlns:a16="http://schemas.microsoft.com/office/drawing/2014/main" id="{0671894D-64C8-29C4-A36F-DC289BB388AD}"/>
              </a:ext>
            </a:extLst>
          </p:cNvPr>
          <p:cNvSpPr/>
          <p:nvPr/>
        </p:nvSpPr>
        <p:spPr>
          <a:xfrm>
            <a:off x="10105965" y="1859749"/>
            <a:ext cx="1198523" cy="286492"/>
          </a:xfrm>
          <a:prstGeom prst="roundRect">
            <a:avLst>
              <a:gd name="adj" fmla="val 32223"/>
            </a:avLst>
          </a:prstGeom>
          <a:no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1E3147"/>
                </a:solidFill>
              </a:rPr>
              <a:t>Launch Jobs</a:t>
            </a:r>
          </a:p>
        </p:txBody>
      </p:sp>
      <p:cxnSp>
        <p:nvCxnSpPr>
          <p:cNvPr id="31" name="Straight Connector 30">
            <a:extLst>
              <a:ext uri="{FF2B5EF4-FFF2-40B4-BE49-F238E27FC236}">
                <a16:creationId xmlns:a16="http://schemas.microsoft.com/office/drawing/2014/main" id="{4BDC1B7F-AFB7-F1B1-CCD0-D45C017E2A31}"/>
              </a:ext>
            </a:extLst>
          </p:cNvPr>
          <p:cNvCxnSpPr>
            <a:cxnSpLocks/>
          </p:cNvCxnSpPr>
          <p:nvPr/>
        </p:nvCxnSpPr>
        <p:spPr>
          <a:xfrm>
            <a:off x="7315178" y="2767630"/>
            <a:ext cx="0" cy="3018916"/>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E512D4B0-C5AD-4125-6459-9FBB27CD18E5}"/>
              </a:ext>
            </a:extLst>
          </p:cNvPr>
          <p:cNvCxnSpPr>
            <a:cxnSpLocks/>
          </p:cNvCxnSpPr>
          <p:nvPr/>
        </p:nvCxnSpPr>
        <p:spPr>
          <a:xfrm>
            <a:off x="7315178" y="2767630"/>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sp>
        <p:nvSpPr>
          <p:cNvPr id="33" name="Rectangle: Rounded Corners 32">
            <a:extLst>
              <a:ext uri="{FF2B5EF4-FFF2-40B4-BE49-F238E27FC236}">
                <a16:creationId xmlns:a16="http://schemas.microsoft.com/office/drawing/2014/main" id="{E740A3EF-BE7C-C711-6F24-9021D733EBD5}"/>
              </a:ext>
            </a:extLst>
          </p:cNvPr>
          <p:cNvSpPr/>
          <p:nvPr/>
        </p:nvSpPr>
        <p:spPr>
          <a:xfrm>
            <a:off x="7740989" y="2497733"/>
            <a:ext cx="2919197" cy="540961"/>
          </a:xfrm>
          <a:prstGeom prst="roundRect">
            <a:avLst>
              <a:gd name="adj" fmla="val 30861"/>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FB155FE5-BE78-27DD-9F72-946F2E6C52A9}"/>
              </a:ext>
            </a:extLst>
          </p:cNvPr>
          <p:cNvSpPr/>
          <p:nvPr/>
        </p:nvSpPr>
        <p:spPr>
          <a:xfrm>
            <a:off x="7810271" y="2553194"/>
            <a:ext cx="429926" cy="418406"/>
          </a:xfrm>
          <a:prstGeom prst="ellipse">
            <a:avLst/>
          </a:prstGeom>
          <a:solidFill>
            <a:srgbClr val="A9866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7A8C6450-261D-7F7A-90D4-5FA2E8E62579}"/>
              </a:ext>
            </a:extLst>
          </p:cNvPr>
          <p:cNvSpPr txBox="1"/>
          <p:nvPr/>
        </p:nvSpPr>
        <p:spPr>
          <a:xfrm>
            <a:off x="7810270" y="2582965"/>
            <a:ext cx="439544" cy="369332"/>
          </a:xfrm>
          <a:prstGeom prst="rect">
            <a:avLst/>
          </a:prstGeom>
          <a:noFill/>
        </p:spPr>
        <p:txBody>
          <a:bodyPr wrap="none" rtlCol="0">
            <a:spAutoFit/>
          </a:bodyPr>
          <a:lstStyle/>
          <a:p>
            <a:r>
              <a:rPr lang="en-US" b="1" dirty="0">
                <a:solidFill>
                  <a:srgbClr val="0E1C2D"/>
                </a:solidFill>
              </a:rPr>
              <a:t>Or</a:t>
            </a:r>
          </a:p>
        </p:txBody>
      </p:sp>
      <p:sp>
        <p:nvSpPr>
          <p:cNvPr id="36" name="TextBox 35">
            <a:extLst>
              <a:ext uri="{FF2B5EF4-FFF2-40B4-BE49-F238E27FC236}">
                <a16:creationId xmlns:a16="http://schemas.microsoft.com/office/drawing/2014/main" id="{7DB31B26-15B1-0866-7B79-7A423F71F72D}"/>
              </a:ext>
            </a:extLst>
          </p:cNvPr>
          <p:cNvSpPr txBox="1"/>
          <p:nvPr/>
        </p:nvSpPr>
        <p:spPr>
          <a:xfrm>
            <a:off x="8294119" y="2576473"/>
            <a:ext cx="1825087" cy="369332"/>
          </a:xfrm>
          <a:prstGeom prst="rect">
            <a:avLst/>
          </a:prstGeom>
          <a:noFill/>
        </p:spPr>
        <p:txBody>
          <a:bodyPr wrap="square" rtlCol="0">
            <a:spAutoFit/>
          </a:bodyPr>
          <a:lstStyle/>
          <a:p>
            <a:r>
              <a:rPr lang="en-US" dirty="0">
                <a:solidFill>
                  <a:srgbClr val="E1E1E1"/>
                </a:solidFill>
              </a:rPr>
              <a:t>Orchestrator</a:t>
            </a:r>
          </a:p>
        </p:txBody>
      </p:sp>
      <p:pic>
        <p:nvPicPr>
          <p:cNvPr id="37" name="Graphic 36" descr="Information with solid fill">
            <a:extLst>
              <a:ext uri="{FF2B5EF4-FFF2-40B4-BE49-F238E27FC236}">
                <a16:creationId xmlns:a16="http://schemas.microsoft.com/office/drawing/2014/main" id="{26E3BC4F-4FB6-E405-71A9-85887623F2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54874" y="2632972"/>
            <a:ext cx="270481" cy="270481"/>
          </a:xfrm>
          <a:prstGeom prst="rect">
            <a:avLst/>
          </a:prstGeom>
        </p:spPr>
      </p:pic>
      <p:cxnSp>
        <p:nvCxnSpPr>
          <p:cNvPr id="43" name="Straight Connector 42">
            <a:extLst>
              <a:ext uri="{FF2B5EF4-FFF2-40B4-BE49-F238E27FC236}">
                <a16:creationId xmlns:a16="http://schemas.microsoft.com/office/drawing/2014/main" id="{9A0CC6DB-5B64-8004-230E-19E5F7D67976}"/>
              </a:ext>
            </a:extLst>
          </p:cNvPr>
          <p:cNvCxnSpPr>
            <a:cxnSpLocks/>
          </p:cNvCxnSpPr>
          <p:nvPr/>
        </p:nvCxnSpPr>
        <p:spPr>
          <a:xfrm flipH="1">
            <a:off x="7740989" y="2324082"/>
            <a:ext cx="3168990" cy="0"/>
          </a:xfrm>
          <a:prstGeom prst="line">
            <a:avLst/>
          </a:prstGeom>
          <a:ln w="22225"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0D402B42-8E93-07BF-2B9A-8A66B8B55AE4}"/>
              </a:ext>
            </a:extLst>
          </p:cNvPr>
          <p:cNvCxnSpPr>
            <a:cxnSpLocks/>
          </p:cNvCxnSpPr>
          <p:nvPr/>
        </p:nvCxnSpPr>
        <p:spPr>
          <a:xfrm flipH="1">
            <a:off x="7740989" y="3328061"/>
            <a:ext cx="3168990" cy="0"/>
          </a:xfrm>
          <a:prstGeom prst="line">
            <a:avLst/>
          </a:prstGeom>
          <a:ln w="22225"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05C93320-039D-79EF-3F86-5FE7865EEEF8}"/>
              </a:ext>
            </a:extLst>
          </p:cNvPr>
          <p:cNvCxnSpPr>
            <a:cxnSpLocks/>
          </p:cNvCxnSpPr>
          <p:nvPr/>
        </p:nvCxnSpPr>
        <p:spPr>
          <a:xfrm>
            <a:off x="11147051" y="3584306"/>
            <a:ext cx="0" cy="2327883"/>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C4E7D543-5732-64A8-E2CB-34E2F0D0E4F8}"/>
              </a:ext>
            </a:extLst>
          </p:cNvPr>
          <p:cNvCxnSpPr>
            <a:cxnSpLocks/>
          </p:cNvCxnSpPr>
          <p:nvPr/>
        </p:nvCxnSpPr>
        <p:spPr>
          <a:xfrm>
            <a:off x="11147051" y="3584306"/>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sp>
        <p:nvSpPr>
          <p:cNvPr id="57" name="Rectangle 56">
            <a:extLst>
              <a:ext uri="{FF2B5EF4-FFF2-40B4-BE49-F238E27FC236}">
                <a16:creationId xmlns:a16="http://schemas.microsoft.com/office/drawing/2014/main" id="{2135022D-77D4-12CF-EC63-8C9D68014111}"/>
              </a:ext>
            </a:extLst>
          </p:cNvPr>
          <p:cNvSpPr/>
          <p:nvPr/>
        </p:nvSpPr>
        <p:spPr>
          <a:xfrm>
            <a:off x="8089767" y="2195257"/>
            <a:ext cx="1040765" cy="238699"/>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Default agent</a:t>
            </a:r>
          </a:p>
        </p:txBody>
      </p:sp>
      <p:sp>
        <p:nvSpPr>
          <p:cNvPr id="58" name="Rectangle 57">
            <a:extLst>
              <a:ext uri="{FF2B5EF4-FFF2-40B4-BE49-F238E27FC236}">
                <a16:creationId xmlns:a16="http://schemas.microsoft.com/office/drawing/2014/main" id="{93FFB8D4-76B1-B495-7CE2-04D176F8205A}"/>
              </a:ext>
            </a:extLst>
          </p:cNvPr>
          <p:cNvSpPr/>
          <p:nvPr/>
        </p:nvSpPr>
        <p:spPr>
          <a:xfrm>
            <a:off x="8089768" y="3202756"/>
            <a:ext cx="936325" cy="200896"/>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Agent Team</a:t>
            </a:r>
          </a:p>
        </p:txBody>
      </p:sp>
      <p:pic>
        <p:nvPicPr>
          <p:cNvPr id="62" name="Graphic 61" descr="Lock with solid fill">
            <a:extLst>
              <a:ext uri="{FF2B5EF4-FFF2-40B4-BE49-F238E27FC236}">
                <a16:creationId xmlns:a16="http://schemas.microsoft.com/office/drawing/2014/main" id="{2F850B84-A1B4-970D-A145-5194A12B427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239078" y="2620009"/>
            <a:ext cx="279802" cy="279802"/>
          </a:xfrm>
          <a:prstGeom prst="rect">
            <a:avLst/>
          </a:prstGeom>
        </p:spPr>
      </p:pic>
      <p:sp>
        <p:nvSpPr>
          <p:cNvPr id="63" name="TextBox 62">
            <a:extLst>
              <a:ext uri="{FF2B5EF4-FFF2-40B4-BE49-F238E27FC236}">
                <a16:creationId xmlns:a16="http://schemas.microsoft.com/office/drawing/2014/main" id="{CA390BFB-1899-4DC6-113C-B856D46AF28E}"/>
              </a:ext>
            </a:extLst>
          </p:cNvPr>
          <p:cNvSpPr txBox="1"/>
          <p:nvPr/>
        </p:nvSpPr>
        <p:spPr>
          <a:xfrm>
            <a:off x="5421251" y="1736107"/>
            <a:ext cx="985078" cy="369332"/>
          </a:xfrm>
          <a:prstGeom prst="rect">
            <a:avLst/>
          </a:prstGeom>
          <a:noFill/>
        </p:spPr>
        <p:txBody>
          <a:bodyPr wrap="none" rtlCol="0">
            <a:spAutoFit/>
          </a:bodyPr>
          <a:lstStyle/>
          <a:p>
            <a:r>
              <a:rPr lang="en-US" i="1" dirty="0">
                <a:solidFill>
                  <a:srgbClr val="FFC000"/>
                </a:solidFill>
              </a:rPr>
              <a:t>Waiting.</a:t>
            </a:r>
          </a:p>
        </p:txBody>
      </p:sp>
      <p:sp>
        <p:nvSpPr>
          <p:cNvPr id="11" name="TextBox 10">
            <a:extLst>
              <a:ext uri="{FF2B5EF4-FFF2-40B4-BE49-F238E27FC236}">
                <a16:creationId xmlns:a16="http://schemas.microsoft.com/office/drawing/2014/main" id="{4C6C4F83-08BE-C25A-C1E4-39408033B7F4}"/>
              </a:ext>
            </a:extLst>
          </p:cNvPr>
          <p:cNvSpPr txBox="1"/>
          <p:nvPr/>
        </p:nvSpPr>
        <p:spPr>
          <a:xfrm>
            <a:off x="39778" y="47732"/>
            <a:ext cx="3400867" cy="369332"/>
          </a:xfrm>
          <a:prstGeom prst="rect">
            <a:avLst/>
          </a:prstGeom>
          <a:noFill/>
        </p:spPr>
        <p:txBody>
          <a:bodyPr wrap="none" rtlCol="0">
            <a:spAutoFit/>
          </a:bodyPr>
          <a:lstStyle/>
          <a:p>
            <a:r>
              <a:rPr lang="en-US" dirty="0">
                <a:solidFill>
                  <a:schemeClr val="accent5">
                    <a:lumMod val="60000"/>
                    <a:lumOff val="40000"/>
                  </a:schemeClr>
                </a:solidFill>
              </a:rPr>
              <a:t>SLIDE 1b – Launch Tab Elements</a:t>
            </a:r>
          </a:p>
        </p:txBody>
      </p:sp>
      <p:sp>
        <p:nvSpPr>
          <p:cNvPr id="13" name="Rectangle 12">
            <a:extLst>
              <a:ext uri="{FF2B5EF4-FFF2-40B4-BE49-F238E27FC236}">
                <a16:creationId xmlns:a16="http://schemas.microsoft.com/office/drawing/2014/main" id="{78D932BB-2B20-3911-4C84-27E3A2BAB256}"/>
              </a:ext>
            </a:extLst>
          </p:cNvPr>
          <p:cNvSpPr/>
          <p:nvPr/>
        </p:nvSpPr>
        <p:spPr>
          <a:xfrm>
            <a:off x="5270016" y="138436"/>
            <a:ext cx="6205355" cy="923576"/>
          </a:xfrm>
          <a:prstGeom prst="rect">
            <a:avLst/>
          </a:prstGeom>
          <a:no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5">
                    <a:lumMod val="60000"/>
                    <a:lumOff val="40000"/>
                  </a:schemeClr>
                </a:solidFill>
              </a:rPr>
              <a:t>Tabbed system, can be navigated at any stage, but will show empty implement page layout I user prematurely navigates there, no agents, no activation buttons if they go there</a:t>
            </a:r>
          </a:p>
        </p:txBody>
      </p:sp>
      <p:cxnSp>
        <p:nvCxnSpPr>
          <p:cNvPr id="16" name="Straight Arrow Connector 15">
            <a:extLst>
              <a:ext uri="{FF2B5EF4-FFF2-40B4-BE49-F238E27FC236}">
                <a16:creationId xmlns:a16="http://schemas.microsoft.com/office/drawing/2014/main" id="{0621C27F-6B9F-2E96-D13D-130812C47BF4}"/>
              </a:ext>
            </a:extLst>
          </p:cNvPr>
          <p:cNvCxnSpPr>
            <a:stCxn id="13" idx="1"/>
          </p:cNvCxnSpPr>
          <p:nvPr/>
        </p:nvCxnSpPr>
        <p:spPr>
          <a:xfrm flipH="1">
            <a:off x="3615372" y="600224"/>
            <a:ext cx="1654644" cy="753925"/>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20" name="TextBox 19">
            <a:extLst>
              <a:ext uri="{FF2B5EF4-FFF2-40B4-BE49-F238E27FC236}">
                <a16:creationId xmlns:a16="http://schemas.microsoft.com/office/drawing/2014/main" id="{6C331570-A173-E2BD-7A57-CC0D92225B0C}"/>
              </a:ext>
            </a:extLst>
          </p:cNvPr>
          <p:cNvSpPr txBox="1"/>
          <p:nvPr/>
        </p:nvSpPr>
        <p:spPr>
          <a:xfrm>
            <a:off x="721581" y="2490502"/>
            <a:ext cx="2884531" cy="3166680"/>
          </a:xfrm>
          <a:prstGeom prst="rect">
            <a:avLst/>
          </a:prstGeom>
          <a:noFill/>
        </p:spPr>
        <p:txBody>
          <a:bodyPr wrap="square" rtlCol="0">
            <a:noAutofit/>
          </a:bodyPr>
          <a:lstStyle/>
          <a:p>
            <a:r>
              <a:rPr lang="en-US" sz="1000" dirty="0">
                <a:solidFill>
                  <a:srgbClr val="8F97B7"/>
                </a:solidFill>
              </a:rPr>
              <a:t>Lorem ipsum dolor sit </a:t>
            </a:r>
            <a:r>
              <a:rPr lang="en-US" sz="1000" dirty="0" err="1">
                <a:solidFill>
                  <a:srgbClr val="8F97B7"/>
                </a:solidFill>
              </a:rPr>
              <a:t>amet</a:t>
            </a:r>
            <a:r>
              <a:rPr lang="en-US" sz="1000" dirty="0">
                <a:solidFill>
                  <a:srgbClr val="8F97B7"/>
                </a:solidFill>
              </a:rPr>
              <a:t>, </a:t>
            </a:r>
            <a:r>
              <a:rPr lang="en-US" sz="1000" dirty="0" err="1">
                <a:solidFill>
                  <a:srgbClr val="8F97B7"/>
                </a:solidFill>
              </a:rPr>
              <a:t>consectetur</a:t>
            </a:r>
            <a:r>
              <a:rPr lang="en-US" sz="1000" dirty="0">
                <a:solidFill>
                  <a:srgbClr val="8F97B7"/>
                </a:solidFill>
              </a:rPr>
              <a:t> </a:t>
            </a:r>
            <a:r>
              <a:rPr lang="en-US" sz="1000" dirty="0" err="1">
                <a:solidFill>
                  <a:srgbClr val="8F97B7"/>
                </a:solidFill>
              </a:rPr>
              <a:t>adipiscing</a:t>
            </a:r>
            <a:r>
              <a:rPr lang="en-US" sz="1000" dirty="0">
                <a:solidFill>
                  <a:srgbClr val="8F97B7"/>
                </a:solidFill>
              </a:rPr>
              <a:t> </a:t>
            </a:r>
            <a:r>
              <a:rPr lang="en-US" sz="1000" dirty="0" err="1">
                <a:solidFill>
                  <a:srgbClr val="8F97B7"/>
                </a:solidFill>
              </a:rPr>
              <a:t>elit</a:t>
            </a:r>
            <a:r>
              <a:rPr lang="en-US" sz="1000" dirty="0">
                <a:solidFill>
                  <a:srgbClr val="8F97B7"/>
                </a:solidFill>
              </a:rPr>
              <a:t>. Nulla </a:t>
            </a:r>
            <a:r>
              <a:rPr lang="en-US" sz="1000" dirty="0" err="1">
                <a:solidFill>
                  <a:srgbClr val="8F97B7"/>
                </a:solidFill>
              </a:rPr>
              <a:t>tincidunt</a:t>
            </a:r>
            <a:r>
              <a:rPr lang="en-US" sz="1000" dirty="0">
                <a:solidFill>
                  <a:srgbClr val="8F97B7"/>
                </a:solidFill>
              </a:rPr>
              <a:t> </a:t>
            </a:r>
            <a:r>
              <a:rPr lang="en-US" sz="1000" dirty="0" err="1">
                <a:solidFill>
                  <a:srgbClr val="8F97B7"/>
                </a:solidFill>
              </a:rPr>
              <a:t>consequat</a:t>
            </a:r>
            <a:r>
              <a:rPr lang="en-US" sz="1000" dirty="0">
                <a:solidFill>
                  <a:srgbClr val="8F97B7"/>
                </a:solidFill>
              </a:rPr>
              <a:t> dolor. </a:t>
            </a:r>
            <a:r>
              <a:rPr lang="en-US" sz="1000" dirty="0" err="1">
                <a:solidFill>
                  <a:srgbClr val="8F97B7"/>
                </a:solidFill>
              </a:rPr>
              <a:t>Praesent</a:t>
            </a:r>
            <a:r>
              <a:rPr lang="en-US" sz="1000" dirty="0">
                <a:solidFill>
                  <a:srgbClr val="8F97B7"/>
                </a:solidFill>
              </a:rPr>
              <a:t> sed </a:t>
            </a:r>
            <a:r>
              <a:rPr lang="en-US" sz="1000" dirty="0" err="1">
                <a:solidFill>
                  <a:srgbClr val="8F97B7"/>
                </a:solidFill>
              </a:rPr>
              <a:t>tempor</a:t>
            </a:r>
            <a:r>
              <a:rPr lang="en-US" sz="1000" dirty="0">
                <a:solidFill>
                  <a:srgbClr val="8F97B7"/>
                </a:solidFill>
              </a:rPr>
              <a:t> </a:t>
            </a:r>
            <a:r>
              <a:rPr lang="en-US" sz="1000" dirty="0" err="1">
                <a:solidFill>
                  <a:srgbClr val="8F97B7"/>
                </a:solidFill>
              </a:rPr>
              <a:t>risus</a:t>
            </a:r>
            <a:r>
              <a:rPr lang="en-US" sz="1000" dirty="0">
                <a:solidFill>
                  <a:srgbClr val="8F97B7"/>
                </a:solidFill>
              </a:rPr>
              <a:t>, vitae convallis </a:t>
            </a:r>
            <a:r>
              <a:rPr lang="en-US" sz="1000" dirty="0" err="1">
                <a:solidFill>
                  <a:srgbClr val="8F97B7"/>
                </a:solidFill>
              </a:rPr>
              <a:t>sapien</a:t>
            </a:r>
            <a:r>
              <a:rPr lang="en-US" sz="1000" dirty="0">
                <a:solidFill>
                  <a:srgbClr val="8F97B7"/>
                </a:solidFill>
              </a:rPr>
              <a:t>. Aenean </a:t>
            </a:r>
            <a:r>
              <a:rPr lang="en-US" sz="1000" dirty="0" err="1">
                <a:solidFill>
                  <a:srgbClr val="8F97B7"/>
                </a:solidFill>
              </a:rPr>
              <a:t>accumsan</a:t>
            </a:r>
            <a:r>
              <a:rPr lang="en-US" sz="1000" dirty="0">
                <a:solidFill>
                  <a:srgbClr val="8F97B7"/>
                </a:solidFill>
              </a:rPr>
              <a:t> </a:t>
            </a:r>
            <a:r>
              <a:rPr lang="en-US" sz="1000" dirty="0" err="1">
                <a:solidFill>
                  <a:srgbClr val="8F97B7"/>
                </a:solidFill>
              </a:rPr>
              <a:t>quis</a:t>
            </a:r>
            <a:r>
              <a:rPr lang="en-US" sz="1000" dirty="0">
                <a:solidFill>
                  <a:srgbClr val="8F97B7"/>
                </a:solidFill>
              </a:rPr>
              <a:t> lorem vitae </a:t>
            </a:r>
            <a:r>
              <a:rPr lang="en-US" sz="1000" dirty="0" err="1">
                <a:solidFill>
                  <a:srgbClr val="8F97B7"/>
                </a:solidFill>
              </a:rPr>
              <a:t>eleifend</a:t>
            </a:r>
            <a:r>
              <a:rPr lang="en-US" sz="1000" dirty="0">
                <a:solidFill>
                  <a:srgbClr val="8F97B7"/>
                </a:solidFill>
              </a:rPr>
              <a:t>. Vestibulum </a:t>
            </a:r>
            <a:r>
              <a:rPr lang="en-US" sz="1000" dirty="0" err="1">
                <a:solidFill>
                  <a:srgbClr val="8F97B7"/>
                </a:solidFill>
              </a:rPr>
              <a:t>sagittis</a:t>
            </a:r>
            <a:r>
              <a:rPr lang="en-US" sz="1000" dirty="0">
                <a:solidFill>
                  <a:srgbClr val="8F97B7"/>
                </a:solidFill>
              </a:rPr>
              <a:t> ipsum nec </a:t>
            </a:r>
            <a:r>
              <a:rPr lang="en-US" sz="1000" dirty="0" err="1">
                <a:solidFill>
                  <a:srgbClr val="8F97B7"/>
                </a:solidFill>
              </a:rPr>
              <a:t>mauris</a:t>
            </a:r>
            <a:r>
              <a:rPr lang="en-US" sz="1000" dirty="0">
                <a:solidFill>
                  <a:srgbClr val="8F97B7"/>
                </a:solidFill>
              </a:rPr>
              <a:t> </a:t>
            </a:r>
            <a:r>
              <a:rPr lang="en-US" sz="1000" dirty="0" err="1">
                <a:solidFill>
                  <a:srgbClr val="8F97B7"/>
                </a:solidFill>
              </a:rPr>
              <a:t>consectetur</a:t>
            </a:r>
            <a:r>
              <a:rPr lang="en-US" sz="1000" dirty="0">
                <a:solidFill>
                  <a:srgbClr val="8F97B7"/>
                </a:solidFill>
              </a:rPr>
              <a:t>, </a:t>
            </a:r>
            <a:r>
              <a:rPr lang="en-US" sz="1000" dirty="0" err="1">
                <a:solidFill>
                  <a:srgbClr val="8F97B7"/>
                </a:solidFill>
              </a:rPr>
              <a:t>commodo</a:t>
            </a:r>
            <a:r>
              <a:rPr lang="en-US" sz="1000" dirty="0">
                <a:solidFill>
                  <a:srgbClr val="8F97B7"/>
                </a:solidFill>
              </a:rPr>
              <a:t> </a:t>
            </a:r>
            <a:r>
              <a:rPr lang="en-US" sz="1000" dirty="0" err="1">
                <a:solidFill>
                  <a:srgbClr val="8F97B7"/>
                </a:solidFill>
              </a:rPr>
              <a:t>posuere</a:t>
            </a:r>
            <a:r>
              <a:rPr lang="en-US" sz="1000" dirty="0">
                <a:solidFill>
                  <a:srgbClr val="8F97B7"/>
                </a:solidFill>
              </a:rPr>
              <a:t> libero </a:t>
            </a:r>
            <a:r>
              <a:rPr lang="en-US" sz="1000" dirty="0" err="1">
                <a:solidFill>
                  <a:srgbClr val="8F97B7"/>
                </a:solidFill>
              </a:rPr>
              <a:t>consectetur</a:t>
            </a:r>
            <a:r>
              <a:rPr lang="en-US" sz="1000" dirty="0">
                <a:solidFill>
                  <a:srgbClr val="8F97B7"/>
                </a:solidFill>
              </a:rPr>
              <a:t>. </a:t>
            </a:r>
          </a:p>
          <a:p>
            <a:endParaRPr lang="en-US" sz="1000" dirty="0">
              <a:solidFill>
                <a:srgbClr val="8F97B7"/>
              </a:solidFill>
            </a:endParaRPr>
          </a:p>
          <a:p>
            <a:r>
              <a:rPr lang="en-US" sz="1000" dirty="0">
                <a:solidFill>
                  <a:srgbClr val="8F97B7"/>
                </a:solidFill>
              </a:rPr>
              <a:t>Donec </a:t>
            </a:r>
            <a:r>
              <a:rPr lang="en-US" sz="1000" dirty="0" err="1">
                <a:solidFill>
                  <a:srgbClr val="8F97B7"/>
                </a:solidFill>
              </a:rPr>
              <a:t>eget</a:t>
            </a:r>
            <a:r>
              <a:rPr lang="en-US" sz="1000" dirty="0">
                <a:solidFill>
                  <a:srgbClr val="8F97B7"/>
                </a:solidFill>
              </a:rPr>
              <a:t> </a:t>
            </a:r>
            <a:r>
              <a:rPr lang="en-US" sz="1000" dirty="0" err="1">
                <a:solidFill>
                  <a:srgbClr val="8F97B7"/>
                </a:solidFill>
              </a:rPr>
              <a:t>tempor</a:t>
            </a:r>
            <a:r>
              <a:rPr lang="en-US" sz="1000" dirty="0">
                <a:solidFill>
                  <a:srgbClr val="8F97B7"/>
                </a:solidFill>
              </a:rPr>
              <a:t> </a:t>
            </a:r>
            <a:r>
              <a:rPr lang="en-US" sz="1000" dirty="0" err="1">
                <a:solidFill>
                  <a:srgbClr val="8F97B7"/>
                </a:solidFill>
              </a:rPr>
              <a:t>nibh</a:t>
            </a:r>
            <a:r>
              <a:rPr lang="en-US" sz="1000" dirty="0">
                <a:solidFill>
                  <a:srgbClr val="8F97B7"/>
                </a:solidFill>
              </a:rPr>
              <a:t>. </a:t>
            </a:r>
            <a:r>
              <a:rPr lang="en-US" sz="1000" dirty="0" err="1">
                <a:solidFill>
                  <a:srgbClr val="8F97B7"/>
                </a:solidFill>
              </a:rPr>
              <a:t>Fusce</a:t>
            </a:r>
            <a:r>
              <a:rPr lang="en-US" sz="1000" dirty="0">
                <a:solidFill>
                  <a:srgbClr val="8F97B7"/>
                </a:solidFill>
              </a:rPr>
              <a:t> </a:t>
            </a:r>
            <a:r>
              <a:rPr lang="en-US" sz="1000" dirty="0" err="1">
                <a:solidFill>
                  <a:srgbClr val="8F97B7"/>
                </a:solidFill>
              </a:rPr>
              <a:t>vehicula</a:t>
            </a:r>
            <a:r>
              <a:rPr lang="en-US" sz="1000" dirty="0">
                <a:solidFill>
                  <a:srgbClr val="8F97B7"/>
                </a:solidFill>
              </a:rPr>
              <a:t> </a:t>
            </a:r>
            <a:r>
              <a:rPr lang="en-US" sz="1000" dirty="0" err="1">
                <a:solidFill>
                  <a:srgbClr val="8F97B7"/>
                </a:solidFill>
              </a:rPr>
              <a:t>ultrices</a:t>
            </a:r>
            <a:r>
              <a:rPr lang="en-US" sz="1000" dirty="0">
                <a:solidFill>
                  <a:srgbClr val="8F97B7"/>
                </a:solidFill>
              </a:rPr>
              <a:t> </a:t>
            </a:r>
            <a:r>
              <a:rPr lang="en-US" sz="1000" dirty="0" err="1">
                <a:solidFill>
                  <a:srgbClr val="8F97B7"/>
                </a:solidFill>
              </a:rPr>
              <a:t>vehicula</a:t>
            </a:r>
            <a:r>
              <a:rPr lang="en-US" sz="1000" dirty="0">
                <a:solidFill>
                  <a:srgbClr val="8F97B7"/>
                </a:solidFill>
              </a:rPr>
              <a:t>. Donec </a:t>
            </a:r>
            <a:r>
              <a:rPr lang="en-US" sz="1000" dirty="0" err="1">
                <a:solidFill>
                  <a:srgbClr val="8F97B7"/>
                </a:solidFill>
              </a:rPr>
              <a:t>consequat</a:t>
            </a:r>
            <a:r>
              <a:rPr lang="en-US" sz="1000" dirty="0">
                <a:solidFill>
                  <a:srgbClr val="8F97B7"/>
                </a:solidFill>
              </a:rPr>
              <a:t>, </a:t>
            </a:r>
            <a:r>
              <a:rPr lang="en-US" sz="1000" dirty="0" err="1">
                <a:solidFill>
                  <a:srgbClr val="8F97B7"/>
                </a:solidFill>
              </a:rPr>
              <a:t>purus</a:t>
            </a:r>
            <a:r>
              <a:rPr lang="en-US" sz="1000" dirty="0">
                <a:solidFill>
                  <a:srgbClr val="8F97B7"/>
                </a:solidFill>
              </a:rPr>
              <a:t> vitae </a:t>
            </a:r>
            <a:r>
              <a:rPr lang="en-US" sz="1000" dirty="0" err="1">
                <a:solidFill>
                  <a:srgbClr val="8F97B7"/>
                </a:solidFill>
              </a:rPr>
              <a:t>vehicula</a:t>
            </a:r>
            <a:r>
              <a:rPr lang="en-US" sz="1000" dirty="0">
                <a:solidFill>
                  <a:srgbClr val="8F97B7"/>
                </a:solidFill>
              </a:rPr>
              <a:t> </a:t>
            </a:r>
            <a:r>
              <a:rPr lang="en-US" sz="1000" dirty="0" err="1">
                <a:solidFill>
                  <a:srgbClr val="8F97B7"/>
                </a:solidFill>
              </a:rPr>
              <a:t>placerat</a:t>
            </a:r>
            <a:r>
              <a:rPr lang="en-US" sz="1000" dirty="0">
                <a:solidFill>
                  <a:srgbClr val="8F97B7"/>
                </a:solidFill>
              </a:rPr>
              <a:t>, </a:t>
            </a:r>
            <a:r>
              <a:rPr lang="en-US" sz="1000" dirty="0" err="1">
                <a:solidFill>
                  <a:srgbClr val="8F97B7"/>
                </a:solidFill>
              </a:rPr>
              <a:t>erat</a:t>
            </a:r>
            <a:r>
              <a:rPr lang="en-US" sz="1000" dirty="0">
                <a:solidFill>
                  <a:srgbClr val="8F97B7"/>
                </a:solidFill>
              </a:rPr>
              <a:t> </a:t>
            </a:r>
            <a:r>
              <a:rPr lang="en-US" sz="1000" dirty="0" err="1">
                <a:solidFill>
                  <a:srgbClr val="8F97B7"/>
                </a:solidFill>
              </a:rPr>
              <a:t>velit</a:t>
            </a:r>
            <a:r>
              <a:rPr lang="en-US" sz="1000" dirty="0">
                <a:solidFill>
                  <a:srgbClr val="8F97B7"/>
                </a:solidFill>
              </a:rPr>
              <a:t> pharetra </a:t>
            </a:r>
            <a:r>
              <a:rPr lang="en-US" sz="1000" dirty="0" err="1">
                <a:solidFill>
                  <a:srgbClr val="8F97B7"/>
                </a:solidFill>
              </a:rPr>
              <a:t>mauris</a:t>
            </a:r>
            <a:r>
              <a:rPr lang="en-US" sz="1000" dirty="0">
                <a:solidFill>
                  <a:srgbClr val="8F97B7"/>
                </a:solidFill>
              </a:rPr>
              <a:t>, </a:t>
            </a:r>
            <a:r>
              <a:rPr lang="en-US" sz="1000" dirty="0" err="1">
                <a:solidFill>
                  <a:srgbClr val="8F97B7"/>
                </a:solidFill>
              </a:rPr>
              <a:t>eu</a:t>
            </a:r>
            <a:r>
              <a:rPr lang="en-US" sz="1000" dirty="0">
                <a:solidFill>
                  <a:srgbClr val="8F97B7"/>
                </a:solidFill>
              </a:rPr>
              <a:t> vestibulum </a:t>
            </a:r>
            <a:r>
              <a:rPr lang="en-US" sz="1000" dirty="0" err="1">
                <a:solidFill>
                  <a:srgbClr val="8F97B7"/>
                </a:solidFill>
              </a:rPr>
              <a:t>tellus</a:t>
            </a:r>
            <a:r>
              <a:rPr lang="en-US" sz="1000" dirty="0">
                <a:solidFill>
                  <a:srgbClr val="8F97B7"/>
                </a:solidFill>
              </a:rPr>
              <a:t> </a:t>
            </a:r>
            <a:r>
              <a:rPr lang="en-US" sz="1000" dirty="0" err="1">
                <a:solidFill>
                  <a:srgbClr val="8F97B7"/>
                </a:solidFill>
              </a:rPr>
              <a:t>sem</a:t>
            </a:r>
            <a:r>
              <a:rPr lang="en-US" sz="1000" dirty="0">
                <a:solidFill>
                  <a:srgbClr val="8F97B7"/>
                </a:solidFill>
              </a:rPr>
              <a:t> at </a:t>
            </a:r>
            <a:r>
              <a:rPr lang="en-US" sz="1000" dirty="0" err="1">
                <a:solidFill>
                  <a:srgbClr val="8F97B7"/>
                </a:solidFill>
              </a:rPr>
              <a:t>massa</a:t>
            </a:r>
            <a:r>
              <a:rPr lang="en-US" sz="1000" dirty="0">
                <a:solidFill>
                  <a:srgbClr val="8F97B7"/>
                </a:solidFill>
              </a:rPr>
              <a:t>. </a:t>
            </a:r>
            <a:r>
              <a:rPr lang="en-US" sz="1000" dirty="0" err="1">
                <a:solidFill>
                  <a:srgbClr val="8F97B7"/>
                </a:solidFill>
              </a:rPr>
              <a:t>Pellentesque</a:t>
            </a:r>
            <a:r>
              <a:rPr lang="en-US" sz="1000" dirty="0">
                <a:solidFill>
                  <a:srgbClr val="8F97B7"/>
                </a:solidFill>
              </a:rPr>
              <a:t> a </a:t>
            </a:r>
            <a:r>
              <a:rPr lang="en-US" sz="1000" dirty="0" err="1">
                <a:solidFill>
                  <a:srgbClr val="8F97B7"/>
                </a:solidFill>
              </a:rPr>
              <a:t>euismod</a:t>
            </a:r>
            <a:r>
              <a:rPr lang="en-US" sz="1000" dirty="0">
                <a:solidFill>
                  <a:srgbClr val="8F97B7"/>
                </a:solidFill>
              </a:rPr>
              <a:t> </a:t>
            </a:r>
            <a:r>
              <a:rPr lang="en-US" sz="1000" dirty="0" err="1">
                <a:solidFill>
                  <a:srgbClr val="8F97B7"/>
                </a:solidFill>
              </a:rPr>
              <a:t>tortor</a:t>
            </a:r>
            <a:r>
              <a:rPr lang="en-US" sz="1000" dirty="0">
                <a:solidFill>
                  <a:srgbClr val="8F97B7"/>
                </a:solidFill>
              </a:rPr>
              <a:t>. Maecenas </a:t>
            </a:r>
            <a:r>
              <a:rPr lang="en-US" sz="1000" dirty="0" err="1">
                <a:solidFill>
                  <a:srgbClr val="8F97B7"/>
                </a:solidFill>
              </a:rPr>
              <a:t>pretium</a:t>
            </a:r>
            <a:r>
              <a:rPr lang="en-US" sz="1000" dirty="0">
                <a:solidFill>
                  <a:srgbClr val="8F97B7"/>
                </a:solidFill>
              </a:rPr>
              <a:t> </a:t>
            </a:r>
            <a:r>
              <a:rPr lang="en-US" sz="1000" dirty="0" err="1">
                <a:solidFill>
                  <a:srgbClr val="8F97B7"/>
                </a:solidFill>
              </a:rPr>
              <a:t>ultrices</a:t>
            </a:r>
            <a:r>
              <a:rPr lang="en-US" sz="1000" dirty="0">
                <a:solidFill>
                  <a:srgbClr val="8F97B7"/>
                </a:solidFill>
              </a:rPr>
              <a:t> </a:t>
            </a:r>
            <a:r>
              <a:rPr lang="en-US" sz="1000" dirty="0" err="1">
                <a:solidFill>
                  <a:srgbClr val="8F97B7"/>
                </a:solidFill>
              </a:rPr>
              <a:t>rutrum</a:t>
            </a:r>
            <a:r>
              <a:rPr lang="en-US" sz="1000" dirty="0">
                <a:solidFill>
                  <a:srgbClr val="8F97B7"/>
                </a:solidFill>
              </a:rPr>
              <a:t>. Cras </a:t>
            </a:r>
            <a:r>
              <a:rPr lang="en-US" sz="1000" dirty="0" err="1">
                <a:solidFill>
                  <a:srgbClr val="8F97B7"/>
                </a:solidFill>
              </a:rPr>
              <a:t>bibendum</a:t>
            </a:r>
            <a:r>
              <a:rPr lang="en-US" sz="1000" dirty="0">
                <a:solidFill>
                  <a:srgbClr val="8F97B7"/>
                </a:solidFill>
              </a:rPr>
              <a:t>, lorem sit </a:t>
            </a:r>
            <a:r>
              <a:rPr lang="en-US" sz="1000" dirty="0" err="1">
                <a:solidFill>
                  <a:srgbClr val="8F97B7"/>
                </a:solidFill>
              </a:rPr>
              <a:t>amet</a:t>
            </a:r>
            <a:r>
              <a:rPr lang="en-US" sz="1000" dirty="0">
                <a:solidFill>
                  <a:srgbClr val="8F97B7"/>
                </a:solidFill>
              </a:rPr>
              <a:t> </a:t>
            </a:r>
            <a:r>
              <a:rPr lang="en-US" sz="1000" dirty="0" err="1">
                <a:solidFill>
                  <a:srgbClr val="8F97B7"/>
                </a:solidFill>
              </a:rPr>
              <a:t>euismod</a:t>
            </a:r>
            <a:r>
              <a:rPr lang="en-US" sz="1000" dirty="0">
                <a:solidFill>
                  <a:srgbClr val="8F97B7"/>
                </a:solidFill>
              </a:rPr>
              <a:t> </a:t>
            </a:r>
            <a:r>
              <a:rPr lang="en-US" sz="1000" dirty="0" err="1">
                <a:solidFill>
                  <a:srgbClr val="8F97B7"/>
                </a:solidFill>
              </a:rPr>
              <a:t>elementum</a:t>
            </a:r>
            <a:r>
              <a:rPr lang="en-US" sz="1000" dirty="0">
                <a:solidFill>
                  <a:srgbClr val="8F97B7"/>
                </a:solidFill>
              </a:rPr>
              <a:t>, </a:t>
            </a:r>
            <a:r>
              <a:rPr lang="en-US" sz="1000" dirty="0" err="1">
                <a:solidFill>
                  <a:srgbClr val="8F97B7"/>
                </a:solidFill>
              </a:rPr>
              <a:t>quam</a:t>
            </a:r>
            <a:r>
              <a:rPr lang="en-US" sz="1000" dirty="0">
                <a:solidFill>
                  <a:srgbClr val="8F97B7"/>
                </a:solidFill>
              </a:rPr>
              <a:t> </a:t>
            </a:r>
            <a:r>
              <a:rPr lang="en-US" sz="1000" dirty="0" err="1">
                <a:solidFill>
                  <a:srgbClr val="8F97B7"/>
                </a:solidFill>
              </a:rPr>
              <a:t>velit</a:t>
            </a:r>
            <a:r>
              <a:rPr lang="en-US" sz="1000" dirty="0">
                <a:solidFill>
                  <a:srgbClr val="8F97B7"/>
                </a:solidFill>
              </a:rPr>
              <a:t> </a:t>
            </a:r>
            <a:r>
              <a:rPr lang="en-US" sz="1000" dirty="0" err="1">
                <a:solidFill>
                  <a:srgbClr val="8F97B7"/>
                </a:solidFill>
              </a:rPr>
              <a:t>lobortis</a:t>
            </a:r>
            <a:r>
              <a:rPr lang="en-US" sz="1000" dirty="0">
                <a:solidFill>
                  <a:srgbClr val="8F97B7"/>
                </a:solidFill>
              </a:rPr>
              <a:t> ex, a </a:t>
            </a:r>
            <a:r>
              <a:rPr lang="en-US" sz="1000" dirty="0" err="1">
                <a:solidFill>
                  <a:srgbClr val="8F97B7"/>
                </a:solidFill>
              </a:rPr>
              <a:t>commodo</a:t>
            </a:r>
            <a:r>
              <a:rPr lang="en-US" sz="1000" dirty="0">
                <a:solidFill>
                  <a:srgbClr val="8F97B7"/>
                </a:solidFill>
              </a:rPr>
              <a:t> </a:t>
            </a:r>
            <a:r>
              <a:rPr lang="en-US" sz="1000" dirty="0" err="1">
                <a:solidFill>
                  <a:srgbClr val="8F97B7"/>
                </a:solidFill>
              </a:rPr>
              <a:t>sem</a:t>
            </a:r>
            <a:r>
              <a:rPr lang="en-US" sz="1000" dirty="0">
                <a:solidFill>
                  <a:srgbClr val="8F97B7"/>
                </a:solidFill>
              </a:rPr>
              <a:t> </a:t>
            </a:r>
            <a:r>
              <a:rPr lang="en-US" sz="1000" dirty="0" err="1">
                <a:solidFill>
                  <a:srgbClr val="8F97B7"/>
                </a:solidFill>
              </a:rPr>
              <a:t>neque</a:t>
            </a:r>
            <a:r>
              <a:rPr lang="en-US" sz="1000" dirty="0">
                <a:solidFill>
                  <a:srgbClr val="8F97B7"/>
                </a:solidFill>
              </a:rPr>
              <a:t> in </a:t>
            </a:r>
            <a:r>
              <a:rPr lang="en-US" sz="1000" dirty="0" err="1">
                <a:solidFill>
                  <a:srgbClr val="8F97B7"/>
                </a:solidFill>
              </a:rPr>
              <a:t>turpis</a:t>
            </a:r>
            <a:r>
              <a:rPr lang="en-US" sz="1000" dirty="0">
                <a:solidFill>
                  <a:srgbClr val="8F97B7"/>
                </a:solidFill>
              </a:rPr>
              <a:t>. </a:t>
            </a:r>
          </a:p>
          <a:p>
            <a:endParaRPr lang="en-US" sz="1000" dirty="0">
              <a:solidFill>
                <a:srgbClr val="8F97B7"/>
              </a:solidFill>
            </a:endParaRPr>
          </a:p>
          <a:p>
            <a:r>
              <a:rPr lang="en-US" sz="1000" dirty="0">
                <a:solidFill>
                  <a:srgbClr val="8F97B7"/>
                </a:solidFill>
              </a:rPr>
              <a:t>Proin a </a:t>
            </a:r>
            <a:r>
              <a:rPr lang="en-US" sz="1000" dirty="0" err="1">
                <a:solidFill>
                  <a:srgbClr val="8F97B7"/>
                </a:solidFill>
              </a:rPr>
              <a:t>massa</a:t>
            </a:r>
            <a:r>
              <a:rPr lang="en-US" sz="1000" dirty="0">
                <a:solidFill>
                  <a:srgbClr val="8F97B7"/>
                </a:solidFill>
              </a:rPr>
              <a:t> </a:t>
            </a:r>
            <a:r>
              <a:rPr lang="en-US" sz="1000" dirty="0" err="1">
                <a:solidFill>
                  <a:srgbClr val="8F97B7"/>
                </a:solidFill>
              </a:rPr>
              <a:t>eget</a:t>
            </a:r>
            <a:r>
              <a:rPr lang="en-US" sz="1000" dirty="0">
                <a:solidFill>
                  <a:srgbClr val="8F97B7"/>
                </a:solidFill>
              </a:rPr>
              <a:t> </a:t>
            </a:r>
            <a:r>
              <a:rPr lang="en-US" sz="1000" dirty="0" err="1">
                <a:solidFill>
                  <a:srgbClr val="8F97B7"/>
                </a:solidFill>
              </a:rPr>
              <a:t>sapien</a:t>
            </a:r>
            <a:r>
              <a:rPr lang="en-US" sz="1000" dirty="0">
                <a:solidFill>
                  <a:srgbClr val="8F97B7"/>
                </a:solidFill>
              </a:rPr>
              <a:t> </a:t>
            </a:r>
            <a:r>
              <a:rPr lang="en-US" sz="1000" dirty="0" err="1">
                <a:solidFill>
                  <a:srgbClr val="8F97B7"/>
                </a:solidFill>
              </a:rPr>
              <a:t>sagittis</a:t>
            </a:r>
            <a:r>
              <a:rPr lang="en-US" sz="1000" dirty="0">
                <a:solidFill>
                  <a:srgbClr val="8F97B7"/>
                </a:solidFill>
              </a:rPr>
              <a:t> convallis. </a:t>
            </a:r>
            <a:r>
              <a:rPr lang="en-US" sz="1000" dirty="0" err="1">
                <a:solidFill>
                  <a:srgbClr val="8F97B7"/>
                </a:solidFill>
              </a:rPr>
              <a:t>Suspendisse</a:t>
            </a:r>
            <a:r>
              <a:rPr lang="en-US" sz="1000" dirty="0">
                <a:solidFill>
                  <a:srgbClr val="8F97B7"/>
                </a:solidFill>
              </a:rPr>
              <a:t> </a:t>
            </a:r>
            <a:r>
              <a:rPr lang="en-US" sz="1000" dirty="0" err="1">
                <a:solidFill>
                  <a:srgbClr val="8F97B7"/>
                </a:solidFill>
              </a:rPr>
              <a:t>commodo</a:t>
            </a:r>
            <a:r>
              <a:rPr lang="en-US" sz="1000" dirty="0">
                <a:solidFill>
                  <a:srgbClr val="8F97B7"/>
                </a:solidFill>
              </a:rPr>
              <a:t> </a:t>
            </a:r>
            <a:r>
              <a:rPr lang="en-US" sz="1000" dirty="0" err="1">
                <a:solidFill>
                  <a:srgbClr val="8F97B7"/>
                </a:solidFill>
              </a:rPr>
              <a:t>elit</a:t>
            </a:r>
            <a:r>
              <a:rPr lang="en-US" sz="1000" dirty="0">
                <a:solidFill>
                  <a:srgbClr val="8F97B7"/>
                </a:solidFill>
              </a:rPr>
              <a:t> </a:t>
            </a:r>
            <a:r>
              <a:rPr lang="en-US" sz="1000" dirty="0" err="1">
                <a:solidFill>
                  <a:srgbClr val="8F97B7"/>
                </a:solidFill>
              </a:rPr>
              <a:t>quis</a:t>
            </a:r>
            <a:r>
              <a:rPr lang="en-US" sz="1000" dirty="0">
                <a:solidFill>
                  <a:srgbClr val="8F97B7"/>
                </a:solidFill>
              </a:rPr>
              <a:t> </a:t>
            </a:r>
            <a:r>
              <a:rPr lang="en-US" sz="1000" dirty="0" err="1">
                <a:solidFill>
                  <a:srgbClr val="8F97B7"/>
                </a:solidFill>
              </a:rPr>
              <a:t>arcu</a:t>
            </a:r>
            <a:r>
              <a:rPr lang="en-US" sz="1000" dirty="0">
                <a:solidFill>
                  <a:srgbClr val="8F97B7"/>
                </a:solidFill>
              </a:rPr>
              <a:t> dictum porta. Sed </a:t>
            </a:r>
            <a:r>
              <a:rPr lang="en-US" sz="1000" dirty="0" err="1">
                <a:solidFill>
                  <a:srgbClr val="8F97B7"/>
                </a:solidFill>
              </a:rPr>
              <a:t>consequat</a:t>
            </a:r>
            <a:r>
              <a:rPr lang="en-US" sz="1000" dirty="0">
                <a:solidFill>
                  <a:srgbClr val="8F97B7"/>
                </a:solidFill>
              </a:rPr>
              <a:t> </a:t>
            </a:r>
            <a:r>
              <a:rPr lang="en-US" sz="1000" dirty="0" err="1">
                <a:solidFill>
                  <a:srgbClr val="8F97B7"/>
                </a:solidFill>
              </a:rPr>
              <a:t>ullamcorper</a:t>
            </a:r>
            <a:r>
              <a:rPr lang="en-US" sz="1000" dirty="0">
                <a:solidFill>
                  <a:srgbClr val="8F97B7"/>
                </a:solidFill>
              </a:rPr>
              <a:t> eros, id……..</a:t>
            </a:r>
          </a:p>
        </p:txBody>
      </p:sp>
      <p:pic>
        <p:nvPicPr>
          <p:cNvPr id="23" name="Graphic 22" descr="Pencil with solid fill">
            <a:extLst>
              <a:ext uri="{FF2B5EF4-FFF2-40B4-BE49-F238E27FC236}">
                <a16:creationId xmlns:a16="http://schemas.microsoft.com/office/drawing/2014/main" id="{B52F9DF7-6D74-34F5-2B1D-3F9803F8E60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108216" y="5719185"/>
            <a:ext cx="258055" cy="258055"/>
          </a:xfrm>
          <a:prstGeom prst="rect">
            <a:avLst/>
          </a:prstGeom>
        </p:spPr>
      </p:pic>
      <p:pic>
        <p:nvPicPr>
          <p:cNvPr id="25" name="Graphic 24">
            <a:extLst>
              <a:ext uri="{FF2B5EF4-FFF2-40B4-BE49-F238E27FC236}">
                <a16:creationId xmlns:a16="http://schemas.microsoft.com/office/drawing/2014/main" id="{E2773EED-6EDB-6ED8-A609-97C9797DA9D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448858" y="3717758"/>
            <a:ext cx="1632316" cy="1632316"/>
          </a:xfrm>
          <a:prstGeom prst="rect">
            <a:avLst/>
          </a:prstGeom>
        </p:spPr>
      </p:pic>
      <p:sp>
        <p:nvSpPr>
          <p:cNvPr id="27" name="Rectangle 26">
            <a:extLst>
              <a:ext uri="{FF2B5EF4-FFF2-40B4-BE49-F238E27FC236}">
                <a16:creationId xmlns:a16="http://schemas.microsoft.com/office/drawing/2014/main" id="{F761A1F3-6EB1-565F-1597-007C3E76010F}"/>
              </a:ext>
            </a:extLst>
          </p:cNvPr>
          <p:cNvSpPr/>
          <p:nvPr/>
        </p:nvSpPr>
        <p:spPr>
          <a:xfrm>
            <a:off x="9515124" y="6401619"/>
            <a:ext cx="2540254" cy="291526"/>
          </a:xfrm>
          <a:prstGeom prst="rect">
            <a:avLst/>
          </a:prstGeom>
          <a:no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5">
                    <a:lumMod val="60000"/>
                    <a:lumOff val="40000"/>
                  </a:schemeClr>
                </a:solidFill>
              </a:rPr>
              <a:t>Sleeping </a:t>
            </a:r>
            <a:r>
              <a:rPr lang="en-US" dirty="0" err="1">
                <a:solidFill>
                  <a:schemeClr val="accent5">
                    <a:lumMod val="60000"/>
                    <a:lumOff val="40000"/>
                  </a:schemeClr>
                </a:solidFill>
              </a:rPr>
              <a:t>giljo</a:t>
            </a:r>
            <a:r>
              <a:rPr lang="en-US" dirty="0">
                <a:solidFill>
                  <a:schemeClr val="accent5">
                    <a:lumMod val="60000"/>
                    <a:lumOff val="40000"/>
                  </a:schemeClr>
                </a:solidFill>
              </a:rPr>
              <a:t> avatar</a:t>
            </a:r>
          </a:p>
        </p:txBody>
      </p:sp>
      <p:cxnSp>
        <p:nvCxnSpPr>
          <p:cNvPr id="28" name="Connector: Elbow 27">
            <a:extLst>
              <a:ext uri="{FF2B5EF4-FFF2-40B4-BE49-F238E27FC236}">
                <a16:creationId xmlns:a16="http://schemas.microsoft.com/office/drawing/2014/main" id="{DD64FB77-0817-19FF-8983-F5E45009869C}"/>
              </a:ext>
            </a:extLst>
          </p:cNvPr>
          <p:cNvCxnSpPr>
            <a:cxnSpLocks/>
            <a:stCxn id="27" idx="0"/>
          </p:cNvCxnSpPr>
          <p:nvPr/>
        </p:nvCxnSpPr>
        <p:spPr>
          <a:xfrm rot="16200000" flipV="1">
            <a:off x="9493644" y="5110011"/>
            <a:ext cx="1313088" cy="1270127"/>
          </a:xfrm>
          <a:prstGeom prst="bentConnector3">
            <a:avLst>
              <a:gd name="adj1" fmla="val 50000"/>
            </a:avLst>
          </a:prstGeom>
          <a:ln>
            <a:tailEnd type="triangle"/>
          </a:ln>
        </p:spPr>
        <p:style>
          <a:lnRef idx="2">
            <a:schemeClr val="accent5"/>
          </a:lnRef>
          <a:fillRef idx="0">
            <a:schemeClr val="accent5"/>
          </a:fillRef>
          <a:effectRef idx="1">
            <a:schemeClr val="accent5"/>
          </a:effectRef>
          <a:fontRef idx="minor">
            <a:schemeClr val="tx1"/>
          </a:fontRef>
        </p:style>
      </p:cxnSp>
      <p:sp>
        <p:nvSpPr>
          <p:cNvPr id="29" name="Rectangle 28">
            <a:extLst>
              <a:ext uri="{FF2B5EF4-FFF2-40B4-BE49-F238E27FC236}">
                <a16:creationId xmlns:a16="http://schemas.microsoft.com/office/drawing/2014/main" id="{515AB05A-5F39-0AE2-B9F8-196FE4DC7FD4}"/>
              </a:ext>
            </a:extLst>
          </p:cNvPr>
          <p:cNvSpPr/>
          <p:nvPr/>
        </p:nvSpPr>
        <p:spPr>
          <a:xfrm>
            <a:off x="1125469" y="6399696"/>
            <a:ext cx="4807119" cy="291526"/>
          </a:xfrm>
          <a:prstGeom prst="rect">
            <a:avLst/>
          </a:prstGeom>
          <a:no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5">
                    <a:lumMod val="60000"/>
                    <a:lumOff val="40000"/>
                  </a:schemeClr>
                </a:solidFill>
              </a:rPr>
              <a:t>Project description from ‘active’ project in DB</a:t>
            </a:r>
          </a:p>
        </p:txBody>
      </p:sp>
      <p:cxnSp>
        <p:nvCxnSpPr>
          <p:cNvPr id="39" name="Straight Arrow Connector 38">
            <a:extLst>
              <a:ext uri="{FF2B5EF4-FFF2-40B4-BE49-F238E27FC236}">
                <a16:creationId xmlns:a16="http://schemas.microsoft.com/office/drawing/2014/main" id="{DE9793D3-6956-2A6D-49D4-8269AC643A83}"/>
              </a:ext>
            </a:extLst>
          </p:cNvPr>
          <p:cNvCxnSpPr>
            <a:cxnSpLocks/>
            <a:stCxn id="29" idx="0"/>
          </p:cNvCxnSpPr>
          <p:nvPr/>
        </p:nvCxnSpPr>
        <p:spPr>
          <a:xfrm flipH="1" flipV="1">
            <a:off x="3031450" y="5719184"/>
            <a:ext cx="497579" cy="680512"/>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pic>
        <p:nvPicPr>
          <p:cNvPr id="41" name="Graphic 40" descr="Document with solid fill">
            <a:extLst>
              <a:ext uri="{FF2B5EF4-FFF2-40B4-BE49-F238E27FC236}">
                <a16:creationId xmlns:a16="http://schemas.microsoft.com/office/drawing/2014/main" id="{58ED0BCA-60E6-6C61-FF5C-65388A0E7D32}"/>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197889" y="3886894"/>
            <a:ext cx="1130210" cy="1130210"/>
          </a:xfrm>
          <a:prstGeom prst="rect">
            <a:avLst/>
          </a:prstGeom>
        </p:spPr>
      </p:pic>
      <p:sp>
        <p:nvSpPr>
          <p:cNvPr id="42" name="Rectangle 41">
            <a:extLst>
              <a:ext uri="{FF2B5EF4-FFF2-40B4-BE49-F238E27FC236}">
                <a16:creationId xmlns:a16="http://schemas.microsoft.com/office/drawing/2014/main" id="{394574C8-262B-36DA-6B21-6B60CDC90879}"/>
              </a:ext>
            </a:extLst>
          </p:cNvPr>
          <p:cNvSpPr/>
          <p:nvPr/>
        </p:nvSpPr>
        <p:spPr>
          <a:xfrm>
            <a:off x="6660333" y="6421430"/>
            <a:ext cx="2540254" cy="291526"/>
          </a:xfrm>
          <a:prstGeom prst="rect">
            <a:avLst/>
          </a:prstGeom>
          <a:no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5">
                    <a:lumMod val="60000"/>
                    <a:lumOff val="40000"/>
                  </a:schemeClr>
                </a:solidFill>
              </a:rPr>
              <a:t>No mission icon</a:t>
            </a:r>
          </a:p>
        </p:txBody>
      </p:sp>
      <p:cxnSp>
        <p:nvCxnSpPr>
          <p:cNvPr id="48" name="Straight Arrow Connector 47">
            <a:extLst>
              <a:ext uri="{FF2B5EF4-FFF2-40B4-BE49-F238E27FC236}">
                <a16:creationId xmlns:a16="http://schemas.microsoft.com/office/drawing/2014/main" id="{B5A88D6A-39E8-6461-4661-19508EA02772}"/>
              </a:ext>
            </a:extLst>
          </p:cNvPr>
          <p:cNvCxnSpPr/>
          <p:nvPr/>
        </p:nvCxnSpPr>
        <p:spPr>
          <a:xfrm flipH="1" flipV="1">
            <a:off x="6170455" y="5088530"/>
            <a:ext cx="1430931" cy="1332900"/>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Tree>
    <p:extLst>
      <p:ext uri="{BB962C8B-B14F-4D97-AF65-F5344CB8AC3E}">
        <p14:creationId xmlns:p14="http://schemas.microsoft.com/office/powerpoint/2010/main" val="39096543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E1C2D"/>
        </a:solidFill>
        <a:effectLst/>
      </p:bgPr>
    </p:bg>
    <p:spTree>
      <p:nvGrpSpPr>
        <p:cNvPr id="1" name="">
          <a:extLst>
            <a:ext uri="{FF2B5EF4-FFF2-40B4-BE49-F238E27FC236}">
              <a16:creationId xmlns:a16="http://schemas.microsoft.com/office/drawing/2014/main" id="{16355A2C-3A0B-AC33-8DEA-9FCF94CFEA4C}"/>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5A1A3E20-A063-E0DD-80C0-F4FCF9BF4DA8}"/>
              </a:ext>
            </a:extLst>
          </p:cNvPr>
          <p:cNvSpPr/>
          <p:nvPr/>
        </p:nvSpPr>
        <p:spPr>
          <a:xfrm>
            <a:off x="503403" y="1334840"/>
            <a:ext cx="2218513" cy="1071163"/>
          </a:xfrm>
          <a:prstGeom prst="roundRect">
            <a:avLst>
              <a:gd name="adj" fmla="val 15806"/>
            </a:avLst>
          </a:prstGeom>
          <a:no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5A76B735-51DB-A597-9F4D-A31FD4496BFB}"/>
              </a:ext>
            </a:extLst>
          </p:cNvPr>
          <p:cNvSpPr txBox="1"/>
          <p:nvPr/>
        </p:nvSpPr>
        <p:spPr>
          <a:xfrm>
            <a:off x="516531" y="677075"/>
            <a:ext cx="2514919" cy="553998"/>
          </a:xfrm>
          <a:prstGeom prst="rect">
            <a:avLst/>
          </a:prstGeom>
          <a:noFill/>
        </p:spPr>
        <p:txBody>
          <a:bodyPr wrap="none" rtlCol="0">
            <a:spAutoFit/>
          </a:bodyPr>
          <a:lstStyle/>
          <a:p>
            <a:r>
              <a:rPr lang="en-US" dirty="0">
                <a:solidFill>
                  <a:srgbClr val="E1E1E1"/>
                </a:solidFill>
              </a:rPr>
              <a:t>Project: </a:t>
            </a:r>
            <a:r>
              <a:rPr lang="en-US" dirty="0">
                <a:solidFill>
                  <a:srgbClr val="FFC300"/>
                </a:solidFill>
              </a:rPr>
              <a:t>{</a:t>
            </a:r>
            <a:r>
              <a:rPr lang="en-US" dirty="0" err="1">
                <a:solidFill>
                  <a:srgbClr val="FFC300"/>
                </a:solidFill>
              </a:rPr>
              <a:t>project_name</a:t>
            </a:r>
            <a:r>
              <a:rPr lang="en-US" dirty="0">
                <a:solidFill>
                  <a:srgbClr val="FFC300"/>
                </a:solidFill>
              </a:rPr>
              <a:t>}</a:t>
            </a:r>
          </a:p>
          <a:p>
            <a:r>
              <a:rPr lang="en-US" sz="1200" dirty="0">
                <a:solidFill>
                  <a:srgbClr val="8F97B7"/>
                </a:solidFill>
              </a:rPr>
              <a:t>Project ID: {</a:t>
            </a:r>
            <a:r>
              <a:rPr lang="en-US" sz="1200" dirty="0" err="1">
                <a:solidFill>
                  <a:srgbClr val="8F97B7"/>
                </a:solidFill>
              </a:rPr>
              <a:t>full_UUID</a:t>
            </a:r>
            <a:r>
              <a:rPr lang="en-US" sz="1200" dirty="0">
                <a:solidFill>
                  <a:srgbClr val="8F97B7"/>
                </a:solidFill>
              </a:rPr>
              <a:t>}</a:t>
            </a:r>
          </a:p>
        </p:txBody>
      </p:sp>
      <p:sp>
        <p:nvSpPr>
          <p:cNvPr id="3" name="Rectangle: Rounded Corners 2">
            <a:extLst>
              <a:ext uri="{FF2B5EF4-FFF2-40B4-BE49-F238E27FC236}">
                <a16:creationId xmlns:a16="http://schemas.microsoft.com/office/drawing/2014/main" id="{E03E3CAD-9FC3-AC18-441C-2AA1843300C6}"/>
              </a:ext>
            </a:extLst>
          </p:cNvPr>
          <p:cNvSpPr/>
          <p:nvPr/>
        </p:nvSpPr>
        <p:spPr>
          <a:xfrm>
            <a:off x="1643382" y="1342292"/>
            <a:ext cx="1805578" cy="969932"/>
          </a:xfrm>
          <a:prstGeom prst="roundRect">
            <a:avLst>
              <a:gd name="adj" fmla="val 17766"/>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1CC9112-F580-F292-E511-75245EB1EC5F}"/>
              </a:ext>
            </a:extLst>
          </p:cNvPr>
          <p:cNvSpPr txBox="1"/>
          <p:nvPr/>
        </p:nvSpPr>
        <p:spPr>
          <a:xfrm>
            <a:off x="682981" y="1327205"/>
            <a:ext cx="929678" cy="369332"/>
          </a:xfrm>
          <a:prstGeom prst="rect">
            <a:avLst/>
          </a:prstGeom>
          <a:noFill/>
        </p:spPr>
        <p:txBody>
          <a:bodyPr wrap="none" rtlCol="0">
            <a:spAutoFit/>
          </a:bodyPr>
          <a:lstStyle/>
          <a:p>
            <a:r>
              <a:rPr lang="en-US" dirty="0">
                <a:solidFill>
                  <a:srgbClr val="1E3147"/>
                </a:solidFill>
              </a:rPr>
              <a:t>Launch</a:t>
            </a:r>
          </a:p>
        </p:txBody>
      </p:sp>
      <p:sp>
        <p:nvSpPr>
          <p:cNvPr id="6" name="Rectangle: Rounded Corners 5">
            <a:extLst>
              <a:ext uri="{FF2B5EF4-FFF2-40B4-BE49-F238E27FC236}">
                <a16:creationId xmlns:a16="http://schemas.microsoft.com/office/drawing/2014/main" id="{BC8FC126-4F8E-9386-5C1E-A92C4679F2B8}"/>
              </a:ext>
            </a:extLst>
          </p:cNvPr>
          <p:cNvSpPr/>
          <p:nvPr/>
        </p:nvSpPr>
        <p:spPr>
          <a:xfrm>
            <a:off x="503403" y="1668256"/>
            <a:ext cx="11185191" cy="3476117"/>
          </a:xfrm>
          <a:prstGeom prst="roundRect">
            <a:avLst>
              <a:gd name="adj" fmla="val 5962"/>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79E164EB-41B2-6114-D16F-5810AC166584}"/>
              </a:ext>
            </a:extLst>
          </p:cNvPr>
          <p:cNvSpPr/>
          <p:nvPr/>
        </p:nvSpPr>
        <p:spPr>
          <a:xfrm>
            <a:off x="1654808" y="1622562"/>
            <a:ext cx="1787171" cy="287650"/>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4D022FB9-AAA0-D705-1278-5D418CEC8FEF}"/>
              </a:ext>
            </a:extLst>
          </p:cNvPr>
          <p:cNvSpPr txBox="1"/>
          <p:nvPr/>
        </p:nvSpPr>
        <p:spPr>
          <a:xfrm>
            <a:off x="1899316" y="1330953"/>
            <a:ext cx="1444177" cy="369332"/>
          </a:xfrm>
          <a:prstGeom prst="rect">
            <a:avLst/>
          </a:prstGeom>
          <a:noFill/>
        </p:spPr>
        <p:txBody>
          <a:bodyPr wrap="square" rtlCol="0">
            <a:spAutoFit/>
          </a:bodyPr>
          <a:lstStyle/>
          <a:p>
            <a:r>
              <a:rPr lang="en-US" dirty="0">
                <a:solidFill>
                  <a:srgbClr val="8F97B7"/>
                </a:solidFill>
              </a:rPr>
              <a:t>Implement</a:t>
            </a:r>
          </a:p>
        </p:txBody>
      </p:sp>
      <p:cxnSp>
        <p:nvCxnSpPr>
          <p:cNvPr id="75" name="Straight Connector 74">
            <a:extLst>
              <a:ext uri="{FF2B5EF4-FFF2-40B4-BE49-F238E27FC236}">
                <a16:creationId xmlns:a16="http://schemas.microsoft.com/office/drawing/2014/main" id="{EE98D7CF-0A9F-7113-2BF6-23B9ED960DDC}"/>
              </a:ext>
            </a:extLst>
          </p:cNvPr>
          <p:cNvCxnSpPr>
            <a:cxnSpLocks/>
          </p:cNvCxnSpPr>
          <p:nvPr/>
        </p:nvCxnSpPr>
        <p:spPr>
          <a:xfrm>
            <a:off x="652293" y="2505875"/>
            <a:ext cx="10203544" cy="6404"/>
          </a:xfrm>
          <a:prstGeom prst="line">
            <a:avLst/>
          </a:prstGeom>
          <a:ln>
            <a:solidFill>
              <a:srgbClr val="1E3147"/>
            </a:solidFill>
          </a:ln>
        </p:spPr>
        <p:style>
          <a:lnRef idx="2">
            <a:schemeClr val="accent1"/>
          </a:lnRef>
          <a:fillRef idx="0">
            <a:schemeClr val="accent1"/>
          </a:fillRef>
          <a:effectRef idx="1">
            <a:schemeClr val="accent1"/>
          </a:effectRef>
          <a:fontRef idx="minor">
            <a:schemeClr val="tx1"/>
          </a:fontRef>
        </p:style>
      </p:cxnSp>
      <p:sp>
        <p:nvSpPr>
          <p:cNvPr id="77" name="TextBox 76">
            <a:extLst>
              <a:ext uri="{FF2B5EF4-FFF2-40B4-BE49-F238E27FC236}">
                <a16:creationId xmlns:a16="http://schemas.microsoft.com/office/drawing/2014/main" id="{A32BAE5C-37DA-6297-9D36-A2F09776A8EE}"/>
              </a:ext>
            </a:extLst>
          </p:cNvPr>
          <p:cNvSpPr txBox="1"/>
          <p:nvPr/>
        </p:nvSpPr>
        <p:spPr>
          <a:xfrm>
            <a:off x="1274326" y="2217384"/>
            <a:ext cx="785793" cy="246221"/>
          </a:xfrm>
          <a:prstGeom prst="rect">
            <a:avLst/>
          </a:prstGeom>
          <a:noFill/>
        </p:spPr>
        <p:txBody>
          <a:bodyPr wrap="none" rtlCol="0">
            <a:spAutoFit/>
          </a:bodyPr>
          <a:lstStyle/>
          <a:p>
            <a:pPr algn="ctr"/>
            <a:r>
              <a:rPr lang="en-US" sz="1000" dirty="0">
                <a:solidFill>
                  <a:srgbClr val="E1E1E1"/>
                </a:solidFill>
              </a:rPr>
              <a:t>Agent Type</a:t>
            </a:r>
          </a:p>
        </p:txBody>
      </p:sp>
      <p:sp>
        <p:nvSpPr>
          <p:cNvPr id="78" name="TextBox 77">
            <a:extLst>
              <a:ext uri="{FF2B5EF4-FFF2-40B4-BE49-F238E27FC236}">
                <a16:creationId xmlns:a16="http://schemas.microsoft.com/office/drawing/2014/main" id="{E0AE1D98-AC39-CAF4-E156-CC457893648C}"/>
              </a:ext>
            </a:extLst>
          </p:cNvPr>
          <p:cNvSpPr txBox="1"/>
          <p:nvPr/>
        </p:nvSpPr>
        <p:spPr>
          <a:xfrm>
            <a:off x="662149" y="1838089"/>
            <a:ext cx="1202573" cy="246221"/>
          </a:xfrm>
          <a:prstGeom prst="rect">
            <a:avLst/>
          </a:prstGeom>
          <a:noFill/>
        </p:spPr>
        <p:txBody>
          <a:bodyPr wrap="none" rtlCol="0">
            <a:spAutoFit/>
          </a:bodyPr>
          <a:lstStyle/>
          <a:p>
            <a:r>
              <a:rPr lang="en-US" sz="1000" dirty="0">
                <a:solidFill>
                  <a:srgbClr val="1E3147"/>
                </a:solidFill>
              </a:rPr>
              <a:t>Claude Subagents</a:t>
            </a:r>
          </a:p>
        </p:txBody>
      </p:sp>
      <p:sp>
        <p:nvSpPr>
          <p:cNvPr id="80" name="Rectangle: Rounded Corners 79">
            <a:extLst>
              <a:ext uri="{FF2B5EF4-FFF2-40B4-BE49-F238E27FC236}">
                <a16:creationId xmlns:a16="http://schemas.microsoft.com/office/drawing/2014/main" id="{2D85EEB4-E4CB-FF72-C7A5-1928B8883243}"/>
              </a:ext>
            </a:extLst>
          </p:cNvPr>
          <p:cNvSpPr/>
          <p:nvPr/>
        </p:nvSpPr>
        <p:spPr>
          <a:xfrm>
            <a:off x="1813390" y="1884175"/>
            <a:ext cx="336498" cy="182696"/>
          </a:xfrm>
          <a:prstGeom prst="roundRect">
            <a:avLst>
              <a:gd name="adj" fmla="val 50000"/>
            </a:avLst>
          </a:prstGeom>
          <a:solidFill>
            <a:srgbClr val="0E1C2D"/>
          </a:solid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a:extLst>
              <a:ext uri="{FF2B5EF4-FFF2-40B4-BE49-F238E27FC236}">
                <a16:creationId xmlns:a16="http://schemas.microsoft.com/office/drawing/2014/main" id="{AC2DC6A5-B82D-69D4-FF6C-D4A689348A85}"/>
              </a:ext>
            </a:extLst>
          </p:cNvPr>
          <p:cNvSpPr/>
          <p:nvPr/>
        </p:nvSpPr>
        <p:spPr>
          <a:xfrm>
            <a:off x="1962999" y="1883047"/>
            <a:ext cx="174503" cy="184050"/>
          </a:xfrm>
          <a:prstGeom prst="ellipse">
            <a:avLst/>
          </a:prstGeom>
          <a:solidFill>
            <a:srgbClr val="1E31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TextBox 98">
            <a:extLst>
              <a:ext uri="{FF2B5EF4-FFF2-40B4-BE49-F238E27FC236}">
                <a16:creationId xmlns:a16="http://schemas.microsoft.com/office/drawing/2014/main" id="{3C0AA8B4-30E1-94F9-F5AF-AE75F79D9EDD}"/>
              </a:ext>
            </a:extLst>
          </p:cNvPr>
          <p:cNvSpPr txBox="1"/>
          <p:nvPr/>
        </p:nvSpPr>
        <p:spPr>
          <a:xfrm>
            <a:off x="4193614" y="2214394"/>
            <a:ext cx="886781" cy="246221"/>
          </a:xfrm>
          <a:prstGeom prst="rect">
            <a:avLst/>
          </a:prstGeom>
          <a:noFill/>
        </p:spPr>
        <p:txBody>
          <a:bodyPr wrap="none" rtlCol="0">
            <a:spAutoFit/>
          </a:bodyPr>
          <a:lstStyle/>
          <a:p>
            <a:pPr algn="ctr"/>
            <a:r>
              <a:rPr lang="en-US" sz="1000" dirty="0">
                <a:solidFill>
                  <a:srgbClr val="E1E1E1"/>
                </a:solidFill>
              </a:rPr>
              <a:t>Agent Status</a:t>
            </a:r>
          </a:p>
        </p:txBody>
      </p:sp>
      <p:sp>
        <p:nvSpPr>
          <p:cNvPr id="100" name="TextBox 99">
            <a:extLst>
              <a:ext uri="{FF2B5EF4-FFF2-40B4-BE49-F238E27FC236}">
                <a16:creationId xmlns:a16="http://schemas.microsoft.com/office/drawing/2014/main" id="{48D750EF-2F91-F95C-04DF-377F929C5C40}"/>
              </a:ext>
            </a:extLst>
          </p:cNvPr>
          <p:cNvSpPr txBox="1"/>
          <p:nvPr/>
        </p:nvSpPr>
        <p:spPr>
          <a:xfrm>
            <a:off x="7929117" y="2092323"/>
            <a:ext cx="772505" cy="400110"/>
          </a:xfrm>
          <a:prstGeom prst="rect">
            <a:avLst/>
          </a:prstGeom>
          <a:noFill/>
        </p:spPr>
        <p:txBody>
          <a:bodyPr wrap="square" rtlCol="0">
            <a:spAutoFit/>
          </a:bodyPr>
          <a:lstStyle/>
          <a:p>
            <a:pPr algn="ctr"/>
            <a:r>
              <a:rPr lang="en-US" sz="1000" dirty="0">
                <a:solidFill>
                  <a:srgbClr val="E1E1E1"/>
                </a:solidFill>
              </a:rPr>
              <a:t>Messages waiting</a:t>
            </a:r>
          </a:p>
        </p:txBody>
      </p:sp>
      <p:sp>
        <p:nvSpPr>
          <p:cNvPr id="114" name="TextBox 113">
            <a:extLst>
              <a:ext uri="{FF2B5EF4-FFF2-40B4-BE49-F238E27FC236}">
                <a16:creationId xmlns:a16="http://schemas.microsoft.com/office/drawing/2014/main" id="{6638406C-B523-64D3-7C66-D46B6B36B61C}"/>
              </a:ext>
            </a:extLst>
          </p:cNvPr>
          <p:cNvSpPr txBox="1"/>
          <p:nvPr/>
        </p:nvSpPr>
        <p:spPr>
          <a:xfrm>
            <a:off x="7041082" y="2099303"/>
            <a:ext cx="772505" cy="400110"/>
          </a:xfrm>
          <a:prstGeom prst="rect">
            <a:avLst/>
          </a:prstGeom>
          <a:noFill/>
        </p:spPr>
        <p:txBody>
          <a:bodyPr wrap="square" rtlCol="0">
            <a:spAutoFit/>
          </a:bodyPr>
          <a:lstStyle/>
          <a:p>
            <a:pPr algn="ctr"/>
            <a:r>
              <a:rPr lang="en-US" sz="1000" dirty="0">
                <a:solidFill>
                  <a:srgbClr val="E1E1E1"/>
                </a:solidFill>
              </a:rPr>
              <a:t>Messages</a:t>
            </a:r>
          </a:p>
          <a:p>
            <a:pPr algn="ctr"/>
            <a:r>
              <a:rPr lang="en-US" sz="1000" dirty="0">
                <a:solidFill>
                  <a:srgbClr val="E1E1E1"/>
                </a:solidFill>
              </a:rPr>
              <a:t>Sent</a:t>
            </a:r>
          </a:p>
        </p:txBody>
      </p:sp>
      <p:sp>
        <p:nvSpPr>
          <p:cNvPr id="115" name="TextBox 114">
            <a:extLst>
              <a:ext uri="{FF2B5EF4-FFF2-40B4-BE49-F238E27FC236}">
                <a16:creationId xmlns:a16="http://schemas.microsoft.com/office/drawing/2014/main" id="{9C4CB95C-9437-B591-96FB-2907C15BE9E1}"/>
              </a:ext>
            </a:extLst>
          </p:cNvPr>
          <p:cNvSpPr txBox="1"/>
          <p:nvPr/>
        </p:nvSpPr>
        <p:spPr>
          <a:xfrm>
            <a:off x="8932682" y="2112169"/>
            <a:ext cx="751053" cy="400110"/>
          </a:xfrm>
          <a:prstGeom prst="rect">
            <a:avLst/>
          </a:prstGeom>
          <a:noFill/>
        </p:spPr>
        <p:txBody>
          <a:bodyPr wrap="square" rtlCol="0">
            <a:spAutoFit/>
          </a:bodyPr>
          <a:lstStyle/>
          <a:p>
            <a:pPr algn="ctr"/>
            <a:r>
              <a:rPr lang="en-US" sz="1000" dirty="0">
                <a:solidFill>
                  <a:srgbClr val="E1E1E1"/>
                </a:solidFill>
              </a:rPr>
              <a:t>Messages Read</a:t>
            </a:r>
          </a:p>
        </p:txBody>
      </p:sp>
      <p:sp>
        <p:nvSpPr>
          <p:cNvPr id="23" name="TextBox 22">
            <a:extLst>
              <a:ext uri="{FF2B5EF4-FFF2-40B4-BE49-F238E27FC236}">
                <a16:creationId xmlns:a16="http://schemas.microsoft.com/office/drawing/2014/main" id="{8788688F-F159-D52E-8771-102B234CE135}"/>
              </a:ext>
            </a:extLst>
          </p:cNvPr>
          <p:cNvSpPr txBox="1"/>
          <p:nvPr/>
        </p:nvSpPr>
        <p:spPr>
          <a:xfrm>
            <a:off x="2947872" y="2209718"/>
            <a:ext cx="649537" cy="246221"/>
          </a:xfrm>
          <a:prstGeom prst="rect">
            <a:avLst/>
          </a:prstGeom>
          <a:noFill/>
        </p:spPr>
        <p:txBody>
          <a:bodyPr wrap="none" rtlCol="0">
            <a:spAutoFit/>
          </a:bodyPr>
          <a:lstStyle/>
          <a:p>
            <a:pPr algn="ctr"/>
            <a:r>
              <a:rPr lang="en-US" sz="1000" dirty="0">
                <a:solidFill>
                  <a:srgbClr val="E1E1E1"/>
                </a:solidFill>
              </a:rPr>
              <a:t>Agent ID</a:t>
            </a:r>
          </a:p>
        </p:txBody>
      </p:sp>
      <p:sp>
        <p:nvSpPr>
          <p:cNvPr id="33" name="TextBox 32">
            <a:extLst>
              <a:ext uri="{FF2B5EF4-FFF2-40B4-BE49-F238E27FC236}">
                <a16:creationId xmlns:a16="http://schemas.microsoft.com/office/drawing/2014/main" id="{ECB3B970-63B3-08B7-D597-DBEF18BAD3C9}"/>
              </a:ext>
            </a:extLst>
          </p:cNvPr>
          <p:cNvSpPr txBox="1"/>
          <p:nvPr/>
        </p:nvSpPr>
        <p:spPr>
          <a:xfrm>
            <a:off x="5445208" y="2092323"/>
            <a:ext cx="772505" cy="400110"/>
          </a:xfrm>
          <a:prstGeom prst="rect">
            <a:avLst/>
          </a:prstGeom>
          <a:noFill/>
        </p:spPr>
        <p:txBody>
          <a:bodyPr wrap="square" rtlCol="0">
            <a:spAutoFit/>
          </a:bodyPr>
          <a:lstStyle/>
          <a:p>
            <a:pPr algn="ctr"/>
            <a:r>
              <a:rPr lang="en-US" sz="1000" dirty="0">
                <a:solidFill>
                  <a:srgbClr val="E1E1E1"/>
                </a:solidFill>
              </a:rPr>
              <a:t>Job </a:t>
            </a:r>
          </a:p>
          <a:p>
            <a:pPr algn="ctr"/>
            <a:r>
              <a:rPr lang="en-US" sz="1000" dirty="0">
                <a:solidFill>
                  <a:srgbClr val="E1E1E1"/>
                </a:solidFill>
              </a:rPr>
              <a:t>Read</a:t>
            </a:r>
          </a:p>
        </p:txBody>
      </p:sp>
      <p:sp>
        <p:nvSpPr>
          <p:cNvPr id="34" name="TextBox 33">
            <a:extLst>
              <a:ext uri="{FF2B5EF4-FFF2-40B4-BE49-F238E27FC236}">
                <a16:creationId xmlns:a16="http://schemas.microsoft.com/office/drawing/2014/main" id="{3312CE7A-2A97-5EDC-5DB5-729DAD3351D5}"/>
              </a:ext>
            </a:extLst>
          </p:cNvPr>
          <p:cNvSpPr txBox="1"/>
          <p:nvPr/>
        </p:nvSpPr>
        <p:spPr>
          <a:xfrm>
            <a:off x="6129630" y="2105765"/>
            <a:ext cx="1037054" cy="400110"/>
          </a:xfrm>
          <a:prstGeom prst="rect">
            <a:avLst/>
          </a:prstGeom>
          <a:noFill/>
        </p:spPr>
        <p:txBody>
          <a:bodyPr wrap="square" rtlCol="0">
            <a:spAutoFit/>
          </a:bodyPr>
          <a:lstStyle/>
          <a:p>
            <a:pPr algn="ctr"/>
            <a:r>
              <a:rPr lang="en-US" sz="1000" dirty="0">
                <a:solidFill>
                  <a:srgbClr val="E1E1E1"/>
                </a:solidFill>
              </a:rPr>
              <a:t>Job Acknowledged</a:t>
            </a:r>
          </a:p>
        </p:txBody>
      </p:sp>
      <p:cxnSp>
        <p:nvCxnSpPr>
          <p:cNvPr id="41" name="Straight Connector 40">
            <a:extLst>
              <a:ext uri="{FF2B5EF4-FFF2-40B4-BE49-F238E27FC236}">
                <a16:creationId xmlns:a16="http://schemas.microsoft.com/office/drawing/2014/main" id="{2E105195-81CA-AD5F-CA68-84721339A6C3}"/>
              </a:ext>
            </a:extLst>
          </p:cNvPr>
          <p:cNvCxnSpPr>
            <a:cxnSpLocks/>
          </p:cNvCxnSpPr>
          <p:nvPr/>
        </p:nvCxnSpPr>
        <p:spPr>
          <a:xfrm>
            <a:off x="11391357" y="2585825"/>
            <a:ext cx="0" cy="2327883"/>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DDF9122C-13C5-D60F-C49E-C7457FD24B5E}"/>
              </a:ext>
            </a:extLst>
          </p:cNvPr>
          <p:cNvCxnSpPr>
            <a:cxnSpLocks/>
          </p:cNvCxnSpPr>
          <p:nvPr/>
        </p:nvCxnSpPr>
        <p:spPr>
          <a:xfrm>
            <a:off x="11391357" y="2585825"/>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59E02460-4719-50C8-EFDB-B91E7D968F16}"/>
              </a:ext>
            </a:extLst>
          </p:cNvPr>
          <p:cNvCxnSpPr>
            <a:cxnSpLocks/>
          </p:cNvCxnSpPr>
          <p:nvPr/>
        </p:nvCxnSpPr>
        <p:spPr>
          <a:xfrm>
            <a:off x="11391357" y="2625072"/>
            <a:ext cx="0" cy="2327883"/>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sp>
        <p:nvSpPr>
          <p:cNvPr id="45" name="Rectangle: Rounded Corners 44">
            <a:extLst>
              <a:ext uri="{FF2B5EF4-FFF2-40B4-BE49-F238E27FC236}">
                <a16:creationId xmlns:a16="http://schemas.microsoft.com/office/drawing/2014/main" id="{7AC4B112-D211-AAEE-33AF-470552157EE4}"/>
              </a:ext>
            </a:extLst>
          </p:cNvPr>
          <p:cNvSpPr/>
          <p:nvPr/>
        </p:nvSpPr>
        <p:spPr>
          <a:xfrm>
            <a:off x="3031449" y="5377380"/>
            <a:ext cx="5904873" cy="421811"/>
          </a:xfrm>
          <a:prstGeom prst="roundRect">
            <a:avLst>
              <a:gd name="adj" fmla="val 27474"/>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rgbClr val="1E3147"/>
                </a:solidFill>
              </a:rPr>
              <a:t>|</a:t>
            </a:r>
          </a:p>
        </p:txBody>
      </p:sp>
      <p:sp>
        <p:nvSpPr>
          <p:cNvPr id="46" name="Rectangle: Rounded Corners 45">
            <a:extLst>
              <a:ext uri="{FF2B5EF4-FFF2-40B4-BE49-F238E27FC236}">
                <a16:creationId xmlns:a16="http://schemas.microsoft.com/office/drawing/2014/main" id="{173FD008-59BD-786A-2A96-CDB1402AA5FB}"/>
              </a:ext>
            </a:extLst>
          </p:cNvPr>
          <p:cNvSpPr/>
          <p:nvPr/>
        </p:nvSpPr>
        <p:spPr>
          <a:xfrm>
            <a:off x="522553" y="5375748"/>
            <a:ext cx="1132255" cy="421811"/>
          </a:xfrm>
          <a:prstGeom prst="roundRect">
            <a:avLst>
              <a:gd name="adj" fmla="val 27474"/>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1E3147"/>
                </a:solidFill>
              </a:rPr>
              <a:t>Message Orchestrator</a:t>
            </a:r>
          </a:p>
        </p:txBody>
      </p:sp>
      <p:sp>
        <p:nvSpPr>
          <p:cNvPr id="47" name="Rectangle: Rounded Corners 46">
            <a:extLst>
              <a:ext uri="{FF2B5EF4-FFF2-40B4-BE49-F238E27FC236}">
                <a16:creationId xmlns:a16="http://schemas.microsoft.com/office/drawing/2014/main" id="{460419F6-B928-C8F8-5E42-F655DA7F4251}"/>
              </a:ext>
            </a:extLst>
          </p:cNvPr>
          <p:cNvSpPr/>
          <p:nvPr/>
        </p:nvSpPr>
        <p:spPr>
          <a:xfrm>
            <a:off x="1753756" y="5378268"/>
            <a:ext cx="1178745" cy="421811"/>
          </a:xfrm>
          <a:prstGeom prst="roundRect">
            <a:avLst>
              <a:gd name="adj" fmla="val 27474"/>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1E3147"/>
                </a:solidFill>
              </a:rPr>
              <a:t>Broadcast</a:t>
            </a:r>
          </a:p>
        </p:txBody>
      </p:sp>
      <p:sp>
        <p:nvSpPr>
          <p:cNvPr id="50" name="Oval 49">
            <a:extLst>
              <a:ext uri="{FF2B5EF4-FFF2-40B4-BE49-F238E27FC236}">
                <a16:creationId xmlns:a16="http://schemas.microsoft.com/office/drawing/2014/main" id="{5A02C716-21A9-8923-1F8B-BBA4A29E7960}"/>
              </a:ext>
            </a:extLst>
          </p:cNvPr>
          <p:cNvSpPr/>
          <p:nvPr/>
        </p:nvSpPr>
        <p:spPr>
          <a:xfrm>
            <a:off x="8997072" y="5441706"/>
            <a:ext cx="293929" cy="306770"/>
          </a:xfrm>
          <a:prstGeom prst="ellipse">
            <a:avLst/>
          </a:prstGeom>
          <a:solidFill>
            <a:srgbClr val="0E1C2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 name="Graphic 48" descr="Play with solid fill">
            <a:extLst>
              <a:ext uri="{FF2B5EF4-FFF2-40B4-BE49-F238E27FC236}">
                <a16:creationId xmlns:a16="http://schemas.microsoft.com/office/drawing/2014/main" id="{64F8DE4A-021C-DD19-AA27-E3F495A5864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073173" y="5507713"/>
            <a:ext cx="174755" cy="174755"/>
          </a:xfrm>
          <a:prstGeom prst="rect">
            <a:avLst/>
          </a:prstGeom>
        </p:spPr>
      </p:pic>
      <p:sp>
        <p:nvSpPr>
          <p:cNvPr id="53" name="TextBox 52">
            <a:extLst>
              <a:ext uri="{FF2B5EF4-FFF2-40B4-BE49-F238E27FC236}">
                <a16:creationId xmlns:a16="http://schemas.microsoft.com/office/drawing/2014/main" id="{BA1F5CCD-3A5A-9209-8FF0-992F49D1CE64}"/>
              </a:ext>
            </a:extLst>
          </p:cNvPr>
          <p:cNvSpPr txBox="1"/>
          <p:nvPr/>
        </p:nvSpPr>
        <p:spPr>
          <a:xfrm>
            <a:off x="39778" y="47732"/>
            <a:ext cx="4298613" cy="369332"/>
          </a:xfrm>
          <a:prstGeom prst="rect">
            <a:avLst/>
          </a:prstGeom>
          <a:noFill/>
        </p:spPr>
        <p:txBody>
          <a:bodyPr wrap="none" rtlCol="0">
            <a:spAutoFit/>
          </a:bodyPr>
          <a:lstStyle/>
          <a:p>
            <a:r>
              <a:rPr lang="en-US" dirty="0">
                <a:solidFill>
                  <a:schemeClr val="accent5">
                    <a:lumMod val="60000"/>
                    <a:lumOff val="40000"/>
                  </a:schemeClr>
                </a:solidFill>
              </a:rPr>
              <a:t>SLIDE 1c – Implementation Tab. Elements</a:t>
            </a:r>
          </a:p>
        </p:txBody>
      </p:sp>
      <p:sp>
        <p:nvSpPr>
          <p:cNvPr id="7" name="TextBox 6">
            <a:extLst>
              <a:ext uri="{FF2B5EF4-FFF2-40B4-BE49-F238E27FC236}">
                <a16:creationId xmlns:a16="http://schemas.microsoft.com/office/drawing/2014/main" id="{0F6A290B-85DF-8961-EC6F-A0F2AD7AC5C8}"/>
              </a:ext>
            </a:extLst>
          </p:cNvPr>
          <p:cNvSpPr txBox="1"/>
          <p:nvPr/>
        </p:nvSpPr>
        <p:spPr>
          <a:xfrm>
            <a:off x="4830266" y="474650"/>
            <a:ext cx="6123023" cy="369332"/>
          </a:xfrm>
          <a:prstGeom prst="rect">
            <a:avLst/>
          </a:prstGeom>
          <a:noFill/>
          <a:ln>
            <a:solidFill>
              <a:schemeClr val="accent5">
                <a:lumMod val="60000"/>
                <a:lumOff val="40000"/>
              </a:schemeClr>
            </a:solidFill>
          </a:ln>
        </p:spPr>
        <p:txBody>
          <a:bodyPr wrap="none" rtlCol="0">
            <a:spAutoFit/>
          </a:bodyPr>
          <a:lstStyle/>
          <a:p>
            <a:r>
              <a:rPr lang="en-US" dirty="0">
                <a:solidFill>
                  <a:schemeClr val="accent5">
                    <a:lumMod val="60000"/>
                    <a:lumOff val="40000"/>
                  </a:schemeClr>
                </a:solidFill>
              </a:rPr>
              <a:t>Navigation is enabled between tabs note faded ‘Launch Tab’</a:t>
            </a:r>
          </a:p>
        </p:txBody>
      </p:sp>
      <p:cxnSp>
        <p:nvCxnSpPr>
          <p:cNvPr id="10" name="Straight Arrow Connector 9">
            <a:extLst>
              <a:ext uri="{FF2B5EF4-FFF2-40B4-BE49-F238E27FC236}">
                <a16:creationId xmlns:a16="http://schemas.microsoft.com/office/drawing/2014/main" id="{F6B7D493-4A3D-DA90-05DE-0B4D79872316}"/>
              </a:ext>
            </a:extLst>
          </p:cNvPr>
          <p:cNvCxnSpPr/>
          <p:nvPr/>
        </p:nvCxnSpPr>
        <p:spPr>
          <a:xfrm flipH="1">
            <a:off x="3545918" y="858559"/>
            <a:ext cx="1451871" cy="565392"/>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2" name="Straight Arrow Connector 11">
            <a:extLst>
              <a:ext uri="{FF2B5EF4-FFF2-40B4-BE49-F238E27FC236}">
                <a16:creationId xmlns:a16="http://schemas.microsoft.com/office/drawing/2014/main" id="{34702266-F78E-FC68-A4B3-8B40E6851400}"/>
              </a:ext>
            </a:extLst>
          </p:cNvPr>
          <p:cNvCxnSpPr>
            <a:stCxn id="7" idx="1"/>
          </p:cNvCxnSpPr>
          <p:nvPr/>
        </p:nvCxnSpPr>
        <p:spPr>
          <a:xfrm flipH="1">
            <a:off x="1535634" y="659316"/>
            <a:ext cx="3294632" cy="682976"/>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21" name="Rectangle 20">
            <a:extLst>
              <a:ext uri="{FF2B5EF4-FFF2-40B4-BE49-F238E27FC236}">
                <a16:creationId xmlns:a16="http://schemas.microsoft.com/office/drawing/2014/main" id="{B0743E6C-FF5F-BD4D-08B5-298870C383FB}"/>
              </a:ext>
            </a:extLst>
          </p:cNvPr>
          <p:cNvSpPr/>
          <p:nvPr/>
        </p:nvSpPr>
        <p:spPr>
          <a:xfrm>
            <a:off x="5528017" y="960905"/>
            <a:ext cx="5128349" cy="562508"/>
          </a:xfrm>
          <a:prstGeom prst="rect">
            <a:avLst/>
          </a:prstGeom>
          <a:no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5">
                    <a:lumMod val="60000"/>
                    <a:lumOff val="40000"/>
                  </a:schemeClr>
                </a:solidFill>
              </a:rPr>
              <a:t>This is the view if navigated before ‘stage project’ is executed</a:t>
            </a:r>
          </a:p>
        </p:txBody>
      </p:sp>
      <p:pic>
        <p:nvPicPr>
          <p:cNvPr id="22" name="Graphic 21">
            <a:extLst>
              <a:ext uri="{FF2B5EF4-FFF2-40B4-BE49-F238E27FC236}">
                <a16:creationId xmlns:a16="http://schemas.microsoft.com/office/drawing/2014/main" id="{5AD68B4C-B74C-E8C2-08FE-4634F3149EC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937907" y="2650718"/>
            <a:ext cx="1632316" cy="1632316"/>
          </a:xfrm>
          <a:prstGeom prst="rect">
            <a:avLst/>
          </a:prstGeom>
        </p:spPr>
      </p:pic>
      <p:sp>
        <p:nvSpPr>
          <p:cNvPr id="35" name="TextBox 34">
            <a:extLst>
              <a:ext uri="{FF2B5EF4-FFF2-40B4-BE49-F238E27FC236}">
                <a16:creationId xmlns:a16="http://schemas.microsoft.com/office/drawing/2014/main" id="{895D03AC-CB19-8C8E-9058-673F3EDE3E39}"/>
              </a:ext>
            </a:extLst>
          </p:cNvPr>
          <p:cNvSpPr txBox="1"/>
          <p:nvPr/>
        </p:nvSpPr>
        <p:spPr>
          <a:xfrm>
            <a:off x="4600184" y="4214056"/>
            <a:ext cx="2694392" cy="369332"/>
          </a:xfrm>
          <a:prstGeom prst="rect">
            <a:avLst/>
          </a:prstGeom>
          <a:noFill/>
        </p:spPr>
        <p:txBody>
          <a:bodyPr wrap="none" rtlCol="0">
            <a:spAutoFit/>
          </a:bodyPr>
          <a:lstStyle/>
          <a:p>
            <a:r>
              <a:rPr lang="en-US" dirty="0">
                <a:solidFill>
                  <a:srgbClr val="E1E1E1"/>
                </a:solidFill>
              </a:rPr>
              <a:t>Please Stage Project First</a:t>
            </a:r>
          </a:p>
        </p:txBody>
      </p:sp>
      <p:sp>
        <p:nvSpPr>
          <p:cNvPr id="48" name="Rectangle 47">
            <a:extLst>
              <a:ext uri="{FF2B5EF4-FFF2-40B4-BE49-F238E27FC236}">
                <a16:creationId xmlns:a16="http://schemas.microsoft.com/office/drawing/2014/main" id="{3BE1BD40-C75E-C1F4-6F09-2375DEBC677C}"/>
              </a:ext>
            </a:extLst>
          </p:cNvPr>
          <p:cNvSpPr/>
          <p:nvPr/>
        </p:nvSpPr>
        <p:spPr>
          <a:xfrm>
            <a:off x="2050250" y="6121594"/>
            <a:ext cx="3840999" cy="586117"/>
          </a:xfrm>
          <a:prstGeom prst="rect">
            <a:avLst/>
          </a:prstGeom>
          <a:no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5">
                    <a:lumMod val="60000"/>
                    <a:lumOff val="40000"/>
                  </a:schemeClr>
                </a:solidFill>
              </a:rPr>
              <a:t>Inactive elements, note inactive color</a:t>
            </a:r>
          </a:p>
        </p:txBody>
      </p:sp>
      <p:cxnSp>
        <p:nvCxnSpPr>
          <p:cNvPr id="54" name="Connector: Elbow 53">
            <a:extLst>
              <a:ext uri="{FF2B5EF4-FFF2-40B4-BE49-F238E27FC236}">
                <a16:creationId xmlns:a16="http://schemas.microsoft.com/office/drawing/2014/main" id="{753731CB-E867-6A0B-5511-D634BA74D85D}"/>
              </a:ext>
            </a:extLst>
          </p:cNvPr>
          <p:cNvCxnSpPr>
            <a:stCxn id="48" idx="3"/>
            <a:endCxn id="50" idx="4"/>
          </p:cNvCxnSpPr>
          <p:nvPr/>
        </p:nvCxnSpPr>
        <p:spPr>
          <a:xfrm flipV="1">
            <a:off x="5891249" y="5748476"/>
            <a:ext cx="3252788" cy="666177"/>
          </a:xfrm>
          <a:prstGeom prst="bentConnector2">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56" name="Straight Arrow Connector 55">
            <a:extLst>
              <a:ext uri="{FF2B5EF4-FFF2-40B4-BE49-F238E27FC236}">
                <a16:creationId xmlns:a16="http://schemas.microsoft.com/office/drawing/2014/main" id="{EE6AABD4-C774-A57A-7796-9906F273B149}"/>
              </a:ext>
            </a:extLst>
          </p:cNvPr>
          <p:cNvCxnSpPr>
            <a:stCxn id="48" idx="0"/>
          </p:cNvCxnSpPr>
          <p:nvPr/>
        </p:nvCxnSpPr>
        <p:spPr>
          <a:xfrm flipH="1" flipV="1">
            <a:off x="3343493" y="5682468"/>
            <a:ext cx="627257" cy="439126"/>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57" name="Straight Arrow Connector 56">
            <a:extLst>
              <a:ext uri="{FF2B5EF4-FFF2-40B4-BE49-F238E27FC236}">
                <a16:creationId xmlns:a16="http://schemas.microsoft.com/office/drawing/2014/main" id="{A658063B-FCBF-4BDF-842A-8BE2E3456532}"/>
              </a:ext>
            </a:extLst>
          </p:cNvPr>
          <p:cNvCxnSpPr>
            <a:cxnSpLocks/>
            <a:endCxn id="47" idx="2"/>
          </p:cNvCxnSpPr>
          <p:nvPr/>
        </p:nvCxnSpPr>
        <p:spPr>
          <a:xfrm flipH="1" flipV="1">
            <a:off x="2343129" y="5800079"/>
            <a:ext cx="1098850" cy="304200"/>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60" name="Straight Arrow Connector 59">
            <a:extLst>
              <a:ext uri="{FF2B5EF4-FFF2-40B4-BE49-F238E27FC236}">
                <a16:creationId xmlns:a16="http://schemas.microsoft.com/office/drawing/2014/main" id="{5902D3EE-B659-EC5F-E8AC-F657A9F7ACA8}"/>
              </a:ext>
            </a:extLst>
          </p:cNvPr>
          <p:cNvCxnSpPr>
            <a:cxnSpLocks/>
            <a:endCxn id="46" idx="2"/>
          </p:cNvCxnSpPr>
          <p:nvPr/>
        </p:nvCxnSpPr>
        <p:spPr>
          <a:xfrm flipH="1" flipV="1">
            <a:off x="1088681" y="5797559"/>
            <a:ext cx="1254448" cy="321515"/>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66" name="Connector: Elbow 65">
            <a:extLst>
              <a:ext uri="{FF2B5EF4-FFF2-40B4-BE49-F238E27FC236}">
                <a16:creationId xmlns:a16="http://schemas.microsoft.com/office/drawing/2014/main" id="{F5FDD559-4E74-AD67-1ECC-87936CE05EC9}"/>
              </a:ext>
            </a:extLst>
          </p:cNvPr>
          <p:cNvCxnSpPr>
            <a:cxnSpLocks/>
            <a:stCxn id="48" idx="1"/>
            <a:endCxn id="78" idx="1"/>
          </p:cNvCxnSpPr>
          <p:nvPr/>
        </p:nvCxnSpPr>
        <p:spPr>
          <a:xfrm rot="10800000">
            <a:off x="662150" y="1961201"/>
            <a:ext cx="1388101" cy="4453453"/>
          </a:xfrm>
          <a:prstGeom prst="bentConnector3">
            <a:avLst>
              <a:gd name="adj1" fmla="val 138092"/>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71" name="Connector: Elbow 70">
            <a:extLst>
              <a:ext uri="{FF2B5EF4-FFF2-40B4-BE49-F238E27FC236}">
                <a16:creationId xmlns:a16="http://schemas.microsoft.com/office/drawing/2014/main" id="{BF21A324-6677-E9F9-1399-9766775C06EF}"/>
              </a:ext>
            </a:extLst>
          </p:cNvPr>
          <p:cNvCxnSpPr>
            <a:cxnSpLocks/>
          </p:cNvCxnSpPr>
          <p:nvPr/>
        </p:nvCxnSpPr>
        <p:spPr>
          <a:xfrm rot="16200000" flipH="1">
            <a:off x="569388" y="3717764"/>
            <a:ext cx="3929095" cy="873528"/>
          </a:xfrm>
          <a:prstGeom prst="bentConnector3">
            <a:avLst>
              <a:gd name="adj1" fmla="val 50000"/>
            </a:avLst>
          </a:prstGeom>
          <a:ln>
            <a:headEnd type="triangle"/>
            <a:tailEnd type="none"/>
          </a:ln>
        </p:spPr>
        <p:style>
          <a:lnRef idx="2">
            <a:schemeClr val="accent5"/>
          </a:lnRef>
          <a:fillRef idx="0">
            <a:schemeClr val="accent5"/>
          </a:fillRef>
          <a:effectRef idx="1">
            <a:schemeClr val="accent5"/>
          </a:effectRef>
          <a:fontRef idx="minor">
            <a:schemeClr val="tx1"/>
          </a:fontRef>
        </p:style>
      </p:cxnSp>
    </p:spTree>
    <p:extLst>
      <p:ext uri="{BB962C8B-B14F-4D97-AF65-F5344CB8AC3E}">
        <p14:creationId xmlns:p14="http://schemas.microsoft.com/office/powerpoint/2010/main" val="20418844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E1C2D"/>
        </a:solidFill>
        <a:effectLst/>
      </p:bgPr>
    </p:bg>
    <p:spTree>
      <p:nvGrpSpPr>
        <p:cNvPr id="1" name="">
          <a:extLst>
            <a:ext uri="{FF2B5EF4-FFF2-40B4-BE49-F238E27FC236}">
              <a16:creationId xmlns:a16="http://schemas.microsoft.com/office/drawing/2014/main" id="{AA57265D-D6C2-C24A-10F6-C69F2DD55183}"/>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C0ACF8C1-A108-752D-979B-E5CEDD31F579}"/>
              </a:ext>
            </a:extLst>
          </p:cNvPr>
          <p:cNvSpPr/>
          <p:nvPr/>
        </p:nvSpPr>
        <p:spPr>
          <a:xfrm>
            <a:off x="1308100" y="1354149"/>
            <a:ext cx="2174995" cy="505137"/>
          </a:xfrm>
          <a:prstGeom prst="roundRect">
            <a:avLst>
              <a:gd name="adj" fmla="val 35041"/>
            </a:avLst>
          </a:prstGeom>
          <a:no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A4FC0435-7CF8-AEFF-98B9-BEB3EBC974C6}"/>
              </a:ext>
            </a:extLst>
          </p:cNvPr>
          <p:cNvSpPr txBox="1"/>
          <p:nvPr/>
        </p:nvSpPr>
        <p:spPr>
          <a:xfrm>
            <a:off x="516531" y="677075"/>
            <a:ext cx="2514919" cy="553998"/>
          </a:xfrm>
          <a:prstGeom prst="rect">
            <a:avLst/>
          </a:prstGeom>
          <a:noFill/>
        </p:spPr>
        <p:txBody>
          <a:bodyPr wrap="none" rtlCol="0">
            <a:spAutoFit/>
          </a:bodyPr>
          <a:lstStyle/>
          <a:p>
            <a:r>
              <a:rPr lang="en-US" dirty="0">
                <a:solidFill>
                  <a:srgbClr val="E1E1E1"/>
                </a:solidFill>
              </a:rPr>
              <a:t>Project: </a:t>
            </a:r>
            <a:r>
              <a:rPr lang="en-US" dirty="0">
                <a:solidFill>
                  <a:srgbClr val="FFC300"/>
                </a:solidFill>
              </a:rPr>
              <a:t>{</a:t>
            </a:r>
            <a:r>
              <a:rPr lang="en-US" dirty="0" err="1">
                <a:solidFill>
                  <a:srgbClr val="FFC300"/>
                </a:solidFill>
              </a:rPr>
              <a:t>project_name</a:t>
            </a:r>
            <a:r>
              <a:rPr lang="en-US" dirty="0">
                <a:solidFill>
                  <a:srgbClr val="FFC300"/>
                </a:solidFill>
              </a:rPr>
              <a:t>}</a:t>
            </a:r>
          </a:p>
          <a:p>
            <a:r>
              <a:rPr lang="en-US" sz="1200" dirty="0">
                <a:solidFill>
                  <a:srgbClr val="8F97B7"/>
                </a:solidFill>
              </a:rPr>
              <a:t>Project ID: {</a:t>
            </a:r>
            <a:r>
              <a:rPr lang="en-US" sz="1200" dirty="0" err="1">
                <a:solidFill>
                  <a:srgbClr val="8F97B7"/>
                </a:solidFill>
              </a:rPr>
              <a:t>full_UUID</a:t>
            </a:r>
            <a:r>
              <a:rPr lang="en-US" sz="1200" dirty="0">
                <a:solidFill>
                  <a:srgbClr val="8F97B7"/>
                </a:solidFill>
              </a:rPr>
              <a:t>}</a:t>
            </a:r>
          </a:p>
        </p:txBody>
      </p:sp>
      <p:sp>
        <p:nvSpPr>
          <p:cNvPr id="3" name="Rectangle: Rounded Corners 2">
            <a:extLst>
              <a:ext uri="{FF2B5EF4-FFF2-40B4-BE49-F238E27FC236}">
                <a16:creationId xmlns:a16="http://schemas.microsoft.com/office/drawing/2014/main" id="{394D5CD7-D702-001F-81FD-09410C5BA4FA}"/>
              </a:ext>
            </a:extLst>
          </p:cNvPr>
          <p:cNvSpPr/>
          <p:nvPr/>
        </p:nvSpPr>
        <p:spPr>
          <a:xfrm>
            <a:off x="503405" y="1354150"/>
            <a:ext cx="1212683" cy="969932"/>
          </a:xfrm>
          <a:prstGeom prst="roundRect">
            <a:avLst>
              <a:gd name="adj" fmla="val 17766"/>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8E90507-BAA2-54D3-83A0-60690C2631D7}"/>
              </a:ext>
            </a:extLst>
          </p:cNvPr>
          <p:cNvSpPr txBox="1"/>
          <p:nvPr/>
        </p:nvSpPr>
        <p:spPr>
          <a:xfrm>
            <a:off x="658965" y="1326537"/>
            <a:ext cx="929678" cy="369332"/>
          </a:xfrm>
          <a:prstGeom prst="rect">
            <a:avLst/>
          </a:prstGeom>
          <a:noFill/>
        </p:spPr>
        <p:txBody>
          <a:bodyPr wrap="none" rtlCol="0">
            <a:spAutoFit/>
          </a:bodyPr>
          <a:lstStyle/>
          <a:p>
            <a:r>
              <a:rPr lang="en-US" dirty="0">
                <a:solidFill>
                  <a:srgbClr val="E1E1E1"/>
                </a:solidFill>
              </a:rPr>
              <a:t>Launch</a:t>
            </a:r>
          </a:p>
        </p:txBody>
      </p:sp>
      <p:sp>
        <p:nvSpPr>
          <p:cNvPr id="6" name="Rectangle: Rounded Corners 5">
            <a:extLst>
              <a:ext uri="{FF2B5EF4-FFF2-40B4-BE49-F238E27FC236}">
                <a16:creationId xmlns:a16="http://schemas.microsoft.com/office/drawing/2014/main" id="{08F78AC8-2C95-095F-FFD6-489FD4D372E9}"/>
              </a:ext>
            </a:extLst>
          </p:cNvPr>
          <p:cNvSpPr/>
          <p:nvPr/>
        </p:nvSpPr>
        <p:spPr>
          <a:xfrm>
            <a:off x="503403" y="1668256"/>
            <a:ext cx="11185191" cy="4565020"/>
          </a:xfrm>
          <a:prstGeom prst="roundRect">
            <a:avLst>
              <a:gd name="adj" fmla="val 5962"/>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49353BED-BB3F-B1EB-1D4A-E06771C79C0A}"/>
              </a:ext>
            </a:extLst>
          </p:cNvPr>
          <p:cNvSpPr/>
          <p:nvPr/>
        </p:nvSpPr>
        <p:spPr>
          <a:xfrm>
            <a:off x="512825" y="1626758"/>
            <a:ext cx="1192150" cy="287650"/>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44408970-FA69-29AA-773D-C1D23A8CD158}"/>
              </a:ext>
            </a:extLst>
          </p:cNvPr>
          <p:cNvSpPr/>
          <p:nvPr/>
        </p:nvSpPr>
        <p:spPr>
          <a:xfrm>
            <a:off x="818741" y="1818947"/>
            <a:ext cx="1198523" cy="286492"/>
          </a:xfrm>
          <a:prstGeom prst="roundRect">
            <a:avLst>
              <a:gd name="adj" fmla="val 32223"/>
            </a:avLst>
          </a:prstGeom>
          <a:noFill/>
          <a:ln>
            <a:solidFill>
              <a:srgbClr val="FFC3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Stage project</a:t>
            </a:r>
          </a:p>
        </p:txBody>
      </p:sp>
      <p:sp>
        <p:nvSpPr>
          <p:cNvPr id="8" name="Rectangle: Rounded Corners 7">
            <a:extLst>
              <a:ext uri="{FF2B5EF4-FFF2-40B4-BE49-F238E27FC236}">
                <a16:creationId xmlns:a16="http://schemas.microsoft.com/office/drawing/2014/main" id="{D698AD52-D033-10D4-3A08-B5A55D20FFA8}"/>
              </a:ext>
            </a:extLst>
          </p:cNvPr>
          <p:cNvSpPr/>
          <p:nvPr/>
        </p:nvSpPr>
        <p:spPr>
          <a:xfrm>
            <a:off x="658964" y="2296470"/>
            <a:ext cx="3301961" cy="3818144"/>
          </a:xfrm>
          <a:prstGeom prst="roundRect">
            <a:avLst>
              <a:gd name="adj" fmla="val 8358"/>
            </a:avLst>
          </a:prstGeom>
          <a:solidFill>
            <a:srgbClr val="0E1C2D"/>
          </a:solid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B46E30A-4459-A9EE-BD5B-27322CBD130E}"/>
              </a:ext>
            </a:extLst>
          </p:cNvPr>
          <p:cNvSpPr/>
          <p:nvPr/>
        </p:nvSpPr>
        <p:spPr>
          <a:xfrm>
            <a:off x="818740" y="2195310"/>
            <a:ext cx="1582854" cy="247432"/>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Project Description</a:t>
            </a:r>
          </a:p>
        </p:txBody>
      </p:sp>
      <p:sp>
        <p:nvSpPr>
          <p:cNvPr id="10" name="TextBox 9">
            <a:extLst>
              <a:ext uri="{FF2B5EF4-FFF2-40B4-BE49-F238E27FC236}">
                <a16:creationId xmlns:a16="http://schemas.microsoft.com/office/drawing/2014/main" id="{06C83547-3C9A-ECEB-02FD-37CA71F18747}"/>
              </a:ext>
            </a:extLst>
          </p:cNvPr>
          <p:cNvSpPr txBox="1"/>
          <p:nvPr/>
        </p:nvSpPr>
        <p:spPr>
          <a:xfrm>
            <a:off x="721581" y="2490502"/>
            <a:ext cx="2884531" cy="3166680"/>
          </a:xfrm>
          <a:prstGeom prst="rect">
            <a:avLst/>
          </a:prstGeom>
          <a:noFill/>
        </p:spPr>
        <p:txBody>
          <a:bodyPr wrap="square" rtlCol="0">
            <a:noAutofit/>
          </a:bodyPr>
          <a:lstStyle/>
          <a:p>
            <a:r>
              <a:rPr lang="en-US" sz="1000" dirty="0">
                <a:solidFill>
                  <a:srgbClr val="8F97B7"/>
                </a:solidFill>
              </a:rPr>
              <a:t>Lorem ipsum dolor sit </a:t>
            </a:r>
            <a:r>
              <a:rPr lang="en-US" sz="1000" dirty="0" err="1">
                <a:solidFill>
                  <a:srgbClr val="8F97B7"/>
                </a:solidFill>
              </a:rPr>
              <a:t>amet</a:t>
            </a:r>
            <a:r>
              <a:rPr lang="en-US" sz="1000" dirty="0">
                <a:solidFill>
                  <a:srgbClr val="8F97B7"/>
                </a:solidFill>
              </a:rPr>
              <a:t>, </a:t>
            </a:r>
            <a:r>
              <a:rPr lang="en-US" sz="1000" dirty="0" err="1">
                <a:solidFill>
                  <a:srgbClr val="8F97B7"/>
                </a:solidFill>
              </a:rPr>
              <a:t>consectetur</a:t>
            </a:r>
            <a:r>
              <a:rPr lang="en-US" sz="1000" dirty="0">
                <a:solidFill>
                  <a:srgbClr val="8F97B7"/>
                </a:solidFill>
              </a:rPr>
              <a:t> </a:t>
            </a:r>
            <a:r>
              <a:rPr lang="en-US" sz="1000" dirty="0" err="1">
                <a:solidFill>
                  <a:srgbClr val="8F97B7"/>
                </a:solidFill>
              </a:rPr>
              <a:t>adipiscing</a:t>
            </a:r>
            <a:r>
              <a:rPr lang="en-US" sz="1000" dirty="0">
                <a:solidFill>
                  <a:srgbClr val="8F97B7"/>
                </a:solidFill>
              </a:rPr>
              <a:t> </a:t>
            </a:r>
            <a:r>
              <a:rPr lang="en-US" sz="1000" dirty="0" err="1">
                <a:solidFill>
                  <a:srgbClr val="8F97B7"/>
                </a:solidFill>
              </a:rPr>
              <a:t>elit</a:t>
            </a:r>
            <a:r>
              <a:rPr lang="en-US" sz="1000" dirty="0">
                <a:solidFill>
                  <a:srgbClr val="8F97B7"/>
                </a:solidFill>
              </a:rPr>
              <a:t>. Nulla </a:t>
            </a:r>
            <a:r>
              <a:rPr lang="en-US" sz="1000" dirty="0" err="1">
                <a:solidFill>
                  <a:srgbClr val="8F97B7"/>
                </a:solidFill>
              </a:rPr>
              <a:t>tincidunt</a:t>
            </a:r>
            <a:r>
              <a:rPr lang="en-US" sz="1000" dirty="0">
                <a:solidFill>
                  <a:srgbClr val="8F97B7"/>
                </a:solidFill>
              </a:rPr>
              <a:t> </a:t>
            </a:r>
            <a:r>
              <a:rPr lang="en-US" sz="1000" dirty="0" err="1">
                <a:solidFill>
                  <a:srgbClr val="8F97B7"/>
                </a:solidFill>
              </a:rPr>
              <a:t>consequat</a:t>
            </a:r>
            <a:r>
              <a:rPr lang="en-US" sz="1000" dirty="0">
                <a:solidFill>
                  <a:srgbClr val="8F97B7"/>
                </a:solidFill>
              </a:rPr>
              <a:t> dolor. </a:t>
            </a:r>
            <a:r>
              <a:rPr lang="en-US" sz="1000" dirty="0" err="1">
                <a:solidFill>
                  <a:srgbClr val="8F97B7"/>
                </a:solidFill>
              </a:rPr>
              <a:t>Praesent</a:t>
            </a:r>
            <a:r>
              <a:rPr lang="en-US" sz="1000" dirty="0">
                <a:solidFill>
                  <a:srgbClr val="8F97B7"/>
                </a:solidFill>
              </a:rPr>
              <a:t> sed </a:t>
            </a:r>
            <a:r>
              <a:rPr lang="en-US" sz="1000" dirty="0" err="1">
                <a:solidFill>
                  <a:srgbClr val="8F97B7"/>
                </a:solidFill>
              </a:rPr>
              <a:t>tempor</a:t>
            </a:r>
            <a:r>
              <a:rPr lang="en-US" sz="1000" dirty="0">
                <a:solidFill>
                  <a:srgbClr val="8F97B7"/>
                </a:solidFill>
              </a:rPr>
              <a:t> </a:t>
            </a:r>
            <a:r>
              <a:rPr lang="en-US" sz="1000" dirty="0" err="1">
                <a:solidFill>
                  <a:srgbClr val="8F97B7"/>
                </a:solidFill>
              </a:rPr>
              <a:t>risus</a:t>
            </a:r>
            <a:r>
              <a:rPr lang="en-US" sz="1000" dirty="0">
                <a:solidFill>
                  <a:srgbClr val="8F97B7"/>
                </a:solidFill>
              </a:rPr>
              <a:t>, vitae convallis </a:t>
            </a:r>
            <a:r>
              <a:rPr lang="en-US" sz="1000" dirty="0" err="1">
                <a:solidFill>
                  <a:srgbClr val="8F97B7"/>
                </a:solidFill>
              </a:rPr>
              <a:t>sapien</a:t>
            </a:r>
            <a:r>
              <a:rPr lang="en-US" sz="1000" dirty="0">
                <a:solidFill>
                  <a:srgbClr val="8F97B7"/>
                </a:solidFill>
              </a:rPr>
              <a:t>. Aenean </a:t>
            </a:r>
            <a:r>
              <a:rPr lang="en-US" sz="1000" dirty="0" err="1">
                <a:solidFill>
                  <a:srgbClr val="8F97B7"/>
                </a:solidFill>
              </a:rPr>
              <a:t>accumsan</a:t>
            </a:r>
            <a:r>
              <a:rPr lang="en-US" sz="1000" dirty="0">
                <a:solidFill>
                  <a:srgbClr val="8F97B7"/>
                </a:solidFill>
              </a:rPr>
              <a:t> </a:t>
            </a:r>
            <a:r>
              <a:rPr lang="en-US" sz="1000" dirty="0" err="1">
                <a:solidFill>
                  <a:srgbClr val="8F97B7"/>
                </a:solidFill>
              </a:rPr>
              <a:t>quis</a:t>
            </a:r>
            <a:r>
              <a:rPr lang="en-US" sz="1000" dirty="0">
                <a:solidFill>
                  <a:srgbClr val="8F97B7"/>
                </a:solidFill>
              </a:rPr>
              <a:t> lorem vitae </a:t>
            </a:r>
            <a:r>
              <a:rPr lang="en-US" sz="1000" dirty="0" err="1">
                <a:solidFill>
                  <a:srgbClr val="8F97B7"/>
                </a:solidFill>
              </a:rPr>
              <a:t>eleifend</a:t>
            </a:r>
            <a:r>
              <a:rPr lang="en-US" sz="1000" dirty="0">
                <a:solidFill>
                  <a:srgbClr val="8F97B7"/>
                </a:solidFill>
              </a:rPr>
              <a:t>. Vestibulum </a:t>
            </a:r>
            <a:r>
              <a:rPr lang="en-US" sz="1000" dirty="0" err="1">
                <a:solidFill>
                  <a:srgbClr val="8F97B7"/>
                </a:solidFill>
              </a:rPr>
              <a:t>sagittis</a:t>
            </a:r>
            <a:r>
              <a:rPr lang="en-US" sz="1000" dirty="0">
                <a:solidFill>
                  <a:srgbClr val="8F97B7"/>
                </a:solidFill>
              </a:rPr>
              <a:t> ipsum nec </a:t>
            </a:r>
            <a:r>
              <a:rPr lang="en-US" sz="1000" dirty="0" err="1">
                <a:solidFill>
                  <a:srgbClr val="8F97B7"/>
                </a:solidFill>
              </a:rPr>
              <a:t>mauris</a:t>
            </a:r>
            <a:r>
              <a:rPr lang="en-US" sz="1000" dirty="0">
                <a:solidFill>
                  <a:srgbClr val="8F97B7"/>
                </a:solidFill>
              </a:rPr>
              <a:t> </a:t>
            </a:r>
            <a:r>
              <a:rPr lang="en-US" sz="1000" dirty="0" err="1">
                <a:solidFill>
                  <a:srgbClr val="8F97B7"/>
                </a:solidFill>
              </a:rPr>
              <a:t>consectetur</a:t>
            </a:r>
            <a:r>
              <a:rPr lang="en-US" sz="1000" dirty="0">
                <a:solidFill>
                  <a:srgbClr val="8F97B7"/>
                </a:solidFill>
              </a:rPr>
              <a:t>, </a:t>
            </a:r>
            <a:r>
              <a:rPr lang="en-US" sz="1000" dirty="0" err="1">
                <a:solidFill>
                  <a:srgbClr val="8F97B7"/>
                </a:solidFill>
              </a:rPr>
              <a:t>commodo</a:t>
            </a:r>
            <a:r>
              <a:rPr lang="en-US" sz="1000" dirty="0">
                <a:solidFill>
                  <a:srgbClr val="8F97B7"/>
                </a:solidFill>
              </a:rPr>
              <a:t> </a:t>
            </a:r>
            <a:r>
              <a:rPr lang="en-US" sz="1000" dirty="0" err="1">
                <a:solidFill>
                  <a:srgbClr val="8F97B7"/>
                </a:solidFill>
              </a:rPr>
              <a:t>posuere</a:t>
            </a:r>
            <a:r>
              <a:rPr lang="en-US" sz="1000" dirty="0">
                <a:solidFill>
                  <a:srgbClr val="8F97B7"/>
                </a:solidFill>
              </a:rPr>
              <a:t> libero </a:t>
            </a:r>
            <a:r>
              <a:rPr lang="en-US" sz="1000" dirty="0" err="1">
                <a:solidFill>
                  <a:srgbClr val="8F97B7"/>
                </a:solidFill>
              </a:rPr>
              <a:t>consectetur</a:t>
            </a:r>
            <a:r>
              <a:rPr lang="en-US" sz="1000" dirty="0">
                <a:solidFill>
                  <a:srgbClr val="8F97B7"/>
                </a:solidFill>
              </a:rPr>
              <a:t>. </a:t>
            </a:r>
          </a:p>
          <a:p>
            <a:endParaRPr lang="en-US" sz="1000" dirty="0">
              <a:solidFill>
                <a:srgbClr val="8F97B7"/>
              </a:solidFill>
            </a:endParaRPr>
          </a:p>
          <a:p>
            <a:r>
              <a:rPr lang="en-US" sz="1000" dirty="0">
                <a:solidFill>
                  <a:srgbClr val="8F97B7"/>
                </a:solidFill>
              </a:rPr>
              <a:t>Donec </a:t>
            </a:r>
            <a:r>
              <a:rPr lang="en-US" sz="1000" dirty="0" err="1">
                <a:solidFill>
                  <a:srgbClr val="8F97B7"/>
                </a:solidFill>
              </a:rPr>
              <a:t>eget</a:t>
            </a:r>
            <a:r>
              <a:rPr lang="en-US" sz="1000" dirty="0">
                <a:solidFill>
                  <a:srgbClr val="8F97B7"/>
                </a:solidFill>
              </a:rPr>
              <a:t> </a:t>
            </a:r>
            <a:r>
              <a:rPr lang="en-US" sz="1000" dirty="0" err="1">
                <a:solidFill>
                  <a:srgbClr val="8F97B7"/>
                </a:solidFill>
              </a:rPr>
              <a:t>tempor</a:t>
            </a:r>
            <a:r>
              <a:rPr lang="en-US" sz="1000" dirty="0">
                <a:solidFill>
                  <a:srgbClr val="8F97B7"/>
                </a:solidFill>
              </a:rPr>
              <a:t> </a:t>
            </a:r>
            <a:r>
              <a:rPr lang="en-US" sz="1000" dirty="0" err="1">
                <a:solidFill>
                  <a:srgbClr val="8F97B7"/>
                </a:solidFill>
              </a:rPr>
              <a:t>nibh</a:t>
            </a:r>
            <a:r>
              <a:rPr lang="en-US" sz="1000" dirty="0">
                <a:solidFill>
                  <a:srgbClr val="8F97B7"/>
                </a:solidFill>
              </a:rPr>
              <a:t>. </a:t>
            </a:r>
            <a:r>
              <a:rPr lang="en-US" sz="1000" dirty="0" err="1">
                <a:solidFill>
                  <a:srgbClr val="8F97B7"/>
                </a:solidFill>
              </a:rPr>
              <a:t>Fusce</a:t>
            </a:r>
            <a:r>
              <a:rPr lang="en-US" sz="1000" dirty="0">
                <a:solidFill>
                  <a:srgbClr val="8F97B7"/>
                </a:solidFill>
              </a:rPr>
              <a:t> </a:t>
            </a:r>
            <a:r>
              <a:rPr lang="en-US" sz="1000" dirty="0" err="1">
                <a:solidFill>
                  <a:srgbClr val="8F97B7"/>
                </a:solidFill>
              </a:rPr>
              <a:t>vehicula</a:t>
            </a:r>
            <a:r>
              <a:rPr lang="en-US" sz="1000" dirty="0">
                <a:solidFill>
                  <a:srgbClr val="8F97B7"/>
                </a:solidFill>
              </a:rPr>
              <a:t> </a:t>
            </a:r>
            <a:r>
              <a:rPr lang="en-US" sz="1000" dirty="0" err="1">
                <a:solidFill>
                  <a:srgbClr val="8F97B7"/>
                </a:solidFill>
              </a:rPr>
              <a:t>ultrices</a:t>
            </a:r>
            <a:r>
              <a:rPr lang="en-US" sz="1000" dirty="0">
                <a:solidFill>
                  <a:srgbClr val="8F97B7"/>
                </a:solidFill>
              </a:rPr>
              <a:t> </a:t>
            </a:r>
            <a:r>
              <a:rPr lang="en-US" sz="1000" dirty="0" err="1">
                <a:solidFill>
                  <a:srgbClr val="8F97B7"/>
                </a:solidFill>
              </a:rPr>
              <a:t>vehicula</a:t>
            </a:r>
            <a:r>
              <a:rPr lang="en-US" sz="1000" dirty="0">
                <a:solidFill>
                  <a:srgbClr val="8F97B7"/>
                </a:solidFill>
              </a:rPr>
              <a:t>. Donec </a:t>
            </a:r>
            <a:r>
              <a:rPr lang="en-US" sz="1000" dirty="0" err="1">
                <a:solidFill>
                  <a:srgbClr val="8F97B7"/>
                </a:solidFill>
              </a:rPr>
              <a:t>consequat</a:t>
            </a:r>
            <a:r>
              <a:rPr lang="en-US" sz="1000" dirty="0">
                <a:solidFill>
                  <a:srgbClr val="8F97B7"/>
                </a:solidFill>
              </a:rPr>
              <a:t>, </a:t>
            </a:r>
            <a:r>
              <a:rPr lang="en-US" sz="1000" dirty="0" err="1">
                <a:solidFill>
                  <a:srgbClr val="8F97B7"/>
                </a:solidFill>
              </a:rPr>
              <a:t>purus</a:t>
            </a:r>
            <a:r>
              <a:rPr lang="en-US" sz="1000" dirty="0">
                <a:solidFill>
                  <a:srgbClr val="8F97B7"/>
                </a:solidFill>
              </a:rPr>
              <a:t> vitae </a:t>
            </a:r>
            <a:r>
              <a:rPr lang="en-US" sz="1000" dirty="0" err="1">
                <a:solidFill>
                  <a:srgbClr val="8F97B7"/>
                </a:solidFill>
              </a:rPr>
              <a:t>vehicula</a:t>
            </a:r>
            <a:r>
              <a:rPr lang="en-US" sz="1000" dirty="0">
                <a:solidFill>
                  <a:srgbClr val="8F97B7"/>
                </a:solidFill>
              </a:rPr>
              <a:t> </a:t>
            </a:r>
            <a:r>
              <a:rPr lang="en-US" sz="1000" dirty="0" err="1">
                <a:solidFill>
                  <a:srgbClr val="8F97B7"/>
                </a:solidFill>
              </a:rPr>
              <a:t>placerat</a:t>
            </a:r>
            <a:r>
              <a:rPr lang="en-US" sz="1000" dirty="0">
                <a:solidFill>
                  <a:srgbClr val="8F97B7"/>
                </a:solidFill>
              </a:rPr>
              <a:t>, </a:t>
            </a:r>
            <a:r>
              <a:rPr lang="en-US" sz="1000" dirty="0" err="1">
                <a:solidFill>
                  <a:srgbClr val="8F97B7"/>
                </a:solidFill>
              </a:rPr>
              <a:t>erat</a:t>
            </a:r>
            <a:r>
              <a:rPr lang="en-US" sz="1000" dirty="0">
                <a:solidFill>
                  <a:srgbClr val="8F97B7"/>
                </a:solidFill>
              </a:rPr>
              <a:t> </a:t>
            </a:r>
            <a:r>
              <a:rPr lang="en-US" sz="1000" dirty="0" err="1">
                <a:solidFill>
                  <a:srgbClr val="8F97B7"/>
                </a:solidFill>
              </a:rPr>
              <a:t>velit</a:t>
            </a:r>
            <a:r>
              <a:rPr lang="en-US" sz="1000" dirty="0">
                <a:solidFill>
                  <a:srgbClr val="8F97B7"/>
                </a:solidFill>
              </a:rPr>
              <a:t> pharetra </a:t>
            </a:r>
            <a:r>
              <a:rPr lang="en-US" sz="1000" dirty="0" err="1">
                <a:solidFill>
                  <a:srgbClr val="8F97B7"/>
                </a:solidFill>
              </a:rPr>
              <a:t>mauris</a:t>
            </a:r>
            <a:r>
              <a:rPr lang="en-US" sz="1000" dirty="0">
                <a:solidFill>
                  <a:srgbClr val="8F97B7"/>
                </a:solidFill>
              </a:rPr>
              <a:t>, </a:t>
            </a:r>
            <a:r>
              <a:rPr lang="en-US" sz="1000" dirty="0" err="1">
                <a:solidFill>
                  <a:srgbClr val="8F97B7"/>
                </a:solidFill>
              </a:rPr>
              <a:t>eu</a:t>
            </a:r>
            <a:r>
              <a:rPr lang="en-US" sz="1000" dirty="0">
                <a:solidFill>
                  <a:srgbClr val="8F97B7"/>
                </a:solidFill>
              </a:rPr>
              <a:t> vestibulum </a:t>
            </a:r>
            <a:r>
              <a:rPr lang="en-US" sz="1000" dirty="0" err="1">
                <a:solidFill>
                  <a:srgbClr val="8F97B7"/>
                </a:solidFill>
              </a:rPr>
              <a:t>tellus</a:t>
            </a:r>
            <a:r>
              <a:rPr lang="en-US" sz="1000" dirty="0">
                <a:solidFill>
                  <a:srgbClr val="8F97B7"/>
                </a:solidFill>
              </a:rPr>
              <a:t> </a:t>
            </a:r>
            <a:r>
              <a:rPr lang="en-US" sz="1000" dirty="0" err="1">
                <a:solidFill>
                  <a:srgbClr val="8F97B7"/>
                </a:solidFill>
              </a:rPr>
              <a:t>sem</a:t>
            </a:r>
            <a:r>
              <a:rPr lang="en-US" sz="1000" dirty="0">
                <a:solidFill>
                  <a:srgbClr val="8F97B7"/>
                </a:solidFill>
              </a:rPr>
              <a:t> at </a:t>
            </a:r>
            <a:r>
              <a:rPr lang="en-US" sz="1000" dirty="0" err="1">
                <a:solidFill>
                  <a:srgbClr val="8F97B7"/>
                </a:solidFill>
              </a:rPr>
              <a:t>massa</a:t>
            </a:r>
            <a:r>
              <a:rPr lang="en-US" sz="1000" dirty="0">
                <a:solidFill>
                  <a:srgbClr val="8F97B7"/>
                </a:solidFill>
              </a:rPr>
              <a:t>. </a:t>
            </a:r>
            <a:r>
              <a:rPr lang="en-US" sz="1000" dirty="0" err="1">
                <a:solidFill>
                  <a:srgbClr val="8F97B7"/>
                </a:solidFill>
              </a:rPr>
              <a:t>Pellentesque</a:t>
            </a:r>
            <a:r>
              <a:rPr lang="en-US" sz="1000" dirty="0">
                <a:solidFill>
                  <a:srgbClr val="8F97B7"/>
                </a:solidFill>
              </a:rPr>
              <a:t> a </a:t>
            </a:r>
            <a:r>
              <a:rPr lang="en-US" sz="1000" dirty="0" err="1">
                <a:solidFill>
                  <a:srgbClr val="8F97B7"/>
                </a:solidFill>
              </a:rPr>
              <a:t>euismod</a:t>
            </a:r>
            <a:r>
              <a:rPr lang="en-US" sz="1000" dirty="0">
                <a:solidFill>
                  <a:srgbClr val="8F97B7"/>
                </a:solidFill>
              </a:rPr>
              <a:t> </a:t>
            </a:r>
            <a:r>
              <a:rPr lang="en-US" sz="1000" dirty="0" err="1">
                <a:solidFill>
                  <a:srgbClr val="8F97B7"/>
                </a:solidFill>
              </a:rPr>
              <a:t>tortor</a:t>
            </a:r>
            <a:r>
              <a:rPr lang="en-US" sz="1000" dirty="0">
                <a:solidFill>
                  <a:srgbClr val="8F97B7"/>
                </a:solidFill>
              </a:rPr>
              <a:t>. Maecenas </a:t>
            </a:r>
            <a:r>
              <a:rPr lang="en-US" sz="1000" dirty="0" err="1">
                <a:solidFill>
                  <a:srgbClr val="8F97B7"/>
                </a:solidFill>
              </a:rPr>
              <a:t>pretium</a:t>
            </a:r>
            <a:r>
              <a:rPr lang="en-US" sz="1000" dirty="0">
                <a:solidFill>
                  <a:srgbClr val="8F97B7"/>
                </a:solidFill>
              </a:rPr>
              <a:t> </a:t>
            </a:r>
            <a:r>
              <a:rPr lang="en-US" sz="1000" dirty="0" err="1">
                <a:solidFill>
                  <a:srgbClr val="8F97B7"/>
                </a:solidFill>
              </a:rPr>
              <a:t>ultrices</a:t>
            </a:r>
            <a:r>
              <a:rPr lang="en-US" sz="1000" dirty="0">
                <a:solidFill>
                  <a:srgbClr val="8F97B7"/>
                </a:solidFill>
              </a:rPr>
              <a:t> </a:t>
            </a:r>
            <a:r>
              <a:rPr lang="en-US" sz="1000" dirty="0" err="1">
                <a:solidFill>
                  <a:srgbClr val="8F97B7"/>
                </a:solidFill>
              </a:rPr>
              <a:t>rutrum</a:t>
            </a:r>
            <a:r>
              <a:rPr lang="en-US" sz="1000" dirty="0">
                <a:solidFill>
                  <a:srgbClr val="8F97B7"/>
                </a:solidFill>
              </a:rPr>
              <a:t>. Cras </a:t>
            </a:r>
            <a:r>
              <a:rPr lang="en-US" sz="1000" dirty="0" err="1">
                <a:solidFill>
                  <a:srgbClr val="8F97B7"/>
                </a:solidFill>
              </a:rPr>
              <a:t>bibendum</a:t>
            </a:r>
            <a:r>
              <a:rPr lang="en-US" sz="1000" dirty="0">
                <a:solidFill>
                  <a:srgbClr val="8F97B7"/>
                </a:solidFill>
              </a:rPr>
              <a:t>, lorem sit </a:t>
            </a:r>
            <a:r>
              <a:rPr lang="en-US" sz="1000" dirty="0" err="1">
                <a:solidFill>
                  <a:srgbClr val="8F97B7"/>
                </a:solidFill>
              </a:rPr>
              <a:t>amet</a:t>
            </a:r>
            <a:r>
              <a:rPr lang="en-US" sz="1000" dirty="0">
                <a:solidFill>
                  <a:srgbClr val="8F97B7"/>
                </a:solidFill>
              </a:rPr>
              <a:t> </a:t>
            </a:r>
            <a:r>
              <a:rPr lang="en-US" sz="1000" dirty="0" err="1">
                <a:solidFill>
                  <a:srgbClr val="8F97B7"/>
                </a:solidFill>
              </a:rPr>
              <a:t>euismod</a:t>
            </a:r>
            <a:r>
              <a:rPr lang="en-US" sz="1000" dirty="0">
                <a:solidFill>
                  <a:srgbClr val="8F97B7"/>
                </a:solidFill>
              </a:rPr>
              <a:t> </a:t>
            </a:r>
            <a:r>
              <a:rPr lang="en-US" sz="1000" dirty="0" err="1">
                <a:solidFill>
                  <a:srgbClr val="8F97B7"/>
                </a:solidFill>
              </a:rPr>
              <a:t>elementum</a:t>
            </a:r>
            <a:r>
              <a:rPr lang="en-US" sz="1000" dirty="0">
                <a:solidFill>
                  <a:srgbClr val="8F97B7"/>
                </a:solidFill>
              </a:rPr>
              <a:t>, </a:t>
            </a:r>
            <a:r>
              <a:rPr lang="en-US" sz="1000" dirty="0" err="1">
                <a:solidFill>
                  <a:srgbClr val="8F97B7"/>
                </a:solidFill>
              </a:rPr>
              <a:t>quam</a:t>
            </a:r>
            <a:r>
              <a:rPr lang="en-US" sz="1000" dirty="0">
                <a:solidFill>
                  <a:srgbClr val="8F97B7"/>
                </a:solidFill>
              </a:rPr>
              <a:t> </a:t>
            </a:r>
            <a:r>
              <a:rPr lang="en-US" sz="1000" dirty="0" err="1">
                <a:solidFill>
                  <a:srgbClr val="8F97B7"/>
                </a:solidFill>
              </a:rPr>
              <a:t>velit</a:t>
            </a:r>
            <a:r>
              <a:rPr lang="en-US" sz="1000" dirty="0">
                <a:solidFill>
                  <a:srgbClr val="8F97B7"/>
                </a:solidFill>
              </a:rPr>
              <a:t> </a:t>
            </a:r>
            <a:r>
              <a:rPr lang="en-US" sz="1000" dirty="0" err="1">
                <a:solidFill>
                  <a:srgbClr val="8F97B7"/>
                </a:solidFill>
              </a:rPr>
              <a:t>lobortis</a:t>
            </a:r>
            <a:r>
              <a:rPr lang="en-US" sz="1000" dirty="0">
                <a:solidFill>
                  <a:srgbClr val="8F97B7"/>
                </a:solidFill>
              </a:rPr>
              <a:t> ex, a </a:t>
            </a:r>
            <a:r>
              <a:rPr lang="en-US" sz="1000" dirty="0" err="1">
                <a:solidFill>
                  <a:srgbClr val="8F97B7"/>
                </a:solidFill>
              </a:rPr>
              <a:t>commodo</a:t>
            </a:r>
            <a:r>
              <a:rPr lang="en-US" sz="1000" dirty="0">
                <a:solidFill>
                  <a:srgbClr val="8F97B7"/>
                </a:solidFill>
              </a:rPr>
              <a:t> </a:t>
            </a:r>
            <a:r>
              <a:rPr lang="en-US" sz="1000" dirty="0" err="1">
                <a:solidFill>
                  <a:srgbClr val="8F97B7"/>
                </a:solidFill>
              </a:rPr>
              <a:t>sem</a:t>
            </a:r>
            <a:r>
              <a:rPr lang="en-US" sz="1000" dirty="0">
                <a:solidFill>
                  <a:srgbClr val="8F97B7"/>
                </a:solidFill>
              </a:rPr>
              <a:t> </a:t>
            </a:r>
            <a:r>
              <a:rPr lang="en-US" sz="1000" dirty="0" err="1">
                <a:solidFill>
                  <a:srgbClr val="8F97B7"/>
                </a:solidFill>
              </a:rPr>
              <a:t>neque</a:t>
            </a:r>
            <a:r>
              <a:rPr lang="en-US" sz="1000" dirty="0">
                <a:solidFill>
                  <a:srgbClr val="8F97B7"/>
                </a:solidFill>
              </a:rPr>
              <a:t> in </a:t>
            </a:r>
            <a:r>
              <a:rPr lang="en-US" sz="1000" dirty="0" err="1">
                <a:solidFill>
                  <a:srgbClr val="8F97B7"/>
                </a:solidFill>
              </a:rPr>
              <a:t>turpis</a:t>
            </a:r>
            <a:r>
              <a:rPr lang="en-US" sz="1000" dirty="0">
                <a:solidFill>
                  <a:srgbClr val="8F97B7"/>
                </a:solidFill>
              </a:rPr>
              <a:t>. </a:t>
            </a:r>
          </a:p>
          <a:p>
            <a:endParaRPr lang="en-US" sz="1000" dirty="0">
              <a:solidFill>
                <a:srgbClr val="8F97B7"/>
              </a:solidFill>
            </a:endParaRPr>
          </a:p>
          <a:p>
            <a:r>
              <a:rPr lang="en-US" sz="1000" dirty="0">
                <a:solidFill>
                  <a:srgbClr val="8F97B7"/>
                </a:solidFill>
              </a:rPr>
              <a:t>Proin a </a:t>
            </a:r>
            <a:r>
              <a:rPr lang="en-US" sz="1000" dirty="0" err="1">
                <a:solidFill>
                  <a:srgbClr val="8F97B7"/>
                </a:solidFill>
              </a:rPr>
              <a:t>massa</a:t>
            </a:r>
            <a:r>
              <a:rPr lang="en-US" sz="1000" dirty="0">
                <a:solidFill>
                  <a:srgbClr val="8F97B7"/>
                </a:solidFill>
              </a:rPr>
              <a:t> </a:t>
            </a:r>
            <a:r>
              <a:rPr lang="en-US" sz="1000" dirty="0" err="1">
                <a:solidFill>
                  <a:srgbClr val="8F97B7"/>
                </a:solidFill>
              </a:rPr>
              <a:t>eget</a:t>
            </a:r>
            <a:r>
              <a:rPr lang="en-US" sz="1000" dirty="0">
                <a:solidFill>
                  <a:srgbClr val="8F97B7"/>
                </a:solidFill>
              </a:rPr>
              <a:t> </a:t>
            </a:r>
            <a:r>
              <a:rPr lang="en-US" sz="1000" dirty="0" err="1">
                <a:solidFill>
                  <a:srgbClr val="8F97B7"/>
                </a:solidFill>
              </a:rPr>
              <a:t>sapien</a:t>
            </a:r>
            <a:r>
              <a:rPr lang="en-US" sz="1000" dirty="0">
                <a:solidFill>
                  <a:srgbClr val="8F97B7"/>
                </a:solidFill>
              </a:rPr>
              <a:t> </a:t>
            </a:r>
            <a:r>
              <a:rPr lang="en-US" sz="1000" dirty="0" err="1">
                <a:solidFill>
                  <a:srgbClr val="8F97B7"/>
                </a:solidFill>
              </a:rPr>
              <a:t>sagittis</a:t>
            </a:r>
            <a:r>
              <a:rPr lang="en-US" sz="1000" dirty="0">
                <a:solidFill>
                  <a:srgbClr val="8F97B7"/>
                </a:solidFill>
              </a:rPr>
              <a:t> convallis. </a:t>
            </a:r>
            <a:r>
              <a:rPr lang="en-US" sz="1000" dirty="0" err="1">
                <a:solidFill>
                  <a:srgbClr val="8F97B7"/>
                </a:solidFill>
              </a:rPr>
              <a:t>Suspendisse</a:t>
            </a:r>
            <a:r>
              <a:rPr lang="en-US" sz="1000" dirty="0">
                <a:solidFill>
                  <a:srgbClr val="8F97B7"/>
                </a:solidFill>
              </a:rPr>
              <a:t> </a:t>
            </a:r>
            <a:r>
              <a:rPr lang="en-US" sz="1000" dirty="0" err="1">
                <a:solidFill>
                  <a:srgbClr val="8F97B7"/>
                </a:solidFill>
              </a:rPr>
              <a:t>commodo</a:t>
            </a:r>
            <a:r>
              <a:rPr lang="en-US" sz="1000" dirty="0">
                <a:solidFill>
                  <a:srgbClr val="8F97B7"/>
                </a:solidFill>
              </a:rPr>
              <a:t> </a:t>
            </a:r>
            <a:r>
              <a:rPr lang="en-US" sz="1000" dirty="0" err="1">
                <a:solidFill>
                  <a:srgbClr val="8F97B7"/>
                </a:solidFill>
              </a:rPr>
              <a:t>elit</a:t>
            </a:r>
            <a:r>
              <a:rPr lang="en-US" sz="1000" dirty="0">
                <a:solidFill>
                  <a:srgbClr val="8F97B7"/>
                </a:solidFill>
              </a:rPr>
              <a:t> </a:t>
            </a:r>
            <a:r>
              <a:rPr lang="en-US" sz="1000" dirty="0" err="1">
                <a:solidFill>
                  <a:srgbClr val="8F97B7"/>
                </a:solidFill>
              </a:rPr>
              <a:t>quis</a:t>
            </a:r>
            <a:r>
              <a:rPr lang="en-US" sz="1000" dirty="0">
                <a:solidFill>
                  <a:srgbClr val="8F97B7"/>
                </a:solidFill>
              </a:rPr>
              <a:t> </a:t>
            </a:r>
            <a:r>
              <a:rPr lang="en-US" sz="1000" dirty="0" err="1">
                <a:solidFill>
                  <a:srgbClr val="8F97B7"/>
                </a:solidFill>
              </a:rPr>
              <a:t>arcu</a:t>
            </a:r>
            <a:r>
              <a:rPr lang="en-US" sz="1000" dirty="0">
                <a:solidFill>
                  <a:srgbClr val="8F97B7"/>
                </a:solidFill>
              </a:rPr>
              <a:t> dictum porta. Sed </a:t>
            </a:r>
            <a:r>
              <a:rPr lang="en-US" sz="1000" dirty="0" err="1">
                <a:solidFill>
                  <a:srgbClr val="8F97B7"/>
                </a:solidFill>
              </a:rPr>
              <a:t>consequat</a:t>
            </a:r>
            <a:r>
              <a:rPr lang="en-US" sz="1000" dirty="0">
                <a:solidFill>
                  <a:srgbClr val="8F97B7"/>
                </a:solidFill>
              </a:rPr>
              <a:t> </a:t>
            </a:r>
            <a:r>
              <a:rPr lang="en-US" sz="1000" dirty="0" err="1">
                <a:solidFill>
                  <a:srgbClr val="8F97B7"/>
                </a:solidFill>
              </a:rPr>
              <a:t>ullamcorper</a:t>
            </a:r>
            <a:r>
              <a:rPr lang="en-US" sz="1000" dirty="0">
                <a:solidFill>
                  <a:srgbClr val="8F97B7"/>
                </a:solidFill>
              </a:rPr>
              <a:t> eros, id……..</a:t>
            </a:r>
          </a:p>
        </p:txBody>
      </p:sp>
      <p:cxnSp>
        <p:nvCxnSpPr>
          <p:cNvPr id="12" name="Straight Connector 11">
            <a:extLst>
              <a:ext uri="{FF2B5EF4-FFF2-40B4-BE49-F238E27FC236}">
                <a16:creationId xmlns:a16="http://schemas.microsoft.com/office/drawing/2014/main" id="{EA3DC0A9-688A-A21D-15A0-B3F662253B69}"/>
              </a:ext>
            </a:extLst>
          </p:cNvPr>
          <p:cNvCxnSpPr>
            <a:cxnSpLocks/>
          </p:cNvCxnSpPr>
          <p:nvPr/>
        </p:nvCxnSpPr>
        <p:spPr>
          <a:xfrm>
            <a:off x="3802109" y="2582965"/>
            <a:ext cx="0" cy="3018916"/>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1A44751-6569-B34B-C30A-4CDA4B0210CF}"/>
              </a:ext>
            </a:extLst>
          </p:cNvPr>
          <p:cNvCxnSpPr>
            <a:cxnSpLocks/>
          </p:cNvCxnSpPr>
          <p:nvPr/>
        </p:nvCxnSpPr>
        <p:spPr>
          <a:xfrm>
            <a:off x="3802109" y="2579614"/>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sp>
        <p:nvSpPr>
          <p:cNvPr id="18" name="Rectangle: Rounded Corners 17">
            <a:extLst>
              <a:ext uri="{FF2B5EF4-FFF2-40B4-BE49-F238E27FC236}">
                <a16:creationId xmlns:a16="http://schemas.microsoft.com/office/drawing/2014/main" id="{7CB03572-27E2-F7D5-5147-AEEAE85DC354}"/>
              </a:ext>
            </a:extLst>
          </p:cNvPr>
          <p:cNvSpPr/>
          <p:nvPr/>
        </p:nvSpPr>
        <p:spPr>
          <a:xfrm>
            <a:off x="4102232" y="2296469"/>
            <a:ext cx="3359547" cy="3818144"/>
          </a:xfrm>
          <a:prstGeom prst="roundRect">
            <a:avLst>
              <a:gd name="adj" fmla="val 8358"/>
            </a:avLst>
          </a:prstGeom>
          <a:solidFill>
            <a:srgbClr val="0E1C2D"/>
          </a:solid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p>
        </p:txBody>
      </p:sp>
      <p:sp>
        <p:nvSpPr>
          <p:cNvPr id="19" name="Rectangle 18">
            <a:extLst>
              <a:ext uri="{FF2B5EF4-FFF2-40B4-BE49-F238E27FC236}">
                <a16:creationId xmlns:a16="http://schemas.microsoft.com/office/drawing/2014/main" id="{6EB24467-97EB-F9D1-55A6-AD1A272DC558}"/>
              </a:ext>
            </a:extLst>
          </p:cNvPr>
          <p:cNvSpPr/>
          <p:nvPr/>
        </p:nvSpPr>
        <p:spPr>
          <a:xfrm>
            <a:off x="4294848" y="2195256"/>
            <a:ext cx="2687874" cy="210746"/>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Orchestrator Generated Mission</a:t>
            </a:r>
          </a:p>
        </p:txBody>
      </p:sp>
      <p:cxnSp>
        <p:nvCxnSpPr>
          <p:cNvPr id="21" name="Straight Connector 20">
            <a:extLst>
              <a:ext uri="{FF2B5EF4-FFF2-40B4-BE49-F238E27FC236}">
                <a16:creationId xmlns:a16="http://schemas.microsoft.com/office/drawing/2014/main" id="{B629DE11-7880-2DE8-2DC8-3C225A71FA3E}"/>
              </a:ext>
            </a:extLst>
          </p:cNvPr>
          <p:cNvCxnSpPr>
            <a:cxnSpLocks/>
          </p:cNvCxnSpPr>
          <p:nvPr/>
        </p:nvCxnSpPr>
        <p:spPr>
          <a:xfrm>
            <a:off x="7315178" y="2767630"/>
            <a:ext cx="0" cy="3018916"/>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AE1E8B33-92CA-EF78-278C-C4CCDBF6F461}"/>
              </a:ext>
            </a:extLst>
          </p:cNvPr>
          <p:cNvCxnSpPr>
            <a:cxnSpLocks/>
          </p:cNvCxnSpPr>
          <p:nvPr/>
        </p:nvCxnSpPr>
        <p:spPr>
          <a:xfrm>
            <a:off x="7315178" y="2767630"/>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5ED5366B-9BA4-C738-1991-F57D04B7F46E}"/>
              </a:ext>
            </a:extLst>
          </p:cNvPr>
          <p:cNvSpPr txBox="1"/>
          <p:nvPr/>
        </p:nvSpPr>
        <p:spPr>
          <a:xfrm>
            <a:off x="1899316" y="1330953"/>
            <a:ext cx="1273105" cy="369332"/>
          </a:xfrm>
          <a:prstGeom prst="rect">
            <a:avLst/>
          </a:prstGeom>
          <a:noFill/>
        </p:spPr>
        <p:txBody>
          <a:bodyPr wrap="none" rtlCol="0">
            <a:spAutoFit/>
          </a:bodyPr>
          <a:lstStyle/>
          <a:p>
            <a:r>
              <a:rPr lang="en-US" dirty="0">
                <a:solidFill>
                  <a:srgbClr val="8F97B7"/>
                </a:solidFill>
              </a:rPr>
              <a:t>Implement</a:t>
            </a:r>
          </a:p>
        </p:txBody>
      </p:sp>
      <p:sp>
        <p:nvSpPr>
          <p:cNvPr id="30" name="Rectangle: Rounded Corners 29">
            <a:extLst>
              <a:ext uri="{FF2B5EF4-FFF2-40B4-BE49-F238E27FC236}">
                <a16:creationId xmlns:a16="http://schemas.microsoft.com/office/drawing/2014/main" id="{CBE1A85A-FD38-DB4A-3D17-C796005C0A28}"/>
              </a:ext>
            </a:extLst>
          </p:cNvPr>
          <p:cNvSpPr/>
          <p:nvPr/>
        </p:nvSpPr>
        <p:spPr>
          <a:xfrm>
            <a:off x="10105965" y="1859749"/>
            <a:ext cx="1198523" cy="286492"/>
          </a:xfrm>
          <a:prstGeom prst="roundRect">
            <a:avLst>
              <a:gd name="adj" fmla="val 32223"/>
            </a:avLst>
          </a:prstGeom>
          <a:no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1E3147"/>
                </a:solidFill>
              </a:rPr>
              <a:t>Launch Jobs</a:t>
            </a:r>
          </a:p>
        </p:txBody>
      </p:sp>
      <p:cxnSp>
        <p:nvCxnSpPr>
          <p:cNvPr id="31" name="Straight Connector 30">
            <a:extLst>
              <a:ext uri="{FF2B5EF4-FFF2-40B4-BE49-F238E27FC236}">
                <a16:creationId xmlns:a16="http://schemas.microsoft.com/office/drawing/2014/main" id="{57901EF1-92A2-1B88-9998-4F79634FF38C}"/>
              </a:ext>
            </a:extLst>
          </p:cNvPr>
          <p:cNvCxnSpPr>
            <a:cxnSpLocks/>
          </p:cNvCxnSpPr>
          <p:nvPr/>
        </p:nvCxnSpPr>
        <p:spPr>
          <a:xfrm>
            <a:off x="7315178" y="2767630"/>
            <a:ext cx="0" cy="3018916"/>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429EC23-D2C5-75F4-7092-ADDFE64536E9}"/>
              </a:ext>
            </a:extLst>
          </p:cNvPr>
          <p:cNvCxnSpPr>
            <a:cxnSpLocks/>
          </p:cNvCxnSpPr>
          <p:nvPr/>
        </p:nvCxnSpPr>
        <p:spPr>
          <a:xfrm>
            <a:off x="7315178" y="2767630"/>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sp>
        <p:nvSpPr>
          <p:cNvPr id="33" name="Rectangle: Rounded Corners 32">
            <a:extLst>
              <a:ext uri="{FF2B5EF4-FFF2-40B4-BE49-F238E27FC236}">
                <a16:creationId xmlns:a16="http://schemas.microsoft.com/office/drawing/2014/main" id="{1DB6506F-0A17-7853-E05A-A1FBB1FCA53B}"/>
              </a:ext>
            </a:extLst>
          </p:cNvPr>
          <p:cNvSpPr/>
          <p:nvPr/>
        </p:nvSpPr>
        <p:spPr>
          <a:xfrm>
            <a:off x="7740989" y="2497733"/>
            <a:ext cx="2919197" cy="540961"/>
          </a:xfrm>
          <a:prstGeom prst="roundRect">
            <a:avLst>
              <a:gd name="adj" fmla="val 30861"/>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198E411F-064B-84D7-CF58-16B1F579D013}"/>
              </a:ext>
            </a:extLst>
          </p:cNvPr>
          <p:cNvSpPr/>
          <p:nvPr/>
        </p:nvSpPr>
        <p:spPr>
          <a:xfrm>
            <a:off x="7810271" y="2553194"/>
            <a:ext cx="429926" cy="418406"/>
          </a:xfrm>
          <a:prstGeom prst="ellipse">
            <a:avLst/>
          </a:prstGeom>
          <a:solidFill>
            <a:srgbClr val="A9866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723F75ED-4C97-1471-6CCB-A1864DC2DB2C}"/>
              </a:ext>
            </a:extLst>
          </p:cNvPr>
          <p:cNvSpPr txBox="1"/>
          <p:nvPr/>
        </p:nvSpPr>
        <p:spPr>
          <a:xfrm>
            <a:off x="7810270" y="2582965"/>
            <a:ext cx="439544" cy="369332"/>
          </a:xfrm>
          <a:prstGeom prst="rect">
            <a:avLst/>
          </a:prstGeom>
          <a:noFill/>
        </p:spPr>
        <p:txBody>
          <a:bodyPr wrap="none" rtlCol="0">
            <a:spAutoFit/>
          </a:bodyPr>
          <a:lstStyle/>
          <a:p>
            <a:r>
              <a:rPr lang="en-US" b="1" dirty="0">
                <a:solidFill>
                  <a:srgbClr val="0E1C2D"/>
                </a:solidFill>
              </a:rPr>
              <a:t>Or</a:t>
            </a:r>
          </a:p>
        </p:txBody>
      </p:sp>
      <p:sp>
        <p:nvSpPr>
          <p:cNvPr id="36" name="TextBox 35">
            <a:extLst>
              <a:ext uri="{FF2B5EF4-FFF2-40B4-BE49-F238E27FC236}">
                <a16:creationId xmlns:a16="http://schemas.microsoft.com/office/drawing/2014/main" id="{EA9E7449-C4A4-A216-93F0-41DCE23C3980}"/>
              </a:ext>
            </a:extLst>
          </p:cNvPr>
          <p:cNvSpPr txBox="1"/>
          <p:nvPr/>
        </p:nvSpPr>
        <p:spPr>
          <a:xfrm>
            <a:off x="8294119" y="2576473"/>
            <a:ext cx="1825087" cy="369332"/>
          </a:xfrm>
          <a:prstGeom prst="rect">
            <a:avLst/>
          </a:prstGeom>
          <a:noFill/>
        </p:spPr>
        <p:txBody>
          <a:bodyPr wrap="square" rtlCol="0">
            <a:spAutoFit/>
          </a:bodyPr>
          <a:lstStyle/>
          <a:p>
            <a:r>
              <a:rPr lang="en-US" dirty="0">
                <a:solidFill>
                  <a:srgbClr val="E1E1E1"/>
                </a:solidFill>
              </a:rPr>
              <a:t>Orchestrator</a:t>
            </a:r>
          </a:p>
        </p:txBody>
      </p:sp>
      <p:pic>
        <p:nvPicPr>
          <p:cNvPr id="37" name="Graphic 36" descr="Information with solid fill">
            <a:extLst>
              <a:ext uri="{FF2B5EF4-FFF2-40B4-BE49-F238E27FC236}">
                <a16:creationId xmlns:a16="http://schemas.microsoft.com/office/drawing/2014/main" id="{F34CD92D-E6D7-D25F-DF07-586390629DA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54874" y="2632972"/>
            <a:ext cx="270481" cy="270481"/>
          </a:xfrm>
          <a:prstGeom prst="rect">
            <a:avLst/>
          </a:prstGeom>
        </p:spPr>
      </p:pic>
      <p:cxnSp>
        <p:nvCxnSpPr>
          <p:cNvPr id="43" name="Straight Connector 42">
            <a:extLst>
              <a:ext uri="{FF2B5EF4-FFF2-40B4-BE49-F238E27FC236}">
                <a16:creationId xmlns:a16="http://schemas.microsoft.com/office/drawing/2014/main" id="{55F017CB-ADBC-B2E4-F764-505B206CD2A9}"/>
              </a:ext>
            </a:extLst>
          </p:cNvPr>
          <p:cNvCxnSpPr>
            <a:cxnSpLocks/>
          </p:cNvCxnSpPr>
          <p:nvPr/>
        </p:nvCxnSpPr>
        <p:spPr>
          <a:xfrm flipH="1">
            <a:off x="7740989" y="2324082"/>
            <a:ext cx="3168990" cy="0"/>
          </a:xfrm>
          <a:prstGeom prst="line">
            <a:avLst/>
          </a:prstGeom>
          <a:ln w="22225"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692C5B41-EB7A-7EE5-B0E1-D3F14E01E09C}"/>
              </a:ext>
            </a:extLst>
          </p:cNvPr>
          <p:cNvCxnSpPr>
            <a:cxnSpLocks/>
          </p:cNvCxnSpPr>
          <p:nvPr/>
        </p:nvCxnSpPr>
        <p:spPr>
          <a:xfrm flipH="1">
            <a:off x="7740989" y="3328061"/>
            <a:ext cx="3168990" cy="0"/>
          </a:xfrm>
          <a:prstGeom prst="line">
            <a:avLst/>
          </a:prstGeom>
          <a:ln w="22225"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2F6864B3-DABD-8E7D-70A1-185D5024B4DB}"/>
              </a:ext>
            </a:extLst>
          </p:cNvPr>
          <p:cNvCxnSpPr>
            <a:cxnSpLocks/>
          </p:cNvCxnSpPr>
          <p:nvPr/>
        </p:nvCxnSpPr>
        <p:spPr>
          <a:xfrm>
            <a:off x="11147051" y="3584306"/>
            <a:ext cx="0" cy="2327883"/>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8FAF0C30-E012-E0F7-1318-480823F6C57D}"/>
              </a:ext>
            </a:extLst>
          </p:cNvPr>
          <p:cNvCxnSpPr>
            <a:cxnSpLocks/>
          </p:cNvCxnSpPr>
          <p:nvPr/>
        </p:nvCxnSpPr>
        <p:spPr>
          <a:xfrm>
            <a:off x="11147051" y="3584306"/>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sp>
        <p:nvSpPr>
          <p:cNvPr id="57" name="Rectangle 56">
            <a:extLst>
              <a:ext uri="{FF2B5EF4-FFF2-40B4-BE49-F238E27FC236}">
                <a16:creationId xmlns:a16="http://schemas.microsoft.com/office/drawing/2014/main" id="{5A42E74A-08EB-D440-BA84-F401BA4FE25A}"/>
              </a:ext>
            </a:extLst>
          </p:cNvPr>
          <p:cNvSpPr/>
          <p:nvPr/>
        </p:nvSpPr>
        <p:spPr>
          <a:xfrm>
            <a:off x="8089767" y="2195257"/>
            <a:ext cx="1040765" cy="238699"/>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Default agent</a:t>
            </a:r>
          </a:p>
        </p:txBody>
      </p:sp>
      <p:sp>
        <p:nvSpPr>
          <p:cNvPr id="58" name="Rectangle 57">
            <a:extLst>
              <a:ext uri="{FF2B5EF4-FFF2-40B4-BE49-F238E27FC236}">
                <a16:creationId xmlns:a16="http://schemas.microsoft.com/office/drawing/2014/main" id="{9BFB4BD4-4258-DB4E-5279-16276DDCA48F}"/>
              </a:ext>
            </a:extLst>
          </p:cNvPr>
          <p:cNvSpPr/>
          <p:nvPr/>
        </p:nvSpPr>
        <p:spPr>
          <a:xfrm>
            <a:off x="8089768" y="3202756"/>
            <a:ext cx="936325" cy="200896"/>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Agent Team</a:t>
            </a:r>
          </a:p>
        </p:txBody>
      </p:sp>
      <p:pic>
        <p:nvPicPr>
          <p:cNvPr id="62" name="Graphic 61" descr="Lock with solid fill">
            <a:extLst>
              <a:ext uri="{FF2B5EF4-FFF2-40B4-BE49-F238E27FC236}">
                <a16:creationId xmlns:a16="http://schemas.microsoft.com/office/drawing/2014/main" id="{6296B9D1-46CA-BD3C-13C1-CDC2273E655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239078" y="2620009"/>
            <a:ext cx="279802" cy="279802"/>
          </a:xfrm>
          <a:prstGeom prst="rect">
            <a:avLst/>
          </a:prstGeom>
        </p:spPr>
      </p:pic>
      <p:sp>
        <p:nvSpPr>
          <p:cNvPr id="63" name="TextBox 62">
            <a:extLst>
              <a:ext uri="{FF2B5EF4-FFF2-40B4-BE49-F238E27FC236}">
                <a16:creationId xmlns:a16="http://schemas.microsoft.com/office/drawing/2014/main" id="{7B79F505-5AD8-40F7-ABBE-C301BFCE40D7}"/>
              </a:ext>
            </a:extLst>
          </p:cNvPr>
          <p:cNvSpPr txBox="1"/>
          <p:nvPr/>
        </p:nvSpPr>
        <p:spPr>
          <a:xfrm>
            <a:off x="5421251" y="1736107"/>
            <a:ext cx="985078" cy="369332"/>
          </a:xfrm>
          <a:prstGeom prst="rect">
            <a:avLst/>
          </a:prstGeom>
          <a:noFill/>
        </p:spPr>
        <p:txBody>
          <a:bodyPr wrap="none" rtlCol="0">
            <a:spAutoFit/>
          </a:bodyPr>
          <a:lstStyle/>
          <a:p>
            <a:r>
              <a:rPr lang="en-US" i="1" dirty="0">
                <a:solidFill>
                  <a:srgbClr val="FFC000"/>
                </a:solidFill>
              </a:rPr>
              <a:t>Waiting.</a:t>
            </a:r>
          </a:p>
        </p:txBody>
      </p:sp>
      <p:sp>
        <p:nvSpPr>
          <p:cNvPr id="11" name="TextBox 10">
            <a:extLst>
              <a:ext uri="{FF2B5EF4-FFF2-40B4-BE49-F238E27FC236}">
                <a16:creationId xmlns:a16="http://schemas.microsoft.com/office/drawing/2014/main" id="{298A84E1-857E-04EC-0C77-8F1A3A30F37A}"/>
              </a:ext>
            </a:extLst>
          </p:cNvPr>
          <p:cNvSpPr txBox="1"/>
          <p:nvPr/>
        </p:nvSpPr>
        <p:spPr>
          <a:xfrm>
            <a:off x="39778" y="47732"/>
            <a:ext cx="3170483" cy="369332"/>
          </a:xfrm>
          <a:prstGeom prst="rect">
            <a:avLst/>
          </a:prstGeom>
          <a:noFill/>
        </p:spPr>
        <p:txBody>
          <a:bodyPr wrap="none" rtlCol="0">
            <a:spAutoFit/>
          </a:bodyPr>
          <a:lstStyle/>
          <a:p>
            <a:r>
              <a:rPr lang="en-US" dirty="0">
                <a:solidFill>
                  <a:schemeClr val="accent5">
                    <a:lumMod val="60000"/>
                    <a:lumOff val="40000"/>
                  </a:schemeClr>
                </a:solidFill>
              </a:rPr>
              <a:t>SLIDE 1d – Pre stage elements</a:t>
            </a:r>
          </a:p>
        </p:txBody>
      </p:sp>
      <p:sp>
        <p:nvSpPr>
          <p:cNvPr id="13" name="Rectangle 12">
            <a:extLst>
              <a:ext uri="{FF2B5EF4-FFF2-40B4-BE49-F238E27FC236}">
                <a16:creationId xmlns:a16="http://schemas.microsoft.com/office/drawing/2014/main" id="{0A627FCA-4045-97B7-A5E4-439314C22854}"/>
              </a:ext>
            </a:extLst>
          </p:cNvPr>
          <p:cNvSpPr/>
          <p:nvPr/>
        </p:nvSpPr>
        <p:spPr>
          <a:xfrm>
            <a:off x="5270017" y="138436"/>
            <a:ext cx="2540254" cy="572374"/>
          </a:xfrm>
          <a:prstGeom prst="rect">
            <a:avLst/>
          </a:prstGeom>
          <a:no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5">
                    <a:lumMod val="60000"/>
                    <a:lumOff val="40000"/>
                  </a:schemeClr>
                </a:solidFill>
              </a:rPr>
              <a:t>Stage Job is ready</a:t>
            </a:r>
          </a:p>
        </p:txBody>
      </p:sp>
      <p:cxnSp>
        <p:nvCxnSpPr>
          <p:cNvPr id="16" name="Straight Arrow Connector 15">
            <a:extLst>
              <a:ext uri="{FF2B5EF4-FFF2-40B4-BE49-F238E27FC236}">
                <a16:creationId xmlns:a16="http://schemas.microsoft.com/office/drawing/2014/main" id="{D6FF3DCE-A73E-103A-48C5-F6CF5105C4A8}"/>
              </a:ext>
            </a:extLst>
          </p:cNvPr>
          <p:cNvCxnSpPr>
            <a:cxnSpLocks/>
            <a:stCxn id="13" idx="1"/>
          </p:cNvCxnSpPr>
          <p:nvPr/>
        </p:nvCxnSpPr>
        <p:spPr>
          <a:xfrm flipH="1">
            <a:off x="2163847" y="424623"/>
            <a:ext cx="3106170" cy="1489785"/>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23" name="Rectangle 22">
            <a:extLst>
              <a:ext uri="{FF2B5EF4-FFF2-40B4-BE49-F238E27FC236}">
                <a16:creationId xmlns:a16="http://schemas.microsoft.com/office/drawing/2014/main" id="{889C5103-55F0-904C-C86D-FFEB291DDC55}"/>
              </a:ext>
            </a:extLst>
          </p:cNvPr>
          <p:cNvSpPr/>
          <p:nvPr/>
        </p:nvSpPr>
        <p:spPr>
          <a:xfrm>
            <a:off x="5270016" y="758579"/>
            <a:ext cx="3024104" cy="572374"/>
          </a:xfrm>
          <a:prstGeom prst="rect">
            <a:avLst/>
          </a:prstGeom>
          <a:no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5">
                    <a:lumMod val="60000"/>
                    <a:lumOff val="40000"/>
                  </a:schemeClr>
                </a:solidFill>
              </a:rPr>
              <a:t>Orchestrator is default at the ready</a:t>
            </a:r>
          </a:p>
        </p:txBody>
      </p:sp>
      <p:cxnSp>
        <p:nvCxnSpPr>
          <p:cNvPr id="25" name="Straight Arrow Connector 24">
            <a:extLst>
              <a:ext uri="{FF2B5EF4-FFF2-40B4-BE49-F238E27FC236}">
                <a16:creationId xmlns:a16="http://schemas.microsoft.com/office/drawing/2014/main" id="{337B8C3A-46FB-4649-77B9-968C2C6F4E83}"/>
              </a:ext>
            </a:extLst>
          </p:cNvPr>
          <p:cNvCxnSpPr/>
          <p:nvPr/>
        </p:nvCxnSpPr>
        <p:spPr>
          <a:xfrm>
            <a:off x="7091835" y="1326537"/>
            <a:ext cx="649154" cy="1226657"/>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28" name="Rectangle 27">
            <a:extLst>
              <a:ext uri="{FF2B5EF4-FFF2-40B4-BE49-F238E27FC236}">
                <a16:creationId xmlns:a16="http://schemas.microsoft.com/office/drawing/2014/main" id="{5D156010-DBE4-5F1D-AE23-AD280253197B}"/>
              </a:ext>
            </a:extLst>
          </p:cNvPr>
          <p:cNvSpPr/>
          <p:nvPr/>
        </p:nvSpPr>
        <p:spPr>
          <a:xfrm>
            <a:off x="8516101" y="154726"/>
            <a:ext cx="3024104" cy="572374"/>
          </a:xfrm>
          <a:prstGeom prst="rect">
            <a:avLst/>
          </a:prstGeom>
          <a:no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5">
                    <a:lumMod val="60000"/>
                    <a:lumOff val="40000"/>
                  </a:schemeClr>
                </a:solidFill>
              </a:rPr>
              <a:t>Launch jobs is inactive</a:t>
            </a:r>
          </a:p>
        </p:txBody>
      </p:sp>
      <p:cxnSp>
        <p:nvCxnSpPr>
          <p:cNvPr id="38" name="Connector: Elbow 37">
            <a:extLst>
              <a:ext uri="{FF2B5EF4-FFF2-40B4-BE49-F238E27FC236}">
                <a16:creationId xmlns:a16="http://schemas.microsoft.com/office/drawing/2014/main" id="{2C96B9A6-3C11-BF95-5139-ED905BF6EA8A}"/>
              </a:ext>
            </a:extLst>
          </p:cNvPr>
          <p:cNvCxnSpPr>
            <a:stCxn id="28" idx="3"/>
            <a:endCxn id="30" idx="3"/>
          </p:cNvCxnSpPr>
          <p:nvPr/>
        </p:nvCxnSpPr>
        <p:spPr>
          <a:xfrm flipH="1">
            <a:off x="11304488" y="440913"/>
            <a:ext cx="235717" cy="1562082"/>
          </a:xfrm>
          <a:prstGeom prst="bentConnector3">
            <a:avLst>
              <a:gd name="adj1" fmla="val -96981"/>
            </a:avLst>
          </a:prstGeom>
          <a:ln>
            <a:tailEnd type="triangle"/>
          </a:ln>
        </p:spPr>
        <p:style>
          <a:lnRef idx="2">
            <a:schemeClr val="accent5"/>
          </a:lnRef>
          <a:fillRef idx="0">
            <a:schemeClr val="accent5"/>
          </a:fillRef>
          <a:effectRef idx="1">
            <a:schemeClr val="accent5"/>
          </a:effectRef>
          <a:fontRef idx="minor">
            <a:schemeClr val="tx1"/>
          </a:fontRef>
        </p:style>
      </p:cxnSp>
      <p:sp>
        <p:nvSpPr>
          <p:cNvPr id="39" name="Rectangle 38">
            <a:extLst>
              <a:ext uri="{FF2B5EF4-FFF2-40B4-BE49-F238E27FC236}">
                <a16:creationId xmlns:a16="http://schemas.microsoft.com/office/drawing/2014/main" id="{87F18978-6776-141E-7746-CB14A8CB43F0}"/>
              </a:ext>
            </a:extLst>
          </p:cNvPr>
          <p:cNvSpPr/>
          <p:nvPr/>
        </p:nvSpPr>
        <p:spPr>
          <a:xfrm>
            <a:off x="8495906" y="891162"/>
            <a:ext cx="3024104" cy="572374"/>
          </a:xfrm>
          <a:prstGeom prst="rect">
            <a:avLst/>
          </a:prstGeom>
          <a:no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5">
                    <a:lumMod val="60000"/>
                    <a:lumOff val="40000"/>
                  </a:schemeClr>
                </a:solidFill>
              </a:rPr>
              <a:t>Info button shows un-editable agent template</a:t>
            </a:r>
          </a:p>
        </p:txBody>
      </p:sp>
      <p:cxnSp>
        <p:nvCxnSpPr>
          <p:cNvPr id="41" name="Straight Arrow Connector 40">
            <a:extLst>
              <a:ext uri="{FF2B5EF4-FFF2-40B4-BE49-F238E27FC236}">
                <a16:creationId xmlns:a16="http://schemas.microsoft.com/office/drawing/2014/main" id="{777520F7-359C-0B98-9BA6-2D9FA8A91041}"/>
              </a:ext>
            </a:extLst>
          </p:cNvPr>
          <p:cNvCxnSpPr/>
          <p:nvPr/>
        </p:nvCxnSpPr>
        <p:spPr>
          <a:xfrm>
            <a:off x="9472067" y="1463536"/>
            <a:ext cx="482807" cy="1119429"/>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47" name="Straight Arrow Connector 46">
            <a:extLst>
              <a:ext uri="{FF2B5EF4-FFF2-40B4-BE49-F238E27FC236}">
                <a16:creationId xmlns:a16="http://schemas.microsoft.com/office/drawing/2014/main" id="{92BDC072-12BF-D827-341C-AA496C9F99B4}"/>
              </a:ext>
            </a:extLst>
          </p:cNvPr>
          <p:cNvCxnSpPr/>
          <p:nvPr/>
        </p:nvCxnSpPr>
        <p:spPr>
          <a:xfrm>
            <a:off x="9779194" y="1463536"/>
            <a:ext cx="523511" cy="1089658"/>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pic>
        <p:nvPicPr>
          <p:cNvPr id="48" name="Graphic 47" descr="Pencil with solid fill">
            <a:extLst>
              <a:ext uri="{FF2B5EF4-FFF2-40B4-BE49-F238E27FC236}">
                <a16:creationId xmlns:a16="http://schemas.microsoft.com/office/drawing/2014/main" id="{90BCE394-21CB-9727-71A5-AB6418ABA24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108216" y="5719185"/>
            <a:ext cx="258055" cy="258055"/>
          </a:xfrm>
          <a:prstGeom prst="rect">
            <a:avLst/>
          </a:prstGeom>
        </p:spPr>
      </p:pic>
      <p:sp>
        <p:nvSpPr>
          <p:cNvPr id="49" name="Rectangle 48">
            <a:extLst>
              <a:ext uri="{FF2B5EF4-FFF2-40B4-BE49-F238E27FC236}">
                <a16:creationId xmlns:a16="http://schemas.microsoft.com/office/drawing/2014/main" id="{581B0A34-330A-DACC-5FFE-4AE431F7FA34}"/>
              </a:ext>
            </a:extLst>
          </p:cNvPr>
          <p:cNvSpPr/>
          <p:nvPr/>
        </p:nvSpPr>
        <p:spPr>
          <a:xfrm>
            <a:off x="2587571" y="6424816"/>
            <a:ext cx="2540254" cy="291526"/>
          </a:xfrm>
          <a:prstGeom prst="rect">
            <a:avLst/>
          </a:prstGeom>
          <a:no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5">
                    <a:lumMod val="60000"/>
                    <a:lumOff val="40000"/>
                  </a:schemeClr>
                </a:solidFill>
              </a:rPr>
              <a:t>Is editable</a:t>
            </a:r>
          </a:p>
        </p:txBody>
      </p:sp>
      <p:cxnSp>
        <p:nvCxnSpPr>
          <p:cNvPr id="51" name="Connector: Elbow 50">
            <a:extLst>
              <a:ext uri="{FF2B5EF4-FFF2-40B4-BE49-F238E27FC236}">
                <a16:creationId xmlns:a16="http://schemas.microsoft.com/office/drawing/2014/main" id="{3006C352-1B72-6919-85D2-7AF8EE9CE4E6}"/>
              </a:ext>
            </a:extLst>
          </p:cNvPr>
          <p:cNvCxnSpPr>
            <a:stCxn id="49" idx="1"/>
          </p:cNvCxnSpPr>
          <p:nvPr/>
        </p:nvCxnSpPr>
        <p:spPr>
          <a:xfrm rot="10800000">
            <a:off x="2163847" y="5977241"/>
            <a:ext cx="423725" cy="593339"/>
          </a:xfrm>
          <a:prstGeom prst="bentConnector2">
            <a:avLst/>
          </a:prstGeom>
          <a:ln>
            <a:tailEnd type="triangle"/>
          </a:ln>
        </p:spPr>
        <p:style>
          <a:lnRef idx="2">
            <a:schemeClr val="accent5"/>
          </a:lnRef>
          <a:fillRef idx="0">
            <a:schemeClr val="accent5"/>
          </a:fillRef>
          <a:effectRef idx="1">
            <a:schemeClr val="accent5"/>
          </a:effectRef>
          <a:fontRef idx="minor">
            <a:schemeClr val="tx1"/>
          </a:fontRef>
        </p:style>
      </p:cxnSp>
      <p:sp>
        <p:nvSpPr>
          <p:cNvPr id="52" name="Rectangle 51">
            <a:extLst>
              <a:ext uri="{FF2B5EF4-FFF2-40B4-BE49-F238E27FC236}">
                <a16:creationId xmlns:a16="http://schemas.microsoft.com/office/drawing/2014/main" id="{B3D6F3C2-9DC6-CD14-106B-B7581F8E8187}"/>
              </a:ext>
            </a:extLst>
          </p:cNvPr>
          <p:cNvSpPr/>
          <p:nvPr/>
        </p:nvSpPr>
        <p:spPr>
          <a:xfrm>
            <a:off x="5511941" y="6419311"/>
            <a:ext cx="1873061" cy="291526"/>
          </a:xfrm>
          <a:prstGeom prst="rect">
            <a:avLst/>
          </a:prstGeom>
          <a:no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5">
                    <a:lumMod val="60000"/>
                    <a:lumOff val="40000"/>
                  </a:schemeClr>
                </a:solidFill>
              </a:rPr>
              <a:t>Scrollable</a:t>
            </a:r>
          </a:p>
        </p:txBody>
      </p:sp>
      <p:cxnSp>
        <p:nvCxnSpPr>
          <p:cNvPr id="54" name="Connector: Elbow 53">
            <a:extLst>
              <a:ext uri="{FF2B5EF4-FFF2-40B4-BE49-F238E27FC236}">
                <a16:creationId xmlns:a16="http://schemas.microsoft.com/office/drawing/2014/main" id="{3105327F-6C8C-0121-6EEF-A040621ABD56}"/>
              </a:ext>
            </a:extLst>
          </p:cNvPr>
          <p:cNvCxnSpPr>
            <a:cxnSpLocks/>
            <a:stCxn id="52" idx="1"/>
            <a:endCxn id="8" idx="3"/>
          </p:cNvCxnSpPr>
          <p:nvPr/>
        </p:nvCxnSpPr>
        <p:spPr>
          <a:xfrm rot="10800000">
            <a:off x="3960925" y="4205542"/>
            <a:ext cx="1551016" cy="2359532"/>
          </a:xfrm>
          <a:prstGeom prst="bentConnector3">
            <a:avLst>
              <a:gd name="adj1" fmla="val 13997"/>
            </a:avLst>
          </a:prstGeom>
          <a:ln>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pic>
        <p:nvPicPr>
          <p:cNvPr id="66" name="Graphic 65">
            <a:extLst>
              <a:ext uri="{FF2B5EF4-FFF2-40B4-BE49-F238E27FC236}">
                <a16:creationId xmlns:a16="http://schemas.microsoft.com/office/drawing/2014/main" id="{06B6FC57-20C8-D13E-F8B2-CF6C8A5E622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448858" y="3717758"/>
            <a:ext cx="1632316" cy="1632316"/>
          </a:xfrm>
          <a:prstGeom prst="rect">
            <a:avLst/>
          </a:prstGeom>
        </p:spPr>
      </p:pic>
      <p:pic>
        <p:nvPicPr>
          <p:cNvPr id="80" name="Graphic 79" descr="Document with solid fill">
            <a:extLst>
              <a:ext uri="{FF2B5EF4-FFF2-40B4-BE49-F238E27FC236}">
                <a16:creationId xmlns:a16="http://schemas.microsoft.com/office/drawing/2014/main" id="{D9716E1C-19AD-BD88-68C9-C697FB3B6683}"/>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197889" y="3886894"/>
            <a:ext cx="1130210" cy="1130210"/>
          </a:xfrm>
          <a:prstGeom prst="rect">
            <a:avLst/>
          </a:prstGeom>
        </p:spPr>
      </p:pic>
    </p:spTree>
    <p:extLst>
      <p:ext uri="{BB962C8B-B14F-4D97-AF65-F5344CB8AC3E}">
        <p14:creationId xmlns:p14="http://schemas.microsoft.com/office/powerpoint/2010/main" val="38878382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E1C2D"/>
        </a:solidFill>
        <a:effectLst/>
      </p:bgPr>
    </p:bg>
    <p:spTree>
      <p:nvGrpSpPr>
        <p:cNvPr id="1" name="">
          <a:extLst>
            <a:ext uri="{FF2B5EF4-FFF2-40B4-BE49-F238E27FC236}">
              <a16:creationId xmlns:a16="http://schemas.microsoft.com/office/drawing/2014/main" id="{B48B1556-B65C-215B-F5F4-C4C101F38D89}"/>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B7573F9A-6FE3-34EA-F5C6-AC2F6D8918B1}"/>
              </a:ext>
            </a:extLst>
          </p:cNvPr>
          <p:cNvSpPr/>
          <p:nvPr/>
        </p:nvSpPr>
        <p:spPr>
          <a:xfrm>
            <a:off x="1308100" y="1354149"/>
            <a:ext cx="2174995" cy="505137"/>
          </a:xfrm>
          <a:prstGeom prst="roundRect">
            <a:avLst>
              <a:gd name="adj" fmla="val 35041"/>
            </a:avLst>
          </a:prstGeom>
          <a:no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DB1860D5-C2AD-F629-DCA7-B297FADCD7B5}"/>
              </a:ext>
            </a:extLst>
          </p:cNvPr>
          <p:cNvSpPr txBox="1"/>
          <p:nvPr/>
        </p:nvSpPr>
        <p:spPr>
          <a:xfrm>
            <a:off x="516531" y="677075"/>
            <a:ext cx="2514919" cy="553998"/>
          </a:xfrm>
          <a:prstGeom prst="rect">
            <a:avLst/>
          </a:prstGeom>
          <a:noFill/>
        </p:spPr>
        <p:txBody>
          <a:bodyPr wrap="none" rtlCol="0">
            <a:spAutoFit/>
          </a:bodyPr>
          <a:lstStyle/>
          <a:p>
            <a:r>
              <a:rPr lang="en-US" dirty="0">
                <a:solidFill>
                  <a:srgbClr val="E1E1E1"/>
                </a:solidFill>
              </a:rPr>
              <a:t>Project: </a:t>
            </a:r>
            <a:r>
              <a:rPr lang="en-US" dirty="0">
                <a:solidFill>
                  <a:srgbClr val="FFC300"/>
                </a:solidFill>
              </a:rPr>
              <a:t>{</a:t>
            </a:r>
            <a:r>
              <a:rPr lang="en-US" dirty="0" err="1">
                <a:solidFill>
                  <a:srgbClr val="FFC300"/>
                </a:solidFill>
              </a:rPr>
              <a:t>project_name</a:t>
            </a:r>
            <a:r>
              <a:rPr lang="en-US" dirty="0">
                <a:solidFill>
                  <a:srgbClr val="FFC300"/>
                </a:solidFill>
              </a:rPr>
              <a:t>}</a:t>
            </a:r>
          </a:p>
          <a:p>
            <a:r>
              <a:rPr lang="en-US" sz="1200" dirty="0">
                <a:solidFill>
                  <a:srgbClr val="8F97B7"/>
                </a:solidFill>
              </a:rPr>
              <a:t>Project ID: {</a:t>
            </a:r>
            <a:r>
              <a:rPr lang="en-US" sz="1200" dirty="0" err="1">
                <a:solidFill>
                  <a:srgbClr val="8F97B7"/>
                </a:solidFill>
              </a:rPr>
              <a:t>full_UUID</a:t>
            </a:r>
            <a:r>
              <a:rPr lang="en-US" sz="1200" dirty="0">
                <a:solidFill>
                  <a:srgbClr val="8F97B7"/>
                </a:solidFill>
              </a:rPr>
              <a:t>}</a:t>
            </a:r>
          </a:p>
        </p:txBody>
      </p:sp>
      <p:sp>
        <p:nvSpPr>
          <p:cNvPr id="3" name="Rectangle: Rounded Corners 2">
            <a:extLst>
              <a:ext uri="{FF2B5EF4-FFF2-40B4-BE49-F238E27FC236}">
                <a16:creationId xmlns:a16="http://schemas.microsoft.com/office/drawing/2014/main" id="{C56B4AA0-4E8F-9BE3-1D83-D2BC706C3706}"/>
              </a:ext>
            </a:extLst>
          </p:cNvPr>
          <p:cNvSpPr/>
          <p:nvPr/>
        </p:nvSpPr>
        <p:spPr>
          <a:xfrm>
            <a:off x="503405" y="1354150"/>
            <a:ext cx="1212683" cy="969932"/>
          </a:xfrm>
          <a:prstGeom prst="roundRect">
            <a:avLst>
              <a:gd name="adj" fmla="val 17766"/>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C200688-11AD-8CAA-02FF-4888E8E9F82C}"/>
              </a:ext>
            </a:extLst>
          </p:cNvPr>
          <p:cNvSpPr txBox="1"/>
          <p:nvPr/>
        </p:nvSpPr>
        <p:spPr>
          <a:xfrm>
            <a:off x="658965" y="1326537"/>
            <a:ext cx="929678" cy="369332"/>
          </a:xfrm>
          <a:prstGeom prst="rect">
            <a:avLst/>
          </a:prstGeom>
          <a:noFill/>
        </p:spPr>
        <p:txBody>
          <a:bodyPr wrap="none" rtlCol="0">
            <a:spAutoFit/>
          </a:bodyPr>
          <a:lstStyle/>
          <a:p>
            <a:r>
              <a:rPr lang="en-US" dirty="0">
                <a:solidFill>
                  <a:srgbClr val="E1E1E1"/>
                </a:solidFill>
              </a:rPr>
              <a:t>Launch</a:t>
            </a:r>
          </a:p>
        </p:txBody>
      </p:sp>
      <p:sp>
        <p:nvSpPr>
          <p:cNvPr id="6" name="Rectangle: Rounded Corners 5">
            <a:extLst>
              <a:ext uri="{FF2B5EF4-FFF2-40B4-BE49-F238E27FC236}">
                <a16:creationId xmlns:a16="http://schemas.microsoft.com/office/drawing/2014/main" id="{8D00BD35-3EB4-8529-4871-6E9B277082CD}"/>
              </a:ext>
            </a:extLst>
          </p:cNvPr>
          <p:cNvSpPr/>
          <p:nvPr/>
        </p:nvSpPr>
        <p:spPr>
          <a:xfrm>
            <a:off x="503403" y="1668256"/>
            <a:ext cx="11185191" cy="4565020"/>
          </a:xfrm>
          <a:prstGeom prst="roundRect">
            <a:avLst>
              <a:gd name="adj" fmla="val 5962"/>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557DCA17-D63E-D514-E545-27096796A780}"/>
              </a:ext>
            </a:extLst>
          </p:cNvPr>
          <p:cNvSpPr/>
          <p:nvPr/>
        </p:nvSpPr>
        <p:spPr>
          <a:xfrm>
            <a:off x="512825" y="1626758"/>
            <a:ext cx="1192150" cy="287650"/>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90250F22-D66B-221F-482F-C2E789119B2C}"/>
              </a:ext>
            </a:extLst>
          </p:cNvPr>
          <p:cNvSpPr/>
          <p:nvPr/>
        </p:nvSpPr>
        <p:spPr>
          <a:xfrm>
            <a:off x="818741" y="1818947"/>
            <a:ext cx="1198523" cy="286492"/>
          </a:xfrm>
          <a:prstGeom prst="roundRect">
            <a:avLst>
              <a:gd name="adj" fmla="val 32223"/>
            </a:avLst>
          </a:prstGeom>
          <a:noFill/>
          <a:ln>
            <a:solidFill>
              <a:srgbClr val="FFC3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Stage project</a:t>
            </a:r>
          </a:p>
        </p:txBody>
      </p:sp>
      <p:sp>
        <p:nvSpPr>
          <p:cNvPr id="8" name="Rectangle: Rounded Corners 7">
            <a:extLst>
              <a:ext uri="{FF2B5EF4-FFF2-40B4-BE49-F238E27FC236}">
                <a16:creationId xmlns:a16="http://schemas.microsoft.com/office/drawing/2014/main" id="{790B2807-952D-1A65-E401-A3A02C869D55}"/>
              </a:ext>
            </a:extLst>
          </p:cNvPr>
          <p:cNvSpPr/>
          <p:nvPr/>
        </p:nvSpPr>
        <p:spPr>
          <a:xfrm>
            <a:off x="658964" y="2296470"/>
            <a:ext cx="3301961" cy="3818144"/>
          </a:xfrm>
          <a:prstGeom prst="roundRect">
            <a:avLst>
              <a:gd name="adj" fmla="val 8358"/>
            </a:avLst>
          </a:prstGeom>
          <a:solidFill>
            <a:srgbClr val="0E1C2D"/>
          </a:solid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CFA9A40-CE4B-7B5C-DC6C-18A1833E015B}"/>
              </a:ext>
            </a:extLst>
          </p:cNvPr>
          <p:cNvSpPr/>
          <p:nvPr/>
        </p:nvSpPr>
        <p:spPr>
          <a:xfrm>
            <a:off x="818741" y="2195310"/>
            <a:ext cx="1396030" cy="224288"/>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Project Description</a:t>
            </a:r>
          </a:p>
        </p:txBody>
      </p:sp>
      <p:cxnSp>
        <p:nvCxnSpPr>
          <p:cNvPr id="12" name="Straight Connector 11">
            <a:extLst>
              <a:ext uri="{FF2B5EF4-FFF2-40B4-BE49-F238E27FC236}">
                <a16:creationId xmlns:a16="http://schemas.microsoft.com/office/drawing/2014/main" id="{019ACBE7-4675-6196-B7AD-E9C861072C9C}"/>
              </a:ext>
            </a:extLst>
          </p:cNvPr>
          <p:cNvCxnSpPr>
            <a:cxnSpLocks/>
          </p:cNvCxnSpPr>
          <p:nvPr/>
        </p:nvCxnSpPr>
        <p:spPr>
          <a:xfrm>
            <a:off x="3788148" y="2767630"/>
            <a:ext cx="0" cy="3018916"/>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E63B725B-E57E-8957-BD0F-0DA6DD321514}"/>
              </a:ext>
            </a:extLst>
          </p:cNvPr>
          <p:cNvCxnSpPr>
            <a:cxnSpLocks/>
          </p:cNvCxnSpPr>
          <p:nvPr/>
        </p:nvCxnSpPr>
        <p:spPr>
          <a:xfrm>
            <a:off x="3788148" y="2764279"/>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sp>
        <p:nvSpPr>
          <p:cNvPr id="18" name="Rectangle: Rounded Corners 17">
            <a:extLst>
              <a:ext uri="{FF2B5EF4-FFF2-40B4-BE49-F238E27FC236}">
                <a16:creationId xmlns:a16="http://schemas.microsoft.com/office/drawing/2014/main" id="{A96EEDD1-C576-1104-CBD6-D2EDFC8DE78C}"/>
              </a:ext>
            </a:extLst>
          </p:cNvPr>
          <p:cNvSpPr/>
          <p:nvPr/>
        </p:nvSpPr>
        <p:spPr>
          <a:xfrm>
            <a:off x="4102232" y="2296469"/>
            <a:ext cx="3359547" cy="3818144"/>
          </a:xfrm>
          <a:prstGeom prst="roundRect">
            <a:avLst>
              <a:gd name="adj" fmla="val 8358"/>
            </a:avLst>
          </a:prstGeom>
          <a:solidFill>
            <a:srgbClr val="0E1C2D"/>
          </a:solid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p>
        </p:txBody>
      </p:sp>
      <p:sp>
        <p:nvSpPr>
          <p:cNvPr id="19" name="Rectangle 18">
            <a:extLst>
              <a:ext uri="{FF2B5EF4-FFF2-40B4-BE49-F238E27FC236}">
                <a16:creationId xmlns:a16="http://schemas.microsoft.com/office/drawing/2014/main" id="{1D3ED922-B543-117A-D089-83FF786C429E}"/>
              </a:ext>
            </a:extLst>
          </p:cNvPr>
          <p:cNvSpPr/>
          <p:nvPr/>
        </p:nvSpPr>
        <p:spPr>
          <a:xfrm>
            <a:off x="4294848" y="2195256"/>
            <a:ext cx="2687874" cy="210746"/>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Orchestrator Generated Mission</a:t>
            </a:r>
          </a:p>
        </p:txBody>
      </p:sp>
      <p:cxnSp>
        <p:nvCxnSpPr>
          <p:cNvPr id="21" name="Straight Connector 20">
            <a:extLst>
              <a:ext uri="{FF2B5EF4-FFF2-40B4-BE49-F238E27FC236}">
                <a16:creationId xmlns:a16="http://schemas.microsoft.com/office/drawing/2014/main" id="{C924BA60-3402-FA51-E5DD-A0B4DA96DA2B}"/>
              </a:ext>
            </a:extLst>
          </p:cNvPr>
          <p:cNvCxnSpPr>
            <a:cxnSpLocks/>
          </p:cNvCxnSpPr>
          <p:nvPr/>
        </p:nvCxnSpPr>
        <p:spPr>
          <a:xfrm>
            <a:off x="7315178" y="2767630"/>
            <a:ext cx="0" cy="3018916"/>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DF4D86BD-5421-49C3-852E-500221BEE77A}"/>
              </a:ext>
            </a:extLst>
          </p:cNvPr>
          <p:cNvCxnSpPr>
            <a:cxnSpLocks/>
          </p:cNvCxnSpPr>
          <p:nvPr/>
        </p:nvCxnSpPr>
        <p:spPr>
          <a:xfrm>
            <a:off x="7315178" y="2767630"/>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9C588454-5450-026B-5968-374C5B46B73F}"/>
              </a:ext>
            </a:extLst>
          </p:cNvPr>
          <p:cNvSpPr txBox="1"/>
          <p:nvPr/>
        </p:nvSpPr>
        <p:spPr>
          <a:xfrm>
            <a:off x="1899316" y="1330953"/>
            <a:ext cx="1273105" cy="369332"/>
          </a:xfrm>
          <a:prstGeom prst="rect">
            <a:avLst/>
          </a:prstGeom>
          <a:noFill/>
        </p:spPr>
        <p:txBody>
          <a:bodyPr wrap="none" rtlCol="0">
            <a:spAutoFit/>
          </a:bodyPr>
          <a:lstStyle/>
          <a:p>
            <a:r>
              <a:rPr lang="en-US" dirty="0">
                <a:solidFill>
                  <a:srgbClr val="8F97B7"/>
                </a:solidFill>
              </a:rPr>
              <a:t>Implement</a:t>
            </a:r>
          </a:p>
        </p:txBody>
      </p:sp>
      <p:sp>
        <p:nvSpPr>
          <p:cNvPr id="30" name="Rectangle: Rounded Corners 29">
            <a:extLst>
              <a:ext uri="{FF2B5EF4-FFF2-40B4-BE49-F238E27FC236}">
                <a16:creationId xmlns:a16="http://schemas.microsoft.com/office/drawing/2014/main" id="{0A966D49-8F61-E499-007B-13BBFF4F531A}"/>
              </a:ext>
            </a:extLst>
          </p:cNvPr>
          <p:cNvSpPr/>
          <p:nvPr/>
        </p:nvSpPr>
        <p:spPr>
          <a:xfrm>
            <a:off x="10105965" y="1859749"/>
            <a:ext cx="1198523" cy="286492"/>
          </a:xfrm>
          <a:prstGeom prst="roundRect">
            <a:avLst>
              <a:gd name="adj" fmla="val 32223"/>
            </a:avLst>
          </a:prstGeom>
          <a:no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1E3147"/>
                </a:solidFill>
              </a:rPr>
              <a:t>Launch Jobs</a:t>
            </a:r>
          </a:p>
        </p:txBody>
      </p:sp>
      <p:cxnSp>
        <p:nvCxnSpPr>
          <p:cNvPr id="31" name="Straight Connector 30">
            <a:extLst>
              <a:ext uri="{FF2B5EF4-FFF2-40B4-BE49-F238E27FC236}">
                <a16:creationId xmlns:a16="http://schemas.microsoft.com/office/drawing/2014/main" id="{593A9623-967F-FEE4-BA63-9DA13ACA5DAE}"/>
              </a:ext>
            </a:extLst>
          </p:cNvPr>
          <p:cNvCxnSpPr>
            <a:cxnSpLocks/>
          </p:cNvCxnSpPr>
          <p:nvPr/>
        </p:nvCxnSpPr>
        <p:spPr>
          <a:xfrm>
            <a:off x="7315178" y="2767630"/>
            <a:ext cx="0" cy="3018916"/>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A62496CE-9380-2BF6-5955-9ED4F520CEC7}"/>
              </a:ext>
            </a:extLst>
          </p:cNvPr>
          <p:cNvCxnSpPr>
            <a:cxnSpLocks/>
          </p:cNvCxnSpPr>
          <p:nvPr/>
        </p:nvCxnSpPr>
        <p:spPr>
          <a:xfrm>
            <a:off x="7315178" y="2767630"/>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sp>
        <p:nvSpPr>
          <p:cNvPr id="33" name="Rectangle: Rounded Corners 32">
            <a:extLst>
              <a:ext uri="{FF2B5EF4-FFF2-40B4-BE49-F238E27FC236}">
                <a16:creationId xmlns:a16="http://schemas.microsoft.com/office/drawing/2014/main" id="{E5E893B2-7B0A-60CB-EEDC-351687D866C3}"/>
              </a:ext>
            </a:extLst>
          </p:cNvPr>
          <p:cNvSpPr/>
          <p:nvPr/>
        </p:nvSpPr>
        <p:spPr>
          <a:xfrm>
            <a:off x="7740989" y="2497733"/>
            <a:ext cx="2919197" cy="540961"/>
          </a:xfrm>
          <a:prstGeom prst="roundRect">
            <a:avLst>
              <a:gd name="adj" fmla="val 30861"/>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0625323E-0E82-10D8-4D66-DDFD81D66CD5}"/>
              </a:ext>
            </a:extLst>
          </p:cNvPr>
          <p:cNvSpPr/>
          <p:nvPr/>
        </p:nvSpPr>
        <p:spPr>
          <a:xfrm>
            <a:off x="7810271" y="2553194"/>
            <a:ext cx="429926" cy="418406"/>
          </a:xfrm>
          <a:prstGeom prst="ellipse">
            <a:avLst/>
          </a:prstGeom>
          <a:solidFill>
            <a:srgbClr val="A9866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0271D1C3-79A1-6D3B-EE38-7027AAD76E00}"/>
              </a:ext>
            </a:extLst>
          </p:cNvPr>
          <p:cNvSpPr txBox="1"/>
          <p:nvPr/>
        </p:nvSpPr>
        <p:spPr>
          <a:xfrm>
            <a:off x="7810270" y="2582965"/>
            <a:ext cx="439544" cy="369332"/>
          </a:xfrm>
          <a:prstGeom prst="rect">
            <a:avLst/>
          </a:prstGeom>
          <a:noFill/>
        </p:spPr>
        <p:txBody>
          <a:bodyPr wrap="none" rtlCol="0">
            <a:spAutoFit/>
          </a:bodyPr>
          <a:lstStyle/>
          <a:p>
            <a:r>
              <a:rPr lang="en-US" b="1" dirty="0">
                <a:solidFill>
                  <a:srgbClr val="0E1C2D"/>
                </a:solidFill>
              </a:rPr>
              <a:t>Or</a:t>
            </a:r>
          </a:p>
        </p:txBody>
      </p:sp>
      <p:sp>
        <p:nvSpPr>
          <p:cNvPr id="36" name="TextBox 35">
            <a:extLst>
              <a:ext uri="{FF2B5EF4-FFF2-40B4-BE49-F238E27FC236}">
                <a16:creationId xmlns:a16="http://schemas.microsoft.com/office/drawing/2014/main" id="{DEE1AB9E-228D-0B48-81DD-D85CA3799CF8}"/>
              </a:ext>
            </a:extLst>
          </p:cNvPr>
          <p:cNvSpPr txBox="1"/>
          <p:nvPr/>
        </p:nvSpPr>
        <p:spPr>
          <a:xfrm>
            <a:off x="8294119" y="2576473"/>
            <a:ext cx="1825087" cy="369332"/>
          </a:xfrm>
          <a:prstGeom prst="rect">
            <a:avLst/>
          </a:prstGeom>
          <a:noFill/>
        </p:spPr>
        <p:txBody>
          <a:bodyPr wrap="square" rtlCol="0">
            <a:spAutoFit/>
          </a:bodyPr>
          <a:lstStyle/>
          <a:p>
            <a:r>
              <a:rPr lang="en-US" dirty="0">
                <a:solidFill>
                  <a:srgbClr val="E1E1E1"/>
                </a:solidFill>
              </a:rPr>
              <a:t>Orchestrator</a:t>
            </a:r>
          </a:p>
        </p:txBody>
      </p:sp>
      <p:pic>
        <p:nvPicPr>
          <p:cNvPr id="37" name="Graphic 36" descr="Information with solid fill">
            <a:extLst>
              <a:ext uri="{FF2B5EF4-FFF2-40B4-BE49-F238E27FC236}">
                <a16:creationId xmlns:a16="http://schemas.microsoft.com/office/drawing/2014/main" id="{667F2514-6DD7-2408-8672-5A6A2300403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54874" y="2632972"/>
            <a:ext cx="270481" cy="270481"/>
          </a:xfrm>
          <a:prstGeom prst="rect">
            <a:avLst/>
          </a:prstGeom>
        </p:spPr>
      </p:pic>
      <p:cxnSp>
        <p:nvCxnSpPr>
          <p:cNvPr id="43" name="Straight Connector 42">
            <a:extLst>
              <a:ext uri="{FF2B5EF4-FFF2-40B4-BE49-F238E27FC236}">
                <a16:creationId xmlns:a16="http://schemas.microsoft.com/office/drawing/2014/main" id="{0D826821-20B4-640B-D520-955E25A49D49}"/>
              </a:ext>
            </a:extLst>
          </p:cNvPr>
          <p:cNvCxnSpPr>
            <a:cxnSpLocks/>
          </p:cNvCxnSpPr>
          <p:nvPr/>
        </p:nvCxnSpPr>
        <p:spPr>
          <a:xfrm flipH="1">
            <a:off x="7740989" y="2324082"/>
            <a:ext cx="3168990" cy="0"/>
          </a:xfrm>
          <a:prstGeom prst="line">
            <a:avLst/>
          </a:prstGeom>
          <a:ln w="22225"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07DA073A-6DA9-0F8C-044F-B841F87F9E00}"/>
              </a:ext>
            </a:extLst>
          </p:cNvPr>
          <p:cNvCxnSpPr>
            <a:cxnSpLocks/>
          </p:cNvCxnSpPr>
          <p:nvPr/>
        </p:nvCxnSpPr>
        <p:spPr>
          <a:xfrm flipH="1">
            <a:off x="7740989" y="3328061"/>
            <a:ext cx="3168990" cy="0"/>
          </a:xfrm>
          <a:prstGeom prst="line">
            <a:avLst/>
          </a:prstGeom>
          <a:ln w="22225"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74534246-2EA0-60B9-DA0A-77A7CA1685AE}"/>
              </a:ext>
            </a:extLst>
          </p:cNvPr>
          <p:cNvCxnSpPr>
            <a:cxnSpLocks/>
          </p:cNvCxnSpPr>
          <p:nvPr/>
        </p:nvCxnSpPr>
        <p:spPr>
          <a:xfrm>
            <a:off x="11147051" y="3584306"/>
            <a:ext cx="0" cy="2327883"/>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7E2B70F1-1D7C-07B1-9FDF-6AFD16A777EB}"/>
              </a:ext>
            </a:extLst>
          </p:cNvPr>
          <p:cNvCxnSpPr>
            <a:cxnSpLocks/>
          </p:cNvCxnSpPr>
          <p:nvPr/>
        </p:nvCxnSpPr>
        <p:spPr>
          <a:xfrm>
            <a:off x="11147051" y="3584306"/>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sp>
        <p:nvSpPr>
          <p:cNvPr id="57" name="Rectangle 56">
            <a:extLst>
              <a:ext uri="{FF2B5EF4-FFF2-40B4-BE49-F238E27FC236}">
                <a16:creationId xmlns:a16="http://schemas.microsoft.com/office/drawing/2014/main" id="{74100452-0951-24A3-5D6E-7F5A203FB070}"/>
              </a:ext>
            </a:extLst>
          </p:cNvPr>
          <p:cNvSpPr/>
          <p:nvPr/>
        </p:nvSpPr>
        <p:spPr>
          <a:xfrm>
            <a:off x="8089767" y="2195257"/>
            <a:ext cx="1040765" cy="238699"/>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Default agent</a:t>
            </a:r>
          </a:p>
        </p:txBody>
      </p:sp>
      <p:sp>
        <p:nvSpPr>
          <p:cNvPr id="58" name="Rectangle 57">
            <a:extLst>
              <a:ext uri="{FF2B5EF4-FFF2-40B4-BE49-F238E27FC236}">
                <a16:creationId xmlns:a16="http://schemas.microsoft.com/office/drawing/2014/main" id="{262196D7-963E-D731-13FD-17DDEF11D0B8}"/>
              </a:ext>
            </a:extLst>
          </p:cNvPr>
          <p:cNvSpPr/>
          <p:nvPr/>
        </p:nvSpPr>
        <p:spPr>
          <a:xfrm>
            <a:off x="8089768" y="3202756"/>
            <a:ext cx="936325" cy="200896"/>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Agent Team</a:t>
            </a:r>
          </a:p>
        </p:txBody>
      </p:sp>
      <p:pic>
        <p:nvPicPr>
          <p:cNvPr id="62" name="Graphic 61" descr="Lock with solid fill">
            <a:extLst>
              <a:ext uri="{FF2B5EF4-FFF2-40B4-BE49-F238E27FC236}">
                <a16:creationId xmlns:a16="http://schemas.microsoft.com/office/drawing/2014/main" id="{441BEB9D-DFBB-C229-3633-EA3CF71CAF5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239078" y="2620009"/>
            <a:ext cx="279802" cy="279802"/>
          </a:xfrm>
          <a:prstGeom prst="rect">
            <a:avLst/>
          </a:prstGeom>
        </p:spPr>
      </p:pic>
      <p:sp>
        <p:nvSpPr>
          <p:cNvPr id="63" name="TextBox 62">
            <a:extLst>
              <a:ext uri="{FF2B5EF4-FFF2-40B4-BE49-F238E27FC236}">
                <a16:creationId xmlns:a16="http://schemas.microsoft.com/office/drawing/2014/main" id="{778159AB-F55E-FADE-9435-1CF3100E3530}"/>
              </a:ext>
            </a:extLst>
          </p:cNvPr>
          <p:cNvSpPr txBox="1"/>
          <p:nvPr/>
        </p:nvSpPr>
        <p:spPr>
          <a:xfrm>
            <a:off x="5421251" y="1736107"/>
            <a:ext cx="985078" cy="369332"/>
          </a:xfrm>
          <a:prstGeom prst="rect">
            <a:avLst/>
          </a:prstGeom>
          <a:noFill/>
        </p:spPr>
        <p:txBody>
          <a:bodyPr wrap="none" rtlCol="0">
            <a:spAutoFit/>
          </a:bodyPr>
          <a:lstStyle/>
          <a:p>
            <a:r>
              <a:rPr lang="en-US" i="1" dirty="0">
                <a:solidFill>
                  <a:srgbClr val="FFC000"/>
                </a:solidFill>
              </a:rPr>
              <a:t>Waiting.</a:t>
            </a:r>
          </a:p>
        </p:txBody>
      </p:sp>
      <p:sp>
        <p:nvSpPr>
          <p:cNvPr id="11" name="TextBox 10">
            <a:extLst>
              <a:ext uri="{FF2B5EF4-FFF2-40B4-BE49-F238E27FC236}">
                <a16:creationId xmlns:a16="http://schemas.microsoft.com/office/drawing/2014/main" id="{74627071-4A68-60F3-ABEA-EC1991E166BA}"/>
              </a:ext>
            </a:extLst>
          </p:cNvPr>
          <p:cNvSpPr txBox="1"/>
          <p:nvPr/>
        </p:nvSpPr>
        <p:spPr>
          <a:xfrm>
            <a:off x="39778" y="47732"/>
            <a:ext cx="3392852" cy="369332"/>
          </a:xfrm>
          <a:prstGeom prst="rect">
            <a:avLst/>
          </a:prstGeom>
          <a:noFill/>
        </p:spPr>
        <p:txBody>
          <a:bodyPr wrap="none" rtlCol="0">
            <a:spAutoFit/>
          </a:bodyPr>
          <a:lstStyle/>
          <a:p>
            <a:r>
              <a:rPr lang="en-US" dirty="0">
                <a:solidFill>
                  <a:schemeClr val="accent5">
                    <a:lumMod val="60000"/>
                    <a:lumOff val="40000"/>
                  </a:schemeClr>
                </a:solidFill>
              </a:rPr>
              <a:t>SLIDE 1e – Launch Tab Elements</a:t>
            </a:r>
          </a:p>
        </p:txBody>
      </p:sp>
      <p:sp>
        <p:nvSpPr>
          <p:cNvPr id="13" name="Rectangle 12">
            <a:extLst>
              <a:ext uri="{FF2B5EF4-FFF2-40B4-BE49-F238E27FC236}">
                <a16:creationId xmlns:a16="http://schemas.microsoft.com/office/drawing/2014/main" id="{347A31B4-B62B-20B9-DFA7-63A135344D92}"/>
              </a:ext>
            </a:extLst>
          </p:cNvPr>
          <p:cNvSpPr/>
          <p:nvPr/>
        </p:nvSpPr>
        <p:spPr>
          <a:xfrm>
            <a:off x="5270016" y="138436"/>
            <a:ext cx="6205355" cy="923576"/>
          </a:xfrm>
          <a:prstGeom prst="rect">
            <a:avLst/>
          </a:prstGeom>
          <a:no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5">
                    <a:lumMod val="60000"/>
                    <a:lumOff val="40000"/>
                  </a:schemeClr>
                </a:solidFill>
              </a:rPr>
              <a:t>Uses Presses ‘stage project’ and gets a prompt to clipboard, user pastes this in agent window on CLI tool</a:t>
            </a:r>
          </a:p>
        </p:txBody>
      </p:sp>
      <p:cxnSp>
        <p:nvCxnSpPr>
          <p:cNvPr id="16" name="Straight Arrow Connector 15">
            <a:extLst>
              <a:ext uri="{FF2B5EF4-FFF2-40B4-BE49-F238E27FC236}">
                <a16:creationId xmlns:a16="http://schemas.microsoft.com/office/drawing/2014/main" id="{6717BC51-23B6-B4D1-E319-2260BED8409F}"/>
              </a:ext>
            </a:extLst>
          </p:cNvPr>
          <p:cNvCxnSpPr>
            <a:cxnSpLocks/>
            <a:stCxn id="13" idx="1"/>
          </p:cNvCxnSpPr>
          <p:nvPr/>
        </p:nvCxnSpPr>
        <p:spPr>
          <a:xfrm flipH="1">
            <a:off x="2214771" y="600224"/>
            <a:ext cx="3055245" cy="1314184"/>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20" name="TextBox 19">
            <a:extLst>
              <a:ext uri="{FF2B5EF4-FFF2-40B4-BE49-F238E27FC236}">
                <a16:creationId xmlns:a16="http://schemas.microsoft.com/office/drawing/2014/main" id="{CD215A8D-58C8-E7C6-160D-C6507B694AE7}"/>
              </a:ext>
            </a:extLst>
          </p:cNvPr>
          <p:cNvSpPr txBox="1"/>
          <p:nvPr/>
        </p:nvSpPr>
        <p:spPr>
          <a:xfrm>
            <a:off x="721581" y="2490502"/>
            <a:ext cx="2884531" cy="3166680"/>
          </a:xfrm>
          <a:prstGeom prst="rect">
            <a:avLst/>
          </a:prstGeom>
          <a:noFill/>
        </p:spPr>
        <p:txBody>
          <a:bodyPr wrap="square" rtlCol="0">
            <a:noAutofit/>
          </a:bodyPr>
          <a:lstStyle/>
          <a:p>
            <a:r>
              <a:rPr lang="en-US" sz="1000" dirty="0">
                <a:solidFill>
                  <a:srgbClr val="8F97B7"/>
                </a:solidFill>
              </a:rPr>
              <a:t>Lorem ipsum dolor sit </a:t>
            </a:r>
            <a:r>
              <a:rPr lang="en-US" sz="1000" dirty="0" err="1">
                <a:solidFill>
                  <a:srgbClr val="8F97B7"/>
                </a:solidFill>
              </a:rPr>
              <a:t>amet</a:t>
            </a:r>
            <a:r>
              <a:rPr lang="en-US" sz="1000" dirty="0">
                <a:solidFill>
                  <a:srgbClr val="8F97B7"/>
                </a:solidFill>
              </a:rPr>
              <a:t>, </a:t>
            </a:r>
            <a:r>
              <a:rPr lang="en-US" sz="1000" dirty="0" err="1">
                <a:solidFill>
                  <a:srgbClr val="8F97B7"/>
                </a:solidFill>
              </a:rPr>
              <a:t>consectetur</a:t>
            </a:r>
            <a:r>
              <a:rPr lang="en-US" sz="1000" dirty="0">
                <a:solidFill>
                  <a:srgbClr val="8F97B7"/>
                </a:solidFill>
              </a:rPr>
              <a:t> </a:t>
            </a:r>
            <a:r>
              <a:rPr lang="en-US" sz="1000" dirty="0" err="1">
                <a:solidFill>
                  <a:srgbClr val="8F97B7"/>
                </a:solidFill>
              </a:rPr>
              <a:t>adipiscing</a:t>
            </a:r>
            <a:r>
              <a:rPr lang="en-US" sz="1000" dirty="0">
                <a:solidFill>
                  <a:srgbClr val="8F97B7"/>
                </a:solidFill>
              </a:rPr>
              <a:t> </a:t>
            </a:r>
            <a:r>
              <a:rPr lang="en-US" sz="1000" dirty="0" err="1">
                <a:solidFill>
                  <a:srgbClr val="8F97B7"/>
                </a:solidFill>
              </a:rPr>
              <a:t>elit</a:t>
            </a:r>
            <a:r>
              <a:rPr lang="en-US" sz="1000" dirty="0">
                <a:solidFill>
                  <a:srgbClr val="8F97B7"/>
                </a:solidFill>
              </a:rPr>
              <a:t>. Nulla </a:t>
            </a:r>
            <a:r>
              <a:rPr lang="en-US" sz="1000" dirty="0" err="1">
                <a:solidFill>
                  <a:srgbClr val="8F97B7"/>
                </a:solidFill>
              </a:rPr>
              <a:t>tincidunt</a:t>
            </a:r>
            <a:r>
              <a:rPr lang="en-US" sz="1000" dirty="0">
                <a:solidFill>
                  <a:srgbClr val="8F97B7"/>
                </a:solidFill>
              </a:rPr>
              <a:t> </a:t>
            </a:r>
            <a:r>
              <a:rPr lang="en-US" sz="1000" dirty="0" err="1">
                <a:solidFill>
                  <a:srgbClr val="8F97B7"/>
                </a:solidFill>
              </a:rPr>
              <a:t>consequat</a:t>
            </a:r>
            <a:r>
              <a:rPr lang="en-US" sz="1000" dirty="0">
                <a:solidFill>
                  <a:srgbClr val="8F97B7"/>
                </a:solidFill>
              </a:rPr>
              <a:t> dolor. </a:t>
            </a:r>
            <a:r>
              <a:rPr lang="en-US" sz="1000" dirty="0" err="1">
                <a:solidFill>
                  <a:srgbClr val="8F97B7"/>
                </a:solidFill>
              </a:rPr>
              <a:t>Praesent</a:t>
            </a:r>
            <a:r>
              <a:rPr lang="en-US" sz="1000" dirty="0">
                <a:solidFill>
                  <a:srgbClr val="8F97B7"/>
                </a:solidFill>
              </a:rPr>
              <a:t> sed </a:t>
            </a:r>
            <a:r>
              <a:rPr lang="en-US" sz="1000" dirty="0" err="1">
                <a:solidFill>
                  <a:srgbClr val="8F97B7"/>
                </a:solidFill>
              </a:rPr>
              <a:t>tempor</a:t>
            </a:r>
            <a:r>
              <a:rPr lang="en-US" sz="1000" dirty="0">
                <a:solidFill>
                  <a:srgbClr val="8F97B7"/>
                </a:solidFill>
              </a:rPr>
              <a:t> </a:t>
            </a:r>
            <a:r>
              <a:rPr lang="en-US" sz="1000" dirty="0" err="1">
                <a:solidFill>
                  <a:srgbClr val="8F97B7"/>
                </a:solidFill>
              </a:rPr>
              <a:t>risus</a:t>
            </a:r>
            <a:r>
              <a:rPr lang="en-US" sz="1000" dirty="0">
                <a:solidFill>
                  <a:srgbClr val="8F97B7"/>
                </a:solidFill>
              </a:rPr>
              <a:t>, vitae convallis </a:t>
            </a:r>
            <a:r>
              <a:rPr lang="en-US" sz="1000" dirty="0" err="1">
                <a:solidFill>
                  <a:srgbClr val="8F97B7"/>
                </a:solidFill>
              </a:rPr>
              <a:t>sapien</a:t>
            </a:r>
            <a:r>
              <a:rPr lang="en-US" sz="1000" dirty="0">
                <a:solidFill>
                  <a:srgbClr val="8F97B7"/>
                </a:solidFill>
              </a:rPr>
              <a:t>. Aenean </a:t>
            </a:r>
            <a:r>
              <a:rPr lang="en-US" sz="1000" dirty="0" err="1">
                <a:solidFill>
                  <a:srgbClr val="8F97B7"/>
                </a:solidFill>
              </a:rPr>
              <a:t>accumsan</a:t>
            </a:r>
            <a:r>
              <a:rPr lang="en-US" sz="1000" dirty="0">
                <a:solidFill>
                  <a:srgbClr val="8F97B7"/>
                </a:solidFill>
              </a:rPr>
              <a:t> </a:t>
            </a:r>
            <a:r>
              <a:rPr lang="en-US" sz="1000" dirty="0" err="1">
                <a:solidFill>
                  <a:srgbClr val="8F97B7"/>
                </a:solidFill>
              </a:rPr>
              <a:t>quis</a:t>
            </a:r>
            <a:r>
              <a:rPr lang="en-US" sz="1000" dirty="0">
                <a:solidFill>
                  <a:srgbClr val="8F97B7"/>
                </a:solidFill>
              </a:rPr>
              <a:t> lorem vitae </a:t>
            </a:r>
            <a:r>
              <a:rPr lang="en-US" sz="1000" dirty="0" err="1">
                <a:solidFill>
                  <a:srgbClr val="8F97B7"/>
                </a:solidFill>
              </a:rPr>
              <a:t>eleifend</a:t>
            </a:r>
            <a:r>
              <a:rPr lang="en-US" sz="1000" dirty="0">
                <a:solidFill>
                  <a:srgbClr val="8F97B7"/>
                </a:solidFill>
              </a:rPr>
              <a:t>. Vestibulum </a:t>
            </a:r>
            <a:r>
              <a:rPr lang="en-US" sz="1000" dirty="0" err="1">
                <a:solidFill>
                  <a:srgbClr val="8F97B7"/>
                </a:solidFill>
              </a:rPr>
              <a:t>sagittis</a:t>
            </a:r>
            <a:r>
              <a:rPr lang="en-US" sz="1000" dirty="0">
                <a:solidFill>
                  <a:srgbClr val="8F97B7"/>
                </a:solidFill>
              </a:rPr>
              <a:t> ipsum nec </a:t>
            </a:r>
            <a:r>
              <a:rPr lang="en-US" sz="1000" dirty="0" err="1">
                <a:solidFill>
                  <a:srgbClr val="8F97B7"/>
                </a:solidFill>
              </a:rPr>
              <a:t>mauris</a:t>
            </a:r>
            <a:r>
              <a:rPr lang="en-US" sz="1000" dirty="0">
                <a:solidFill>
                  <a:srgbClr val="8F97B7"/>
                </a:solidFill>
              </a:rPr>
              <a:t> </a:t>
            </a:r>
            <a:r>
              <a:rPr lang="en-US" sz="1000" dirty="0" err="1">
                <a:solidFill>
                  <a:srgbClr val="8F97B7"/>
                </a:solidFill>
              </a:rPr>
              <a:t>consectetur</a:t>
            </a:r>
            <a:r>
              <a:rPr lang="en-US" sz="1000" dirty="0">
                <a:solidFill>
                  <a:srgbClr val="8F97B7"/>
                </a:solidFill>
              </a:rPr>
              <a:t>, </a:t>
            </a:r>
            <a:r>
              <a:rPr lang="en-US" sz="1000" dirty="0" err="1">
                <a:solidFill>
                  <a:srgbClr val="8F97B7"/>
                </a:solidFill>
              </a:rPr>
              <a:t>commodo</a:t>
            </a:r>
            <a:r>
              <a:rPr lang="en-US" sz="1000" dirty="0">
                <a:solidFill>
                  <a:srgbClr val="8F97B7"/>
                </a:solidFill>
              </a:rPr>
              <a:t> </a:t>
            </a:r>
            <a:r>
              <a:rPr lang="en-US" sz="1000" dirty="0" err="1">
                <a:solidFill>
                  <a:srgbClr val="8F97B7"/>
                </a:solidFill>
              </a:rPr>
              <a:t>posuere</a:t>
            </a:r>
            <a:r>
              <a:rPr lang="en-US" sz="1000" dirty="0">
                <a:solidFill>
                  <a:srgbClr val="8F97B7"/>
                </a:solidFill>
              </a:rPr>
              <a:t> libero </a:t>
            </a:r>
            <a:r>
              <a:rPr lang="en-US" sz="1000" dirty="0" err="1">
                <a:solidFill>
                  <a:srgbClr val="8F97B7"/>
                </a:solidFill>
              </a:rPr>
              <a:t>consectetur</a:t>
            </a:r>
            <a:r>
              <a:rPr lang="en-US" sz="1000" dirty="0">
                <a:solidFill>
                  <a:srgbClr val="8F97B7"/>
                </a:solidFill>
              </a:rPr>
              <a:t>. </a:t>
            </a:r>
          </a:p>
          <a:p>
            <a:endParaRPr lang="en-US" sz="1000" dirty="0">
              <a:solidFill>
                <a:srgbClr val="8F97B7"/>
              </a:solidFill>
            </a:endParaRPr>
          </a:p>
          <a:p>
            <a:r>
              <a:rPr lang="en-US" sz="1000" dirty="0">
                <a:solidFill>
                  <a:srgbClr val="8F97B7"/>
                </a:solidFill>
              </a:rPr>
              <a:t>Donec </a:t>
            </a:r>
            <a:r>
              <a:rPr lang="en-US" sz="1000" dirty="0" err="1">
                <a:solidFill>
                  <a:srgbClr val="8F97B7"/>
                </a:solidFill>
              </a:rPr>
              <a:t>eget</a:t>
            </a:r>
            <a:r>
              <a:rPr lang="en-US" sz="1000" dirty="0">
                <a:solidFill>
                  <a:srgbClr val="8F97B7"/>
                </a:solidFill>
              </a:rPr>
              <a:t> </a:t>
            </a:r>
            <a:r>
              <a:rPr lang="en-US" sz="1000" dirty="0" err="1">
                <a:solidFill>
                  <a:srgbClr val="8F97B7"/>
                </a:solidFill>
              </a:rPr>
              <a:t>tempor</a:t>
            </a:r>
            <a:r>
              <a:rPr lang="en-US" sz="1000" dirty="0">
                <a:solidFill>
                  <a:srgbClr val="8F97B7"/>
                </a:solidFill>
              </a:rPr>
              <a:t> </a:t>
            </a:r>
            <a:r>
              <a:rPr lang="en-US" sz="1000" dirty="0" err="1">
                <a:solidFill>
                  <a:srgbClr val="8F97B7"/>
                </a:solidFill>
              </a:rPr>
              <a:t>nibh</a:t>
            </a:r>
            <a:r>
              <a:rPr lang="en-US" sz="1000" dirty="0">
                <a:solidFill>
                  <a:srgbClr val="8F97B7"/>
                </a:solidFill>
              </a:rPr>
              <a:t>. </a:t>
            </a:r>
            <a:r>
              <a:rPr lang="en-US" sz="1000" dirty="0" err="1">
                <a:solidFill>
                  <a:srgbClr val="8F97B7"/>
                </a:solidFill>
              </a:rPr>
              <a:t>Fusce</a:t>
            </a:r>
            <a:r>
              <a:rPr lang="en-US" sz="1000" dirty="0">
                <a:solidFill>
                  <a:srgbClr val="8F97B7"/>
                </a:solidFill>
              </a:rPr>
              <a:t> </a:t>
            </a:r>
            <a:r>
              <a:rPr lang="en-US" sz="1000" dirty="0" err="1">
                <a:solidFill>
                  <a:srgbClr val="8F97B7"/>
                </a:solidFill>
              </a:rPr>
              <a:t>vehicula</a:t>
            </a:r>
            <a:r>
              <a:rPr lang="en-US" sz="1000" dirty="0">
                <a:solidFill>
                  <a:srgbClr val="8F97B7"/>
                </a:solidFill>
              </a:rPr>
              <a:t> </a:t>
            </a:r>
            <a:r>
              <a:rPr lang="en-US" sz="1000" dirty="0" err="1">
                <a:solidFill>
                  <a:srgbClr val="8F97B7"/>
                </a:solidFill>
              </a:rPr>
              <a:t>ultrices</a:t>
            </a:r>
            <a:r>
              <a:rPr lang="en-US" sz="1000" dirty="0">
                <a:solidFill>
                  <a:srgbClr val="8F97B7"/>
                </a:solidFill>
              </a:rPr>
              <a:t> </a:t>
            </a:r>
            <a:r>
              <a:rPr lang="en-US" sz="1000" dirty="0" err="1">
                <a:solidFill>
                  <a:srgbClr val="8F97B7"/>
                </a:solidFill>
              </a:rPr>
              <a:t>vehicula</a:t>
            </a:r>
            <a:r>
              <a:rPr lang="en-US" sz="1000" dirty="0">
                <a:solidFill>
                  <a:srgbClr val="8F97B7"/>
                </a:solidFill>
              </a:rPr>
              <a:t>. Donec </a:t>
            </a:r>
            <a:r>
              <a:rPr lang="en-US" sz="1000" dirty="0" err="1">
                <a:solidFill>
                  <a:srgbClr val="8F97B7"/>
                </a:solidFill>
              </a:rPr>
              <a:t>consequat</a:t>
            </a:r>
            <a:r>
              <a:rPr lang="en-US" sz="1000" dirty="0">
                <a:solidFill>
                  <a:srgbClr val="8F97B7"/>
                </a:solidFill>
              </a:rPr>
              <a:t>, </a:t>
            </a:r>
            <a:r>
              <a:rPr lang="en-US" sz="1000" dirty="0" err="1">
                <a:solidFill>
                  <a:srgbClr val="8F97B7"/>
                </a:solidFill>
              </a:rPr>
              <a:t>purus</a:t>
            </a:r>
            <a:r>
              <a:rPr lang="en-US" sz="1000" dirty="0">
                <a:solidFill>
                  <a:srgbClr val="8F97B7"/>
                </a:solidFill>
              </a:rPr>
              <a:t> vitae </a:t>
            </a:r>
            <a:r>
              <a:rPr lang="en-US" sz="1000" dirty="0" err="1">
                <a:solidFill>
                  <a:srgbClr val="8F97B7"/>
                </a:solidFill>
              </a:rPr>
              <a:t>vehicula</a:t>
            </a:r>
            <a:r>
              <a:rPr lang="en-US" sz="1000" dirty="0">
                <a:solidFill>
                  <a:srgbClr val="8F97B7"/>
                </a:solidFill>
              </a:rPr>
              <a:t> </a:t>
            </a:r>
            <a:r>
              <a:rPr lang="en-US" sz="1000" dirty="0" err="1">
                <a:solidFill>
                  <a:srgbClr val="8F97B7"/>
                </a:solidFill>
              </a:rPr>
              <a:t>placerat</a:t>
            </a:r>
            <a:r>
              <a:rPr lang="en-US" sz="1000" dirty="0">
                <a:solidFill>
                  <a:srgbClr val="8F97B7"/>
                </a:solidFill>
              </a:rPr>
              <a:t>, </a:t>
            </a:r>
            <a:r>
              <a:rPr lang="en-US" sz="1000" dirty="0" err="1">
                <a:solidFill>
                  <a:srgbClr val="8F97B7"/>
                </a:solidFill>
              </a:rPr>
              <a:t>erat</a:t>
            </a:r>
            <a:r>
              <a:rPr lang="en-US" sz="1000" dirty="0">
                <a:solidFill>
                  <a:srgbClr val="8F97B7"/>
                </a:solidFill>
              </a:rPr>
              <a:t> </a:t>
            </a:r>
            <a:r>
              <a:rPr lang="en-US" sz="1000" dirty="0" err="1">
                <a:solidFill>
                  <a:srgbClr val="8F97B7"/>
                </a:solidFill>
              </a:rPr>
              <a:t>velit</a:t>
            </a:r>
            <a:r>
              <a:rPr lang="en-US" sz="1000" dirty="0">
                <a:solidFill>
                  <a:srgbClr val="8F97B7"/>
                </a:solidFill>
              </a:rPr>
              <a:t> pharetra </a:t>
            </a:r>
            <a:r>
              <a:rPr lang="en-US" sz="1000" dirty="0" err="1">
                <a:solidFill>
                  <a:srgbClr val="8F97B7"/>
                </a:solidFill>
              </a:rPr>
              <a:t>mauris</a:t>
            </a:r>
            <a:r>
              <a:rPr lang="en-US" sz="1000" dirty="0">
                <a:solidFill>
                  <a:srgbClr val="8F97B7"/>
                </a:solidFill>
              </a:rPr>
              <a:t>, </a:t>
            </a:r>
            <a:r>
              <a:rPr lang="en-US" sz="1000" dirty="0" err="1">
                <a:solidFill>
                  <a:srgbClr val="8F97B7"/>
                </a:solidFill>
              </a:rPr>
              <a:t>eu</a:t>
            </a:r>
            <a:r>
              <a:rPr lang="en-US" sz="1000" dirty="0">
                <a:solidFill>
                  <a:srgbClr val="8F97B7"/>
                </a:solidFill>
              </a:rPr>
              <a:t> vestibulum </a:t>
            </a:r>
            <a:r>
              <a:rPr lang="en-US" sz="1000" dirty="0" err="1">
                <a:solidFill>
                  <a:srgbClr val="8F97B7"/>
                </a:solidFill>
              </a:rPr>
              <a:t>tellus</a:t>
            </a:r>
            <a:r>
              <a:rPr lang="en-US" sz="1000" dirty="0">
                <a:solidFill>
                  <a:srgbClr val="8F97B7"/>
                </a:solidFill>
              </a:rPr>
              <a:t> </a:t>
            </a:r>
            <a:r>
              <a:rPr lang="en-US" sz="1000" dirty="0" err="1">
                <a:solidFill>
                  <a:srgbClr val="8F97B7"/>
                </a:solidFill>
              </a:rPr>
              <a:t>sem</a:t>
            </a:r>
            <a:r>
              <a:rPr lang="en-US" sz="1000" dirty="0">
                <a:solidFill>
                  <a:srgbClr val="8F97B7"/>
                </a:solidFill>
              </a:rPr>
              <a:t> at </a:t>
            </a:r>
            <a:r>
              <a:rPr lang="en-US" sz="1000" dirty="0" err="1">
                <a:solidFill>
                  <a:srgbClr val="8F97B7"/>
                </a:solidFill>
              </a:rPr>
              <a:t>massa</a:t>
            </a:r>
            <a:r>
              <a:rPr lang="en-US" sz="1000" dirty="0">
                <a:solidFill>
                  <a:srgbClr val="8F97B7"/>
                </a:solidFill>
              </a:rPr>
              <a:t>. </a:t>
            </a:r>
            <a:r>
              <a:rPr lang="en-US" sz="1000" dirty="0" err="1">
                <a:solidFill>
                  <a:srgbClr val="8F97B7"/>
                </a:solidFill>
              </a:rPr>
              <a:t>Pellentesque</a:t>
            </a:r>
            <a:r>
              <a:rPr lang="en-US" sz="1000" dirty="0">
                <a:solidFill>
                  <a:srgbClr val="8F97B7"/>
                </a:solidFill>
              </a:rPr>
              <a:t> a </a:t>
            </a:r>
            <a:r>
              <a:rPr lang="en-US" sz="1000" dirty="0" err="1">
                <a:solidFill>
                  <a:srgbClr val="8F97B7"/>
                </a:solidFill>
              </a:rPr>
              <a:t>euismod</a:t>
            </a:r>
            <a:r>
              <a:rPr lang="en-US" sz="1000" dirty="0">
                <a:solidFill>
                  <a:srgbClr val="8F97B7"/>
                </a:solidFill>
              </a:rPr>
              <a:t> </a:t>
            </a:r>
            <a:r>
              <a:rPr lang="en-US" sz="1000" dirty="0" err="1">
                <a:solidFill>
                  <a:srgbClr val="8F97B7"/>
                </a:solidFill>
              </a:rPr>
              <a:t>tortor</a:t>
            </a:r>
            <a:r>
              <a:rPr lang="en-US" sz="1000" dirty="0">
                <a:solidFill>
                  <a:srgbClr val="8F97B7"/>
                </a:solidFill>
              </a:rPr>
              <a:t>. Maecenas </a:t>
            </a:r>
            <a:r>
              <a:rPr lang="en-US" sz="1000" dirty="0" err="1">
                <a:solidFill>
                  <a:srgbClr val="8F97B7"/>
                </a:solidFill>
              </a:rPr>
              <a:t>pretium</a:t>
            </a:r>
            <a:r>
              <a:rPr lang="en-US" sz="1000" dirty="0">
                <a:solidFill>
                  <a:srgbClr val="8F97B7"/>
                </a:solidFill>
              </a:rPr>
              <a:t> </a:t>
            </a:r>
            <a:r>
              <a:rPr lang="en-US" sz="1000" dirty="0" err="1">
                <a:solidFill>
                  <a:srgbClr val="8F97B7"/>
                </a:solidFill>
              </a:rPr>
              <a:t>ultrices</a:t>
            </a:r>
            <a:r>
              <a:rPr lang="en-US" sz="1000" dirty="0">
                <a:solidFill>
                  <a:srgbClr val="8F97B7"/>
                </a:solidFill>
              </a:rPr>
              <a:t> </a:t>
            </a:r>
            <a:r>
              <a:rPr lang="en-US" sz="1000" dirty="0" err="1">
                <a:solidFill>
                  <a:srgbClr val="8F97B7"/>
                </a:solidFill>
              </a:rPr>
              <a:t>rutrum</a:t>
            </a:r>
            <a:r>
              <a:rPr lang="en-US" sz="1000" dirty="0">
                <a:solidFill>
                  <a:srgbClr val="8F97B7"/>
                </a:solidFill>
              </a:rPr>
              <a:t>. Cras </a:t>
            </a:r>
            <a:r>
              <a:rPr lang="en-US" sz="1000" dirty="0" err="1">
                <a:solidFill>
                  <a:srgbClr val="8F97B7"/>
                </a:solidFill>
              </a:rPr>
              <a:t>bibendum</a:t>
            </a:r>
            <a:r>
              <a:rPr lang="en-US" sz="1000" dirty="0">
                <a:solidFill>
                  <a:srgbClr val="8F97B7"/>
                </a:solidFill>
              </a:rPr>
              <a:t>, lorem sit </a:t>
            </a:r>
            <a:r>
              <a:rPr lang="en-US" sz="1000" dirty="0" err="1">
                <a:solidFill>
                  <a:srgbClr val="8F97B7"/>
                </a:solidFill>
              </a:rPr>
              <a:t>amet</a:t>
            </a:r>
            <a:r>
              <a:rPr lang="en-US" sz="1000" dirty="0">
                <a:solidFill>
                  <a:srgbClr val="8F97B7"/>
                </a:solidFill>
              </a:rPr>
              <a:t> </a:t>
            </a:r>
            <a:r>
              <a:rPr lang="en-US" sz="1000" dirty="0" err="1">
                <a:solidFill>
                  <a:srgbClr val="8F97B7"/>
                </a:solidFill>
              </a:rPr>
              <a:t>euismod</a:t>
            </a:r>
            <a:r>
              <a:rPr lang="en-US" sz="1000" dirty="0">
                <a:solidFill>
                  <a:srgbClr val="8F97B7"/>
                </a:solidFill>
              </a:rPr>
              <a:t> </a:t>
            </a:r>
            <a:r>
              <a:rPr lang="en-US" sz="1000" dirty="0" err="1">
                <a:solidFill>
                  <a:srgbClr val="8F97B7"/>
                </a:solidFill>
              </a:rPr>
              <a:t>elementum</a:t>
            </a:r>
            <a:r>
              <a:rPr lang="en-US" sz="1000" dirty="0">
                <a:solidFill>
                  <a:srgbClr val="8F97B7"/>
                </a:solidFill>
              </a:rPr>
              <a:t>, </a:t>
            </a:r>
            <a:r>
              <a:rPr lang="en-US" sz="1000" dirty="0" err="1">
                <a:solidFill>
                  <a:srgbClr val="8F97B7"/>
                </a:solidFill>
              </a:rPr>
              <a:t>quam</a:t>
            </a:r>
            <a:r>
              <a:rPr lang="en-US" sz="1000" dirty="0">
                <a:solidFill>
                  <a:srgbClr val="8F97B7"/>
                </a:solidFill>
              </a:rPr>
              <a:t> </a:t>
            </a:r>
            <a:r>
              <a:rPr lang="en-US" sz="1000" dirty="0" err="1">
                <a:solidFill>
                  <a:srgbClr val="8F97B7"/>
                </a:solidFill>
              </a:rPr>
              <a:t>velit</a:t>
            </a:r>
            <a:r>
              <a:rPr lang="en-US" sz="1000" dirty="0">
                <a:solidFill>
                  <a:srgbClr val="8F97B7"/>
                </a:solidFill>
              </a:rPr>
              <a:t> </a:t>
            </a:r>
            <a:r>
              <a:rPr lang="en-US" sz="1000" dirty="0" err="1">
                <a:solidFill>
                  <a:srgbClr val="8F97B7"/>
                </a:solidFill>
              </a:rPr>
              <a:t>lobortis</a:t>
            </a:r>
            <a:r>
              <a:rPr lang="en-US" sz="1000" dirty="0">
                <a:solidFill>
                  <a:srgbClr val="8F97B7"/>
                </a:solidFill>
              </a:rPr>
              <a:t> ex, a </a:t>
            </a:r>
            <a:r>
              <a:rPr lang="en-US" sz="1000" dirty="0" err="1">
                <a:solidFill>
                  <a:srgbClr val="8F97B7"/>
                </a:solidFill>
              </a:rPr>
              <a:t>commodo</a:t>
            </a:r>
            <a:r>
              <a:rPr lang="en-US" sz="1000" dirty="0">
                <a:solidFill>
                  <a:srgbClr val="8F97B7"/>
                </a:solidFill>
              </a:rPr>
              <a:t> </a:t>
            </a:r>
            <a:r>
              <a:rPr lang="en-US" sz="1000" dirty="0" err="1">
                <a:solidFill>
                  <a:srgbClr val="8F97B7"/>
                </a:solidFill>
              </a:rPr>
              <a:t>sem</a:t>
            </a:r>
            <a:r>
              <a:rPr lang="en-US" sz="1000" dirty="0">
                <a:solidFill>
                  <a:srgbClr val="8F97B7"/>
                </a:solidFill>
              </a:rPr>
              <a:t> </a:t>
            </a:r>
            <a:r>
              <a:rPr lang="en-US" sz="1000" dirty="0" err="1">
                <a:solidFill>
                  <a:srgbClr val="8F97B7"/>
                </a:solidFill>
              </a:rPr>
              <a:t>neque</a:t>
            </a:r>
            <a:r>
              <a:rPr lang="en-US" sz="1000" dirty="0">
                <a:solidFill>
                  <a:srgbClr val="8F97B7"/>
                </a:solidFill>
              </a:rPr>
              <a:t> in </a:t>
            </a:r>
            <a:r>
              <a:rPr lang="en-US" sz="1000" dirty="0" err="1">
                <a:solidFill>
                  <a:srgbClr val="8F97B7"/>
                </a:solidFill>
              </a:rPr>
              <a:t>turpis</a:t>
            </a:r>
            <a:r>
              <a:rPr lang="en-US" sz="1000" dirty="0">
                <a:solidFill>
                  <a:srgbClr val="8F97B7"/>
                </a:solidFill>
              </a:rPr>
              <a:t>. </a:t>
            </a:r>
          </a:p>
          <a:p>
            <a:endParaRPr lang="en-US" sz="1000" dirty="0">
              <a:solidFill>
                <a:srgbClr val="8F97B7"/>
              </a:solidFill>
            </a:endParaRPr>
          </a:p>
          <a:p>
            <a:r>
              <a:rPr lang="en-US" sz="1000" dirty="0">
                <a:solidFill>
                  <a:srgbClr val="8F97B7"/>
                </a:solidFill>
              </a:rPr>
              <a:t>Proin a </a:t>
            </a:r>
            <a:r>
              <a:rPr lang="en-US" sz="1000" dirty="0" err="1">
                <a:solidFill>
                  <a:srgbClr val="8F97B7"/>
                </a:solidFill>
              </a:rPr>
              <a:t>massa</a:t>
            </a:r>
            <a:r>
              <a:rPr lang="en-US" sz="1000" dirty="0">
                <a:solidFill>
                  <a:srgbClr val="8F97B7"/>
                </a:solidFill>
              </a:rPr>
              <a:t> </a:t>
            </a:r>
            <a:r>
              <a:rPr lang="en-US" sz="1000" dirty="0" err="1">
                <a:solidFill>
                  <a:srgbClr val="8F97B7"/>
                </a:solidFill>
              </a:rPr>
              <a:t>eget</a:t>
            </a:r>
            <a:r>
              <a:rPr lang="en-US" sz="1000" dirty="0">
                <a:solidFill>
                  <a:srgbClr val="8F97B7"/>
                </a:solidFill>
              </a:rPr>
              <a:t> </a:t>
            </a:r>
            <a:r>
              <a:rPr lang="en-US" sz="1000" dirty="0" err="1">
                <a:solidFill>
                  <a:srgbClr val="8F97B7"/>
                </a:solidFill>
              </a:rPr>
              <a:t>sapien</a:t>
            </a:r>
            <a:r>
              <a:rPr lang="en-US" sz="1000" dirty="0">
                <a:solidFill>
                  <a:srgbClr val="8F97B7"/>
                </a:solidFill>
              </a:rPr>
              <a:t> </a:t>
            </a:r>
            <a:r>
              <a:rPr lang="en-US" sz="1000" dirty="0" err="1">
                <a:solidFill>
                  <a:srgbClr val="8F97B7"/>
                </a:solidFill>
              </a:rPr>
              <a:t>sagittis</a:t>
            </a:r>
            <a:r>
              <a:rPr lang="en-US" sz="1000" dirty="0">
                <a:solidFill>
                  <a:srgbClr val="8F97B7"/>
                </a:solidFill>
              </a:rPr>
              <a:t> convallis. </a:t>
            </a:r>
            <a:r>
              <a:rPr lang="en-US" sz="1000" dirty="0" err="1">
                <a:solidFill>
                  <a:srgbClr val="8F97B7"/>
                </a:solidFill>
              </a:rPr>
              <a:t>Suspendisse</a:t>
            </a:r>
            <a:r>
              <a:rPr lang="en-US" sz="1000" dirty="0">
                <a:solidFill>
                  <a:srgbClr val="8F97B7"/>
                </a:solidFill>
              </a:rPr>
              <a:t> </a:t>
            </a:r>
            <a:r>
              <a:rPr lang="en-US" sz="1000" dirty="0" err="1">
                <a:solidFill>
                  <a:srgbClr val="8F97B7"/>
                </a:solidFill>
              </a:rPr>
              <a:t>commodo</a:t>
            </a:r>
            <a:r>
              <a:rPr lang="en-US" sz="1000" dirty="0">
                <a:solidFill>
                  <a:srgbClr val="8F97B7"/>
                </a:solidFill>
              </a:rPr>
              <a:t> </a:t>
            </a:r>
            <a:r>
              <a:rPr lang="en-US" sz="1000" dirty="0" err="1">
                <a:solidFill>
                  <a:srgbClr val="8F97B7"/>
                </a:solidFill>
              </a:rPr>
              <a:t>elit</a:t>
            </a:r>
            <a:r>
              <a:rPr lang="en-US" sz="1000" dirty="0">
                <a:solidFill>
                  <a:srgbClr val="8F97B7"/>
                </a:solidFill>
              </a:rPr>
              <a:t> </a:t>
            </a:r>
            <a:r>
              <a:rPr lang="en-US" sz="1000" dirty="0" err="1">
                <a:solidFill>
                  <a:srgbClr val="8F97B7"/>
                </a:solidFill>
              </a:rPr>
              <a:t>quis</a:t>
            </a:r>
            <a:r>
              <a:rPr lang="en-US" sz="1000" dirty="0">
                <a:solidFill>
                  <a:srgbClr val="8F97B7"/>
                </a:solidFill>
              </a:rPr>
              <a:t> </a:t>
            </a:r>
            <a:r>
              <a:rPr lang="en-US" sz="1000" dirty="0" err="1">
                <a:solidFill>
                  <a:srgbClr val="8F97B7"/>
                </a:solidFill>
              </a:rPr>
              <a:t>arcu</a:t>
            </a:r>
            <a:r>
              <a:rPr lang="en-US" sz="1000" dirty="0">
                <a:solidFill>
                  <a:srgbClr val="8F97B7"/>
                </a:solidFill>
              </a:rPr>
              <a:t> dictum porta. Sed </a:t>
            </a:r>
            <a:r>
              <a:rPr lang="en-US" sz="1000" dirty="0" err="1">
                <a:solidFill>
                  <a:srgbClr val="8F97B7"/>
                </a:solidFill>
              </a:rPr>
              <a:t>consequat</a:t>
            </a:r>
            <a:r>
              <a:rPr lang="en-US" sz="1000" dirty="0">
                <a:solidFill>
                  <a:srgbClr val="8F97B7"/>
                </a:solidFill>
              </a:rPr>
              <a:t> </a:t>
            </a:r>
            <a:r>
              <a:rPr lang="en-US" sz="1000" dirty="0" err="1">
                <a:solidFill>
                  <a:srgbClr val="8F97B7"/>
                </a:solidFill>
              </a:rPr>
              <a:t>ullamcorper</a:t>
            </a:r>
            <a:r>
              <a:rPr lang="en-US" sz="1000" dirty="0">
                <a:solidFill>
                  <a:srgbClr val="8F97B7"/>
                </a:solidFill>
              </a:rPr>
              <a:t> eros, id……..</a:t>
            </a:r>
          </a:p>
        </p:txBody>
      </p:sp>
      <p:pic>
        <p:nvPicPr>
          <p:cNvPr id="23" name="Graphic 22" descr="Pencil with solid fill">
            <a:extLst>
              <a:ext uri="{FF2B5EF4-FFF2-40B4-BE49-F238E27FC236}">
                <a16:creationId xmlns:a16="http://schemas.microsoft.com/office/drawing/2014/main" id="{77122BFA-B81D-5148-94CF-51067597625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108216" y="5719185"/>
            <a:ext cx="258055" cy="258055"/>
          </a:xfrm>
          <a:prstGeom prst="rect">
            <a:avLst/>
          </a:prstGeom>
        </p:spPr>
      </p:pic>
      <p:pic>
        <p:nvPicPr>
          <p:cNvPr id="15" name="Graphic 14">
            <a:extLst>
              <a:ext uri="{FF2B5EF4-FFF2-40B4-BE49-F238E27FC236}">
                <a16:creationId xmlns:a16="http://schemas.microsoft.com/office/drawing/2014/main" id="{01C157A2-14C5-EFA2-8CF1-9BAA8522F03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448858" y="3717758"/>
            <a:ext cx="1632316" cy="1632316"/>
          </a:xfrm>
          <a:prstGeom prst="rect">
            <a:avLst/>
          </a:prstGeom>
        </p:spPr>
      </p:pic>
      <p:pic>
        <p:nvPicPr>
          <p:cNvPr id="25" name="Graphic 24" descr="Document with solid fill">
            <a:extLst>
              <a:ext uri="{FF2B5EF4-FFF2-40B4-BE49-F238E27FC236}">
                <a16:creationId xmlns:a16="http://schemas.microsoft.com/office/drawing/2014/main" id="{4612C38F-5A49-6309-6F73-91CF6271A4E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197889" y="3886894"/>
            <a:ext cx="1130210" cy="1130210"/>
          </a:xfrm>
          <a:prstGeom prst="rect">
            <a:avLst/>
          </a:prstGeom>
        </p:spPr>
      </p:pic>
    </p:spTree>
    <p:extLst>
      <p:ext uri="{BB962C8B-B14F-4D97-AF65-F5344CB8AC3E}">
        <p14:creationId xmlns:p14="http://schemas.microsoft.com/office/powerpoint/2010/main" val="29788324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E1C2D"/>
        </a:solidFill>
        <a:effectLst/>
      </p:bgPr>
    </p:bg>
    <p:spTree>
      <p:nvGrpSpPr>
        <p:cNvPr id="1" name="">
          <a:extLst>
            <a:ext uri="{FF2B5EF4-FFF2-40B4-BE49-F238E27FC236}">
              <a16:creationId xmlns:a16="http://schemas.microsoft.com/office/drawing/2014/main" id="{222E73CB-79EE-7D7E-F7E5-E445ECE80890}"/>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6375F0BA-4585-3FB5-94F9-6816DE6DBA1C}"/>
              </a:ext>
            </a:extLst>
          </p:cNvPr>
          <p:cNvSpPr/>
          <p:nvPr/>
        </p:nvSpPr>
        <p:spPr>
          <a:xfrm>
            <a:off x="1308100" y="1354149"/>
            <a:ext cx="2174995" cy="505137"/>
          </a:xfrm>
          <a:prstGeom prst="roundRect">
            <a:avLst>
              <a:gd name="adj" fmla="val 33658"/>
            </a:avLst>
          </a:prstGeom>
          <a:no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4BFD9CC3-D32D-5E6D-8BDC-198652983A2D}"/>
              </a:ext>
            </a:extLst>
          </p:cNvPr>
          <p:cNvSpPr txBox="1"/>
          <p:nvPr/>
        </p:nvSpPr>
        <p:spPr>
          <a:xfrm>
            <a:off x="516531" y="677075"/>
            <a:ext cx="2514919" cy="553998"/>
          </a:xfrm>
          <a:prstGeom prst="rect">
            <a:avLst/>
          </a:prstGeom>
          <a:noFill/>
        </p:spPr>
        <p:txBody>
          <a:bodyPr wrap="none" rtlCol="0">
            <a:spAutoFit/>
          </a:bodyPr>
          <a:lstStyle/>
          <a:p>
            <a:r>
              <a:rPr lang="en-US" dirty="0">
                <a:solidFill>
                  <a:srgbClr val="E1E1E1"/>
                </a:solidFill>
              </a:rPr>
              <a:t>Project: </a:t>
            </a:r>
            <a:r>
              <a:rPr lang="en-US" dirty="0">
                <a:solidFill>
                  <a:srgbClr val="FFC300"/>
                </a:solidFill>
              </a:rPr>
              <a:t>{</a:t>
            </a:r>
            <a:r>
              <a:rPr lang="en-US" dirty="0" err="1">
                <a:solidFill>
                  <a:srgbClr val="FFC300"/>
                </a:solidFill>
              </a:rPr>
              <a:t>project_name</a:t>
            </a:r>
            <a:r>
              <a:rPr lang="en-US" dirty="0">
                <a:solidFill>
                  <a:srgbClr val="FFC300"/>
                </a:solidFill>
              </a:rPr>
              <a:t>}</a:t>
            </a:r>
          </a:p>
          <a:p>
            <a:r>
              <a:rPr lang="en-US" sz="1200" dirty="0">
                <a:solidFill>
                  <a:srgbClr val="8F97B7"/>
                </a:solidFill>
              </a:rPr>
              <a:t>Project ID: {</a:t>
            </a:r>
            <a:r>
              <a:rPr lang="en-US" sz="1200" dirty="0" err="1">
                <a:solidFill>
                  <a:srgbClr val="8F97B7"/>
                </a:solidFill>
              </a:rPr>
              <a:t>full_UUID</a:t>
            </a:r>
            <a:r>
              <a:rPr lang="en-US" sz="1200" dirty="0">
                <a:solidFill>
                  <a:srgbClr val="8F97B7"/>
                </a:solidFill>
              </a:rPr>
              <a:t>}</a:t>
            </a:r>
          </a:p>
        </p:txBody>
      </p:sp>
      <p:sp>
        <p:nvSpPr>
          <p:cNvPr id="3" name="Rectangle: Rounded Corners 2">
            <a:extLst>
              <a:ext uri="{FF2B5EF4-FFF2-40B4-BE49-F238E27FC236}">
                <a16:creationId xmlns:a16="http://schemas.microsoft.com/office/drawing/2014/main" id="{DC4A8B57-0777-D831-0F81-C84FE846EF18}"/>
              </a:ext>
            </a:extLst>
          </p:cNvPr>
          <p:cNvSpPr/>
          <p:nvPr/>
        </p:nvSpPr>
        <p:spPr>
          <a:xfrm>
            <a:off x="503405" y="1354150"/>
            <a:ext cx="1212683" cy="969932"/>
          </a:xfrm>
          <a:prstGeom prst="roundRect">
            <a:avLst>
              <a:gd name="adj" fmla="val 17766"/>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318DFD6-1B5F-50AE-B944-8DAF846769ED}"/>
              </a:ext>
            </a:extLst>
          </p:cNvPr>
          <p:cNvSpPr txBox="1"/>
          <p:nvPr/>
        </p:nvSpPr>
        <p:spPr>
          <a:xfrm>
            <a:off x="658965" y="1326537"/>
            <a:ext cx="929678" cy="369332"/>
          </a:xfrm>
          <a:prstGeom prst="rect">
            <a:avLst/>
          </a:prstGeom>
          <a:noFill/>
        </p:spPr>
        <p:txBody>
          <a:bodyPr wrap="none" rtlCol="0">
            <a:spAutoFit/>
          </a:bodyPr>
          <a:lstStyle/>
          <a:p>
            <a:r>
              <a:rPr lang="en-US" dirty="0">
                <a:solidFill>
                  <a:srgbClr val="E1E1E1"/>
                </a:solidFill>
              </a:rPr>
              <a:t>Launch</a:t>
            </a:r>
          </a:p>
        </p:txBody>
      </p:sp>
      <p:sp>
        <p:nvSpPr>
          <p:cNvPr id="6" name="Rectangle: Rounded Corners 5">
            <a:extLst>
              <a:ext uri="{FF2B5EF4-FFF2-40B4-BE49-F238E27FC236}">
                <a16:creationId xmlns:a16="http://schemas.microsoft.com/office/drawing/2014/main" id="{4C41E70E-1375-19F4-6DEE-FDCD572C471E}"/>
              </a:ext>
            </a:extLst>
          </p:cNvPr>
          <p:cNvSpPr/>
          <p:nvPr/>
        </p:nvSpPr>
        <p:spPr>
          <a:xfrm>
            <a:off x="503403" y="1668256"/>
            <a:ext cx="11185191" cy="4565020"/>
          </a:xfrm>
          <a:prstGeom prst="roundRect">
            <a:avLst>
              <a:gd name="adj" fmla="val 5962"/>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948A8CB3-1292-4CE7-5941-59116C6F14CC}"/>
              </a:ext>
            </a:extLst>
          </p:cNvPr>
          <p:cNvSpPr/>
          <p:nvPr/>
        </p:nvSpPr>
        <p:spPr>
          <a:xfrm>
            <a:off x="512825" y="1626758"/>
            <a:ext cx="1192150" cy="287650"/>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87F1FF52-E378-3053-2393-A8F877147924}"/>
              </a:ext>
            </a:extLst>
          </p:cNvPr>
          <p:cNvSpPr/>
          <p:nvPr/>
        </p:nvSpPr>
        <p:spPr>
          <a:xfrm>
            <a:off x="658964" y="2296470"/>
            <a:ext cx="3301961" cy="3818144"/>
          </a:xfrm>
          <a:prstGeom prst="roundRect">
            <a:avLst>
              <a:gd name="adj" fmla="val 8358"/>
            </a:avLst>
          </a:prstGeom>
          <a:solidFill>
            <a:srgbClr val="0E1C2D"/>
          </a:solid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C8EE554-59E2-DEF4-D5A1-9BC326531A7C}"/>
              </a:ext>
            </a:extLst>
          </p:cNvPr>
          <p:cNvSpPr/>
          <p:nvPr/>
        </p:nvSpPr>
        <p:spPr>
          <a:xfrm>
            <a:off x="818741" y="2195310"/>
            <a:ext cx="1396030" cy="224288"/>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Project Description</a:t>
            </a:r>
          </a:p>
        </p:txBody>
      </p:sp>
      <p:cxnSp>
        <p:nvCxnSpPr>
          <p:cNvPr id="12" name="Straight Connector 11">
            <a:extLst>
              <a:ext uri="{FF2B5EF4-FFF2-40B4-BE49-F238E27FC236}">
                <a16:creationId xmlns:a16="http://schemas.microsoft.com/office/drawing/2014/main" id="{B2545923-76A3-26B8-743D-BCBA0C7CD025}"/>
              </a:ext>
            </a:extLst>
          </p:cNvPr>
          <p:cNvCxnSpPr>
            <a:cxnSpLocks/>
          </p:cNvCxnSpPr>
          <p:nvPr/>
        </p:nvCxnSpPr>
        <p:spPr>
          <a:xfrm>
            <a:off x="3788148" y="2767630"/>
            <a:ext cx="0" cy="3018916"/>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1133D900-3A72-86C6-98BC-F683A9EC8E80}"/>
              </a:ext>
            </a:extLst>
          </p:cNvPr>
          <p:cNvCxnSpPr>
            <a:cxnSpLocks/>
          </p:cNvCxnSpPr>
          <p:nvPr/>
        </p:nvCxnSpPr>
        <p:spPr>
          <a:xfrm>
            <a:off x="3788148" y="2764279"/>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sp>
        <p:nvSpPr>
          <p:cNvPr id="18" name="Rectangle: Rounded Corners 17">
            <a:extLst>
              <a:ext uri="{FF2B5EF4-FFF2-40B4-BE49-F238E27FC236}">
                <a16:creationId xmlns:a16="http://schemas.microsoft.com/office/drawing/2014/main" id="{D056DB37-43FB-FB61-C3C0-9C8B86CAC74C}"/>
              </a:ext>
            </a:extLst>
          </p:cNvPr>
          <p:cNvSpPr/>
          <p:nvPr/>
        </p:nvSpPr>
        <p:spPr>
          <a:xfrm>
            <a:off x="4102232" y="2296469"/>
            <a:ext cx="3359547" cy="3818144"/>
          </a:xfrm>
          <a:prstGeom prst="roundRect">
            <a:avLst>
              <a:gd name="adj" fmla="val 8358"/>
            </a:avLst>
          </a:prstGeom>
          <a:solidFill>
            <a:srgbClr val="0E1C2D"/>
          </a:solid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p>
        </p:txBody>
      </p:sp>
      <p:sp>
        <p:nvSpPr>
          <p:cNvPr id="19" name="Rectangle 18">
            <a:extLst>
              <a:ext uri="{FF2B5EF4-FFF2-40B4-BE49-F238E27FC236}">
                <a16:creationId xmlns:a16="http://schemas.microsoft.com/office/drawing/2014/main" id="{E2CE52CA-4DAC-0C6E-E6B6-9AA729DCFF22}"/>
              </a:ext>
            </a:extLst>
          </p:cNvPr>
          <p:cNvSpPr/>
          <p:nvPr/>
        </p:nvSpPr>
        <p:spPr>
          <a:xfrm>
            <a:off x="4294848" y="2195255"/>
            <a:ext cx="2147833" cy="224287"/>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Orchestrator Generated Mission</a:t>
            </a:r>
          </a:p>
        </p:txBody>
      </p:sp>
      <p:cxnSp>
        <p:nvCxnSpPr>
          <p:cNvPr id="21" name="Straight Connector 20">
            <a:extLst>
              <a:ext uri="{FF2B5EF4-FFF2-40B4-BE49-F238E27FC236}">
                <a16:creationId xmlns:a16="http://schemas.microsoft.com/office/drawing/2014/main" id="{604F6A1D-1EF9-9ECF-FEA5-F6E479905E56}"/>
              </a:ext>
            </a:extLst>
          </p:cNvPr>
          <p:cNvCxnSpPr>
            <a:cxnSpLocks/>
          </p:cNvCxnSpPr>
          <p:nvPr/>
        </p:nvCxnSpPr>
        <p:spPr>
          <a:xfrm>
            <a:off x="7315178" y="2767630"/>
            <a:ext cx="0" cy="3018916"/>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6C5D6CCE-01B5-F2AC-17CE-4FFAC0AE145A}"/>
              </a:ext>
            </a:extLst>
          </p:cNvPr>
          <p:cNvCxnSpPr>
            <a:cxnSpLocks/>
          </p:cNvCxnSpPr>
          <p:nvPr/>
        </p:nvCxnSpPr>
        <p:spPr>
          <a:xfrm>
            <a:off x="7315178" y="2767630"/>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62D85248-A251-DEAB-5204-A8326FFC0E5B}"/>
              </a:ext>
            </a:extLst>
          </p:cNvPr>
          <p:cNvSpPr txBox="1"/>
          <p:nvPr/>
        </p:nvSpPr>
        <p:spPr>
          <a:xfrm>
            <a:off x="1899316" y="1330953"/>
            <a:ext cx="1273105" cy="369332"/>
          </a:xfrm>
          <a:prstGeom prst="rect">
            <a:avLst/>
          </a:prstGeom>
          <a:noFill/>
        </p:spPr>
        <p:txBody>
          <a:bodyPr wrap="none" rtlCol="0">
            <a:spAutoFit/>
          </a:bodyPr>
          <a:lstStyle/>
          <a:p>
            <a:r>
              <a:rPr lang="en-US" dirty="0">
                <a:solidFill>
                  <a:srgbClr val="8F97B7"/>
                </a:solidFill>
              </a:rPr>
              <a:t>Implement</a:t>
            </a:r>
          </a:p>
        </p:txBody>
      </p:sp>
      <p:sp>
        <p:nvSpPr>
          <p:cNvPr id="30" name="Rectangle: Rounded Corners 29">
            <a:extLst>
              <a:ext uri="{FF2B5EF4-FFF2-40B4-BE49-F238E27FC236}">
                <a16:creationId xmlns:a16="http://schemas.microsoft.com/office/drawing/2014/main" id="{DC29F005-099E-CAF5-29D2-644591625307}"/>
              </a:ext>
            </a:extLst>
          </p:cNvPr>
          <p:cNvSpPr/>
          <p:nvPr/>
        </p:nvSpPr>
        <p:spPr>
          <a:xfrm>
            <a:off x="10105965" y="1859749"/>
            <a:ext cx="1198523" cy="286492"/>
          </a:xfrm>
          <a:prstGeom prst="roundRect">
            <a:avLst>
              <a:gd name="adj" fmla="val 32223"/>
            </a:avLst>
          </a:prstGeom>
          <a:no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1E3147"/>
                </a:solidFill>
              </a:rPr>
              <a:t>Launch Jobs</a:t>
            </a:r>
          </a:p>
        </p:txBody>
      </p:sp>
      <p:cxnSp>
        <p:nvCxnSpPr>
          <p:cNvPr id="31" name="Straight Connector 30">
            <a:extLst>
              <a:ext uri="{FF2B5EF4-FFF2-40B4-BE49-F238E27FC236}">
                <a16:creationId xmlns:a16="http://schemas.microsoft.com/office/drawing/2014/main" id="{9F7ACA12-26D9-6BBE-19C3-6EF3813B7754}"/>
              </a:ext>
            </a:extLst>
          </p:cNvPr>
          <p:cNvCxnSpPr>
            <a:cxnSpLocks/>
          </p:cNvCxnSpPr>
          <p:nvPr/>
        </p:nvCxnSpPr>
        <p:spPr>
          <a:xfrm>
            <a:off x="7315178" y="2767630"/>
            <a:ext cx="0" cy="3018916"/>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B3F9BB5C-A36B-69B8-2A30-3CFDDEC8F9D8}"/>
              </a:ext>
            </a:extLst>
          </p:cNvPr>
          <p:cNvCxnSpPr>
            <a:cxnSpLocks/>
          </p:cNvCxnSpPr>
          <p:nvPr/>
        </p:nvCxnSpPr>
        <p:spPr>
          <a:xfrm>
            <a:off x="7315178" y="2767630"/>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sp>
        <p:nvSpPr>
          <p:cNvPr id="33" name="Rectangle: Rounded Corners 32">
            <a:extLst>
              <a:ext uri="{FF2B5EF4-FFF2-40B4-BE49-F238E27FC236}">
                <a16:creationId xmlns:a16="http://schemas.microsoft.com/office/drawing/2014/main" id="{A8A8D396-163E-1958-61F5-6A2C54410578}"/>
              </a:ext>
            </a:extLst>
          </p:cNvPr>
          <p:cNvSpPr/>
          <p:nvPr/>
        </p:nvSpPr>
        <p:spPr>
          <a:xfrm>
            <a:off x="7740989" y="2497733"/>
            <a:ext cx="2919197" cy="540961"/>
          </a:xfrm>
          <a:prstGeom prst="roundRect">
            <a:avLst>
              <a:gd name="adj" fmla="val 30861"/>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B8082572-ACF2-11AD-9B32-A6847FE5CBE9}"/>
              </a:ext>
            </a:extLst>
          </p:cNvPr>
          <p:cNvSpPr/>
          <p:nvPr/>
        </p:nvSpPr>
        <p:spPr>
          <a:xfrm>
            <a:off x="7810271" y="2553194"/>
            <a:ext cx="429926" cy="418406"/>
          </a:xfrm>
          <a:prstGeom prst="ellipse">
            <a:avLst/>
          </a:prstGeom>
          <a:solidFill>
            <a:srgbClr val="A9866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E17DB3E5-0672-1652-858E-642F232F4DF3}"/>
              </a:ext>
            </a:extLst>
          </p:cNvPr>
          <p:cNvSpPr txBox="1"/>
          <p:nvPr/>
        </p:nvSpPr>
        <p:spPr>
          <a:xfrm>
            <a:off x="7810270" y="2582965"/>
            <a:ext cx="439544" cy="369332"/>
          </a:xfrm>
          <a:prstGeom prst="rect">
            <a:avLst/>
          </a:prstGeom>
          <a:noFill/>
        </p:spPr>
        <p:txBody>
          <a:bodyPr wrap="none" rtlCol="0">
            <a:spAutoFit/>
          </a:bodyPr>
          <a:lstStyle/>
          <a:p>
            <a:r>
              <a:rPr lang="en-US" b="1" dirty="0">
                <a:solidFill>
                  <a:srgbClr val="0E1C2D"/>
                </a:solidFill>
              </a:rPr>
              <a:t>Or</a:t>
            </a:r>
          </a:p>
        </p:txBody>
      </p:sp>
      <p:sp>
        <p:nvSpPr>
          <p:cNvPr id="36" name="TextBox 35">
            <a:extLst>
              <a:ext uri="{FF2B5EF4-FFF2-40B4-BE49-F238E27FC236}">
                <a16:creationId xmlns:a16="http://schemas.microsoft.com/office/drawing/2014/main" id="{7DDEE43D-EB5A-BBAF-8DF6-0F2DB0E63A98}"/>
              </a:ext>
            </a:extLst>
          </p:cNvPr>
          <p:cNvSpPr txBox="1"/>
          <p:nvPr/>
        </p:nvSpPr>
        <p:spPr>
          <a:xfrm>
            <a:off x="8294119" y="2576473"/>
            <a:ext cx="1825087" cy="369332"/>
          </a:xfrm>
          <a:prstGeom prst="rect">
            <a:avLst/>
          </a:prstGeom>
          <a:noFill/>
        </p:spPr>
        <p:txBody>
          <a:bodyPr wrap="square" rtlCol="0">
            <a:spAutoFit/>
          </a:bodyPr>
          <a:lstStyle/>
          <a:p>
            <a:r>
              <a:rPr lang="en-US" dirty="0">
                <a:solidFill>
                  <a:srgbClr val="E1E1E1"/>
                </a:solidFill>
              </a:rPr>
              <a:t>Orchestrator</a:t>
            </a:r>
          </a:p>
        </p:txBody>
      </p:sp>
      <p:pic>
        <p:nvPicPr>
          <p:cNvPr id="37" name="Graphic 36" descr="Information with solid fill">
            <a:extLst>
              <a:ext uri="{FF2B5EF4-FFF2-40B4-BE49-F238E27FC236}">
                <a16:creationId xmlns:a16="http://schemas.microsoft.com/office/drawing/2014/main" id="{2B0B4942-9C3B-A4F9-FFCA-57DE3D8B2ED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54874" y="2632972"/>
            <a:ext cx="270481" cy="270481"/>
          </a:xfrm>
          <a:prstGeom prst="rect">
            <a:avLst/>
          </a:prstGeom>
        </p:spPr>
      </p:pic>
      <p:cxnSp>
        <p:nvCxnSpPr>
          <p:cNvPr id="43" name="Straight Connector 42">
            <a:extLst>
              <a:ext uri="{FF2B5EF4-FFF2-40B4-BE49-F238E27FC236}">
                <a16:creationId xmlns:a16="http://schemas.microsoft.com/office/drawing/2014/main" id="{E42DD463-E0A0-F1E7-14B8-46487B0A0D55}"/>
              </a:ext>
            </a:extLst>
          </p:cNvPr>
          <p:cNvCxnSpPr>
            <a:cxnSpLocks/>
          </p:cNvCxnSpPr>
          <p:nvPr/>
        </p:nvCxnSpPr>
        <p:spPr>
          <a:xfrm flipH="1">
            <a:off x="7740989" y="2324082"/>
            <a:ext cx="3168990" cy="0"/>
          </a:xfrm>
          <a:prstGeom prst="line">
            <a:avLst/>
          </a:prstGeom>
          <a:ln w="22225"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A1E47A66-79EA-3BF3-553D-6FFCAB906CEB}"/>
              </a:ext>
            </a:extLst>
          </p:cNvPr>
          <p:cNvCxnSpPr>
            <a:cxnSpLocks/>
          </p:cNvCxnSpPr>
          <p:nvPr/>
        </p:nvCxnSpPr>
        <p:spPr>
          <a:xfrm flipH="1">
            <a:off x="7740989" y="3328061"/>
            <a:ext cx="3168990" cy="0"/>
          </a:xfrm>
          <a:prstGeom prst="line">
            <a:avLst/>
          </a:prstGeom>
          <a:ln w="22225"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C425FEDC-5DF0-2613-D6AE-D70FAB07E443}"/>
              </a:ext>
            </a:extLst>
          </p:cNvPr>
          <p:cNvCxnSpPr>
            <a:cxnSpLocks/>
          </p:cNvCxnSpPr>
          <p:nvPr/>
        </p:nvCxnSpPr>
        <p:spPr>
          <a:xfrm>
            <a:off x="11147051" y="3584306"/>
            <a:ext cx="0" cy="2327883"/>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FF13D728-31BE-4ADB-D622-96919648FD66}"/>
              </a:ext>
            </a:extLst>
          </p:cNvPr>
          <p:cNvCxnSpPr>
            <a:cxnSpLocks/>
          </p:cNvCxnSpPr>
          <p:nvPr/>
        </p:nvCxnSpPr>
        <p:spPr>
          <a:xfrm>
            <a:off x="11147051" y="3584306"/>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sp>
        <p:nvSpPr>
          <p:cNvPr id="57" name="Rectangle 56">
            <a:extLst>
              <a:ext uri="{FF2B5EF4-FFF2-40B4-BE49-F238E27FC236}">
                <a16:creationId xmlns:a16="http://schemas.microsoft.com/office/drawing/2014/main" id="{12890AB3-0B80-2D56-0979-B2EA3F3F162B}"/>
              </a:ext>
            </a:extLst>
          </p:cNvPr>
          <p:cNvSpPr/>
          <p:nvPr/>
        </p:nvSpPr>
        <p:spPr>
          <a:xfrm>
            <a:off x="8089767" y="2195257"/>
            <a:ext cx="1040765" cy="238699"/>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Default agent</a:t>
            </a:r>
          </a:p>
        </p:txBody>
      </p:sp>
      <p:sp>
        <p:nvSpPr>
          <p:cNvPr id="58" name="Rectangle 57">
            <a:extLst>
              <a:ext uri="{FF2B5EF4-FFF2-40B4-BE49-F238E27FC236}">
                <a16:creationId xmlns:a16="http://schemas.microsoft.com/office/drawing/2014/main" id="{48E05113-ED9F-891E-E309-C3125DE59AA0}"/>
              </a:ext>
            </a:extLst>
          </p:cNvPr>
          <p:cNvSpPr/>
          <p:nvPr/>
        </p:nvSpPr>
        <p:spPr>
          <a:xfrm>
            <a:off x="8089768" y="3202756"/>
            <a:ext cx="936325" cy="200896"/>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Agent Team</a:t>
            </a:r>
          </a:p>
        </p:txBody>
      </p:sp>
      <p:pic>
        <p:nvPicPr>
          <p:cNvPr id="62" name="Graphic 61" descr="Lock with solid fill">
            <a:extLst>
              <a:ext uri="{FF2B5EF4-FFF2-40B4-BE49-F238E27FC236}">
                <a16:creationId xmlns:a16="http://schemas.microsoft.com/office/drawing/2014/main" id="{DB47DC7D-FD97-04CD-522B-6B9F871EB0F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239078" y="2620009"/>
            <a:ext cx="279802" cy="279802"/>
          </a:xfrm>
          <a:prstGeom prst="rect">
            <a:avLst/>
          </a:prstGeom>
        </p:spPr>
      </p:pic>
      <p:sp>
        <p:nvSpPr>
          <p:cNvPr id="13" name="Rectangle 12">
            <a:extLst>
              <a:ext uri="{FF2B5EF4-FFF2-40B4-BE49-F238E27FC236}">
                <a16:creationId xmlns:a16="http://schemas.microsoft.com/office/drawing/2014/main" id="{4BF6B951-DCFA-A3C7-2A6D-9C63A8FF34F3}"/>
              </a:ext>
            </a:extLst>
          </p:cNvPr>
          <p:cNvSpPr/>
          <p:nvPr/>
        </p:nvSpPr>
        <p:spPr>
          <a:xfrm>
            <a:off x="9437181" y="3949783"/>
            <a:ext cx="453381" cy="411829"/>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F7CA2BB8-E8ED-1DB6-A7CE-C643369142C6}"/>
              </a:ext>
            </a:extLst>
          </p:cNvPr>
          <p:cNvSpPr txBox="1"/>
          <p:nvPr/>
        </p:nvSpPr>
        <p:spPr>
          <a:xfrm>
            <a:off x="4287543" y="2419545"/>
            <a:ext cx="2907763" cy="3323987"/>
          </a:xfrm>
          <a:prstGeom prst="rect">
            <a:avLst/>
          </a:prstGeom>
          <a:noFill/>
        </p:spPr>
        <p:txBody>
          <a:bodyPr wrap="square" rtlCol="0">
            <a:spAutoFit/>
          </a:bodyPr>
          <a:lstStyle/>
          <a:p>
            <a:r>
              <a:rPr lang="en-US" sz="1000" dirty="0" err="1">
                <a:solidFill>
                  <a:srgbClr val="8F97B7"/>
                </a:solidFill>
                <a:latin typeface="Cascadia Code Light" panose="020B0609020000020004" pitchFamily="49" charset="0"/>
                <a:cs typeface="Cascadia Code Light" panose="020B0609020000020004" pitchFamily="49" charset="0"/>
              </a:rPr>
              <a:t>Aliquam</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vulputate</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elit</a:t>
            </a:r>
            <a:r>
              <a:rPr lang="en-US" sz="1000" dirty="0">
                <a:solidFill>
                  <a:srgbClr val="8F97B7"/>
                </a:solidFill>
                <a:latin typeface="Cascadia Code Light" panose="020B0609020000020004" pitchFamily="49" charset="0"/>
                <a:cs typeface="Cascadia Code Light" panose="020B0609020000020004" pitchFamily="49" charset="0"/>
              </a:rPr>
              <a:t> vel </a:t>
            </a:r>
            <a:r>
              <a:rPr lang="en-US" sz="1000" dirty="0" err="1">
                <a:solidFill>
                  <a:srgbClr val="8F97B7"/>
                </a:solidFill>
                <a:latin typeface="Cascadia Code Light" panose="020B0609020000020004" pitchFamily="49" charset="0"/>
                <a:cs typeface="Cascadia Code Light" panose="020B0609020000020004" pitchFamily="49" charset="0"/>
              </a:rPr>
              <a:t>enim</a:t>
            </a:r>
            <a:r>
              <a:rPr lang="en-US" sz="1000" dirty="0">
                <a:solidFill>
                  <a:srgbClr val="8F97B7"/>
                </a:solidFill>
                <a:latin typeface="Cascadia Code Light" panose="020B0609020000020004" pitchFamily="49" charset="0"/>
                <a:cs typeface="Cascadia Code Light" panose="020B0609020000020004" pitchFamily="49" charset="0"/>
              </a:rPr>
              <a:t> tempus </a:t>
            </a:r>
            <a:r>
              <a:rPr lang="en-US" sz="1000" dirty="0" err="1">
                <a:solidFill>
                  <a:srgbClr val="8F97B7"/>
                </a:solidFill>
                <a:latin typeface="Cascadia Code Light" panose="020B0609020000020004" pitchFamily="49" charset="0"/>
                <a:cs typeface="Cascadia Code Light" panose="020B0609020000020004" pitchFamily="49" charset="0"/>
              </a:rPr>
              <a:t>placerat</a:t>
            </a:r>
            <a:r>
              <a:rPr lang="en-US" sz="1000" dirty="0">
                <a:solidFill>
                  <a:srgbClr val="8F97B7"/>
                </a:solidFill>
                <a:latin typeface="Cascadia Code Light" panose="020B0609020000020004" pitchFamily="49" charset="0"/>
                <a:cs typeface="Cascadia Code Light" panose="020B0609020000020004" pitchFamily="49" charset="0"/>
              </a:rPr>
              <a:t>. Cras </a:t>
            </a:r>
            <a:r>
              <a:rPr lang="en-US" sz="1000" dirty="0" err="1">
                <a:solidFill>
                  <a:srgbClr val="8F97B7"/>
                </a:solidFill>
                <a:latin typeface="Cascadia Code Light" panose="020B0609020000020004" pitchFamily="49" charset="0"/>
                <a:cs typeface="Cascadia Code Light" panose="020B0609020000020004" pitchFamily="49" charset="0"/>
              </a:rPr>
              <a:t>sollicitudin</a:t>
            </a:r>
            <a:r>
              <a:rPr lang="en-US" sz="1000" dirty="0">
                <a:solidFill>
                  <a:srgbClr val="8F97B7"/>
                </a:solidFill>
                <a:latin typeface="Cascadia Code Light" panose="020B0609020000020004" pitchFamily="49" charset="0"/>
                <a:cs typeface="Cascadia Code Light" panose="020B0609020000020004" pitchFamily="49" charset="0"/>
              </a:rPr>
              <a:t> libero </a:t>
            </a:r>
            <a:r>
              <a:rPr lang="en-US" sz="1000" dirty="0" err="1">
                <a:solidFill>
                  <a:srgbClr val="8F97B7"/>
                </a:solidFill>
                <a:latin typeface="Cascadia Code Light" panose="020B0609020000020004" pitchFamily="49" charset="0"/>
                <a:cs typeface="Cascadia Code Light" panose="020B0609020000020004" pitchFamily="49" charset="0"/>
              </a:rPr>
              <a:t>ut</a:t>
            </a:r>
            <a:r>
              <a:rPr lang="en-US" sz="1000" dirty="0">
                <a:solidFill>
                  <a:srgbClr val="8F97B7"/>
                </a:solidFill>
                <a:latin typeface="Cascadia Code Light" panose="020B0609020000020004" pitchFamily="49" charset="0"/>
                <a:cs typeface="Cascadia Code Light" panose="020B0609020000020004" pitchFamily="49" charset="0"/>
              </a:rPr>
              <a:t> ligula </a:t>
            </a:r>
            <a:r>
              <a:rPr lang="en-US" sz="1000" dirty="0" err="1">
                <a:solidFill>
                  <a:srgbClr val="8F97B7"/>
                </a:solidFill>
                <a:latin typeface="Cascadia Code Light" panose="020B0609020000020004" pitchFamily="49" charset="0"/>
                <a:cs typeface="Cascadia Code Light" panose="020B0609020000020004" pitchFamily="49" charset="0"/>
              </a:rPr>
              <a:t>aliquam</a:t>
            </a:r>
            <a:r>
              <a:rPr lang="en-US" sz="1000" dirty="0">
                <a:solidFill>
                  <a:srgbClr val="8F97B7"/>
                </a:solidFill>
                <a:latin typeface="Cascadia Code Light" panose="020B0609020000020004" pitchFamily="49" charset="0"/>
                <a:cs typeface="Cascadia Code Light" panose="020B0609020000020004" pitchFamily="49" charset="0"/>
              </a:rPr>
              <a:t>, sit </a:t>
            </a:r>
            <a:r>
              <a:rPr lang="en-US" sz="1000" dirty="0" err="1">
                <a:solidFill>
                  <a:srgbClr val="8F97B7"/>
                </a:solidFill>
                <a:latin typeface="Cascadia Code Light" panose="020B0609020000020004" pitchFamily="49" charset="0"/>
                <a:cs typeface="Cascadia Code Light" panose="020B0609020000020004" pitchFamily="49" charset="0"/>
              </a:rPr>
              <a:t>amet</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molestie</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lectus</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consequat</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Phasellus</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pretium</a:t>
            </a:r>
            <a:r>
              <a:rPr lang="en-US" sz="1000" dirty="0">
                <a:solidFill>
                  <a:srgbClr val="8F97B7"/>
                </a:solidFill>
                <a:latin typeface="Cascadia Code Light" panose="020B0609020000020004" pitchFamily="49" charset="0"/>
                <a:cs typeface="Cascadia Code Light" panose="020B0609020000020004" pitchFamily="49" charset="0"/>
              </a:rPr>
              <a:t> est et fermentum </a:t>
            </a:r>
            <a:r>
              <a:rPr lang="en-US" sz="1000" dirty="0" err="1">
                <a:solidFill>
                  <a:srgbClr val="8F97B7"/>
                </a:solidFill>
                <a:latin typeface="Cascadia Code Light" panose="020B0609020000020004" pitchFamily="49" charset="0"/>
                <a:cs typeface="Cascadia Code Light" panose="020B0609020000020004" pitchFamily="49" charset="0"/>
              </a:rPr>
              <a:t>faucibus</a:t>
            </a:r>
            <a:r>
              <a:rPr lang="en-US" sz="1000" dirty="0">
                <a:solidFill>
                  <a:srgbClr val="8F97B7"/>
                </a:solidFill>
                <a:latin typeface="Cascadia Code Light" panose="020B0609020000020004" pitchFamily="49" charset="0"/>
                <a:cs typeface="Cascadia Code Light" panose="020B0609020000020004" pitchFamily="49" charset="0"/>
              </a:rPr>
              <a:t>. Donec </a:t>
            </a:r>
            <a:r>
              <a:rPr lang="en-US" sz="1000" dirty="0" err="1">
                <a:solidFill>
                  <a:srgbClr val="8F97B7"/>
                </a:solidFill>
                <a:latin typeface="Cascadia Code Light" panose="020B0609020000020004" pitchFamily="49" charset="0"/>
                <a:cs typeface="Cascadia Code Light" panose="020B0609020000020004" pitchFamily="49" charset="0"/>
              </a:rPr>
              <a:t>tempor</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leo</a:t>
            </a:r>
            <a:r>
              <a:rPr lang="en-US" sz="1000" dirty="0">
                <a:solidFill>
                  <a:srgbClr val="8F97B7"/>
                </a:solidFill>
                <a:latin typeface="Cascadia Code Light" panose="020B0609020000020004" pitchFamily="49" charset="0"/>
                <a:cs typeface="Cascadia Code Light" panose="020B0609020000020004" pitchFamily="49" charset="0"/>
              </a:rPr>
              <a:t> vitae pulvinar fermentum. Nulla </a:t>
            </a:r>
            <a:r>
              <a:rPr lang="en-US" sz="1000" dirty="0" err="1">
                <a:solidFill>
                  <a:srgbClr val="8F97B7"/>
                </a:solidFill>
                <a:latin typeface="Cascadia Code Light" panose="020B0609020000020004" pitchFamily="49" charset="0"/>
                <a:cs typeface="Cascadia Code Light" panose="020B0609020000020004" pitchFamily="49" charset="0"/>
              </a:rPr>
              <a:t>facilisi</a:t>
            </a:r>
            <a:r>
              <a:rPr lang="en-US" sz="1000" dirty="0">
                <a:solidFill>
                  <a:srgbClr val="8F97B7"/>
                </a:solidFill>
                <a:latin typeface="Cascadia Code Light" panose="020B0609020000020004" pitchFamily="49" charset="0"/>
                <a:cs typeface="Cascadia Code Light" panose="020B0609020000020004" pitchFamily="49" charset="0"/>
              </a:rPr>
              <a:t>. Duis vitae ligula </a:t>
            </a:r>
            <a:r>
              <a:rPr lang="en-US" sz="1000" dirty="0" err="1">
                <a:solidFill>
                  <a:srgbClr val="8F97B7"/>
                </a:solidFill>
                <a:latin typeface="Cascadia Code Light" panose="020B0609020000020004" pitchFamily="49" charset="0"/>
                <a:cs typeface="Cascadia Code Light" panose="020B0609020000020004" pitchFamily="49" charset="0"/>
              </a:rPr>
              <a:t>eget</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massa</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varius</a:t>
            </a:r>
            <a:r>
              <a:rPr lang="en-US" sz="1000" dirty="0">
                <a:solidFill>
                  <a:srgbClr val="8F97B7"/>
                </a:solidFill>
                <a:latin typeface="Cascadia Code Light" panose="020B0609020000020004" pitchFamily="49" charset="0"/>
                <a:cs typeface="Cascadia Code Light" panose="020B0609020000020004" pitchFamily="49" charset="0"/>
              </a:rPr>
              <a:t> convallis </a:t>
            </a:r>
            <a:r>
              <a:rPr lang="en-US" sz="1000" dirty="0" err="1">
                <a:solidFill>
                  <a:srgbClr val="8F97B7"/>
                </a:solidFill>
                <a:latin typeface="Cascadia Code Light" panose="020B0609020000020004" pitchFamily="49" charset="0"/>
                <a:cs typeface="Cascadia Code Light" panose="020B0609020000020004" pitchFamily="49" charset="0"/>
              </a:rPr>
              <a:t>eget</a:t>
            </a:r>
            <a:r>
              <a:rPr lang="en-US" sz="1000" dirty="0">
                <a:solidFill>
                  <a:srgbClr val="8F97B7"/>
                </a:solidFill>
                <a:latin typeface="Cascadia Code Light" panose="020B0609020000020004" pitchFamily="49" charset="0"/>
                <a:cs typeface="Cascadia Code Light" panose="020B0609020000020004" pitchFamily="49" charset="0"/>
              </a:rPr>
              <a:t> id ante. In </a:t>
            </a:r>
            <a:r>
              <a:rPr lang="en-US" sz="1000" dirty="0" err="1">
                <a:solidFill>
                  <a:srgbClr val="8F97B7"/>
                </a:solidFill>
                <a:latin typeface="Cascadia Code Light" panose="020B0609020000020004" pitchFamily="49" charset="0"/>
                <a:cs typeface="Cascadia Code Light" panose="020B0609020000020004" pitchFamily="49" charset="0"/>
              </a:rPr>
              <a:t>fringilla</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neque</a:t>
            </a:r>
            <a:r>
              <a:rPr lang="en-US" sz="1000" dirty="0">
                <a:solidFill>
                  <a:srgbClr val="8F97B7"/>
                </a:solidFill>
                <a:latin typeface="Cascadia Code Light" panose="020B0609020000020004" pitchFamily="49" charset="0"/>
                <a:cs typeface="Cascadia Code Light" panose="020B0609020000020004" pitchFamily="49" charset="0"/>
              </a:rPr>
              <a:t> vel libero fermentum, et </a:t>
            </a:r>
            <a:r>
              <a:rPr lang="en-US" sz="1000" dirty="0" err="1">
                <a:solidFill>
                  <a:srgbClr val="8F97B7"/>
                </a:solidFill>
                <a:latin typeface="Cascadia Code Light" panose="020B0609020000020004" pitchFamily="49" charset="0"/>
                <a:cs typeface="Cascadia Code Light" panose="020B0609020000020004" pitchFamily="49" charset="0"/>
              </a:rPr>
              <a:t>interdum</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neque</a:t>
            </a:r>
            <a:r>
              <a:rPr lang="en-US" sz="1000" dirty="0">
                <a:solidFill>
                  <a:srgbClr val="8F97B7"/>
                </a:solidFill>
                <a:latin typeface="Cascadia Code Light" panose="020B0609020000020004" pitchFamily="49" charset="0"/>
                <a:cs typeface="Cascadia Code Light" panose="020B0609020000020004" pitchFamily="49" charset="0"/>
              </a:rPr>
              <a:t> lacinia. Vestibulum id </a:t>
            </a:r>
            <a:r>
              <a:rPr lang="en-US" sz="1000" dirty="0" err="1">
                <a:solidFill>
                  <a:srgbClr val="8F97B7"/>
                </a:solidFill>
                <a:latin typeface="Cascadia Code Light" panose="020B0609020000020004" pitchFamily="49" charset="0"/>
                <a:cs typeface="Cascadia Code Light" panose="020B0609020000020004" pitchFamily="49" charset="0"/>
              </a:rPr>
              <a:t>laoreet</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massa</a:t>
            </a:r>
            <a:r>
              <a:rPr lang="en-US" sz="1000" dirty="0">
                <a:solidFill>
                  <a:srgbClr val="8F97B7"/>
                </a:solidFill>
                <a:latin typeface="Cascadia Code Light" panose="020B0609020000020004" pitchFamily="49" charset="0"/>
                <a:cs typeface="Cascadia Code Light" panose="020B0609020000020004" pitchFamily="49" charset="0"/>
              </a:rPr>
              <a:t>, nec </a:t>
            </a:r>
            <a:r>
              <a:rPr lang="en-US" sz="1000" dirty="0" err="1">
                <a:solidFill>
                  <a:srgbClr val="8F97B7"/>
                </a:solidFill>
                <a:latin typeface="Cascadia Code Light" panose="020B0609020000020004" pitchFamily="49" charset="0"/>
                <a:cs typeface="Cascadia Code Light" panose="020B0609020000020004" pitchFamily="49" charset="0"/>
              </a:rPr>
              <a:t>dignissim</a:t>
            </a:r>
            <a:r>
              <a:rPr lang="en-US" sz="1000" dirty="0">
                <a:solidFill>
                  <a:srgbClr val="8F97B7"/>
                </a:solidFill>
                <a:latin typeface="Cascadia Code Light" panose="020B0609020000020004" pitchFamily="49" charset="0"/>
                <a:cs typeface="Cascadia Code Light" panose="020B0609020000020004" pitchFamily="49" charset="0"/>
              </a:rPr>
              <a:t> mi. Proin </a:t>
            </a:r>
            <a:r>
              <a:rPr lang="en-US" sz="1000" dirty="0" err="1">
                <a:solidFill>
                  <a:srgbClr val="8F97B7"/>
                </a:solidFill>
                <a:latin typeface="Cascadia Code Light" panose="020B0609020000020004" pitchFamily="49" charset="0"/>
                <a:cs typeface="Cascadia Code Light" panose="020B0609020000020004" pitchFamily="49" charset="0"/>
              </a:rPr>
              <a:t>hendrerit</a:t>
            </a:r>
            <a:r>
              <a:rPr lang="en-US" sz="1000" dirty="0">
                <a:solidFill>
                  <a:srgbClr val="8F97B7"/>
                </a:solidFill>
                <a:latin typeface="Cascadia Code Light" panose="020B0609020000020004" pitchFamily="49" charset="0"/>
                <a:cs typeface="Cascadia Code Light" panose="020B0609020000020004" pitchFamily="49" charset="0"/>
              </a:rPr>
              <a:t> nec ex ac </a:t>
            </a:r>
            <a:r>
              <a:rPr lang="en-US" sz="1000" dirty="0" err="1">
                <a:solidFill>
                  <a:srgbClr val="8F97B7"/>
                </a:solidFill>
                <a:latin typeface="Cascadia Code Light" panose="020B0609020000020004" pitchFamily="49" charset="0"/>
                <a:cs typeface="Cascadia Code Light" panose="020B0609020000020004" pitchFamily="49" charset="0"/>
              </a:rPr>
              <a:t>feugiat</a:t>
            </a:r>
            <a:r>
              <a:rPr lang="en-US" sz="1000" dirty="0">
                <a:solidFill>
                  <a:srgbClr val="8F97B7"/>
                </a:solidFill>
                <a:latin typeface="Cascadia Code Light" panose="020B0609020000020004" pitchFamily="49" charset="0"/>
                <a:cs typeface="Cascadia Code Light" panose="020B0609020000020004" pitchFamily="49" charset="0"/>
              </a:rPr>
              <a:t>. Integer </a:t>
            </a:r>
            <a:r>
              <a:rPr lang="en-US" sz="1000" dirty="0" err="1">
                <a:solidFill>
                  <a:srgbClr val="8F97B7"/>
                </a:solidFill>
                <a:latin typeface="Cascadia Code Light" panose="020B0609020000020004" pitchFamily="49" charset="0"/>
                <a:cs typeface="Cascadia Code Light" panose="020B0609020000020004" pitchFamily="49" charset="0"/>
              </a:rPr>
              <a:t>elementum</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mauris</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ut</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augue</a:t>
            </a:r>
            <a:r>
              <a:rPr lang="en-US" sz="1000" dirty="0">
                <a:solidFill>
                  <a:srgbClr val="8F97B7"/>
                </a:solidFill>
                <a:latin typeface="Cascadia Code Light" panose="020B0609020000020004" pitchFamily="49" charset="0"/>
                <a:cs typeface="Cascadia Code Light" panose="020B0609020000020004" pitchFamily="49" charset="0"/>
              </a:rPr>
              <a:t> cursus pharetra. Vestibulum id </a:t>
            </a:r>
            <a:r>
              <a:rPr lang="en-US" sz="1000" dirty="0" err="1">
                <a:solidFill>
                  <a:srgbClr val="8F97B7"/>
                </a:solidFill>
                <a:latin typeface="Cascadia Code Light" panose="020B0609020000020004" pitchFamily="49" charset="0"/>
                <a:cs typeface="Cascadia Code Light" panose="020B0609020000020004" pitchFamily="49" charset="0"/>
              </a:rPr>
              <a:t>laoreet</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massa</a:t>
            </a:r>
            <a:r>
              <a:rPr lang="en-US" sz="1000" dirty="0">
                <a:solidFill>
                  <a:srgbClr val="8F97B7"/>
                </a:solidFill>
                <a:latin typeface="Cascadia Code Light" panose="020B0609020000020004" pitchFamily="49" charset="0"/>
                <a:cs typeface="Cascadia Code Light" panose="020B0609020000020004" pitchFamily="49" charset="0"/>
              </a:rPr>
              <a:t>, nec </a:t>
            </a:r>
            <a:r>
              <a:rPr lang="en-US" sz="1000" dirty="0" err="1">
                <a:solidFill>
                  <a:srgbClr val="8F97B7"/>
                </a:solidFill>
                <a:latin typeface="Cascadia Code Light" panose="020B0609020000020004" pitchFamily="49" charset="0"/>
                <a:cs typeface="Cascadia Code Light" panose="020B0609020000020004" pitchFamily="49" charset="0"/>
              </a:rPr>
              <a:t>dignissim</a:t>
            </a:r>
            <a:r>
              <a:rPr lang="en-US" sz="1000" dirty="0">
                <a:solidFill>
                  <a:srgbClr val="8F97B7"/>
                </a:solidFill>
                <a:latin typeface="Cascadia Code Light" panose="020B0609020000020004" pitchFamily="49" charset="0"/>
                <a:cs typeface="Cascadia Code Light" panose="020B0609020000020004" pitchFamily="49" charset="0"/>
              </a:rPr>
              <a:t> mi. Proin </a:t>
            </a:r>
            <a:r>
              <a:rPr lang="en-US" sz="1000" dirty="0" err="1">
                <a:solidFill>
                  <a:srgbClr val="8F97B7"/>
                </a:solidFill>
                <a:latin typeface="Cascadia Code Light" panose="020B0609020000020004" pitchFamily="49" charset="0"/>
                <a:cs typeface="Cascadia Code Light" panose="020B0609020000020004" pitchFamily="49" charset="0"/>
              </a:rPr>
              <a:t>hendrerit</a:t>
            </a:r>
            <a:r>
              <a:rPr lang="en-US" sz="1000" dirty="0">
                <a:solidFill>
                  <a:srgbClr val="8F97B7"/>
                </a:solidFill>
                <a:latin typeface="Cascadia Code Light" panose="020B0609020000020004" pitchFamily="49" charset="0"/>
                <a:cs typeface="Cascadia Code Light" panose="020B0609020000020004" pitchFamily="49" charset="0"/>
              </a:rPr>
              <a:t> nec ex ac </a:t>
            </a:r>
            <a:r>
              <a:rPr lang="en-US" sz="1000" dirty="0" err="1">
                <a:solidFill>
                  <a:srgbClr val="8F97B7"/>
                </a:solidFill>
                <a:latin typeface="Cascadia Code Light" panose="020B0609020000020004" pitchFamily="49" charset="0"/>
                <a:cs typeface="Cascadia Code Light" panose="020B0609020000020004" pitchFamily="49" charset="0"/>
              </a:rPr>
              <a:t>feugiat</a:t>
            </a:r>
            <a:r>
              <a:rPr lang="en-US" sz="1000" dirty="0">
                <a:solidFill>
                  <a:srgbClr val="8F97B7"/>
                </a:solidFill>
                <a:latin typeface="Cascadia Code Light" panose="020B0609020000020004" pitchFamily="49" charset="0"/>
                <a:cs typeface="Cascadia Code Light" panose="020B0609020000020004" pitchFamily="49" charset="0"/>
              </a:rPr>
              <a:t>. Integer </a:t>
            </a:r>
            <a:r>
              <a:rPr lang="en-US" sz="1000" dirty="0" err="1">
                <a:solidFill>
                  <a:srgbClr val="8F97B7"/>
                </a:solidFill>
                <a:latin typeface="Cascadia Code Light" panose="020B0609020000020004" pitchFamily="49" charset="0"/>
                <a:cs typeface="Cascadia Code Light" panose="020B0609020000020004" pitchFamily="49" charset="0"/>
              </a:rPr>
              <a:t>elementum</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mauris</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ut</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augue</a:t>
            </a:r>
            <a:r>
              <a:rPr lang="en-US" sz="1000" dirty="0">
                <a:solidFill>
                  <a:srgbClr val="8F97B7"/>
                </a:solidFill>
                <a:latin typeface="Cascadia Code Light" panose="020B0609020000020004" pitchFamily="49" charset="0"/>
                <a:cs typeface="Cascadia Code Light" panose="020B0609020000020004" pitchFamily="49" charset="0"/>
              </a:rPr>
              <a:t> cursus pharetra.</a:t>
            </a:r>
          </a:p>
          <a:p>
            <a:endParaRPr lang="en-US" sz="1000" dirty="0">
              <a:solidFill>
                <a:srgbClr val="8F97B7"/>
              </a:solidFill>
              <a:latin typeface="Cascadia Code Light" panose="020B0609020000020004" pitchFamily="49" charset="0"/>
              <a:cs typeface="Cascadia Code Light" panose="020B0609020000020004" pitchFamily="49" charset="0"/>
            </a:endParaRPr>
          </a:p>
          <a:p>
            <a:r>
              <a:rPr lang="en-US" sz="1000" dirty="0">
                <a:solidFill>
                  <a:srgbClr val="8F97B7"/>
                </a:solidFill>
                <a:latin typeface="Cascadia Code Light" panose="020B0609020000020004" pitchFamily="49" charset="0"/>
                <a:cs typeface="Cascadia Code Light" panose="020B0609020000020004" pitchFamily="49" charset="0"/>
              </a:rPr>
              <a:t>Sed id </a:t>
            </a:r>
            <a:r>
              <a:rPr lang="en-US" sz="1000" dirty="0" err="1">
                <a:solidFill>
                  <a:srgbClr val="8F97B7"/>
                </a:solidFill>
                <a:latin typeface="Cascadia Code Light" panose="020B0609020000020004" pitchFamily="49" charset="0"/>
                <a:cs typeface="Cascadia Code Light" panose="020B0609020000020004" pitchFamily="49" charset="0"/>
              </a:rPr>
              <a:t>risus</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ut</a:t>
            </a:r>
            <a:r>
              <a:rPr lang="en-US" sz="1000" dirty="0">
                <a:solidFill>
                  <a:srgbClr val="8F97B7"/>
                </a:solidFill>
                <a:latin typeface="Cascadia Code Light" panose="020B0609020000020004" pitchFamily="49" charset="0"/>
                <a:cs typeface="Cascadia Code Light" panose="020B0609020000020004" pitchFamily="49" charset="0"/>
              </a:rPr>
              <a:t> lorem </a:t>
            </a:r>
            <a:r>
              <a:rPr lang="en-US" sz="1000" dirty="0" err="1">
                <a:solidFill>
                  <a:srgbClr val="8F97B7"/>
                </a:solidFill>
                <a:latin typeface="Cascadia Code Light" panose="020B0609020000020004" pitchFamily="49" charset="0"/>
                <a:cs typeface="Cascadia Code Light" panose="020B0609020000020004" pitchFamily="49" charset="0"/>
              </a:rPr>
              <a:t>aucto</a:t>
            </a:r>
            <a:r>
              <a:rPr lang="en-US" sz="1000" dirty="0">
                <a:solidFill>
                  <a:srgbClr val="8F97B7"/>
                </a:solidFill>
                <a:latin typeface="Cascadia Code Light" panose="020B0609020000020004" pitchFamily="49" charset="0"/>
                <a:cs typeface="Cascadia Code Light" panose="020B0609020000020004" pitchFamily="49" charset="0"/>
              </a:rPr>
              <a:t>…………</a:t>
            </a:r>
          </a:p>
        </p:txBody>
      </p:sp>
      <p:sp>
        <p:nvSpPr>
          <p:cNvPr id="16" name="TextBox 15">
            <a:extLst>
              <a:ext uri="{FF2B5EF4-FFF2-40B4-BE49-F238E27FC236}">
                <a16:creationId xmlns:a16="http://schemas.microsoft.com/office/drawing/2014/main" id="{EEAD74F5-A748-C98E-DC1A-171F25029FF8}"/>
              </a:ext>
            </a:extLst>
          </p:cNvPr>
          <p:cNvSpPr txBox="1"/>
          <p:nvPr/>
        </p:nvSpPr>
        <p:spPr>
          <a:xfrm>
            <a:off x="5421251" y="1736107"/>
            <a:ext cx="1130502" cy="369332"/>
          </a:xfrm>
          <a:prstGeom prst="rect">
            <a:avLst/>
          </a:prstGeom>
          <a:noFill/>
        </p:spPr>
        <p:txBody>
          <a:bodyPr wrap="none" rtlCol="0">
            <a:spAutoFit/>
          </a:bodyPr>
          <a:lstStyle/>
          <a:p>
            <a:r>
              <a:rPr lang="en-US" i="1" dirty="0">
                <a:solidFill>
                  <a:srgbClr val="FFC000"/>
                </a:solidFill>
              </a:rPr>
              <a:t>Working…</a:t>
            </a:r>
          </a:p>
        </p:txBody>
      </p:sp>
      <p:sp>
        <p:nvSpPr>
          <p:cNvPr id="20" name="Oval 19">
            <a:extLst>
              <a:ext uri="{FF2B5EF4-FFF2-40B4-BE49-F238E27FC236}">
                <a16:creationId xmlns:a16="http://schemas.microsoft.com/office/drawing/2014/main" id="{B4D5A7F9-19BB-7AD6-18FE-7F6CF7B80D87}"/>
              </a:ext>
            </a:extLst>
          </p:cNvPr>
          <p:cNvSpPr/>
          <p:nvPr/>
        </p:nvSpPr>
        <p:spPr>
          <a:xfrm>
            <a:off x="8348917" y="3949783"/>
            <a:ext cx="1431900" cy="1389049"/>
          </a:xfrm>
          <a:prstGeom prst="ellipse">
            <a:avLst/>
          </a:prstGeom>
          <a:noFill/>
          <a:ln w="60325">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8C587C28-46E8-BA36-94CD-A3C978BADD2F}"/>
              </a:ext>
            </a:extLst>
          </p:cNvPr>
          <p:cNvSpPr/>
          <p:nvPr/>
        </p:nvSpPr>
        <p:spPr>
          <a:xfrm>
            <a:off x="9371516" y="3949783"/>
            <a:ext cx="453381" cy="411829"/>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8DAF2709-E98D-2096-B6B1-C3D1E0A39707}"/>
              </a:ext>
            </a:extLst>
          </p:cNvPr>
          <p:cNvSpPr/>
          <p:nvPr/>
        </p:nvSpPr>
        <p:spPr>
          <a:xfrm>
            <a:off x="818741" y="1818947"/>
            <a:ext cx="1198523" cy="286492"/>
          </a:xfrm>
          <a:prstGeom prst="roundRect">
            <a:avLst>
              <a:gd name="adj" fmla="val 32223"/>
            </a:avLst>
          </a:prstGeom>
          <a:no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1E3147"/>
                </a:solidFill>
              </a:rPr>
              <a:t>Stage project</a:t>
            </a:r>
          </a:p>
        </p:txBody>
      </p:sp>
      <p:sp>
        <p:nvSpPr>
          <p:cNvPr id="27" name="TextBox 26">
            <a:extLst>
              <a:ext uri="{FF2B5EF4-FFF2-40B4-BE49-F238E27FC236}">
                <a16:creationId xmlns:a16="http://schemas.microsoft.com/office/drawing/2014/main" id="{E2634E08-DC54-BF4E-D18B-B184949A04A9}"/>
              </a:ext>
            </a:extLst>
          </p:cNvPr>
          <p:cNvSpPr txBox="1"/>
          <p:nvPr/>
        </p:nvSpPr>
        <p:spPr>
          <a:xfrm>
            <a:off x="39778" y="47732"/>
            <a:ext cx="4400564" cy="369332"/>
          </a:xfrm>
          <a:prstGeom prst="rect">
            <a:avLst/>
          </a:prstGeom>
          <a:noFill/>
        </p:spPr>
        <p:txBody>
          <a:bodyPr wrap="none" rtlCol="0">
            <a:spAutoFit/>
          </a:bodyPr>
          <a:lstStyle/>
          <a:p>
            <a:r>
              <a:rPr lang="en-US" dirty="0">
                <a:solidFill>
                  <a:schemeClr val="accent5">
                    <a:lumMod val="60000"/>
                    <a:lumOff val="40000"/>
                  </a:schemeClr>
                </a:solidFill>
              </a:rPr>
              <a:t>SLIDE 2a – Orchestrator working elements.</a:t>
            </a:r>
          </a:p>
        </p:txBody>
      </p:sp>
      <p:sp>
        <p:nvSpPr>
          <p:cNvPr id="28" name="Rectangle 27">
            <a:extLst>
              <a:ext uri="{FF2B5EF4-FFF2-40B4-BE49-F238E27FC236}">
                <a16:creationId xmlns:a16="http://schemas.microsoft.com/office/drawing/2014/main" id="{21E3F375-D5E4-77D0-079D-96719D67BA91}"/>
              </a:ext>
            </a:extLst>
          </p:cNvPr>
          <p:cNvSpPr/>
          <p:nvPr/>
        </p:nvSpPr>
        <p:spPr>
          <a:xfrm>
            <a:off x="6274133" y="814286"/>
            <a:ext cx="3860516" cy="437288"/>
          </a:xfrm>
          <a:prstGeom prst="rect">
            <a:avLst/>
          </a:prstGeom>
          <a:no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5">
                    <a:lumMod val="60000"/>
                    <a:lumOff val="40000"/>
                  </a:schemeClr>
                </a:solidFill>
              </a:rPr>
              <a:t>Orchestrator fills mission</a:t>
            </a:r>
          </a:p>
        </p:txBody>
      </p:sp>
      <p:cxnSp>
        <p:nvCxnSpPr>
          <p:cNvPr id="38" name="Straight Arrow Connector 37">
            <a:extLst>
              <a:ext uri="{FF2B5EF4-FFF2-40B4-BE49-F238E27FC236}">
                <a16:creationId xmlns:a16="http://schemas.microsoft.com/office/drawing/2014/main" id="{65BCED6B-F19B-BEC7-8EB0-B29E187F277E}"/>
              </a:ext>
            </a:extLst>
          </p:cNvPr>
          <p:cNvCxnSpPr>
            <a:cxnSpLocks/>
            <a:stCxn id="28" idx="2"/>
          </p:cNvCxnSpPr>
          <p:nvPr/>
        </p:nvCxnSpPr>
        <p:spPr>
          <a:xfrm flipH="1">
            <a:off x="6920617" y="1251574"/>
            <a:ext cx="1283774" cy="1223694"/>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40" name="Rectangle 39">
            <a:extLst>
              <a:ext uri="{FF2B5EF4-FFF2-40B4-BE49-F238E27FC236}">
                <a16:creationId xmlns:a16="http://schemas.microsoft.com/office/drawing/2014/main" id="{E331A2FC-0C04-50AB-2822-B5ECE240B876}"/>
              </a:ext>
            </a:extLst>
          </p:cNvPr>
          <p:cNvSpPr/>
          <p:nvPr/>
        </p:nvSpPr>
        <p:spPr>
          <a:xfrm>
            <a:off x="3767047" y="506880"/>
            <a:ext cx="2152122" cy="847265"/>
          </a:xfrm>
          <a:prstGeom prst="rect">
            <a:avLst/>
          </a:prstGeom>
          <a:no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5">
                    <a:lumMod val="60000"/>
                    <a:lumOff val="40000"/>
                  </a:schemeClr>
                </a:solidFill>
              </a:rPr>
              <a:t>Orchestrator Is working, button inactive</a:t>
            </a:r>
          </a:p>
        </p:txBody>
      </p:sp>
      <p:cxnSp>
        <p:nvCxnSpPr>
          <p:cNvPr id="42" name="Straight Arrow Connector 41">
            <a:extLst>
              <a:ext uri="{FF2B5EF4-FFF2-40B4-BE49-F238E27FC236}">
                <a16:creationId xmlns:a16="http://schemas.microsoft.com/office/drawing/2014/main" id="{9774E0C9-3EB6-FDAA-E536-3EE5F54061E6}"/>
              </a:ext>
            </a:extLst>
          </p:cNvPr>
          <p:cNvCxnSpPr>
            <a:cxnSpLocks/>
            <a:stCxn id="40" idx="2"/>
          </p:cNvCxnSpPr>
          <p:nvPr/>
        </p:nvCxnSpPr>
        <p:spPr>
          <a:xfrm flipH="1">
            <a:off x="2108006" y="1354145"/>
            <a:ext cx="2735102" cy="621238"/>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49" name="Straight Arrow Connector 48">
            <a:extLst>
              <a:ext uri="{FF2B5EF4-FFF2-40B4-BE49-F238E27FC236}">
                <a16:creationId xmlns:a16="http://schemas.microsoft.com/office/drawing/2014/main" id="{D0F74271-5D04-5B69-092B-472BE96CDF9C}"/>
              </a:ext>
            </a:extLst>
          </p:cNvPr>
          <p:cNvCxnSpPr/>
          <p:nvPr/>
        </p:nvCxnSpPr>
        <p:spPr>
          <a:xfrm>
            <a:off x="5353777" y="1354145"/>
            <a:ext cx="272226" cy="381962"/>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50" name="Rectangle 49">
            <a:extLst>
              <a:ext uri="{FF2B5EF4-FFF2-40B4-BE49-F238E27FC236}">
                <a16:creationId xmlns:a16="http://schemas.microsoft.com/office/drawing/2014/main" id="{63BC68FF-F67C-C822-9F3C-A4D875778ADC}"/>
              </a:ext>
            </a:extLst>
          </p:cNvPr>
          <p:cNvSpPr/>
          <p:nvPr/>
        </p:nvSpPr>
        <p:spPr>
          <a:xfrm>
            <a:off x="7049463" y="6362101"/>
            <a:ext cx="3860516" cy="437288"/>
          </a:xfrm>
          <a:prstGeom prst="rect">
            <a:avLst/>
          </a:prstGeom>
          <a:no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5">
                    <a:lumMod val="60000"/>
                    <a:lumOff val="40000"/>
                  </a:schemeClr>
                </a:solidFill>
              </a:rPr>
              <a:t>Spinner, until agents populate</a:t>
            </a:r>
          </a:p>
        </p:txBody>
      </p:sp>
      <p:cxnSp>
        <p:nvCxnSpPr>
          <p:cNvPr id="52" name="Straight Arrow Connector 51">
            <a:extLst>
              <a:ext uri="{FF2B5EF4-FFF2-40B4-BE49-F238E27FC236}">
                <a16:creationId xmlns:a16="http://schemas.microsoft.com/office/drawing/2014/main" id="{59CFF653-97D2-4F5D-02D0-8DA7B46E5587}"/>
              </a:ext>
            </a:extLst>
          </p:cNvPr>
          <p:cNvCxnSpPr>
            <a:stCxn id="50" idx="0"/>
          </p:cNvCxnSpPr>
          <p:nvPr/>
        </p:nvCxnSpPr>
        <p:spPr>
          <a:xfrm flipV="1">
            <a:off x="8979721" y="5514321"/>
            <a:ext cx="46372" cy="847780"/>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53" name="TextBox 52">
            <a:extLst>
              <a:ext uri="{FF2B5EF4-FFF2-40B4-BE49-F238E27FC236}">
                <a16:creationId xmlns:a16="http://schemas.microsoft.com/office/drawing/2014/main" id="{2D65E768-43C9-475A-6F8E-F24CA100C341}"/>
              </a:ext>
            </a:extLst>
          </p:cNvPr>
          <p:cNvSpPr txBox="1"/>
          <p:nvPr/>
        </p:nvSpPr>
        <p:spPr>
          <a:xfrm>
            <a:off x="721581" y="2490502"/>
            <a:ext cx="2884531" cy="3166680"/>
          </a:xfrm>
          <a:prstGeom prst="rect">
            <a:avLst/>
          </a:prstGeom>
          <a:noFill/>
        </p:spPr>
        <p:txBody>
          <a:bodyPr wrap="square" rtlCol="0">
            <a:noAutofit/>
          </a:bodyPr>
          <a:lstStyle/>
          <a:p>
            <a:r>
              <a:rPr lang="en-US" sz="1000" dirty="0">
                <a:solidFill>
                  <a:srgbClr val="8F97B7"/>
                </a:solidFill>
              </a:rPr>
              <a:t>Lorem ipsum dolor sit </a:t>
            </a:r>
            <a:r>
              <a:rPr lang="en-US" sz="1000" dirty="0" err="1">
                <a:solidFill>
                  <a:srgbClr val="8F97B7"/>
                </a:solidFill>
              </a:rPr>
              <a:t>amet</a:t>
            </a:r>
            <a:r>
              <a:rPr lang="en-US" sz="1000" dirty="0">
                <a:solidFill>
                  <a:srgbClr val="8F97B7"/>
                </a:solidFill>
              </a:rPr>
              <a:t>, </a:t>
            </a:r>
            <a:r>
              <a:rPr lang="en-US" sz="1000" dirty="0" err="1">
                <a:solidFill>
                  <a:srgbClr val="8F97B7"/>
                </a:solidFill>
              </a:rPr>
              <a:t>consectetur</a:t>
            </a:r>
            <a:r>
              <a:rPr lang="en-US" sz="1000" dirty="0">
                <a:solidFill>
                  <a:srgbClr val="8F97B7"/>
                </a:solidFill>
              </a:rPr>
              <a:t> </a:t>
            </a:r>
            <a:r>
              <a:rPr lang="en-US" sz="1000" dirty="0" err="1">
                <a:solidFill>
                  <a:srgbClr val="8F97B7"/>
                </a:solidFill>
              </a:rPr>
              <a:t>adipiscing</a:t>
            </a:r>
            <a:r>
              <a:rPr lang="en-US" sz="1000" dirty="0">
                <a:solidFill>
                  <a:srgbClr val="8F97B7"/>
                </a:solidFill>
              </a:rPr>
              <a:t> </a:t>
            </a:r>
            <a:r>
              <a:rPr lang="en-US" sz="1000" dirty="0" err="1">
                <a:solidFill>
                  <a:srgbClr val="8F97B7"/>
                </a:solidFill>
              </a:rPr>
              <a:t>elit</a:t>
            </a:r>
            <a:r>
              <a:rPr lang="en-US" sz="1000" dirty="0">
                <a:solidFill>
                  <a:srgbClr val="8F97B7"/>
                </a:solidFill>
              </a:rPr>
              <a:t>. Nulla </a:t>
            </a:r>
            <a:r>
              <a:rPr lang="en-US" sz="1000" dirty="0" err="1">
                <a:solidFill>
                  <a:srgbClr val="8F97B7"/>
                </a:solidFill>
              </a:rPr>
              <a:t>tincidunt</a:t>
            </a:r>
            <a:r>
              <a:rPr lang="en-US" sz="1000" dirty="0">
                <a:solidFill>
                  <a:srgbClr val="8F97B7"/>
                </a:solidFill>
              </a:rPr>
              <a:t> </a:t>
            </a:r>
            <a:r>
              <a:rPr lang="en-US" sz="1000" dirty="0" err="1">
                <a:solidFill>
                  <a:srgbClr val="8F97B7"/>
                </a:solidFill>
              </a:rPr>
              <a:t>consequat</a:t>
            </a:r>
            <a:r>
              <a:rPr lang="en-US" sz="1000" dirty="0">
                <a:solidFill>
                  <a:srgbClr val="8F97B7"/>
                </a:solidFill>
              </a:rPr>
              <a:t> dolor. </a:t>
            </a:r>
            <a:r>
              <a:rPr lang="en-US" sz="1000" dirty="0" err="1">
                <a:solidFill>
                  <a:srgbClr val="8F97B7"/>
                </a:solidFill>
              </a:rPr>
              <a:t>Praesent</a:t>
            </a:r>
            <a:r>
              <a:rPr lang="en-US" sz="1000" dirty="0">
                <a:solidFill>
                  <a:srgbClr val="8F97B7"/>
                </a:solidFill>
              </a:rPr>
              <a:t> sed </a:t>
            </a:r>
            <a:r>
              <a:rPr lang="en-US" sz="1000" dirty="0" err="1">
                <a:solidFill>
                  <a:srgbClr val="8F97B7"/>
                </a:solidFill>
              </a:rPr>
              <a:t>tempor</a:t>
            </a:r>
            <a:r>
              <a:rPr lang="en-US" sz="1000" dirty="0">
                <a:solidFill>
                  <a:srgbClr val="8F97B7"/>
                </a:solidFill>
              </a:rPr>
              <a:t> </a:t>
            </a:r>
            <a:r>
              <a:rPr lang="en-US" sz="1000" dirty="0" err="1">
                <a:solidFill>
                  <a:srgbClr val="8F97B7"/>
                </a:solidFill>
              </a:rPr>
              <a:t>risus</a:t>
            </a:r>
            <a:r>
              <a:rPr lang="en-US" sz="1000" dirty="0">
                <a:solidFill>
                  <a:srgbClr val="8F97B7"/>
                </a:solidFill>
              </a:rPr>
              <a:t>, vitae convallis </a:t>
            </a:r>
            <a:r>
              <a:rPr lang="en-US" sz="1000" dirty="0" err="1">
                <a:solidFill>
                  <a:srgbClr val="8F97B7"/>
                </a:solidFill>
              </a:rPr>
              <a:t>sapien</a:t>
            </a:r>
            <a:r>
              <a:rPr lang="en-US" sz="1000" dirty="0">
                <a:solidFill>
                  <a:srgbClr val="8F97B7"/>
                </a:solidFill>
              </a:rPr>
              <a:t>. Aenean </a:t>
            </a:r>
            <a:r>
              <a:rPr lang="en-US" sz="1000" dirty="0" err="1">
                <a:solidFill>
                  <a:srgbClr val="8F97B7"/>
                </a:solidFill>
              </a:rPr>
              <a:t>accumsan</a:t>
            </a:r>
            <a:r>
              <a:rPr lang="en-US" sz="1000" dirty="0">
                <a:solidFill>
                  <a:srgbClr val="8F97B7"/>
                </a:solidFill>
              </a:rPr>
              <a:t> </a:t>
            </a:r>
            <a:r>
              <a:rPr lang="en-US" sz="1000" dirty="0" err="1">
                <a:solidFill>
                  <a:srgbClr val="8F97B7"/>
                </a:solidFill>
              </a:rPr>
              <a:t>quis</a:t>
            </a:r>
            <a:r>
              <a:rPr lang="en-US" sz="1000" dirty="0">
                <a:solidFill>
                  <a:srgbClr val="8F97B7"/>
                </a:solidFill>
              </a:rPr>
              <a:t> lorem vitae </a:t>
            </a:r>
            <a:r>
              <a:rPr lang="en-US" sz="1000" dirty="0" err="1">
                <a:solidFill>
                  <a:srgbClr val="8F97B7"/>
                </a:solidFill>
              </a:rPr>
              <a:t>eleifend</a:t>
            </a:r>
            <a:r>
              <a:rPr lang="en-US" sz="1000" dirty="0">
                <a:solidFill>
                  <a:srgbClr val="8F97B7"/>
                </a:solidFill>
              </a:rPr>
              <a:t>. Vestibulum </a:t>
            </a:r>
            <a:r>
              <a:rPr lang="en-US" sz="1000" dirty="0" err="1">
                <a:solidFill>
                  <a:srgbClr val="8F97B7"/>
                </a:solidFill>
              </a:rPr>
              <a:t>sagittis</a:t>
            </a:r>
            <a:r>
              <a:rPr lang="en-US" sz="1000" dirty="0">
                <a:solidFill>
                  <a:srgbClr val="8F97B7"/>
                </a:solidFill>
              </a:rPr>
              <a:t> ipsum nec </a:t>
            </a:r>
            <a:r>
              <a:rPr lang="en-US" sz="1000" dirty="0" err="1">
                <a:solidFill>
                  <a:srgbClr val="8F97B7"/>
                </a:solidFill>
              </a:rPr>
              <a:t>mauris</a:t>
            </a:r>
            <a:r>
              <a:rPr lang="en-US" sz="1000" dirty="0">
                <a:solidFill>
                  <a:srgbClr val="8F97B7"/>
                </a:solidFill>
              </a:rPr>
              <a:t> </a:t>
            </a:r>
            <a:r>
              <a:rPr lang="en-US" sz="1000" dirty="0" err="1">
                <a:solidFill>
                  <a:srgbClr val="8F97B7"/>
                </a:solidFill>
              </a:rPr>
              <a:t>consectetur</a:t>
            </a:r>
            <a:r>
              <a:rPr lang="en-US" sz="1000" dirty="0">
                <a:solidFill>
                  <a:srgbClr val="8F97B7"/>
                </a:solidFill>
              </a:rPr>
              <a:t>, </a:t>
            </a:r>
            <a:r>
              <a:rPr lang="en-US" sz="1000" dirty="0" err="1">
                <a:solidFill>
                  <a:srgbClr val="8F97B7"/>
                </a:solidFill>
              </a:rPr>
              <a:t>commodo</a:t>
            </a:r>
            <a:r>
              <a:rPr lang="en-US" sz="1000" dirty="0">
                <a:solidFill>
                  <a:srgbClr val="8F97B7"/>
                </a:solidFill>
              </a:rPr>
              <a:t> </a:t>
            </a:r>
            <a:r>
              <a:rPr lang="en-US" sz="1000" dirty="0" err="1">
                <a:solidFill>
                  <a:srgbClr val="8F97B7"/>
                </a:solidFill>
              </a:rPr>
              <a:t>posuere</a:t>
            </a:r>
            <a:r>
              <a:rPr lang="en-US" sz="1000" dirty="0">
                <a:solidFill>
                  <a:srgbClr val="8F97B7"/>
                </a:solidFill>
              </a:rPr>
              <a:t> libero </a:t>
            </a:r>
            <a:r>
              <a:rPr lang="en-US" sz="1000" dirty="0" err="1">
                <a:solidFill>
                  <a:srgbClr val="8F97B7"/>
                </a:solidFill>
              </a:rPr>
              <a:t>consectetur</a:t>
            </a:r>
            <a:r>
              <a:rPr lang="en-US" sz="1000" dirty="0">
                <a:solidFill>
                  <a:srgbClr val="8F97B7"/>
                </a:solidFill>
              </a:rPr>
              <a:t>. </a:t>
            </a:r>
          </a:p>
          <a:p>
            <a:endParaRPr lang="en-US" sz="1000" dirty="0">
              <a:solidFill>
                <a:srgbClr val="8F97B7"/>
              </a:solidFill>
            </a:endParaRPr>
          </a:p>
          <a:p>
            <a:r>
              <a:rPr lang="en-US" sz="1000" dirty="0">
                <a:solidFill>
                  <a:srgbClr val="8F97B7"/>
                </a:solidFill>
              </a:rPr>
              <a:t>Donec </a:t>
            </a:r>
            <a:r>
              <a:rPr lang="en-US" sz="1000" dirty="0" err="1">
                <a:solidFill>
                  <a:srgbClr val="8F97B7"/>
                </a:solidFill>
              </a:rPr>
              <a:t>eget</a:t>
            </a:r>
            <a:r>
              <a:rPr lang="en-US" sz="1000" dirty="0">
                <a:solidFill>
                  <a:srgbClr val="8F97B7"/>
                </a:solidFill>
              </a:rPr>
              <a:t> </a:t>
            </a:r>
            <a:r>
              <a:rPr lang="en-US" sz="1000" dirty="0" err="1">
                <a:solidFill>
                  <a:srgbClr val="8F97B7"/>
                </a:solidFill>
              </a:rPr>
              <a:t>tempor</a:t>
            </a:r>
            <a:r>
              <a:rPr lang="en-US" sz="1000" dirty="0">
                <a:solidFill>
                  <a:srgbClr val="8F97B7"/>
                </a:solidFill>
              </a:rPr>
              <a:t> </a:t>
            </a:r>
            <a:r>
              <a:rPr lang="en-US" sz="1000" dirty="0" err="1">
                <a:solidFill>
                  <a:srgbClr val="8F97B7"/>
                </a:solidFill>
              </a:rPr>
              <a:t>nibh</a:t>
            </a:r>
            <a:r>
              <a:rPr lang="en-US" sz="1000" dirty="0">
                <a:solidFill>
                  <a:srgbClr val="8F97B7"/>
                </a:solidFill>
              </a:rPr>
              <a:t>. </a:t>
            </a:r>
            <a:r>
              <a:rPr lang="en-US" sz="1000" dirty="0" err="1">
                <a:solidFill>
                  <a:srgbClr val="8F97B7"/>
                </a:solidFill>
              </a:rPr>
              <a:t>Fusce</a:t>
            </a:r>
            <a:r>
              <a:rPr lang="en-US" sz="1000" dirty="0">
                <a:solidFill>
                  <a:srgbClr val="8F97B7"/>
                </a:solidFill>
              </a:rPr>
              <a:t> </a:t>
            </a:r>
            <a:r>
              <a:rPr lang="en-US" sz="1000" dirty="0" err="1">
                <a:solidFill>
                  <a:srgbClr val="8F97B7"/>
                </a:solidFill>
              </a:rPr>
              <a:t>vehicula</a:t>
            </a:r>
            <a:r>
              <a:rPr lang="en-US" sz="1000" dirty="0">
                <a:solidFill>
                  <a:srgbClr val="8F97B7"/>
                </a:solidFill>
              </a:rPr>
              <a:t> </a:t>
            </a:r>
            <a:r>
              <a:rPr lang="en-US" sz="1000" dirty="0" err="1">
                <a:solidFill>
                  <a:srgbClr val="8F97B7"/>
                </a:solidFill>
              </a:rPr>
              <a:t>ultrices</a:t>
            </a:r>
            <a:r>
              <a:rPr lang="en-US" sz="1000" dirty="0">
                <a:solidFill>
                  <a:srgbClr val="8F97B7"/>
                </a:solidFill>
              </a:rPr>
              <a:t> </a:t>
            </a:r>
            <a:r>
              <a:rPr lang="en-US" sz="1000" dirty="0" err="1">
                <a:solidFill>
                  <a:srgbClr val="8F97B7"/>
                </a:solidFill>
              </a:rPr>
              <a:t>vehicula</a:t>
            </a:r>
            <a:r>
              <a:rPr lang="en-US" sz="1000" dirty="0">
                <a:solidFill>
                  <a:srgbClr val="8F97B7"/>
                </a:solidFill>
              </a:rPr>
              <a:t>. Donec </a:t>
            </a:r>
            <a:r>
              <a:rPr lang="en-US" sz="1000" dirty="0" err="1">
                <a:solidFill>
                  <a:srgbClr val="8F97B7"/>
                </a:solidFill>
              </a:rPr>
              <a:t>consequat</a:t>
            </a:r>
            <a:r>
              <a:rPr lang="en-US" sz="1000" dirty="0">
                <a:solidFill>
                  <a:srgbClr val="8F97B7"/>
                </a:solidFill>
              </a:rPr>
              <a:t>, </a:t>
            </a:r>
            <a:r>
              <a:rPr lang="en-US" sz="1000" dirty="0" err="1">
                <a:solidFill>
                  <a:srgbClr val="8F97B7"/>
                </a:solidFill>
              </a:rPr>
              <a:t>purus</a:t>
            </a:r>
            <a:r>
              <a:rPr lang="en-US" sz="1000" dirty="0">
                <a:solidFill>
                  <a:srgbClr val="8F97B7"/>
                </a:solidFill>
              </a:rPr>
              <a:t> vitae </a:t>
            </a:r>
            <a:r>
              <a:rPr lang="en-US" sz="1000" dirty="0" err="1">
                <a:solidFill>
                  <a:srgbClr val="8F97B7"/>
                </a:solidFill>
              </a:rPr>
              <a:t>vehicula</a:t>
            </a:r>
            <a:r>
              <a:rPr lang="en-US" sz="1000" dirty="0">
                <a:solidFill>
                  <a:srgbClr val="8F97B7"/>
                </a:solidFill>
              </a:rPr>
              <a:t> </a:t>
            </a:r>
            <a:r>
              <a:rPr lang="en-US" sz="1000" dirty="0" err="1">
                <a:solidFill>
                  <a:srgbClr val="8F97B7"/>
                </a:solidFill>
              </a:rPr>
              <a:t>placerat</a:t>
            </a:r>
            <a:r>
              <a:rPr lang="en-US" sz="1000" dirty="0">
                <a:solidFill>
                  <a:srgbClr val="8F97B7"/>
                </a:solidFill>
              </a:rPr>
              <a:t>, </a:t>
            </a:r>
            <a:r>
              <a:rPr lang="en-US" sz="1000" dirty="0" err="1">
                <a:solidFill>
                  <a:srgbClr val="8F97B7"/>
                </a:solidFill>
              </a:rPr>
              <a:t>erat</a:t>
            </a:r>
            <a:r>
              <a:rPr lang="en-US" sz="1000" dirty="0">
                <a:solidFill>
                  <a:srgbClr val="8F97B7"/>
                </a:solidFill>
              </a:rPr>
              <a:t> </a:t>
            </a:r>
            <a:r>
              <a:rPr lang="en-US" sz="1000" dirty="0" err="1">
                <a:solidFill>
                  <a:srgbClr val="8F97B7"/>
                </a:solidFill>
              </a:rPr>
              <a:t>velit</a:t>
            </a:r>
            <a:r>
              <a:rPr lang="en-US" sz="1000" dirty="0">
                <a:solidFill>
                  <a:srgbClr val="8F97B7"/>
                </a:solidFill>
              </a:rPr>
              <a:t> pharetra </a:t>
            </a:r>
            <a:r>
              <a:rPr lang="en-US" sz="1000" dirty="0" err="1">
                <a:solidFill>
                  <a:srgbClr val="8F97B7"/>
                </a:solidFill>
              </a:rPr>
              <a:t>mauris</a:t>
            </a:r>
            <a:r>
              <a:rPr lang="en-US" sz="1000" dirty="0">
                <a:solidFill>
                  <a:srgbClr val="8F97B7"/>
                </a:solidFill>
              </a:rPr>
              <a:t>, </a:t>
            </a:r>
            <a:r>
              <a:rPr lang="en-US" sz="1000" dirty="0" err="1">
                <a:solidFill>
                  <a:srgbClr val="8F97B7"/>
                </a:solidFill>
              </a:rPr>
              <a:t>eu</a:t>
            </a:r>
            <a:r>
              <a:rPr lang="en-US" sz="1000" dirty="0">
                <a:solidFill>
                  <a:srgbClr val="8F97B7"/>
                </a:solidFill>
              </a:rPr>
              <a:t> vestibulum </a:t>
            </a:r>
            <a:r>
              <a:rPr lang="en-US" sz="1000" dirty="0" err="1">
                <a:solidFill>
                  <a:srgbClr val="8F97B7"/>
                </a:solidFill>
              </a:rPr>
              <a:t>tellus</a:t>
            </a:r>
            <a:r>
              <a:rPr lang="en-US" sz="1000" dirty="0">
                <a:solidFill>
                  <a:srgbClr val="8F97B7"/>
                </a:solidFill>
              </a:rPr>
              <a:t> </a:t>
            </a:r>
            <a:r>
              <a:rPr lang="en-US" sz="1000" dirty="0" err="1">
                <a:solidFill>
                  <a:srgbClr val="8F97B7"/>
                </a:solidFill>
              </a:rPr>
              <a:t>sem</a:t>
            </a:r>
            <a:r>
              <a:rPr lang="en-US" sz="1000" dirty="0">
                <a:solidFill>
                  <a:srgbClr val="8F97B7"/>
                </a:solidFill>
              </a:rPr>
              <a:t> at </a:t>
            </a:r>
            <a:r>
              <a:rPr lang="en-US" sz="1000" dirty="0" err="1">
                <a:solidFill>
                  <a:srgbClr val="8F97B7"/>
                </a:solidFill>
              </a:rPr>
              <a:t>massa</a:t>
            </a:r>
            <a:r>
              <a:rPr lang="en-US" sz="1000" dirty="0">
                <a:solidFill>
                  <a:srgbClr val="8F97B7"/>
                </a:solidFill>
              </a:rPr>
              <a:t>. </a:t>
            </a:r>
            <a:r>
              <a:rPr lang="en-US" sz="1000" dirty="0" err="1">
                <a:solidFill>
                  <a:srgbClr val="8F97B7"/>
                </a:solidFill>
              </a:rPr>
              <a:t>Pellentesque</a:t>
            </a:r>
            <a:r>
              <a:rPr lang="en-US" sz="1000" dirty="0">
                <a:solidFill>
                  <a:srgbClr val="8F97B7"/>
                </a:solidFill>
              </a:rPr>
              <a:t> a </a:t>
            </a:r>
            <a:r>
              <a:rPr lang="en-US" sz="1000" dirty="0" err="1">
                <a:solidFill>
                  <a:srgbClr val="8F97B7"/>
                </a:solidFill>
              </a:rPr>
              <a:t>euismod</a:t>
            </a:r>
            <a:r>
              <a:rPr lang="en-US" sz="1000" dirty="0">
                <a:solidFill>
                  <a:srgbClr val="8F97B7"/>
                </a:solidFill>
              </a:rPr>
              <a:t> </a:t>
            </a:r>
            <a:r>
              <a:rPr lang="en-US" sz="1000" dirty="0" err="1">
                <a:solidFill>
                  <a:srgbClr val="8F97B7"/>
                </a:solidFill>
              </a:rPr>
              <a:t>tortor</a:t>
            </a:r>
            <a:r>
              <a:rPr lang="en-US" sz="1000" dirty="0">
                <a:solidFill>
                  <a:srgbClr val="8F97B7"/>
                </a:solidFill>
              </a:rPr>
              <a:t>. Maecenas </a:t>
            </a:r>
            <a:r>
              <a:rPr lang="en-US" sz="1000" dirty="0" err="1">
                <a:solidFill>
                  <a:srgbClr val="8F97B7"/>
                </a:solidFill>
              </a:rPr>
              <a:t>pretium</a:t>
            </a:r>
            <a:r>
              <a:rPr lang="en-US" sz="1000" dirty="0">
                <a:solidFill>
                  <a:srgbClr val="8F97B7"/>
                </a:solidFill>
              </a:rPr>
              <a:t> </a:t>
            </a:r>
            <a:r>
              <a:rPr lang="en-US" sz="1000" dirty="0" err="1">
                <a:solidFill>
                  <a:srgbClr val="8F97B7"/>
                </a:solidFill>
              </a:rPr>
              <a:t>ultrices</a:t>
            </a:r>
            <a:r>
              <a:rPr lang="en-US" sz="1000" dirty="0">
                <a:solidFill>
                  <a:srgbClr val="8F97B7"/>
                </a:solidFill>
              </a:rPr>
              <a:t> </a:t>
            </a:r>
            <a:r>
              <a:rPr lang="en-US" sz="1000" dirty="0" err="1">
                <a:solidFill>
                  <a:srgbClr val="8F97B7"/>
                </a:solidFill>
              </a:rPr>
              <a:t>rutrum</a:t>
            </a:r>
            <a:r>
              <a:rPr lang="en-US" sz="1000" dirty="0">
                <a:solidFill>
                  <a:srgbClr val="8F97B7"/>
                </a:solidFill>
              </a:rPr>
              <a:t>. Cras </a:t>
            </a:r>
            <a:r>
              <a:rPr lang="en-US" sz="1000" dirty="0" err="1">
                <a:solidFill>
                  <a:srgbClr val="8F97B7"/>
                </a:solidFill>
              </a:rPr>
              <a:t>bibendum</a:t>
            </a:r>
            <a:r>
              <a:rPr lang="en-US" sz="1000" dirty="0">
                <a:solidFill>
                  <a:srgbClr val="8F97B7"/>
                </a:solidFill>
              </a:rPr>
              <a:t>, lorem sit </a:t>
            </a:r>
            <a:r>
              <a:rPr lang="en-US" sz="1000" dirty="0" err="1">
                <a:solidFill>
                  <a:srgbClr val="8F97B7"/>
                </a:solidFill>
              </a:rPr>
              <a:t>amet</a:t>
            </a:r>
            <a:r>
              <a:rPr lang="en-US" sz="1000" dirty="0">
                <a:solidFill>
                  <a:srgbClr val="8F97B7"/>
                </a:solidFill>
              </a:rPr>
              <a:t> </a:t>
            </a:r>
            <a:r>
              <a:rPr lang="en-US" sz="1000" dirty="0" err="1">
                <a:solidFill>
                  <a:srgbClr val="8F97B7"/>
                </a:solidFill>
              </a:rPr>
              <a:t>euismod</a:t>
            </a:r>
            <a:r>
              <a:rPr lang="en-US" sz="1000" dirty="0">
                <a:solidFill>
                  <a:srgbClr val="8F97B7"/>
                </a:solidFill>
              </a:rPr>
              <a:t> </a:t>
            </a:r>
            <a:r>
              <a:rPr lang="en-US" sz="1000" dirty="0" err="1">
                <a:solidFill>
                  <a:srgbClr val="8F97B7"/>
                </a:solidFill>
              </a:rPr>
              <a:t>elementum</a:t>
            </a:r>
            <a:r>
              <a:rPr lang="en-US" sz="1000" dirty="0">
                <a:solidFill>
                  <a:srgbClr val="8F97B7"/>
                </a:solidFill>
              </a:rPr>
              <a:t>, </a:t>
            </a:r>
            <a:r>
              <a:rPr lang="en-US" sz="1000" dirty="0" err="1">
                <a:solidFill>
                  <a:srgbClr val="8F97B7"/>
                </a:solidFill>
              </a:rPr>
              <a:t>quam</a:t>
            </a:r>
            <a:r>
              <a:rPr lang="en-US" sz="1000" dirty="0">
                <a:solidFill>
                  <a:srgbClr val="8F97B7"/>
                </a:solidFill>
              </a:rPr>
              <a:t> </a:t>
            </a:r>
            <a:r>
              <a:rPr lang="en-US" sz="1000" dirty="0" err="1">
                <a:solidFill>
                  <a:srgbClr val="8F97B7"/>
                </a:solidFill>
              </a:rPr>
              <a:t>velit</a:t>
            </a:r>
            <a:r>
              <a:rPr lang="en-US" sz="1000" dirty="0">
                <a:solidFill>
                  <a:srgbClr val="8F97B7"/>
                </a:solidFill>
              </a:rPr>
              <a:t> </a:t>
            </a:r>
            <a:r>
              <a:rPr lang="en-US" sz="1000" dirty="0" err="1">
                <a:solidFill>
                  <a:srgbClr val="8F97B7"/>
                </a:solidFill>
              </a:rPr>
              <a:t>lobortis</a:t>
            </a:r>
            <a:r>
              <a:rPr lang="en-US" sz="1000" dirty="0">
                <a:solidFill>
                  <a:srgbClr val="8F97B7"/>
                </a:solidFill>
              </a:rPr>
              <a:t> ex, a </a:t>
            </a:r>
            <a:r>
              <a:rPr lang="en-US" sz="1000" dirty="0" err="1">
                <a:solidFill>
                  <a:srgbClr val="8F97B7"/>
                </a:solidFill>
              </a:rPr>
              <a:t>commodo</a:t>
            </a:r>
            <a:r>
              <a:rPr lang="en-US" sz="1000" dirty="0">
                <a:solidFill>
                  <a:srgbClr val="8F97B7"/>
                </a:solidFill>
              </a:rPr>
              <a:t> </a:t>
            </a:r>
            <a:r>
              <a:rPr lang="en-US" sz="1000" dirty="0" err="1">
                <a:solidFill>
                  <a:srgbClr val="8F97B7"/>
                </a:solidFill>
              </a:rPr>
              <a:t>sem</a:t>
            </a:r>
            <a:r>
              <a:rPr lang="en-US" sz="1000" dirty="0">
                <a:solidFill>
                  <a:srgbClr val="8F97B7"/>
                </a:solidFill>
              </a:rPr>
              <a:t> </a:t>
            </a:r>
            <a:r>
              <a:rPr lang="en-US" sz="1000" dirty="0" err="1">
                <a:solidFill>
                  <a:srgbClr val="8F97B7"/>
                </a:solidFill>
              </a:rPr>
              <a:t>neque</a:t>
            </a:r>
            <a:r>
              <a:rPr lang="en-US" sz="1000" dirty="0">
                <a:solidFill>
                  <a:srgbClr val="8F97B7"/>
                </a:solidFill>
              </a:rPr>
              <a:t> in </a:t>
            </a:r>
            <a:r>
              <a:rPr lang="en-US" sz="1000" dirty="0" err="1">
                <a:solidFill>
                  <a:srgbClr val="8F97B7"/>
                </a:solidFill>
              </a:rPr>
              <a:t>turpis</a:t>
            </a:r>
            <a:r>
              <a:rPr lang="en-US" sz="1000" dirty="0">
                <a:solidFill>
                  <a:srgbClr val="8F97B7"/>
                </a:solidFill>
              </a:rPr>
              <a:t>. </a:t>
            </a:r>
          </a:p>
          <a:p>
            <a:endParaRPr lang="en-US" sz="1000" dirty="0">
              <a:solidFill>
                <a:srgbClr val="8F97B7"/>
              </a:solidFill>
            </a:endParaRPr>
          </a:p>
          <a:p>
            <a:r>
              <a:rPr lang="en-US" sz="1000" dirty="0">
                <a:solidFill>
                  <a:srgbClr val="8F97B7"/>
                </a:solidFill>
              </a:rPr>
              <a:t>Proin a </a:t>
            </a:r>
            <a:r>
              <a:rPr lang="en-US" sz="1000" dirty="0" err="1">
                <a:solidFill>
                  <a:srgbClr val="8F97B7"/>
                </a:solidFill>
              </a:rPr>
              <a:t>massa</a:t>
            </a:r>
            <a:r>
              <a:rPr lang="en-US" sz="1000" dirty="0">
                <a:solidFill>
                  <a:srgbClr val="8F97B7"/>
                </a:solidFill>
              </a:rPr>
              <a:t> </a:t>
            </a:r>
            <a:r>
              <a:rPr lang="en-US" sz="1000" dirty="0" err="1">
                <a:solidFill>
                  <a:srgbClr val="8F97B7"/>
                </a:solidFill>
              </a:rPr>
              <a:t>eget</a:t>
            </a:r>
            <a:r>
              <a:rPr lang="en-US" sz="1000" dirty="0">
                <a:solidFill>
                  <a:srgbClr val="8F97B7"/>
                </a:solidFill>
              </a:rPr>
              <a:t> </a:t>
            </a:r>
            <a:r>
              <a:rPr lang="en-US" sz="1000" dirty="0" err="1">
                <a:solidFill>
                  <a:srgbClr val="8F97B7"/>
                </a:solidFill>
              </a:rPr>
              <a:t>sapien</a:t>
            </a:r>
            <a:r>
              <a:rPr lang="en-US" sz="1000" dirty="0">
                <a:solidFill>
                  <a:srgbClr val="8F97B7"/>
                </a:solidFill>
              </a:rPr>
              <a:t> </a:t>
            </a:r>
            <a:r>
              <a:rPr lang="en-US" sz="1000" dirty="0" err="1">
                <a:solidFill>
                  <a:srgbClr val="8F97B7"/>
                </a:solidFill>
              </a:rPr>
              <a:t>sagittis</a:t>
            </a:r>
            <a:r>
              <a:rPr lang="en-US" sz="1000" dirty="0">
                <a:solidFill>
                  <a:srgbClr val="8F97B7"/>
                </a:solidFill>
              </a:rPr>
              <a:t> convallis. </a:t>
            </a:r>
            <a:r>
              <a:rPr lang="en-US" sz="1000" dirty="0" err="1">
                <a:solidFill>
                  <a:srgbClr val="8F97B7"/>
                </a:solidFill>
              </a:rPr>
              <a:t>Suspendisse</a:t>
            </a:r>
            <a:r>
              <a:rPr lang="en-US" sz="1000" dirty="0">
                <a:solidFill>
                  <a:srgbClr val="8F97B7"/>
                </a:solidFill>
              </a:rPr>
              <a:t> </a:t>
            </a:r>
            <a:r>
              <a:rPr lang="en-US" sz="1000" dirty="0" err="1">
                <a:solidFill>
                  <a:srgbClr val="8F97B7"/>
                </a:solidFill>
              </a:rPr>
              <a:t>commodo</a:t>
            </a:r>
            <a:r>
              <a:rPr lang="en-US" sz="1000" dirty="0">
                <a:solidFill>
                  <a:srgbClr val="8F97B7"/>
                </a:solidFill>
              </a:rPr>
              <a:t> </a:t>
            </a:r>
            <a:r>
              <a:rPr lang="en-US" sz="1000" dirty="0" err="1">
                <a:solidFill>
                  <a:srgbClr val="8F97B7"/>
                </a:solidFill>
              </a:rPr>
              <a:t>elit</a:t>
            </a:r>
            <a:r>
              <a:rPr lang="en-US" sz="1000" dirty="0">
                <a:solidFill>
                  <a:srgbClr val="8F97B7"/>
                </a:solidFill>
              </a:rPr>
              <a:t> </a:t>
            </a:r>
            <a:r>
              <a:rPr lang="en-US" sz="1000" dirty="0" err="1">
                <a:solidFill>
                  <a:srgbClr val="8F97B7"/>
                </a:solidFill>
              </a:rPr>
              <a:t>quis</a:t>
            </a:r>
            <a:r>
              <a:rPr lang="en-US" sz="1000" dirty="0">
                <a:solidFill>
                  <a:srgbClr val="8F97B7"/>
                </a:solidFill>
              </a:rPr>
              <a:t> </a:t>
            </a:r>
            <a:r>
              <a:rPr lang="en-US" sz="1000" dirty="0" err="1">
                <a:solidFill>
                  <a:srgbClr val="8F97B7"/>
                </a:solidFill>
              </a:rPr>
              <a:t>arcu</a:t>
            </a:r>
            <a:r>
              <a:rPr lang="en-US" sz="1000" dirty="0">
                <a:solidFill>
                  <a:srgbClr val="8F97B7"/>
                </a:solidFill>
              </a:rPr>
              <a:t> dictum porta. Sed </a:t>
            </a:r>
            <a:r>
              <a:rPr lang="en-US" sz="1000" dirty="0" err="1">
                <a:solidFill>
                  <a:srgbClr val="8F97B7"/>
                </a:solidFill>
              </a:rPr>
              <a:t>consequat</a:t>
            </a:r>
            <a:r>
              <a:rPr lang="en-US" sz="1000" dirty="0">
                <a:solidFill>
                  <a:srgbClr val="8F97B7"/>
                </a:solidFill>
              </a:rPr>
              <a:t> </a:t>
            </a:r>
            <a:r>
              <a:rPr lang="en-US" sz="1000" dirty="0" err="1">
                <a:solidFill>
                  <a:srgbClr val="8F97B7"/>
                </a:solidFill>
              </a:rPr>
              <a:t>ullamcorper</a:t>
            </a:r>
            <a:r>
              <a:rPr lang="en-US" sz="1000" dirty="0">
                <a:solidFill>
                  <a:srgbClr val="8F97B7"/>
                </a:solidFill>
              </a:rPr>
              <a:t> eros, id……..</a:t>
            </a:r>
          </a:p>
        </p:txBody>
      </p:sp>
      <p:pic>
        <p:nvPicPr>
          <p:cNvPr id="55" name="Graphic 54" descr="Pencil with solid fill">
            <a:extLst>
              <a:ext uri="{FF2B5EF4-FFF2-40B4-BE49-F238E27FC236}">
                <a16:creationId xmlns:a16="http://schemas.microsoft.com/office/drawing/2014/main" id="{21F21F10-3D7E-6047-2915-A975B9CC0E5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674533" y="5719184"/>
            <a:ext cx="258055" cy="258055"/>
          </a:xfrm>
          <a:prstGeom prst="rect">
            <a:avLst/>
          </a:prstGeom>
        </p:spPr>
      </p:pic>
      <p:sp>
        <p:nvSpPr>
          <p:cNvPr id="56" name="Rectangle 55">
            <a:extLst>
              <a:ext uri="{FF2B5EF4-FFF2-40B4-BE49-F238E27FC236}">
                <a16:creationId xmlns:a16="http://schemas.microsoft.com/office/drawing/2014/main" id="{92286F77-F3F2-673A-6823-AF1B2ABCB6A1}"/>
              </a:ext>
            </a:extLst>
          </p:cNvPr>
          <p:cNvSpPr/>
          <p:nvPr/>
        </p:nvSpPr>
        <p:spPr>
          <a:xfrm>
            <a:off x="1418002" y="6328738"/>
            <a:ext cx="3860516" cy="437288"/>
          </a:xfrm>
          <a:prstGeom prst="rect">
            <a:avLst/>
          </a:prstGeom>
          <a:no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5">
                    <a:lumMod val="60000"/>
                    <a:lumOff val="40000"/>
                  </a:schemeClr>
                </a:solidFill>
              </a:rPr>
              <a:t>Inactive during working phase</a:t>
            </a:r>
          </a:p>
        </p:txBody>
      </p:sp>
      <p:pic>
        <p:nvPicPr>
          <p:cNvPr id="59" name="Graphic 58" descr="Pencil with solid fill">
            <a:extLst>
              <a:ext uri="{FF2B5EF4-FFF2-40B4-BE49-F238E27FC236}">
                <a16:creationId xmlns:a16="http://schemas.microsoft.com/office/drawing/2014/main" id="{4F14B2C9-1B4B-CFE6-5E5B-A2E647817BD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935234" y="5734346"/>
            <a:ext cx="258055" cy="258055"/>
          </a:xfrm>
          <a:prstGeom prst="rect">
            <a:avLst/>
          </a:prstGeom>
        </p:spPr>
      </p:pic>
      <p:cxnSp>
        <p:nvCxnSpPr>
          <p:cNvPr id="61" name="Straight Arrow Connector 60">
            <a:extLst>
              <a:ext uri="{FF2B5EF4-FFF2-40B4-BE49-F238E27FC236}">
                <a16:creationId xmlns:a16="http://schemas.microsoft.com/office/drawing/2014/main" id="{EBB1F0FF-8F60-D521-E796-CFBD671AB6DA}"/>
              </a:ext>
            </a:extLst>
          </p:cNvPr>
          <p:cNvCxnSpPr>
            <a:stCxn id="56" idx="0"/>
          </p:cNvCxnSpPr>
          <p:nvPr/>
        </p:nvCxnSpPr>
        <p:spPr>
          <a:xfrm flipH="1" flipV="1">
            <a:off x="2309944" y="5938211"/>
            <a:ext cx="1038316" cy="390527"/>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65" name="Straight Arrow Connector 64">
            <a:extLst>
              <a:ext uri="{FF2B5EF4-FFF2-40B4-BE49-F238E27FC236}">
                <a16:creationId xmlns:a16="http://schemas.microsoft.com/office/drawing/2014/main" id="{CE8E5EBE-FFFE-3285-8CF9-741A2FCA3E0C}"/>
              </a:ext>
            </a:extLst>
          </p:cNvPr>
          <p:cNvCxnSpPr/>
          <p:nvPr/>
        </p:nvCxnSpPr>
        <p:spPr>
          <a:xfrm flipV="1">
            <a:off x="4160171" y="5938211"/>
            <a:ext cx="1465832" cy="390527"/>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68" name="Rectangle 67">
            <a:extLst>
              <a:ext uri="{FF2B5EF4-FFF2-40B4-BE49-F238E27FC236}">
                <a16:creationId xmlns:a16="http://schemas.microsoft.com/office/drawing/2014/main" id="{B4B0418F-61C4-5585-605D-80DB98577CFB}"/>
              </a:ext>
            </a:extLst>
          </p:cNvPr>
          <p:cNvSpPr/>
          <p:nvPr/>
        </p:nvSpPr>
        <p:spPr>
          <a:xfrm>
            <a:off x="8516101" y="154726"/>
            <a:ext cx="3024104" cy="572374"/>
          </a:xfrm>
          <a:prstGeom prst="rect">
            <a:avLst/>
          </a:prstGeom>
          <a:no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5">
                    <a:lumMod val="60000"/>
                    <a:lumOff val="40000"/>
                  </a:schemeClr>
                </a:solidFill>
              </a:rPr>
              <a:t>Launch jobs is inactive</a:t>
            </a:r>
          </a:p>
        </p:txBody>
      </p:sp>
      <p:cxnSp>
        <p:nvCxnSpPr>
          <p:cNvPr id="69" name="Connector: Elbow 68">
            <a:extLst>
              <a:ext uri="{FF2B5EF4-FFF2-40B4-BE49-F238E27FC236}">
                <a16:creationId xmlns:a16="http://schemas.microsoft.com/office/drawing/2014/main" id="{07FEE00B-B7EC-88EF-D472-0F7ED196F7F1}"/>
              </a:ext>
            </a:extLst>
          </p:cNvPr>
          <p:cNvCxnSpPr>
            <a:stCxn id="68" idx="3"/>
          </p:cNvCxnSpPr>
          <p:nvPr/>
        </p:nvCxnSpPr>
        <p:spPr>
          <a:xfrm flipH="1">
            <a:off x="11304488" y="440913"/>
            <a:ext cx="235717" cy="1562082"/>
          </a:xfrm>
          <a:prstGeom prst="bentConnector3">
            <a:avLst>
              <a:gd name="adj1" fmla="val -96981"/>
            </a:avLst>
          </a:prstGeom>
          <a:ln>
            <a:tailEnd type="triangle"/>
          </a:ln>
        </p:spPr>
        <p:style>
          <a:lnRef idx="2">
            <a:schemeClr val="accent5"/>
          </a:lnRef>
          <a:fillRef idx="0">
            <a:schemeClr val="accent5"/>
          </a:fillRef>
          <a:effectRef idx="1">
            <a:schemeClr val="accent5"/>
          </a:effectRef>
          <a:fontRef idx="minor">
            <a:schemeClr val="tx1"/>
          </a:fontRef>
        </p:style>
      </p:cxnSp>
    </p:spTree>
    <p:extLst>
      <p:ext uri="{BB962C8B-B14F-4D97-AF65-F5344CB8AC3E}">
        <p14:creationId xmlns:p14="http://schemas.microsoft.com/office/powerpoint/2010/main" val="6457829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E1C2D"/>
        </a:solidFill>
        <a:effectLst/>
      </p:bgPr>
    </p:bg>
    <p:spTree>
      <p:nvGrpSpPr>
        <p:cNvPr id="1" name="">
          <a:extLst>
            <a:ext uri="{FF2B5EF4-FFF2-40B4-BE49-F238E27FC236}">
              <a16:creationId xmlns:a16="http://schemas.microsoft.com/office/drawing/2014/main" id="{A00185E2-B88A-6DDE-2C0B-70F86BE1A83E}"/>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30D7AB4-3E9E-4CFD-1D00-DCF7D64C45B7}"/>
              </a:ext>
            </a:extLst>
          </p:cNvPr>
          <p:cNvSpPr/>
          <p:nvPr/>
        </p:nvSpPr>
        <p:spPr>
          <a:xfrm>
            <a:off x="1308100" y="1354149"/>
            <a:ext cx="2174995" cy="505137"/>
          </a:xfrm>
          <a:prstGeom prst="roundRect">
            <a:avLst>
              <a:gd name="adj" fmla="val 32277"/>
            </a:avLst>
          </a:prstGeom>
          <a:no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D7FEF926-187B-CF28-E71B-86FAE7A9985B}"/>
              </a:ext>
            </a:extLst>
          </p:cNvPr>
          <p:cNvSpPr txBox="1"/>
          <p:nvPr/>
        </p:nvSpPr>
        <p:spPr>
          <a:xfrm>
            <a:off x="516531" y="677075"/>
            <a:ext cx="2514919" cy="553998"/>
          </a:xfrm>
          <a:prstGeom prst="rect">
            <a:avLst/>
          </a:prstGeom>
          <a:noFill/>
        </p:spPr>
        <p:txBody>
          <a:bodyPr wrap="none" rtlCol="0">
            <a:spAutoFit/>
          </a:bodyPr>
          <a:lstStyle/>
          <a:p>
            <a:r>
              <a:rPr lang="en-US" dirty="0">
                <a:solidFill>
                  <a:srgbClr val="E1E1E1"/>
                </a:solidFill>
              </a:rPr>
              <a:t>Project: </a:t>
            </a:r>
            <a:r>
              <a:rPr lang="en-US" dirty="0">
                <a:solidFill>
                  <a:srgbClr val="FFC300"/>
                </a:solidFill>
              </a:rPr>
              <a:t>{</a:t>
            </a:r>
            <a:r>
              <a:rPr lang="en-US" dirty="0" err="1">
                <a:solidFill>
                  <a:srgbClr val="FFC300"/>
                </a:solidFill>
              </a:rPr>
              <a:t>project_name</a:t>
            </a:r>
            <a:r>
              <a:rPr lang="en-US" dirty="0">
                <a:solidFill>
                  <a:srgbClr val="FFC300"/>
                </a:solidFill>
              </a:rPr>
              <a:t>}</a:t>
            </a:r>
          </a:p>
          <a:p>
            <a:r>
              <a:rPr lang="en-US" sz="1200" dirty="0">
                <a:solidFill>
                  <a:srgbClr val="8F97B7"/>
                </a:solidFill>
              </a:rPr>
              <a:t>Project ID: {</a:t>
            </a:r>
            <a:r>
              <a:rPr lang="en-US" sz="1200" dirty="0" err="1">
                <a:solidFill>
                  <a:srgbClr val="8F97B7"/>
                </a:solidFill>
              </a:rPr>
              <a:t>full_UUID</a:t>
            </a:r>
            <a:r>
              <a:rPr lang="en-US" sz="1200" dirty="0">
                <a:solidFill>
                  <a:srgbClr val="8F97B7"/>
                </a:solidFill>
              </a:rPr>
              <a:t>}</a:t>
            </a:r>
          </a:p>
        </p:txBody>
      </p:sp>
      <p:sp>
        <p:nvSpPr>
          <p:cNvPr id="3" name="Rectangle: Rounded Corners 2">
            <a:extLst>
              <a:ext uri="{FF2B5EF4-FFF2-40B4-BE49-F238E27FC236}">
                <a16:creationId xmlns:a16="http://schemas.microsoft.com/office/drawing/2014/main" id="{DB4EBBED-A48E-00D5-99C6-4395F00A0F95}"/>
              </a:ext>
            </a:extLst>
          </p:cNvPr>
          <p:cNvSpPr/>
          <p:nvPr/>
        </p:nvSpPr>
        <p:spPr>
          <a:xfrm>
            <a:off x="503405" y="1354150"/>
            <a:ext cx="1212683" cy="969932"/>
          </a:xfrm>
          <a:prstGeom prst="roundRect">
            <a:avLst>
              <a:gd name="adj" fmla="val 17766"/>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ABE5B2D-A218-E8FB-B7CF-9D7DEFF3537B}"/>
              </a:ext>
            </a:extLst>
          </p:cNvPr>
          <p:cNvSpPr txBox="1"/>
          <p:nvPr/>
        </p:nvSpPr>
        <p:spPr>
          <a:xfrm>
            <a:off x="658965" y="1326537"/>
            <a:ext cx="929678" cy="369332"/>
          </a:xfrm>
          <a:prstGeom prst="rect">
            <a:avLst/>
          </a:prstGeom>
          <a:noFill/>
        </p:spPr>
        <p:txBody>
          <a:bodyPr wrap="none" rtlCol="0">
            <a:spAutoFit/>
          </a:bodyPr>
          <a:lstStyle/>
          <a:p>
            <a:r>
              <a:rPr lang="en-US" dirty="0">
                <a:solidFill>
                  <a:srgbClr val="E1E1E1"/>
                </a:solidFill>
              </a:rPr>
              <a:t>Launch</a:t>
            </a:r>
          </a:p>
        </p:txBody>
      </p:sp>
      <p:sp>
        <p:nvSpPr>
          <p:cNvPr id="6" name="Rectangle: Rounded Corners 5">
            <a:extLst>
              <a:ext uri="{FF2B5EF4-FFF2-40B4-BE49-F238E27FC236}">
                <a16:creationId xmlns:a16="http://schemas.microsoft.com/office/drawing/2014/main" id="{3C0E3323-EFDA-A2F2-9C8D-96EE84112036}"/>
              </a:ext>
            </a:extLst>
          </p:cNvPr>
          <p:cNvSpPr/>
          <p:nvPr/>
        </p:nvSpPr>
        <p:spPr>
          <a:xfrm>
            <a:off x="503403" y="1668256"/>
            <a:ext cx="11185191" cy="4565020"/>
          </a:xfrm>
          <a:prstGeom prst="roundRect">
            <a:avLst>
              <a:gd name="adj" fmla="val 5962"/>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99CFDCFD-4D2D-3186-93CD-8D986345BA39}"/>
              </a:ext>
            </a:extLst>
          </p:cNvPr>
          <p:cNvSpPr/>
          <p:nvPr/>
        </p:nvSpPr>
        <p:spPr>
          <a:xfrm>
            <a:off x="512825" y="1626758"/>
            <a:ext cx="1192150" cy="287650"/>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75D3895C-B63C-5954-9B6C-1A2DE450C819}"/>
              </a:ext>
            </a:extLst>
          </p:cNvPr>
          <p:cNvSpPr/>
          <p:nvPr/>
        </p:nvSpPr>
        <p:spPr>
          <a:xfrm>
            <a:off x="658964" y="2296470"/>
            <a:ext cx="3301961" cy="3818144"/>
          </a:xfrm>
          <a:prstGeom prst="roundRect">
            <a:avLst>
              <a:gd name="adj" fmla="val 8358"/>
            </a:avLst>
          </a:prstGeom>
          <a:solidFill>
            <a:srgbClr val="0E1C2D"/>
          </a:solid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C58C417-3350-7461-858F-5EE6C15C1B0C}"/>
              </a:ext>
            </a:extLst>
          </p:cNvPr>
          <p:cNvSpPr/>
          <p:nvPr/>
        </p:nvSpPr>
        <p:spPr>
          <a:xfrm>
            <a:off x="818741" y="2195310"/>
            <a:ext cx="1396030" cy="224288"/>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Project Description</a:t>
            </a:r>
          </a:p>
        </p:txBody>
      </p:sp>
      <p:cxnSp>
        <p:nvCxnSpPr>
          <p:cNvPr id="12" name="Straight Connector 11">
            <a:extLst>
              <a:ext uri="{FF2B5EF4-FFF2-40B4-BE49-F238E27FC236}">
                <a16:creationId xmlns:a16="http://schemas.microsoft.com/office/drawing/2014/main" id="{261159BE-6A44-4F19-9509-CCFA31656C1F}"/>
              </a:ext>
            </a:extLst>
          </p:cNvPr>
          <p:cNvCxnSpPr>
            <a:cxnSpLocks/>
          </p:cNvCxnSpPr>
          <p:nvPr/>
        </p:nvCxnSpPr>
        <p:spPr>
          <a:xfrm>
            <a:off x="3788148" y="2767630"/>
            <a:ext cx="0" cy="3018916"/>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5C52D4BA-89AC-F03C-84D7-CEF014745CE0}"/>
              </a:ext>
            </a:extLst>
          </p:cNvPr>
          <p:cNvCxnSpPr>
            <a:cxnSpLocks/>
          </p:cNvCxnSpPr>
          <p:nvPr/>
        </p:nvCxnSpPr>
        <p:spPr>
          <a:xfrm>
            <a:off x="3788148" y="2764279"/>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sp>
        <p:nvSpPr>
          <p:cNvPr id="18" name="Rectangle: Rounded Corners 17">
            <a:extLst>
              <a:ext uri="{FF2B5EF4-FFF2-40B4-BE49-F238E27FC236}">
                <a16:creationId xmlns:a16="http://schemas.microsoft.com/office/drawing/2014/main" id="{605E7CCD-CEC6-79E8-1D1A-016C467C0F43}"/>
              </a:ext>
            </a:extLst>
          </p:cNvPr>
          <p:cNvSpPr/>
          <p:nvPr/>
        </p:nvSpPr>
        <p:spPr>
          <a:xfrm>
            <a:off x="4102232" y="2296469"/>
            <a:ext cx="3359547" cy="3818144"/>
          </a:xfrm>
          <a:prstGeom prst="roundRect">
            <a:avLst>
              <a:gd name="adj" fmla="val 8358"/>
            </a:avLst>
          </a:prstGeom>
          <a:solidFill>
            <a:srgbClr val="0E1C2D"/>
          </a:solid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p>
        </p:txBody>
      </p:sp>
      <p:sp>
        <p:nvSpPr>
          <p:cNvPr id="19" name="Rectangle 18">
            <a:extLst>
              <a:ext uri="{FF2B5EF4-FFF2-40B4-BE49-F238E27FC236}">
                <a16:creationId xmlns:a16="http://schemas.microsoft.com/office/drawing/2014/main" id="{5DAE64AA-DED8-C31C-F323-3D4E9B3F168A}"/>
              </a:ext>
            </a:extLst>
          </p:cNvPr>
          <p:cNvSpPr/>
          <p:nvPr/>
        </p:nvSpPr>
        <p:spPr>
          <a:xfrm>
            <a:off x="4294848" y="2195256"/>
            <a:ext cx="2687874" cy="210746"/>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Orchestrator Generated Mission</a:t>
            </a:r>
          </a:p>
        </p:txBody>
      </p:sp>
      <p:cxnSp>
        <p:nvCxnSpPr>
          <p:cNvPr id="21" name="Straight Connector 20">
            <a:extLst>
              <a:ext uri="{FF2B5EF4-FFF2-40B4-BE49-F238E27FC236}">
                <a16:creationId xmlns:a16="http://schemas.microsoft.com/office/drawing/2014/main" id="{99F4999D-5B00-1425-E412-F6B77C6EFAA7}"/>
              </a:ext>
            </a:extLst>
          </p:cNvPr>
          <p:cNvCxnSpPr>
            <a:cxnSpLocks/>
          </p:cNvCxnSpPr>
          <p:nvPr/>
        </p:nvCxnSpPr>
        <p:spPr>
          <a:xfrm>
            <a:off x="7315178" y="2767630"/>
            <a:ext cx="0" cy="3018916"/>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1D2AE600-0031-764F-156F-B55AD01C7C06}"/>
              </a:ext>
            </a:extLst>
          </p:cNvPr>
          <p:cNvCxnSpPr>
            <a:cxnSpLocks/>
          </p:cNvCxnSpPr>
          <p:nvPr/>
        </p:nvCxnSpPr>
        <p:spPr>
          <a:xfrm>
            <a:off x="7315178" y="2767630"/>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9CFE3DF7-D14B-F56E-3C52-90EC64C22AD7}"/>
              </a:ext>
            </a:extLst>
          </p:cNvPr>
          <p:cNvSpPr txBox="1"/>
          <p:nvPr/>
        </p:nvSpPr>
        <p:spPr>
          <a:xfrm>
            <a:off x="1899316" y="1330953"/>
            <a:ext cx="1273105" cy="369332"/>
          </a:xfrm>
          <a:prstGeom prst="rect">
            <a:avLst/>
          </a:prstGeom>
          <a:noFill/>
        </p:spPr>
        <p:txBody>
          <a:bodyPr wrap="none" rtlCol="0">
            <a:spAutoFit/>
          </a:bodyPr>
          <a:lstStyle/>
          <a:p>
            <a:r>
              <a:rPr lang="en-US" dirty="0">
                <a:solidFill>
                  <a:srgbClr val="8F97B7"/>
                </a:solidFill>
              </a:rPr>
              <a:t>Implement</a:t>
            </a:r>
          </a:p>
        </p:txBody>
      </p:sp>
      <p:cxnSp>
        <p:nvCxnSpPr>
          <p:cNvPr id="31" name="Straight Connector 30">
            <a:extLst>
              <a:ext uri="{FF2B5EF4-FFF2-40B4-BE49-F238E27FC236}">
                <a16:creationId xmlns:a16="http://schemas.microsoft.com/office/drawing/2014/main" id="{A7439941-4DEB-9961-86AB-AD577FE80F58}"/>
              </a:ext>
            </a:extLst>
          </p:cNvPr>
          <p:cNvCxnSpPr>
            <a:cxnSpLocks/>
          </p:cNvCxnSpPr>
          <p:nvPr/>
        </p:nvCxnSpPr>
        <p:spPr>
          <a:xfrm>
            <a:off x="7315178" y="2767630"/>
            <a:ext cx="0" cy="3018916"/>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ADD5F632-BC66-BC42-3456-3A9B2A487B4E}"/>
              </a:ext>
            </a:extLst>
          </p:cNvPr>
          <p:cNvCxnSpPr>
            <a:cxnSpLocks/>
          </p:cNvCxnSpPr>
          <p:nvPr/>
        </p:nvCxnSpPr>
        <p:spPr>
          <a:xfrm>
            <a:off x="7315178" y="2767630"/>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sp>
        <p:nvSpPr>
          <p:cNvPr id="33" name="Rectangle: Rounded Corners 32">
            <a:extLst>
              <a:ext uri="{FF2B5EF4-FFF2-40B4-BE49-F238E27FC236}">
                <a16:creationId xmlns:a16="http://schemas.microsoft.com/office/drawing/2014/main" id="{F8F43F59-D37A-63B6-D8A9-65FEDC8FC267}"/>
              </a:ext>
            </a:extLst>
          </p:cNvPr>
          <p:cNvSpPr/>
          <p:nvPr/>
        </p:nvSpPr>
        <p:spPr>
          <a:xfrm>
            <a:off x="7740989" y="2497733"/>
            <a:ext cx="2919197" cy="540961"/>
          </a:xfrm>
          <a:prstGeom prst="roundRect">
            <a:avLst>
              <a:gd name="adj" fmla="val 30861"/>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CD201CB7-CB5D-BC09-C7C9-DDC0E9C0DF57}"/>
              </a:ext>
            </a:extLst>
          </p:cNvPr>
          <p:cNvSpPr/>
          <p:nvPr/>
        </p:nvSpPr>
        <p:spPr>
          <a:xfrm>
            <a:off x="7810271" y="2553194"/>
            <a:ext cx="429926" cy="418406"/>
          </a:xfrm>
          <a:prstGeom prst="ellipse">
            <a:avLst/>
          </a:prstGeom>
          <a:solidFill>
            <a:srgbClr val="A9866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5D645D81-A0B8-1899-250B-FBE309C0E41B}"/>
              </a:ext>
            </a:extLst>
          </p:cNvPr>
          <p:cNvSpPr txBox="1"/>
          <p:nvPr/>
        </p:nvSpPr>
        <p:spPr>
          <a:xfrm>
            <a:off x="7810270" y="2582965"/>
            <a:ext cx="439544" cy="369332"/>
          </a:xfrm>
          <a:prstGeom prst="rect">
            <a:avLst/>
          </a:prstGeom>
          <a:noFill/>
        </p:spPr>
        <p:txBody>
          <a:bodyPr wrap="none" rtlCol="0">
            <a:spAutoFit/>
          </a:bodyPr>
          <a:lstStyle/>
          <a:p>
            <a:r>
              <a:rPr lang="en-US" b="1" dirty="0">
                <a:solidFill>
                  <a:srgbClr val="0E1C2D"/>
                </a:solidFill>
              </a:rPr>
              <a:t>Or</a:t>
            </a:r>
          </a:p>
        </p:txBody>
      </p:sp>
      <p:sp>
        <p:nvSpPr>
          <p:cNvPr id="36" name="TextBox 35">
            <a:extLst>
              <a:ext uri="{FF2B5EF4-FFF2-40B4-BE49-F238E27FC236}">
                <a16:creationId xmlns:a16="http://schemas.microsoft.com/office/drawing/2014/main" id="{F4309B64-BA46-DDE8-62A6-0877E6EE4FC4}"/>
              </a:ext>
            </a:extLst>
          </p:cNvPr>
          <p:cNvSpPr txBox="1"/>
          <p:nvPr/>
        </p:nvSpPr>
        <p:spPr>
          <a:xfrm>
            <a:off x="8294119" y="2576473"/>
            <a:ext cx="1825087" cy="369332"/>
          </a:xfrm>
          <a:prstGeom prst="rect">
            <a:avLst/>
          </a:prstGeom>
          <a:noFill/>
        </p:spPr>
        <p:txBody>
          <a:bodyPr wrap="square" rtlCol="0">
            <a:spAutoFit/>
          </a:bodyPr>
          <a:lstStyle/>
          <a:p>
            <a:r>
              <a:rPr lang="en-US" dirty="0">
                <a:solidFill>
                  <a:srgbClr val="E1E1E1"/>
                </a:solidFill>
              </a:rPr>
              <a:t>Orchestrator</a:t>
            </a:r>
          </a:p>
        </p:txBody>
      </p:sp>
      <p:pic>
        <p:nvPicPr>
          <p:cNvPr id="37" name="Graphic 36" descr="Information with solid fill">
            <a:extLst>
              <a:ext uri="{FF2B5EF4-FFF2-40B4-BE49-F238E27FC236}">
                <a16:creationId xmlns:a16="http://schemas.microsoft.com/office/drawing/2014/main" id="{19DA09E7-D1E2-A491-FAF6-BFE1EBBAA82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54874" y="2632972"/>
            <a:ext cx="270481" cy="270481"/>
          </a:xfrm>
          <a:prstGeom prst="rect">
            <a:avLst/>
          </a:prstGeom>
        </p:spPr>
      </p:pic>
      <p:cxnSp>
        <p:nvCxnSpPr>
          <p:cNvPr id="43" name="Straight Connector 42">
            <a:extLst>
              <a:ext uri="{FF2B5EF4-FFF2-40B4-BE49-F238E27FC236}">
                <a16:creationId xmlns:a16="http://schemas.microsoft.com/office/drawing/2014/main" id="{68651478-D239-893D-B4EF-D82091F3F249}"/>
              </a:ext>
            </a:extLst>
          </p:cNvPr>
          <p:cNvCxnSpPr>
            <a:cxnSpLocks/>
          </p:cNvCxnSpPr>
          <p:nvPr/>
        </p:nvCxnSpPr>
        <p:spPr>
          <a:xfrm flipH="1">
            <a:off x="7740989" y="2324082"/>
            <a:ext cx="3168990" cy="0"/>
          </a:xfrm>
          <a:prstGeom prst="line">
            <a:avLst/>
          </a:prstGeom>
          <a:ln w="22225"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B145376E-C9B3-BFF3-1D5D-D8B4A1E55BE0}"/>
              </a:ext>
            </a:extLst>
          </p:cNvPr>
          <p:cNvCxnSpPr>
            <a:cxnSpLocks/>
          </p:cNvCxnSpPr>
          <p:nvPr/>
        </p:nvCxnSpPr>
        <p:spPr>
          <a:xfrm flipH="1">
            <a:off x="7740989" y="3328061"/>
            <a:ext cx="3168990" cy="0"/>
          </a:xfrm>
          <a:prstGeom prst="line">
            <a:avLst/>
          </a:prstGeom>
          <a:ln w="22225"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F4D56474-7A37-7111-474D-ADEF58634F60}"/>
              </a:ext>
            </a:extLst>
          </p:cNvPr>
          <p:cNvCxnSpPr>
            <a:cxnSpLocks/>
          </p:cNvCxnSpPr>
          <p:nvPr/>
        </p:nvCxnSpPr>
        <p:spPr>
          <a:xfrm>
            <a:off x="11147051" y="3584306"/>
            <a:ext cx="0" cy="2327883"/>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1CFE7ABC-F545-8369-15BC-BD4A6A8149D6}"/>
              </a:ext>
            </a:extLst>
          </p:cNvPr>
          <p:cNvCxnSpPr>
            <a:cxnSpLocks/>
          </p:cNvCxnSpPr>
          <p:nvPr/>
        </p:nvCxnSpPr>
        <p:spPr>
          <a:xfrm>
            <a:off x="11147051" y="3584306"/>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sp>
        <p:nvSpPr>
          <p:cNvPr id="57" name="Rectangle 56">
            <a:extLst>
              <a:ext uri="{FF2B5EF4-FFF2-40B4-BE49-F238E27FC236}">
                <a16:creationId xmlns:a16="http://schemas.microsoft.com/office/drawing/2014/main" id="{FEF5C6C3-4282-4177-F2F7-35E208819A12}"/>
              </a:ext>
            </a:extLst>
          </p:cNvPr>
          <p:cNvSpPr/>
          <p:nvPr/>
        </p:nvSpPr>
        <p:spPr>
          <a:xfrm>
            <a:off x="8089767" y="2195257"/>
            <a:ext cx="1040765" cy="238699"/>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Default agent</a:t>
            </a:r>
          </a:p>
        </p:txBody>
      </p:sp>
      <p:sp>
        <p:nvSpPr>
          <p:cNvPr id="58" name="Rectangle 57">
            <a:extLst>
              <a:ext uri="{FF2B5EF4-FFF2-40B4-BE49-F238E27FC236}">
                <a16:creationId xmlns:a16="http://schemas.microsoft.com/office/drawing/2014/main" id="{2220C4B2-5218-A2A7-C3A7-3C98D1965D30}"/>
              </a:ext>
            </a:extLst>
          </p:cNvPr>
          <p:cNvSpPr/>
          <p:nvPr/>
        </p:nvSpPr>
        <p:spPr>
          <a:xfrm>
            <a:off x="8089768" y="3202756"/>
            <a:ext cx="936325" cy="200896"/>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Agent Team</a:t>
            </a:r>
          </a:p>
        </p:txBody>
      </p:sp>
      <p:pic>
        <p:nvPicPr>
          <p:cNvPr id="62" name="Graphic 61" descr="Lock with solid fill">
            <a:extLst>
              <a:ext uri="{FF2B5EF4-FFF2-40B4-BE49-F238E27FC236}">
                <a16:creationId xmlns:a16="http://schemas.microsoft.com/office/drawing/2014/main" id="{842A5073-0ACE-BFCB-F0BF-3EB1C39A625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239078" y="2620009"/>
            <a:ext cx="279802" cy="279802"/>
          </a:xfrm>
          <a:prstGeom prst="rect">
            <a:avLst/>
          </a:prstGeom>
        </p:spPr>
      </p:pic>
      <p:sp>
        <p:nvSpPr>
          <p:cNvPr id="13" name="Rectangle 12">
            <a:extLst>
              <a:ext uri="{FF2B5EF4-FFF2-40B4-BE49-F238E27FC236}">
                <a16:creationId xmlns:a16="http://schemas.microsoft.com/office/drawing/2014/main" id="{E411C6EA-3633-1408-AF90-A704FE5D323C}"/>
              </a:ext>
            </a:extLst>
          </p:cNvPr>
          <p:cNvSpPr/>
          <p:nvPr/>
        </p:nvSpPr>
        <p:spPr>
          <a:xfrm>
            <a:off x="9437181" y="3949783"/>
            <a:ext cx="453381" cy="411829"/>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D8B632C5-EDA4-FACD-ADE1-95BCDC1AE358}"/>
              </a:ext>
            </a:extLst>
          </p:cNvPr>
          <p:cNvSpPr txBox="1"/>
          <p:nvPr/>
        </p:nvSpPr>
        <p:spPr>
          <a:xfrm>
            <a:off x="5257267" y="1735340"/>
            <a:ext cx="1359155" cy="369332"/>
          </a:xfrm>
          <a:prstGeom prst="rect">
            <a:avLst/>
          </a:prstGeom>
          <a:noFill/>
        </p:spPr>
        <p:txBody>
          <a:bodyPr wrap="none" rtlCol="0">
            <a:spAutoFit/>
          </a:bodyPr>
          <a:lstStyle/>
          <a:p>
            <a:r>
              <a:rPr lang="en-US" i="1" dirty="0">
                <a:solidFill>
                  <a:srgbClr val="FFC000"/>
                </a:solidFill>
              </a:rPr>
              <a:t>Completed!</a:t>
            </a:r>
          </a:p>
        </p:txBody>
      </p:sp>
      <p:sp>
        <p:nvSpPr>
          <p:cNvPr id="23" name="Rectangle 22">
            <a:extLst>
              <a:ext uri="{FF2B5EF4-FFF2-40B4-BE49-F238E27FC236}">
                <a16:creationId xmlns:a16="http://schemas.microsoft.com/office/drawing/2014/main" id="{D1C4E0B2-CF54-47DE-0D2C-0112602E6469}"/>
              </a:ext>
            </a:extLst>
          </p:cNvPr>
          <p:cNvSpPr/>
          <p:nvPr/>
        </p:nvSpPr>
        <p:spPr>
          <a:xfrm>
            <a:off x="9371516" y="3949783"/>
            <a:ext cx="453381" cy="411829"/>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A4833F7F-5639-4FE0-CE6A-A1F0AE9A629C}"/>
              </a:ext>
            </a:extLst>
          </p:cNvPr>
          <p:cNvSpPr/>
          <p:nvPr/>
        </p:nvSpPr>
        <p:spPr>
          <a:xfrm>
            <a:off x="7740989" y="3567714"/>
            <a:ext cx="2919197" cy="540961"/>
          </a:xfrm>
          <a:prstGeom prst="roundRect">
            <a:avLst>
              <a:gd name="adj" fmla="val 30861"/>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A3F6208E-056F-ABF8-2ED4-2014F8D92EDF}"/>
              </a:ext>
            </a:extLst>
          </p:cNvPr>
          <p:cNvSpPr/>
          <p:nvPr/>
        </p:nvSpPr>
        <p:spPr>
          <a:xfrm>
            <a:off x="7817588" y="3636096"/>
            <a:ext cx="429926" cy="418406"/>
          </a:xfrm>
          <a:prstGeom prst="ellipse">
            <a:avLst/>
          </a:prstGeom>
          <a:solidFill>
            <a:srgbClr val="A32A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8E98B7E7-7F8E-458C-21A9-986F3FB3865C}"/>
              </a:ext>
            </a:extLst>
          </p:cNvPr>
          <p:cNvSpPr txBox="1"/>
          <p:nvPr/>
        </p:nvSpPr>
        <p:spPr>
          <a:xfrm>
            <a:off x="7825078" y="3671440"/>
            <a:ext cx="460382" cy="369332"/>
          </a:xfrm>
          <a:prstGeom prst="rect">
            <a:avLst/>
          </a:prstGeom>
          <a:noFill/>
        </p:spPr>
        <p:txBody>
          <a:bodyPr wrap="none" rtlCol="0">
            <a:spAutoFit/>
          </a:bodyPr>
          <a:lstStyle/>
          <a:p>
            <a:r>
              <a:rPr lang="en-US" b="1" dirty="0">
                <a:solidFill>
                  <a:srgbClr val="0E1C2D"/>
                </a:solidFill>
              </a:rPr>
              <a:t>An</a:t>
            </a:r>
          </a:p>
        </p:txBody>
      </p:sp>
      <p:sp>
        <p:nvSpPr>
          <p:cNvPr id="27" name="TextBox 26">
            <a:extLst>
              <a:ext uri="{FF2B5EF4-FFF2-40B4-BE49-F238E27FC236}">
                <a16:creationId xmlns:a16="http://schemas.microsoft.com/office/drawing/2014/main" id="{9B6A1C22-B742-7B18-A622-488F32075142}"/>
              </a:ext>
            </a:extLst>
          </p:cNvPr>
          <p:cNvSpPr txBox="1"/>
          <p:nvPr/>
        </p:nvSpPr>
        <p:spPr>
          <a:xfrm>
            <a:off x="8313708" y="3637177"/>
            <a:ext cx="1030795" cy="369332"/>
          </a:xfrm>
          <a:prstGeom prst="rect">
            <a:avLst/>
          </a:prstGeom>
          <a:noFill/>
        </p:spPr>
        <p:txBody>
          <a:bodyPr wrap="none" rtlCol="0">
            <a:spAutoFit/>
          </a:bodyPr>
          <a:lstStyle/>
          <a:p>
            <a:r>
              <a:rPr lang="en-US" dirty="0">
                <a:solidFill>
                  <a:srgbClr val="E1E1E1"/>
                </a:solidFill>
              </a:rPr>
              <a:t>Analyzer</a:t>
            </a:r>
          </a:p>
        </p:txBody>
      </p:sp>
      <p:pic>
        <p:nvPicPr>
          <p:cNvPr id="28" name="Graphic 27" descr="Information with solid fill">
            <a:extLst>
              <a:ext uri="{FF2B5EF4-FFF2-40B4-BE49-F238E27FC236}">
                <a16:creationId xmlns:a16="http://schemas.microsoft.com/office/drawing/2014/main" id="{2500E0E6-E4D2-1D46-22C0-932578DAC27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54874" y="3702953"/>
            <a:ext cx="270481" cy="270481"/>
          </a:xfrm>
          <a:prstGeom prst="rect">
            <a:avLst/>
          </a:prstGeom>
        </p:spPr>
      </p:pic>
      <p:cxnSp>
        <p:nvCxnSpPr>
          <p:cNvPr id="29" name="Straight Connector 28">
            <a:extLst>
              <a:ext uri="{FF2B5EF4-FFF2-40B4-BE49-F238E27FC236}">
                <a16:creationId xmlns:a16="http://schemas.microsoft.com/office/drawing/2014/main" id="{EF48D1E3-8B51-1C36-3008-3F15A4A66C9C}"/>
              </a:ext>
            </a:extLst>
          </p:cNvPr>
          <p:cNvCxnSpPr>
            <a:cxnSpLocks/>
          </p:cNvCxnSpPr>
          <p:nvPr/>
        </p:nvCxnSpPr>
        <p:spPr>
          <a:xfrm>
            <a:off x="11147051" y="3623553"/>
            <a:ext cx="0" cy="2327883"/>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E4B046D3-43BA-EB58-9260-834FB91D906D}"/>
              </a:ext>
            </a:extLst>
          </p:cNvPr>
          <p:cNvCxnSpPr>
            <a:cxnSpLocks/>
          </p:cNvCxnSpPr>
          <p:nvPr/>
        </p:nvCxnSpPr>
        <p:spPr>
          <a:xfrm>
            <a:off x="11147051" y="3623553"/>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sp>
        <p:nvSpPr>
          <p:cNvPr id="39" name="Rectangle: Rounded Corners 38">
            <a:extLst>
              <a:ext uri="{FF2B5EF4-FFF2-40B4-BE49-F238E27FC236}">
                <a16:creationId xmlns:a16="http://schemas.microsoft.com/office/drawing/2014/main" id="{63507DCD-D4EC-55B8-6BDC-3D93A171AA41}"/>
              </a:ext>
            </a:extLst>
          </p:cNvPr>
          <p:cNvSpPr/>
          <p:nvPr/>
        </p:nvSpPr>
        <p:spPr>
          <a:xfrm>
            <a:off x="7740989" y="4342200"/>
            <a:ext cx="2919197" cy="540961"/>
          </a:xfrm>
          <a:prstGeom prst="roundRect">
            <a:avLst>
              <a:gd name="adj" fmla="val 30861"/>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18FCA819-2272-6388-6669-4AAAB2B447F0}"/>
              </a:ext>
            </a:extLst>
          </p:cNvPr>
          <p:cNvSpPr/>
          <p:nvPr/>
        </p:nvSpPr>
        <p:spPr>
          <a:xfrm>
            <a:off x="7817588" y="4410582"/>
            <a:ext cx="429926" cy="418406"/>
          </a:xfrm>
          <a:prstGeom prst="ellipse">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3109E61C-0889-B17A-59A0-CE480EC4D3EC}"/>
              </a:ext>
            </a:extLst>
          </p:cNvPr>
          <p:cNvSpPr txBox="1"/>
          <p:nvPr/>
        </p:nvSpPr>
        <p:spPr>
          <a:xfrm>
            <a:off x="7825078" y="4445926"/>
            <a:ext cx="457176" cy="369332"/>
          </a:xfrm>
          <a:prstGeom prst="rect">
            <a:avLst/>
          </a:prstGeom>
          <a:noFill/>
        </p:spPr>
        <p:txBody>
          <a:bodyPr wrap="none" rtlCol="0">
            <a:spAutoFit/>
          </a:bodyPr>
          <a:lstStyle/>
          <a:p>
            <a:r>
              <a:rPr lang="en-US" b="1" dirty="0" err="1">
                <a:solidFill>
                  <a:srgbClr val="0E1C2D"/>
                </a:solidFill>
              </a:rPr>
              <a:t>Im</a:t>
            </a:r>
            <a:endParaRPr lang="en-US" b="1" dirty="0">
              <a:solidFill>
                <a:srgbClr val="0E1C2D"/>
              </a:solidFill>
            </a:endParaRPr>
          </a:p>
        </p:txBody>
      </p:sp>
      <p:sp>
        <p:nvSpPr>
          <p:cNvPr id="42" name="TextBox 41">
            <a:extLst>
              <a:ext uri="{FF2B5EF4-FFF2-40B4-BE49-F238E27FC236}">
                <a16:creationId xmlns:a16="http://schemas.microsoft.com/office/drawing/2014/main" id="{F286F9A1-4F9A-F3A3-1F9C-C27BD67174B9}"/>
              </a:ext>
            </a:extLst>
          </p:cNvPr>
          <p:cNvSpPr txBox="1"/>
          <p:nvPr/>
        </p:nvSpPr>
        <p:spPr>
          <a:xfrm>
            <a:off x="8313708" y="4411663"/>
            <a:ext cx="1475532" cy="369332"/>
          </a:xfrm>
          <a:prstGeom prst="rect">
            <a:avLst/>
          </a:prstGeom>
          <a:noFill/>
        </p:spPr>
        <p:txBody>
          <a:bodyPr wrap="none" rtlCol="0">
            <a:spAutoFit/>
          </a:bodyPr>
          <a:lstStyle/>
          <a:p>
            <a:r>
              <a:rPr lang="en-US" dirty="0">
                <a:solidFill>
                  <a:srgbClr val="E1E1E1"/>
                </a:solidFill>
              </a:rPr>
              <a:t>Implementor</a:t>
            </a:r>
          </a:p>
        </p:txBody>
      </p:sp>
      <p:pic>
        <p:nvPicPr>
          <p:cNvPr id="47" name="Graphic 46" descr="Information with solid fill">
            <a:extLst>
              <a:ext uri="{FF2B5EF4-FFF2-40B4-BE49-F238E27FC236}">
                <a16:creationId xmlns:a16="http://schemas.microsoft.com/office/drawing/2014/main" id="{15B6BA64-CEB3-3CB9-F72E-4542BE15549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54874" y="4477439"/>
            <a:ext cx="270481" cy="270481"/>
          </a:xfrm>
          <a:prstGeom prst="rect">
            <a:avLst/>
          </a:prstGeom>
        </p:spPr>
      </p:pic>
      <p:sp>
        <p:nvSpPr>
          <p:cNvPr id="48" name="Rectangle: Rounded Corners 47">
            <a:extLst>
              <a:ext uri="{FF2B5EF4-FFF2-40B4-BE49-F238E27FC236}">
                <a16:creationId xmlns:a16="http://schemas.microsoft.com/office/drawing/2014/main" id="{F44B693D-C644-287A-DB15-38188BEBCF87}"/>
              </a:ext>
            </a:extLst>
          </p:cNvPr>
          <p:cNvSpPr/>
          <p:nvPr/>
        </p:nvSpPr>
        <p:spPr>
          <a:xfrm>
            <a:off x="7740989" y="5116686"/>
            <a:ext cx="2919197" cy="540961"/>
          </a:xfrm>
          <a:prstGeom prst="roundRect">
            <a:avLst>
              <a:gd name="adj" fmla="val 30861"/>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7FA7F9FF-5EA5-DB85-92C4-81CE959A445E}"/>
              </a:ext>
            </a:extLst>
          </p:cNvPr>
          <p:cNvSpPr/>
          <p:nvPr/>
        </p:nvSpPr>
        <p:spPr>
          <a:xfrm>
            <a:off x="7817588" y="5185068"/>
            <a:ext cx="429926" cy="418406"/>
          </a:xfrm>
          <a:prstGeom prst="ellipse">
            <a:avLst/>
          </a:prstGeom>
          <a:solidFill>
            <a:srgbClr val="FFC3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98BD370E-E85C-1944-4CD6-262A826A4F00}"/>
              </a:ext>
            </a:extLst>
          </p:cNvPr>
          <p:cNvSpPr txBox="1"/>
          <p:nvPr/>
        </p:nvSpPr>
        <p:spPr>
          <a:xfrm>
            <a:off x="7825078" y="5220412"/>
            <a:ext cx="411459" cy="369332"/>
          </a:xfrm>
          <a:prstGeom prst="rect">
            <a:avLst/>
          </a:prstGeom>
          <a:noFill/>
        </p:spPr>
        <p:txBody>
          <a:bodyPr wrap="none" rtlCol="0">
            <a:spAutoFit/>
          </a:bodyPr>
          <a:lstStyle/>
          <a:p>
            <a:r>
              <a:rPr lang="en-US" b="1" dirty="0" err="1">
                <a:solidFill>
                  <a:srgbClr val="0E1C2D"/>
                </a:solidFill>
              </a:rPr>
              <a:t>Te</a:t>
            </a:r>
            <a:endParaRPr lang="en-US" b="1" dirty="0">
              <a:solidFill>
                <a:srgbClr val="0E1C2D"/>
              </a:solidFill>
            </a:endParaRPr>
          </a:p>
        </p:txBody>
      </p:sp>
      <p:sp>
        <p:nvSpPr>
          <p:cNvPr id="51" name="TextBox 50">
            <a:extLst>
              <a:ext uri="{FF2B5EF4-FFF2-40B4-BE49-F238E27FC236}">
                <a16:creationId xmlns:a16="http://schemas.microsoft.com/office/drawing/2014/main" id="{FE8E0D78-176B-BCE2-21D0-2F3A3A356073}"/>
              </a:ext>
            </a:extLst>
          </p:cNvPr>
          <p:cNvSpPr txBox="1"/>
          <p:nvPr/>
        </p:nvSpPr>
        <p:spPr>
          <a:xfrm>
            <a:off x="8313708" y="5186149"/>
            <a:ext cx="782458" cy="369332"/>
          </a:xfrm>
          <a:prstGeom prst="rect">
            <a:avLst/>
          </a:prstGeom>
          <a:noFill/>
        </p:spPr>
        <p:txBody>
          <a:bodyPr wrap="none" rtlCol="0">
            <a:spAutoFit/>
          </a:bodyPr>
          <a:lstStyle/>
          <a:p>
            <a:r>
              <a:rPr lang="en-US" dirty="0">
                <a:solidFill>
                  <a:srgbClr val="E1E1E1"/>
                </a:solidFill>
              </a:rPr>
              <a:t>Tester</a:t>
            </a:r>
          </a:p>
        </p:txBody>
      </p:sp>
      <p:pic>
        <p:nvPicPr>
          <p:cNvPr id="52" name="Graphic 51" descr="Information with solid fill">
            <a:extLst>
              <a:ext uri="{FF2B5EF4-FFF2-40B4-BE49-F238E27FC236}">
                <a16:creationId xmlns:a16="http://schemas.microsoft.com/office/drawing/2014/main" id="{9E3DC9C5-A133-0819-A11F-BB640952F1F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54874" y="5251925"/>
            <a:ext cx="270481" cy="270481"/>
          </a:xfrm>
          <a:prstGeom prst="rect">
            <a:avLst/>
          </a:prstGeom>
        </p:spPr>
      </p:pic>
      <p:pic>
        <p:nvPicPr>
          <p:cNvPr id="53" name="Graphic 52" descr="Pencil with solid fill">
            <a:extLst>
              <a:ext uri="{FF2B5EF4-FFF2-40B4-BE49-F238E27FC236}">
                <a16:creationId xmlns:a16="http://schemas.microsoft.com/office/drawing/2014/main" id="{5E7FF06F-164F-5623-99CB-EADF6F28DB2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253603" y="3687986"/>
            <a:ext cx="281207" cy="281207"/>
          </a:xfrm>
          <a:prstGeom prst="rect">
            <a:avLst/>
          </a:prstGeom>
        </p:spPr>
      </p:pic>
      <p:pic>
        <p:nvPicPr>
          <p:cNvPr id="54" name="Graphic 53" descr="Pencil with solid fill">
            <a:extLst>
              <a:ext uri="{FF2B5EF4-FFF2-40B4-BE49-F238E27FC236}">
                <a16:creationId xmlns:a16="http://schemas.microsoft.com/office/drawing/2014/main" id="{F7348C88-A1D6-2B69-B847-8BB02D3887B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252000" y="4477439"/>
            <a:ext cx="281207" cy="281207"/>
          </a:xfrm>
          <a:prstGeom prst="rect">
            <a:avLst/>
          </a:prstGeom>
        </p:spPr>
      </p:pic>
      <p:pic>
        <p:nvPicPr>
          <p:cNvPr id="55" name="Graphic 54" descr="Pencil with solid fill">
            <a:extLst>
              <a:ext uri="{FF2B5EF4-FFF2-40B4-BE49-F238E27FC236}">
                <a16:creationId xmlns:a16="http://schemas.microsoft.com/office/drawing/2014/main" id="{12D4121F-0F6E-8EC2-8E77-1167CCE59A3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238376" y="5251925"/>
            <a:ext cx="281207" cy="281207"/>
          </a:xfrm>
          <a:prstGeom prst="rect">
            <a:avLst/>
          </a:prstGeom>
        </p:spPr>
      </p:pic>
      <p:sp>
        <p:nvSpPr>
          <p:cNvPr id="56" name="Rectangle: Rounded Corners 55">
            <a:extLst>
              <a:ext uri="{FF2B5EF4-FFF2-40B4-BE49-F238E27FC236}">
                <a16:creationId xmlns:a16="http://schemas.microsoft.com/office/drawing/2014/main" id="{A3DC9A46-1485-2204-84C8-E667201AD82D}"/>
              </a:ext>
            </a:extLst>
          </p:cNvPr>
          <p:cNvSpPr/>
          <p:nvPr/>
        </p:nvSpPr>
        <p:spPr>
          <a:xfrm>
            <a:off x="10105965" y="1859749"/>
            <a:ext cx="1198523" cy="286492"/>
          </a:xfrm>
          <a:prstGeom prst="roundRect">
            <a:avLst>
              <a:gd name="adj" fmla="val 32223"/>
            </a:avLst>
          </a:prstGeom>
          <a:noFill/>
          <a:ln>
            <a:solidFill>
              <a:srgbClr val="FFC3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Launch Jobs</a:t>
            </a:r>
          </a:p>
        </p:txBody>
      </p:sp>
      <p:sp>
        <p:nvSpPr>
          <p:cNvPr id="59" name="Rectangle: Rounded Corners 58">
            <a:extLst>
              <a:ext uri="{FF2B5EF4-FFF2-40B4-BE49-F238E27FC236}">
                <a16:creationId xmlns:a16="http://schemas.microsoft.com/office/drawing/2014/main" id="{24455C5C-B707-6930-294B-B45FFD85F921}"/>
              </a:ext>
            </a:extLst>
          </p:cNvPr>
          <p:cNvSpPr/>
          <p:nvPr/>
        </p:nvSpPr>
        <p:spPr>
          <a:xfrm>
            <a:off x="818741" y="1818947"/>
            <a:ext cx="1198523" cy="286492"/>
          </a:xfrm>
          <a:prstGeom prst="roundRect">
            <a:avLst>
              <a:gd name="adj" fmla="val 32223"/>
            </a:avLst>
          </a:prstGeom>
          <a:no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1E3147"/>
                </a:solidFill>
              </a:rPr>
              <a:t>Stage project</a:t>
            </a:r>
          </a:p>
        </p:txBody>
      </p:sp>
      <p:sp>
        <p:nvSpPr>
          <p:cNvPr id="61" name="TextBox 60">
            <a:extLst>
              <a:ext uri="{FF2B5EF4-FFF2-40B4-BE49-F238E27FC236}">
                <a16:creationId xmlns:a16="http://schemas.microsoft.com/office/drawing/2014/main" id="{E30F0A34-56F1-DE12-2A69-E10A3BA10AA4}"/>
              </a:ext>
            </a:extLst>
          </p:cNvPr>
          <p:cNvSpPr txBox="1"/>
          <p:nvPr/>
        </p:nvSpPr>
        <p:spPr>
          <a:xfrm>
            <a:off x="39778" y="47732"/>
            <a:ext cx="4428456" cy="369332"/>
          </a:xfrm>
          <a:prstGeom prst="rect">
            <a:avLst/>
          </a:prstGeom>
          <a:noFill/>
        </p:spPr>
        <p:txBody>
          <a:bodyPr wrap="none" rtlCol="0">
            <a:spAutoFit/>
          </a:bodyPr>
          <a:lstStyle/>
          <a:p>
            <a:r>
              <a:rPr lang="en-US" dirty="0">
                <a:solidFill>
                  <a:schemeClr val="accent5">
                    <a:lumMod val="60000"/>
                    <a:lumOff val="40000"/>
                  </a:schemeClr>
                </a:solidFill>
              </a:rPr>
              <a:t>SLIDE 2b – Orchestrator finished elements.</a:t>
            </a:r>
          </a:p>
        </p:txBody>
      </p:sp>
      <p:sp>
        <p:nvSpPr>
          <p:cNvPr id="63" name="Rectangle 62">
            <a:extLst>
              <a:ext uri="{FF2B5EF4-FFF2-40B4-BE49-F238E27FC236}">
                <a16:creationId xmlns:a16="http://schemas.microsoft.com/office/drawing/2014/main" id="{E539D3DA-3424-6CA5-144B-EAABFC64A514}"/>
              </a:ext>
            </a:extLst>
          </p:cNvPr>
          <p:cNvSpPr/>
          <p:nvPr/>
        </p:nvSpPr>
        <p:spPr>
          <a:xfrm>
            <a:off x="5936845" y="151688"/>
            <a:ext cx="2545165" cy="847265"/>
          </a:xfrm>
          <a:prstGeom prst="rect">
            <a:avLst/>
          </a:prstGeom>
          <a:no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5">
                    <a:lumMod val="60000"/>
                    <a:lumOff val="40000"/>
                  </a:schemeClr>
                </a:solidFill>
              </a:rPr>
              <a:t>Orchestrator has filled mission &amp; assigned agents</a:t>
            </a:r>
          </a:p>
        </p:txBody>
      </p:sp>
      <p:cxnSp>
        <p:nvCxnSpPr>
          <p:cNvPr id="65" name="Straight Arrow Connector 64">
            <a:extLst>
              <a:ext uri="{FF2B5EF4-FFF2-40B4-BE49-F238E27FC236}">
                <a16:creationId xmlns:a16="http://schemas.microsoft.com/office/drawing/2014/main" id="{90B9A885-52D9-422B-2DC5-F4B5B2EE4D10}"/>
              </a:ext>
            </a:extLst>
          </p:cNvPr>
          <p:cNvCxnSpPr>
            <a:cxnSpLocks/>
            <a:stCxn id="63" idx="2"/>
          </p:cNvCxnSpPr>
          <p:nvPr/>
        </p:nvCxnSpPr>
        <p:spPr>
          <a:xfrm>
            <a:off x="7209428" y="998953"/>
            <a:ext cx="447799" cy="1445474"/>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67" name="Straight Arrow Connector 66">
            <a:extLst>
              <a:ext uri="{FF2B5EF4-FFF2-40B4-BE49-F238E27FC236}">
                <a16:creationId xmlns:a16="http://schemas.microsoft.com/office/drawing/2014/main" id="{58C42D99-D52E-24CC-8DB6-DEB008D45AF6}"/>
              </a:ext>
            </a:extLst>
          </p:cNvPr>
          <p:cNvCxnSpPr>
            <a:cxnSpLocks/>
            <a:stCxn id="71" idx="2"/>
          </p:cNvCxnSpPr>
          <p:nvPr/>
        </p:nvCxnSpPr>
        <p:spPr>
          <a:xfrm flipH="1">
            <a:off x="2161577" y="1312010"/>
            <a:ext cx="2176814" cy="690615"/>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68" name="Rectangle 67">
            <a:extLst>
              <a:ext uri="{FF2B5EF4-FFF2-40B4-BE49-F238E27FC236}">
                <a16:creationId xmlns:a16="http://schemas.microsoft.com/office/drawing/2014/main" id="{9F42B40E-ACF3-57F1-EFF9-24CFA28F778B}"/>
              </a:ext>
            </a:extLst>
          </p:cNvPr>
          <p:cNvSpPr/>
          <p:nvPr/>
        </p:nvSpPr>
        <p:spPr>
          <a:xfrm>
            <a:off x="8669349" y="154726"/>
            <a:ext cx="2870855" cy="572374"/>
          </a:xfrm>
          <a:prstGeom prst="rect">
            <a:avLst/>
          </a:prstGeom>
          <a:no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5">
                    <a:lumMod val="60000"/>
                    <a:lumOff val="40000"/>
                  </a:schemeClr>
                </a:solidFill>
              </a:rPr>
              <a:t>Launch jobs is now active</a:t>
            </a:r>
          </a:p>
        </p:txBody>
      </p:sp>
      <p:cxnSp>
        <p:nvCxnSpPr>
          <p:cNvPr id="69" name="Connector: Elbow 68">
            <a:extLst>
              <a:ext uri="{FF2B5EF4-FFF2-40B4-BE49-F238E27FC236}">
                <a16:creationId xmlns:a16="http://schemas.microsoft.com/office/drawing/2014/main" id="{6BF42E18-1F4A-3C3E-6A70-99C48D96F34F}"/>
              </a:ext>
            </a:extLst>
          </p:cNvPr>
          <p:cNvCxnSpPr>
            <a:cxnSpLocks/>
            <a:stCxn id="68" idx="3"/>
          </p:cNvCxnSpPr>
          <p:nvPr/>
        </p:nvCxnSpPr>
        <p:spPr>
          <a:xfrm flipH="1">
            <a:off x="11304488" y="440913"/>
            <a:ext cx="235716" cy="1562082"/>
          </a:xfrm>
          <a:prstGeom prst="bentConnector4">
            <a:avLst>
              <a:gd name="adj1" fmla="val -96981"/>
              <a:gd name="adj2" fmla="val 99823"/>
            </a:avLst>
          </a:prstGeom>
          <a:ln>
            <a:tailEnd type="triangle"/>
          </a:ln>
        </p:spPr>
        <p:style>
          <a:lnRef idx="2">
            <a:schemeClr val="accent5"/>
          </a:lnRef>
          <a:fillRef idx="0">
            <a:schemeClr val="accent5"/>
          </a:fillRef>
          <a:effectRef idx="1">
            <a:schemeClr val="accent5"/>
          </a:effectRef>
          <a:fontRef idx="minor">
            <a:schemeClr val="tx1"/>
          </a:fontRef>
        </p:style>
      </p:cxnSp>
      <p:sp>
        <p:nvSpPr>
          <p:cNvPr id="71" name="Rectangle 70">
            <a:extLst>
              <a:ext uri="{FF2B5EF4-FFF2-40B4-BE49-F238E27FC236}">
                <a16:creationId xmlns:a16="http://schemas.microsoft.com/office/drawing/2014/main" id="{8EAEFA5F-DF4E-1FCF-A6DB-A34F8E00E0C2}"/>
              </a:ext>
            </a:extLst>
          </p:cNvPr>
          <p:cNvSpPr/>
          <p:nvPr/>
        </p:nvSpPr>
        <p:spPr>
          <a:xfrm>
            <a:off x="3262330" y="464745"/>
            <a:ext cx="2152122" cy="847265"/>
          </a:xfrm>
          <a:prstGeom prst="rect">
            <a:avLst/>
          </a:prstGeom>
          <a:no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5">
                    <a:lumMod val="60000"/>
                    <a:lumOff val="40000"/>
                  </a:schemeClr>
                </a:solidFill>
              </a:rPr>
              <a:t>Launch done, button inactive</a:t>
            </a:r>
          </a:p>
        </p:txBody>
      </p:sp>
      <p:sp>
        <p:nvSpPr>
          <p:cNvPr id="77" name="TextBox 76">
            <a:extLst>
              <a:ext uri="{FF2B5EF4-FFF2-40B4-BE49-F238E27FC236}">
                <a16:creationId xmlns:a16="http://schemas.microsoft.com/office/drawing/2014/main" id="{7412D6E9-1FC4-4202-8B99-F163CF4E5BED}"/>
              </a:ext>
            </a:extLst>
          </p:cNvPr>
          <p:cNvSpPr txBox="1"/>
          <p:nvPr/>
        </p:nvSpPr>
        <p:spPr>
          <a:xfrm>
            <a:off x="4287543" y="2419545"/>
            <a:ext cx="2907763" cy="3323987"/>
          </a:xfrm>
          <a:prstGeom prst="rect">
            <a:avLst/>
          </a:prstGeom>
          <a:noFill/>
        </p:spPr>
        <p:txBody>
          <a:bodyPr wrap="square" rtlCol="0">
            <a:spAutoFit/>
          </a:bodyPr>
          <a:lstStyle/>
          <a:p>
            <a:r>
              <a:rPr lang="en-US" sz="1000" dirty="0" err="1">
                <a:solidFill>
                  <a:srgbClr val="8F97B7"/>
                </a:solidFill>
                <a:latin typeface="Cascadia Code Light" panose="020B0609020000020004" pitchFamily="49" charset="0"/>
                <a:cs typeface="Cascadia Code Light" panose="020B0609020000020004" pitchFamily="49" charset="0"/>
              </a:rPr>
              <a:t>Aliquam</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vulputate</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elit</a:t>
            </a:r>
            <a:r>
              <a:rPr lang="en-US" sz="1000" dirty="0">
                <a:solidFill>
                  <a:srgbClr val="8F97B7"/>
                </a:solidFill>
                <a:latin typeface="Cascadia Code Light" panose="020B0609020000020004" pitchFamily="49" charset="0"/>
                <a:cs typeface="Cascadia Code Light" panose="020B0609020000020004" pitchFamily="49" charset="0"/>
              </a:rPr>
              <a:t> vel </a:t>
            </a:r>
            <a:r>
              <a:rPr lang="en-US" sz="1000" dirty="0" err="1">
                <a:solidFill>
                  <a:srgbClr val="8F97B7"/>
                </a:solidFill>
                <a:latin typeface="Cascadia Code Light" panose="020B0609020000020004" pitchFamily="49" charset="0"/>
                <a:cs typeface="Cascadia Code Light" panose="020B0609020000020004" pitchFamily="49" charset="0"/>
              </a:rPr>
              <a:t>enim</a:t>
            </a:r>
            <a:r>
              <a:rPr lang="en-US" sz="1000" dirty="0">
                <a:solidFill>
                  <a:srgbClr val="8F97B7"/>
                </a:solidFill>
                <a:latin typeface="Cascadia Code Light" panose="020B0609020000020004" pitchFamily="49" charset="0"/>
                <a:cs typeface="Cascadia Code Light" panose="020B0609020000020004" pitchFamily="49" charset="0"/>
              </a:rPr>
              <a:t> tempus </a:t>
            </a:r>
            <a:r>
              <a:rPr lang="en-US" sz="1000" dirty="0" err="1">
                <a:solidFill>
                  <a:srgbClr val="8F97B7"/>
                </a:solidFill>
                <a:latin typeface="Cascadia Code Light" panose="020B0609020000020004" pitchFamily="49" charset="0"/>
                <a:cs typeface="Cascadia Code Light" panose="020B0609020000020004" pitchFamily="49" charset="0"/>
              </a:rPr>
              <a:t>placerat</a:t>
            </a:r>
            <a:r>
              <a:rPr lang="en-US" sz="1000" dirty="0">
                <a:solidFill>
                  <a:srgbClr val="8F97B7"/>
                </a:solidFill>
                <a:latin typeface="Cascadia Code Light" panose="020B0609020000020004" pitchFamily="49" charset="0"/>
                <a:cs typeface="Cascadia Code Light" panose="020B0609020000020004" pitchFamily="49" charset="0"/>
              </a:rPr>
              <a:t>. Cras </a:t>
            </a:r>
            <a:r>
              <a:rPr lang="en-US" sz="1000" dirty="0" err="1">
                <a:solidFill>
                  <a:srgbClr val="8F97B7"/>
                </a:solidFill>
                <a:latin typeface="Cascadia Code Light" panose="020B0609020000020004" pitchFamily="49" charset="0"/>
                <a:cs typeface="Cascadia Code Light" panose="020B0609020000020004" pitchFamily="49" charset="0"/>
              </a:rPr>
              <a:t>sollicitudin</a:t>
            </a:r>
            <a:r>
              <a:rPr lang="en-US" sz="1000" dirty="0">
                <a:solidFill>
                  <a:srgbClr val="8F97B7"/>
                </a:solidFill>
                <a:latin typeface="Cascadia Code Light" panose="020B0609020000020004" pitchFamily="49" charset="0"/>
                <a:cs typeface="Cascadia Code Light" panose="020B0609020000020004" pitchFamily="49" charset="0"/>
              </a:rPr>
              <a:t> libero </a:t>
            </a:r>
            <a:r>
              <a:rPr lang="en-US" sz="1000" dirty="0" err="1">
                <a:solidFill>
                  <a:srgbClr val="8F97B7"/>
                </a:solidFill>
                <a:latin typeface="Cascadia Code Light" panose="020B0609020000020004" pitchFamily="49" charset="0"/>
                <a:cs typeface="Cascadia Code Light" panose="020B0609020000020004" pitchFamily="49" charset="0"/>
              </a:rPr>
              <a:t>ut</a:t>
            </a:r>
            <a:r>
              <a:rPr lang="en-US" sz="1000" dirty="0">
                <a:solidFill>
                  <a:srgbClr val="8F97B7"/>
                </a:solidFill>
                <a:latin typeface="Cascadia Code Light" panose="020B0609020000020004" pitchFamily="49" charset="0"/>
                <a:cs typeface="Cascadia Code Light" panose="020B0609020000020004" pitchFamily="49" charset="0"/>
              </a:rPr>
              <a:t> ligula </a:t>
            </a:r>
            <a:r>
              <a:rPr lang="en-US" sz="1000" dirty="0" err="1">
                <a:solidFill>
                  <a:srgbClr val="8F97B7"/>
                </a:solidFill>
                <a:latin typeface="Cascadia Code Light" panose="020B0609020000020004" pitchFamily="49" charset="0"/>
                <a:cs typeface="Cascadia Code Light" panose="020B0609020000020004" pitchFamily="49" charset="0"/>
              </a:rPr>
              <a:t>aliquam</a:t>
            </a:r>
            <a:r>
              <a:rPr lang="en-US" sz="1000" dirty="0">
                <a:solidFill>
                  <a:srgbClr val="8F97B7"/>
                </a:solidFill>
                <a:latin typeface="Cascadia Code Light" panose="020B0609020000020004" pitchFamily="49" charset="0"/>
                <a:cs typeface="Cascadia Code Light" panose="020B0609020000020004" pitchFamily="49" charset="0"/>
              </a:rPr>
              <a:t>, sit </a:t>
            </a:r>
            <a:r>
              <a:rPr lang="en-US" sz="1000" dirty="0" err="1">
                <a:solidFill>
                  <a:srgbClr val="8F97B7"/>
                </a:solidFill>
                <a:latin typeface="Cascadia Code Light" panose="020B0609020000020004" pitchFamily="49" charset="0"/>
                <a:cs typeface="Cascadia Code Light" panose="020B0609020000020004" pitchFamily="49" charset="0"/>
              </a:rPr>
              <a:t>amet</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molestie</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lectus</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consequat</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Phasellus</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pretium</a:t>
            </a:r>
            <a:r>
              <a:rPr lang="en-US" sz="1000" dirty="0">
                <a:solidFill>
                  <a:srgbClr val="8F97B7"/>
                </a:solidFill>
                <a:latin typeface="Cascadia Code Light" panose="020B0609020000020004" pitchFamily="49" charset="0"/>
                <a:cs typeface="Cascadia Code Light" panose="020B0609020000020004" pitchFamily="49" charset="0"/>
              </a:rPr>
              <a:t> est et fermentum </a:t>
            </a:r>
            <a:r>
              <a:rPr lang="en-US" sz="1000" dirty="0" err="1">
                <a:solidFill>
                  <a:srgbClr val="8F97B7"/>
                </a:solidFill>
                <a:latin typeface="Cascadia Code Light" panose="020B0609020000020004" pitchFamily="49" charset="0"/>
                <a:cs typeface="Cascadia Code Light" panose="020B0609020000020004" pitchFamily="49" charset="0"/>
              </a:rPr>
              <a:t>faucibus</a:t>
            </a:r>
            <a:r>
              <a:rPr lang="en-US" sz="1000" dirty="0">
                <a:solidFill>
                  <a:srgbClr val="8F97B7"/>
                </a:solidFill>
                <a:latin typeface="Cascadia Code Light" panose="020B0609020000020004" pitchFamily="49" charset="0"/>
                <a:cs typeface="Cascadia Code Light" panose="020B0609020000020004" pitchFamily="49" charset="0"/>
              </a:rPr>
              <a:t>. Donec </a:t>
            </a:r>
            <a:r>
              <a:rPr lang="en-US" sz="1000" dirty="0" err="1">
                <a:solidFill>
                  <a:srgbClr val="8F97B7"/>
                </a:solidFill>
                <a:latin typeface="Cascadia Code Light" panose="020B0609020000020004" pitchFamily="49" charset="0"/>
                <a:cs typeface="Cascadia Code Light" panose="020B0609020000020004" pitchFamily="49" charset="0"/>
              </a:rPr>
              <a:t>tempor</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leo</a:t>
            </a:r>
            <a:r>
              <a:rPr lang="en-US" sz="1000" dirty="0">
                <a:solidFill>
                  <a:srgbClr val="8F97B7"/>
                </a:solidFill>
                <a:latin typeface="Cascadia Code Light" panose="020B0609020000020004" pitchFamily="49" charset="0"/>
                <a:cs typeface="Cascadia Code Light" panose="020B0609020000020004" pitchFamily="49" charset="0"/>
              </a:rPr>
              <a:t> vitae pulvinar fermentum. Nulla </a:t>
            </a:r>
            <a:r>
              <a:rPr lang="en-US" sz="1000" dirty="0" err="1">
                <a:solidFill>
                  <a:srgbClr val="8F97B7"/>
                </a:solidFill>
                <a:latin typeface="Cascadia Code Light" panose="020B0609020000020004" pitchFamily="49" charset="0"/>
                <a:cs typeface="Cascadia Code Light" panose="020B0609020000020004" pitchFamily="49" charset="0"/>
              </a:rPr>
              <a:t>facilisi</a:t>
            </a:r>
            <a:r>
              <a:rPr lang="en-US" sz="1000" dirty="0">
                <a:solidFill>
                  <a:srgbClr val="8F97B7"/>
                </a:solidFill>
                <a:latin typeface="Cascadia Code Light" panose="020B0609020000020004" pitchFamily="49" charset="0"/>
                <a:cs typeface="Cascadia Code Light" panose="020B0609020000020004" pitchFamily="49" charset="0"/>
              </a:rPr>
              <a:t>. Duis vitae ligula </a:t>
            </a:r>
            <a:r>
              <a:rPr lang="en-US" sz="1000" dirty="0" err="1">
                <a:solidFill>
                  <a:srgbClr val="8F97B7"/>
                </a:solidFill>
                <a:latin typeface="Cascadia Code Light" panose="020B0609020000020004" pitchFamily="49" charset="0"/>
                <a:cs typeface="Cascadia Code Light" panose="020B0609020000020004" pitchFamily="49" charset="0"/>
              </a:rPr>
              <a:t>eget</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massa</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varius</a:t>
            </a:r>
            <a:r>
              <a:rPr lang="en-US" sz="1000" dirty="0">
                <a:solidFill>
                  <a:srgbClr val="8F97B7"/>
                </a:solidFill>
                <a:latin typeface="Cascadia Code Light" panose="020B0609020000020004" pitchFamily="49" charset="0"/>
                <a:cs typeface="Cascadia Code Light" panose="020B0609020000020004" pitchFamily="49" charset="0"/>
              </a:rPr>
              <a:t> convallis </a:t>
            </a:r>
            <a:r>
              <a:rPr lang="en-US" sz="1000" dirty="0" err="1">
                <a:solidFill>
                  <a:srgbClr val="8F97B7"/>
                </a:solidFill>
                <a:latin typeface="Cascadia Code Light" panose="020B0609020000020004" pitchFamily="49" charset="0"/>
                <a:cs typeface="Cascadia Code Light" panose="020B0609020000020004" pitchFamily="49" charset="0"/>
              </a:rPr>
              <a:t>eget</a:t>
            </a:r>
            <a:r>
              <a:rPr lang="en-US" sz="1000" dirty="0">
                <a:solidFill>
                  <a:srgbClr val="8F97B7"/>
                </a:solidFill>
                <a:latin typeface="Cascadia Code Light" panose="020B0609020000020004" pitchFamily="49" charset="0"/>
                <a:cs typeface="Cascadia Code Light" panose="020B0609020000020004" pitchFamily="49" charset="0"/>
              </a:rPr>
              <a:t> id ante. In </a:t>
            </a:r>
            <a:r>
              <a:rPr lang="en-US" sz="1000" dirty="0" err="1">
                <a:solidFill>
                  <a:srgbClr val="8F97B7"/>
                </a:solidFill>
                <a:latin typeface="Cascadia Code Light" panose="020B0609020000020004" pitchFamily="49" charset="0"/>
                <a:cs typeface="Cascadia Code Light" panose="020B0609020000020004" pitchFamily="49" charset="0"/>
              </a:rPr>
              <a:t>fringilla</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neque</a:t>
            </a:r>
            <a:r>
              <a:rPr lang="en-US" sz="1000" dirty="0">
                <a:solidFill>
                  <a:srgbClr val="8F97B7"/>
                </a:solidFill>
                <a:latin typeface="Cascadia Code Light" panose="020B0609020000020004" pitchFamily="49" charset="0"/>
                <a:cs typeface="Cascadia Code Light" panose="020B0609020000020004" pitchFamily="49" charset="0"/>
              </a:rPr>
              <a:t> vel libero fermentum, et </a:t>
            </a:r>
            <a:r>
              <a:rPr lang="en-US" sz="1000" dirty="0" err="1">
                <a:solidFill>
                  <a:srgbClr val="8F97B7"/>
                </a:solidFill>
                <a:latin typeface="Cascadia Code Light" panose="020B0609020000020004" pitchFamily="49" charset="0"/>
                <a:cs typeface="Cascadia Code Light" panose="020B0609020000020004" pitchFamily="49" charset="0"/>
              </a:rPr>
              <a:t>interdum</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neque</a:t>
            </a:r>
            <a:r>
              <a:rPr lang="en-US" sz="1000" dirty="0">
                <a:solidFill>
                  <a:srgbClr val="8F97B7"/>
                </a:solidFill>
                <a:latin typeface="Cascadia Code Light" panose="020B0609020000020004" pitchFamily="49" charset="0"/>
                <a:cs typeface="Cascadia Code Light" panose="020B0609020000020004" pitchFamily="49" charset="0"/>
              </a:rPr>
              <a:t> lacinia. Vestibulum id </a:t>
            </a:r>
            <a:r>
              <a:rPr lang="en-US" sz="1000" dirty="0" err="1">
                <a:solidFill>
                  <a:srgbClr val="8F97B7"/>
                </a:solidFill>
                <a:latin typeface="Cascadia Code Light" panose="020B0609020000020004" pitchFamily="49" charset="0"/>
                <a:cs typeface="Cascadia Code Light" panose="020B0609020000020004" pitchFamily="49" charset="0"/>
              </a:rPr>
              <a:t>laoreet</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massa</a:t>
            </a:r>
            <a:r>
              <a:rPr lang="en-US" sz="1000" dirty="0">
                <a:solidFill>
                  <a:srgbClr val="8F97B7"/>
                </a:solidFill>
                <a:latin typeface="Cascadia Code Light" panose="020B0609020000020004" pitchFamily="49" charset="0"/>
                <a:cs typeface="Cascadia Code Light" panose="020B0609020000020004" pitchFamily="49" charset="0"/>
              </a:rPr>
              <a:t>, nec </a:t>
            </a:r>
            <a:r>
              <a:rPr lang="en-US" sz="1000" dirty="0" err="1">
                <a:solidFill>
                  <a:srgbClr val="8F97B7"/>
                </a:solidFill>
                <a:latin typeface="Cascadia Code Light" panose="020B0609020000020004" pitchFamily="49" charset="0"/>
                <a:cs typeface="Cascadia Code Light" panose="020B0609020000020004" pitchFamily="49" charset="0"/>
              </a:rPr>
              <a:t>dignissim</a:t>
            </a:r>
            <a:r>
              <a:rPr lang="en-US" sz="1000" dirty="0">
                <a:solidFill>
                  <a:srgbClr val="8F97B7"/>
                </a:solidFill>
                <a:latin typeface="Cascadia Code Light" panose="020B0609020000020004" pitchFamily="49" charset="0"/>
                <a:cs typeface="Cascadia Code Light" panose="020B0609020000020004" pitchFamily="49" charset="0"/>
              </a:rPr>
              <a:t> mi. Proin </a:t>
            </a:r>
            <a:r>
              <a:rPr lang="en-US" sz="1000" dirty="0" err="1">
                <a:solidFill>
                  <a:srgbClr val="8F97B7"/>
                </a:solidFill>
                <a:latin typeface="Cascadia Code Light" panose="020B0609020000020004" pitchFamily="49" charset="0"/>
                <a:cs typeface="Cascadia Code Light" panose="020B0609020000020004" pitchFamily="49" charset="0"/>
              </a:rPr>
              <a:t>hendrerit</a:t>
            </a:r>
            <a:r>
              <a:rPr lang="en-US" sz="1000" dirty="0">
                <a:solidFill>
                  <a:srgbClr val="8F97B7"/>
                </a:solidFill>
                <a:latin typeface="Cascadia Code Light" panose="020B0609020000020004" pitchFamily="49" charset="0"/>
                <a:cs typeface="Cascadia Code Light" panose="020B0609020000020004" pitchFamily="49" charset="0"/>
              </a:rPr>
              <a:t> nec ex ac </a:t>
            </a:r>
            <a:r>
              <a:rPr lang="en-US" sz="1000" dirty="0" err="1">
                <a:solidFill>
                  <a:srgbClr val="8F97B7"/>
                </a:solidFill>
                <a:latin typeface="Cascadia Code Light" panose="020B0609020000020004" pitchFamily="49" charset="0"/>
                <a:cs typeface="Cascadia Code Light" panose="020B0609020000020004" pitchFamily="49" charset="0"/>
              </a:rPr>
              <a:t>feugiat</a:t>
            </a:r>
            <a:r>
              <a:rPr lang="en-US" sz="1000" dirty="0">
                <a:solidFill>
                  <a:srgbClr val="8F97B7"/>
                </a:solidFill>
                <a:latin typeface="Cascadia Code Light" panose="020B0609020000020004" pitchFamily="49" charset="0"/>
                <a:cs typeface="Cascadia Code Light" panose="020B0609020000020004" pitchFamily="49" charset="0"/>
              </a:rPr>
              <a:t>. Integer </a:t>
            </a:r>
            <a:r>
              <a:rPr lang="en-US" sz="1000" dirty="0" err="1">
                <a:solidFill>
                  <a:srgbClr val="8F97B7"/>
                </a:solidFill>
                <a:latin typeface="Cascadia Code Light" panose="020B0609020000020004" pitchFamily="49" charset="0"/>
                <a:cs typeface="Cascadia Code Light" panose="020B0609020000020004" pitchFamily="49" charset="0"/>
              </a:rPr>
              <a:t>elementum</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mauris</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ut</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augue</a:t>
            </a:r>
            <a:r>
              <a:rPr lang="en-US" sz="1000" dirty="0">
                <a:solidFill>
                  <a:srgbClr val="8F97B7"/>
                </a:solidFill>
                <a:latin typeface="Cascadia Code Light" panose="020B0609020000020004" pitchFamily="49" charset="0"/>
                <a:cs typeface="Cascadia Code Light" panose="020B0609020000020004" pitchFamily="49" charset="0"/>
              </a:rPr>
              <a:t> cursus pharetra. Vestibulum id </a:t>
            </a:r>
            <a:r>
              <a:rPr lang="en-US" sz="1000" dirty="0" err="1">
                <a:solidFill>
                  <a:srgbClr val="8F97B7"/>
                </a:solidFill>
                <a:latin typeface="Cascadia Code Light" panose="020B0609020000020004" pitchFamily="49" charset="0"/>
                <a:cs typeface="Cascadia Code Light" panose="020B0609020000020004" pitchFamily="49" charset="0"/>
              </a:rPr>
              <a:t>laoreet</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massa</a:t>
            </a:r>
            <a:r>
              <a:rPr lang="en-US" sz="1000" dirty="0">
                <a:solidFill>
                  <a:srgbClr val="8F97B7"/>
                </a:solidFill>
                <a:latin typeface="Cascadia Code Light" panose="020B0609020000020004" pitchFamily="49" charset="0"/>
                <a:cs typeface="Cascadia Code Light" panose="020B0609020000020004" pitchFamily="49" charset="0"/>
              </a:rPr>
              <a:t>, nec </a:t>
            </a:r>
            <a:r>
              <a:rPr lang="en-US" sz="1000" dirty="0" err="1">
                <a:solidFill>
                  <a:srgbClr val="8F97B7"/>
                </a:solidFill>
                <a:latin typeface="Cascadia Code Light" panose="020B0609020000020004" pitchFamily="49" charset="0"/>
                <a:cs typeface="Cascadia Code Light" panose="020B0609020000020004" pitchFamily="49" charset="0"/>
              </a:rPr>
              <a:t>dignissim</a:t>
            </a:r>
            <a:r>
              <a:rPr lang="en-US" sz="1000" dirty="0">
                <a:solidFill>
                  <a:srgbClr val="8F97B7"/>
                </a:solidFill>
                <a:latin typeface="Cascadia Code Light" panose="020B0609020000020004" pitchFamily="49" charset="0"/>
                <a:cs typeface="Cascadia Code Light" panose="020B0609020000020004" pitchFamily="49" charset="0"/>
              </a:rPr>
              <a:t> mi. Proin </a:t>
            </a:r>
            <a:r>
              <a:rPr lang="en-US" sz="1000" dirty="0" err="1">
                <a:solidFill>
                  <a:srgbClr val="8F97B7"/>
                </a:solidFill>
                <a:latin typeface="Cascadia Code Light" panose="020B0609020000020004" pitchFamily="49" charset="0"/>
                <a:cs typeface="Cascadia Code Light" panose="020B0609020000020004" pitchFamily="49" charset="0"/>
              </a:rPr>
              <a:t>hendrerit</a:t>
            </a:r>
            <a:r>
              <a:rPr lang="en-US" sz="1000" dirty="0">
                <a:solidFill>
                  <a:srgbClr val="8F97B7"/>
                </a:solidFill>
                <a:latin typeface="Cascadia Code Light" panose="020B0609020000020004" pitchFamily="49" charset="0"/>
                <a:cs typeface="Cascadia Code Light" panose="020B0609020000020004" pitchFamily="49" charset="0"/>
              </a:rPr>
              <a:t> nec ex ac </a:t>
            </a:r>
            <a:r>
              <a:rPr lang="en-US" sz="1000" dirty="0" err="1">
                <a:solidFill>
                  <a:srgbClr val="8F97B7"/>
                </a:solidFill>
                <a:latin typeface="Cascadia Code Light" panose="020B0609020000020004" pitchFamily="49" charset="0"/>
                <a:cs typeface="Cascadia Code Light" panose="020B0609020000020004" pitchFamily="49" charset="0"/>
              </a:rPr>
              <a:t>feugiat</a:t>
            </a:r>
            <a:r>
              <a:rPr lang="en-US" sz="1000" dirty="0">
                <a:solidFill>
                  <a:srgbClr val="8F97B7"/>
                </a:solidFill>
                <a:latin typeface="Cascadia Code Light" panose="020B0609020000020004" pitchFamily="49" charset="0"/>
                <a:cs typeface="Cascadia Code Light" panose="020B0609020000020004" pitchFamily="49" charset="0"/>
              </a:rPr>
              <a:t>. Integer </a:t>
            </a:r>
            <a:r>
              <a:rPr lang="en-US" sz="1000" dirty="0" err="1">
                <a:solidFill>
                  <a:srgbClr val="8F97B7"/>
                </a:solidFill>
                <a:latin typeface="Cascadia Code Light" panose="020B0609020000020004" pitchFamily="49" charset="0"/>
                <a:cs typeface="Cascadia Code Light" panose="020B0609020000020004" pitchFamily="49" charset="0"/>
              </a:rPr>
              <a:t>elementum</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mauris</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ut</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augue</a:t>
            </a:r>
            <a:r>
              <a:rPr lang="en-US" sz="1000" dirty="0">
                <a:solidFill>
                  <a:srgbClr val="8F97B7"/>
                </a:solidFill>
                <a:latin typeface="Cascadia Code Light" panose="020B0609020000020004" pitchFamily="49" charset="0"/>
                <a:cs typeface="Cascadia Code Light" panose="020B0609020000020004" pitchFamily="49" charset="0"/>
              </a:rPr>
              <a:t> cursus pharetra.</a:t>
            </a:r>
          </a:p>
          <a:p>
            <a:endParaRPr lang="en-US" sz="1000" dirty="0">
              <a:solidFill>
                <a:srgbClr val="8F97B7"/>
              </a:solidFill>
              <a:latin typeface="Cascadia Code Light" panose="020B0609020000020004" pitchFamily="49" charset="0"/>
              <a:cs typeface="Cascadia Code Light" panose="020B0609020000020004" pitchFamily="49" charset="0"/>
            </a:endParaRPr>
          </a:p>
          <a:p>
            <a:r>
              <a:rPr lang="en-US" sz="1000" dirty="0">
                <a:solidFill>
                  <a:srgbClr val="8F97B7"/>
                </a:solidFill>
                <a:latin typeface="Cascadia Code Light" panose="020B0609020000020004" pitchFamily="49" charset="0"/>
                <a:cs typeface="Cascadia Code Light" panose="020B0609020000020004" pitchFamily="49" charset="0"/>
              </a:rPr>
              <a:t>Sed id </a:t>
            </a:r>
            <a:r>
              <a:rPr lang="en-US" sz="1000" dirty="0" err="1">
                <a:solidFill>
                  <a:srgbClr val="8F97B7"/>
                </a:solidFill>
                <a:latin typeface="Cascadia Code Light" panose="020B0609020000020004" pitchFamily="49" charset="0"/>
                <a:cs typeface="Cascadia Code Light" panose="020B0609020000020004" pitchFamily="49" charset="0"/>
              </a:rPr>
              <a:t>risus</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ut</a:t>
            </a:r>
            <a:r>
              <a:rPr lang="en-US" sz="1000" dirty="0">
                <a:solidFill>
                  <a:srgbClr val="8F97B7"/>
                </a:solidFill>
                <a:latin typeface="Cascadia Code Light" panose="020B0609020000020004" pitchFamily="49" charset="0"/>
                <a:cs typeface="Cascadia Code Light" panose="020B0609020000020004" pitchFamily="49" charset="0"/>
              </a:rPr>
              <a:t> lorem </a:t>
            </a:r>
            <a:r>
              <a:rPr lang="en-US" sz="1000" dirty="0" err="1">
                <a:solidFill>
                  <a:srgbClr val="8F97B7"/>
                </a:solidFill>
                <a:latin typeface="Cascadia Code Light" panose="020B0609020000020004" pitchFamily="49" charset="0"/>
                <a:cs typeface="Cascadia Code Light" panose="020B0609020000020004" pitchFamily="49" charset="0"/>
              </a:rPr>
              <a:t>aucto</a:t>
            </a:r>
            <a:r>
              <a:rPr lang="en-US" sz="1000" dirty="0">
                <a:solidFill>
                  <a:srgbClr val="8F97B7"/>
                </a:solidFill>
                <a:latin typeface="Cascadia Code Light" panose="020B0609020000020004" pitchFamily="49" charset="0"/>
                <a:cs typeface="Cascadia Code Light" panose="020B0609020000020004" pitchFamily="49" charset="0"/>
              </a:rPr>
              <a:t>…………</a:t>
            </a:r>
          </a:p>
        </p:txBody>
      </p:sp>
      <p:sp>
        <p:nvSpPr>
          <p:cNvPr id="78" name="TextBox 77">
            <a:extLst>
              <a:ext uri="{FF2B5EF4-FFF2-40B4-BE49-F238E27FC236}">
                <a16:creationId xmlns:a16="http://schemas.microsoft.com/office/drawing/2014/main" id="{0D7EE66B-251D-1C6B-9B4A-99D58A123580}"/>
              </a:ext>
            </a:extLst>
          </p:cNvPr>
          <p:cNvSpPr txBox="1"/>
          <p:nvPr/>
        </p:nvSpPr>
        <p:spPr>
          <a:xfrm>
            <a:off x="721581" y="2490502"/>
            <a:ext cx="2884531" cy="3166680"/>
          </a:xfrm>
          <a:prstGeom prst="rect">
            <a:avLst/>
          </a:prstGeom>
          <a:noFill/>
        </p:spPr>
        <p:txBody>
          <a:bodyPr wrap="square" rtlCol="0">
            <a:noAutofit/>
          </a:bodyPr>
          <a:lstStyle/>
          <a:p>
            <a:r>
              <a:rPr lang="en-US" sz="1000" dirty="0">
                <a:solidFill>
                  <a:srgbClr val="8F97B7"/>
                </a:solidFill>
              </a:rPr>
              <a:t>Lorem ipsum dolor sit </a:t>
            </a:r>
            <a:r>
              <a:rPr lang="en-US" sz="1000" dirty="0" err="1">
                <a:solidFill>
                  <a:srgbClr val="8F97B7"/>
                </a:solidFill>
              </a:rPr>
              <a:t>amet</a:t>
            </a:r>
            <a:r>
              <a:rPr lang="en-US" sz="1000" dirty="0">
                <a:solidFill>
                  <a:srgbClr val="8F97B7"/>
                </a:solidFill>
              </a:rPr>
              <a:t>, </a:t>
            </a:r>
            <a:r>
              <a:rPr lang="en-US" sz="1000" dirty="0" err="1">
                <a:solidFill>
                  <a:srgbClr val="8F97B7"/>
                </a:solidFill>
              </a:rPr>
              <a:t>consectetur</a:t>
            </a:r>
            <a:r>
              <a:rPr lang="en-US" sz="1000" dirty="0">
                <a:solidFill>
                  <a:srgbClr val="8F97B7"/>
                </a:solidFill>
              </a:rPr>
              <a:t> </a:t>
            </a:r>
            <a:r>
              <a:rPr lang="en-US" sz="1000" dirty="0" err="1">
                <a:solidFill>
                  <a:srgbClr val="8F97B7"/>
                </a:solidFill>
              </a:rPr>
              <a:t>adipiscing</a:t>
            </a:r>
            <a:r>
              <a:rPr lang="en-US" sz="1000" dirty="0">
                <a:solidFill>
                  <a:srgbClr val="8F97B7"/>
                </a:solidFill>
              </a:rPr>
              <a:t> </a:t>
            </a:r>
            <a:r>
              <a:rPr lang="en-US" sz="1000" dirty="0" err="1">
                <a:solidFill>
                  <a:srgbClr val="8F97B7"/>
                </a:solidFill>
              </a:rPr>
              <a:t>elit</a:t>
            </a:r>
            <a:r>
              <a:rPr lang="en-US" sz="1000" dirty="0">
                <a:solidFill>
                  <a:srgbClr val="8F97B7"/>
                </a:solidFill>
              </a:rPr>
              <a:t>. Nulla </a:t>
            </a:r>
            <a:r>
              <a:rPr lang="en-US" sz="1000" dirty="0" err="1">
                <a:solidFill>
                  <a:srgbClr val="8F97B7"/>
                </a:solidFill>
              </a:rPr>
              <a:t>tincidunt</a:t>
            </a:r>
            <a:r>
              <a:rPr lang="en-US" sz="1000" dirty="0">
                <a:solidFill>
                  <a:srgbClr val="8F97B7"/>
                </a:solidFill>
              </a:rPr>
              <a:t> </a:t>
            </a:r>
            <a:r>
              <a:rPr lang="en-US" sz="1000" dirty="0" err="1">
                <a:solidFill>
                  <a:srgbClr val="8F97B7"/>
                </a:solidFill>
              </a:rPr>
              <a:t>consequat</a:t>
            </a:r>
            <a:r>
              <a:rPr lang="en-US" sz="1000" dirty="0">
                <a:solidFill>
                  <a:srgbClr val="8F97B7"/>
                </a:solidFill>
              </a:rPr>
              <a:t> dolor. </a:t>
            </a:r>
            <a:r>
              <a:rPr lang="en-US" sz="1000" dirty="0" err="1">
                <a:solidFill>
                  <a:srgbClr val="8F97B7"/>
                </a:solidFill>
              </a:rPr>
              <a:t>Praesent</a:t>
            </a:r>
            <a:r>
              <a:rPr lang="en-US" sz="1000" dirty="0">
                <a:solidFill>
                  <a:srgbClr val="8F97B7"/>
                </a:solidFill>
              </a:rPr>
              <a:t> sed </a:t>
            </a:r>
            <a:r>
              <a:rPr lang="en-US" sz="1000" dirty="0" err="1">
                <a:solidFill>
                  <a:srgbClr val="8F97B7"/>
                </a:solidFill>
              </a:rPr>
              <a:t>tempor</a:t>
            </a:r>
            <a:r>
              <a:rPr lang="en-US" sz="1000" dirty="0">
                <a:solidFill>
                  <a:srgbClr val="8F97B7"/>
                </a:solidFill>
              </a:rPr>
              <a:t> </a:t>
            </a:r>
            <a:r>
              <a:rPr lang="en-US" sz="1000" dirty="0" err="1">
                <a:solidFill>
                  <a:srgbClr val="8F97B7"/>
                </a:solidFill>
              </a:rPr>
              <a:t>risus</a:t>
            </a:r>
            <a:r>
              <a:rPr lang="en-US" sz="1000" dirty="0">
                <a:solidFill>
                  <a:srgbClr val="8F97B7"/>
                </a:solidFill>
              </a:rPr>
              <a:t>, vitae convallis </a:t>
            </a:r>
            <a:r>
              <a:rPr lang="en-US" sz="1000" dirty="0" err="1">
                <a:solidFill>
                  <a:srgbClr val="8F97B7"/>
                </a:solidFill>
              </a:rPr>
              <a:t>sapien</a:t>
            </a:r>
            <a:r>
              <a:rPr lang="en-US" sz="1000" dirty="0">
                <a:solidFill>
                  <a:srgbClr val="8F97B7"/>
                </a:solidFill>
              </a:rPr>
              <a:t>. Aenean </a:t>
            </a:r>
            <a:r>
              <a:rPr lang="en-US" sz="1000" dirty="0" err="1">
                <a:solidFill>
                  <a:srgbClr val="8F97B7"/>
                </a:solidFill>
              </a:rPr>
              <a:t>accumsan</a:t>
            </a:r>
            <a:r>
              <a:rPr lang="en-US" sz="1000" dirty="0">
                <a:solidFill>
                  <a:srgbClr val="8F97B7"/>
                </a:solidFill>
              </a:rPr>
              <a:t> </a:t>
            </a:r>
            <a:r>
              <a:rPr lang="en-US" sz="1000" dirty="0" err="1">
                <a:solidFill>
                  <a:srgbClr val="8F97B7"/>
                </a:solidFill>
              </a:rPr>
              <a:t>quis</a:t>
            </a:r>
            <a:r>
              <a:rPr lang="en-US" sz="1000" dirty="0">
                <a:solidFill>
                  <a:srgbClr val="8F97B7"/>
                </a:solidFill>
              </a:rPr>
              <a:t> lorem vitae </a:t>
            </a:r>
            <a:r>
              <a:rPr lang="en-US" sz="1000" dirty="0" err="1">
                <a:solidFill>
                  <a:srgbClr val="8F97B7"/>
                </a:solidFill>
              </a:rPr>
              <a:t>eleifend</a:t>
            </a:r>
            <a:r>
              <a:rPr lang="en-US" sz="1000" dirty="0">
                <a:solidFill>
                  <a:srgbClr val="8F97B7"/>
                </a:solidFill>
              </a:rPr>
              <a:t>. Vestibulum </a:t>
            </a:r>
            <a:r>
              <a:rPr lang="en-US" sz="1000" dirty="0" err="1">
                <a:solidFill>
                  <a:srgbClr val="8F97B7"/>
                </a:solidFill>
              </a:rPr>
              <a:t>sagittis</a:t>
            </a:r>
            <a:r>
              <a:rPr lang="en-US" sz="1000" dirty="0">
                <a:solidFill>
                  <a:srgbClr val="8F97B7"/>
                </a:solidFill>
              </a:rPr>
              <a:t> ipsum nec </a:t>
            </a:r>
            <a:r>
              <a:rPr lang="en-US" sz="1000" dirty="0" err="1">
                <a:solidFill>
                  <a:srgbClr val="8F97B7"/>
                </a:solidFill>
              </a:rPr>
              <a:t>mauris</a:t>
            </a:r>
            <a:r>
              <a:rPr lang="en-US" sz="1000" dirty="0">
                <a:solidFill>
                  <a:srgbClr val="8F97B7"/>
                </a:solidFill>
              </a:rPr>
              <a:t> </a:t>
            </a:r>
            <a:r>
              <a:rPr lang="en-US" sz="1000" dirty="0" err="1">
                <a:solidFill>
                  <a:srgbClr val="8F97B7"/>
                </a:solidFill>
              </a:rPr>
              <a:t>consectetur</a:t>
            </a:r>
            <a:r>
              <a:rPr lang="en-US" sz="1000" dirty="0">
                <a:solidFill>
                  <a:srgbClr val="8F97B7"/>
                </a:solidFill>
              </a:rPr>
              <a:t>, </a:t>
            </a:r>
            <a:r>
              <a:rPr lang="en-US" sz="1000" dirty="0" err="1">
                <a:solidFill>
                  <a:srgbClr val="8F97B7"/>
                </a:solidFill>
              </a:rPr>
              <a:t>commodo</a:t>
            </a:r>
            <a:r>
              <a:rPr lang="en-US" sz="1000" dirty="0">
                <a:solidFill>
                  <a:srgbClr val="8F97B7"/>
                </a:solidFill>
              </a:rPr>
              <a:t> </a:t>
            </a:r>
            <a:r>
              <a:rPr lang="en-US" sz="1000" dirty="0" err="1">
                <a:solidFill>
                  <a:srgbClr val="8F97B7"/>
                </a:solidFill>
              </a:rPr>
              <a:t>posuere</a:t>
            </a:r>
            <a:r>
              <a:rPr lang="en-US" sz="1000" dirty="0">
                <a:solidFill>
                  <a:srgbClr val="8F97B7"/>
                </a:solidFill>
              </a:rPr>
              <a:t> libero </a:t>
            </a:r>
            <a:r>
              <a:rPr lang="en-US" sz="1000" dirty="0" err="1">
                <a:solidFill>
                  <a:srgbClr val="8F97B7"/>
                </a:solidFill>
              </a:rPr>
              <a:t>consectetur</a:t>
            </a:r>
            <a:r>
              <a:rPr lang="en-US" sz="1000" dirty="0">
                <a:solidFill>
                  <a:srgbClr val="8F97B7"/>
                </a:solidFill>
              </a:rPr>
              <a:t>. </a:t>
            </a:r>
          </a:p>
          <a:p>
            <a:endParaRPr lang="en-US" sz="1000" dirty="0">
              <a:solidFill>
                <a:srgbClr val="8F97B7"/>
              </a:solidFill>
            </a:endParaRPr>
          </a:p>
          <a:p>
            <a:r>
              <a:rPr lang="en-US" sz="1000" dirty="0">
                <a:solidFill>
                  <a:srgbClr val="8F97B7"/>
                </a:solidFill>
              </a:rPr>
              <a:t>Donec </a:t>
            </a:r>
            <a:r>
              <a:rPr lang="en-US" sz="1000" dirty="0" err="1">
                <a:solidFill>
                  <a:srgbClr val="8F97B7"/>
                </a:solidFill>
              </a:rPr>
              <a:t>eget</a:t>
            </a:r>
            <a:r>
              <a:rPr lang="en-US" sz="1000" dirty="0">
                <a:solidFill>
                  <a:srgbClr val="8F97B7"/>
                </a:solidFill>
              </a:rPr>
              <a:t> </a:t>
            </a:r>
            <a:r>
              <a:rPr lang="en-US" sz="1000" dirty="0" err="1">
                <a:solidFill>
                  <a:srgbClr val="8F97B7"/>
                </a:solidFill>
              </a:rPr>
              <a:t>tempor</a:t>
            </a:r>
            <a:r>
              <a:rPr lang="en-US" sz="1000" dirty="0">
                <a:solidFill>
                  <a:srgbClr val="8F97B7"/>
                </a:solidFill>
              </a:rPr>
              <a:t> </a:t>
            </a:r>
            <a:r>
              <a:rPr lang="en-US" sz="1000" dirty="0" err="1">
                <a:solidFill>
                  <a:srgbClr val="8F97B7"/>
                </a:solidFill>
              </a:rPr>
              <a:t>nibh</a:t>
            </a:r>
            <a:r>
              <a:rPr lang="en-US" sz="1000" dirty="0">
                <a:solidFill>
                  <a:srgbClr val="8F97B7"/>
                </a:solidFill>
              </a:rPr>
              <a:t>. </a:t>
            </a:r>
            <a:r>
              <a:rPr lang="en-US" sz="1000" dirty="0" err="1">
                <a:solidFill>
                  <a:srgbClr val="8F97B7"/>
                </a:solidFill>
              </a:rPr>
              <a:t>Fusce</a:t>
            </a:r>
            <a:r>
              <a:rPr lang="en-US" sz="1000" dirty="0">
                <a:solidFill>
                  <a:srgbClr val="8F97B7"/>
                </a:solidFill>
              </a:rPr>
              <a:t> </a:t>
            </a:r>
            <a:r>
              <a:rPr lang="en-US" sz="1000" dirty="0" err="1">
                <a:solidFill>
                  <a:srgbClr val="8F97B7"/>
                </a:solidFill>
              </a:rPr>
              <a:t>vehicula</a:t>
            </a:r>
            <a:r>
              <a:rPr lang="en-US" sz="1000" dirty="0">
                <a:solidFill>
                  <a:srgbClr val="8F97B7"/>
                </a:solidFill>
              </a:rPr>
              <a:t> </a:t>
            </a:r>
            <a:r>
              <a:rPr lang="en-US" sz="1000" dirty="0" err="1">
                <a:solidFill>
                  <a:srgbClr val="8F97B7"/>
                </a:solidFill>
              </a:rPr>
              <a:t>ultrices</a:t>
            </a:r>
            <a:r>
              <a:rPr lang="en-US" sz="1000" dirty="0">
                <a:solidFill>
                  <a:srgbClr val="8F97B7"/>
                </a:solidFill>
              </a:rPr>
              <a:t> </a:t>
            </a:r>
            <a:r>
              <a:rPr lang="en-US" sz="1000" dirty="0" err="1">
                <a:solidFill>
                  <a:srgbClr val="8F97B7"/>
                </a:solidFill>
              </a:rPr>
              <a:t>vehicula</a:t>
            </a:r>
            <a:r>
              <a:rPr lang="en-US" sz="1000" dirty="0">
                <a:solidFill>
                  <a:srgbClr val="8F97B7"/>
                </a:solidFill>
              </a:rPr>
              <a:t>. Donec </a:t>
            </a:r>
            <a:r>
              <a:rPr lang="en-US" sz="1000" dirty="0" err="1">
                <a:solidFill>
                  <a:srgbClr val="8F97B7"/>
                </a:solidFill>
              </a:rPr>
              <a:t>consequat</a:t>
            </a:r>
            <a:r>
              <a:rPr lang="en-US" sz="1000" dirty="0">
                <a:solidFill>
                  <a:srgbClr val="8F97B7"/>
                </a:solidFill>
              </a:rPr>
              <a:t>, </a:t>
            </a:r>
            <a:r>
              <a:rPr lang="en-US" sz="1000" dirty="0" err="1">
                <a:solidFill>
                  <a:srgbClr val="8F97B7"/>
                </a:solidFill>
              </a:rPr>
              <a:t>purus</a:t>
            </a:r>
            <a:r>
              <a:rPr lang="en-US" sz="1000" dirty="0">
                <a:solidFill>
                  <a:srgbClr val="8F97B7"/>
                </a:solidFill>
              </a:rPr>
              <a:t> vitae </a:t>
            </a:r>
            <a:r>
              <a:rPr lang="en-US" sz="1000" dirty="0" err="1">
                <a:solidFill>
                  <a:srgbClr val="8F97B7"/>
                </a:solidFill>
              </a:rPr>
              <a:t>vehicula</a:t>
            </a:r>
            <a:r>
              <a:rPr lang="en-US" sz="1000" dirty="0">
                <a:solidFill>
                  <a:srgbClr val="8F97B7"/>
                </a:solidFill>
              </a:rPr>
              <a:t> </a:t>
            </a:r>
            <a:r>
              <a:rPr lang="en-US" sz="1000" dirty="0" err="1">
                <a:solidFill>
                  <a:srgbClr val="8F97B7"/>
                </a:solidFill>
              </a:rPr>
              <a:t>placerat</a:t>
            </a:r>
            <a:r>
              <a:rPr lang="en-US" sz="1000" dirty="0">
                <a:solidFill>
                  <a:srgbClr val="8F97B7"/>
                </a:solidFill>
              </a:rPr>
              <a:t>, </a:t>
            </a:r>
            <a:r>
              <a:rPr lang="en-US" sz="1000" dirty="0" err="1">
                <a:solidFill>
                  <a:srgbClr val="8F97B7"/>
                </a:solidFill>
              </a:rPr>
              <a:t>erat</a:t>
            </a:r>
            <a:r>
              <a:rPr lang="en-US" sz="1000" dirty="0">
                <a:solidFill>
                  <a:srgbClr val="8F97B7"/>
                </a:solidFill>
              </a:rPr>
              <a:t> </a:t>
            </a:r>
            <a:r>
              <a:rPr lang="en-US" sz="1000" dirty="0" err="1">
                <a:solidFill>
                  <a:srgbClr val="8F97B7"/>
                </a:solidFill>
              </a:rPr>
              <a:t>velit</a:t>
            </a:r>
            <a:r>
              <a:rPr lang="en-US" sz="1000" dirty="0">
                <a:solidFill>
                  <a:srgbClr val="8F97B7"/>
                </a:solidFill>
              </a:rPr>
              <a:t> pharetra </a:t>
            </a:r>
            <a:r>
              <a:rPr lang="en-US" sz="1000" dirty="0" err="1">
                <a:solidFill>
                  <a:srgbClr val="8F97B7"/>
                </a:solidFill>
              </a:rPr>
              <a:t>mauris</a:t>
            </a:r>
            <a:r>
              <a:rPr lang="en-US" sz="1000" dirty="0">
                <a:solidFill>
                  <a:srgbClr val="8F97B7"/>
                </a:solidFill>
              </a:rPr>
              <a:t>, </a:t>
            </a:r>
            <a:r>
              <a:rPr lang="en-US" sz="1000" dirty="0" err="1">
                <a:solidFill>
                  <a:srgbClr val="8F97B7"/>
                </a:solidFill>
              </a:rPr>
              <a:t>eu</a:t>
            </a:r>
            <a:r>
              <a:rPr lang="en-US" sz="1000" dirty="0">
                <a:solidFill>
                  <a:srgbClr val="8F97B7"/>
                </a:solidFill>
              </a:rPr>
              <a:t> vestibulum </a:t>
            </a:r>
            <a:r>
              <a:rPr lang="en-US" sz="1000" dirty="0" err="1">
                <a:solidFill>
                  <a:srgbClr val="8F97B7"/>
                </a:solidFill>
              </a:rPr>
              <a:t>tellus</a:t>
            </a:r>
            <a:r>
              <a:rPr lang="en-US" sz="1000" dirty="0">
                <a:solidFill>
                  <a:srgbClr val="8F97B7"/>
                </a:solidFill>
              </a:rPr>
              <a:t> </a:t>
            </a:r>
            <a:r>
              <a:rPr lang="en-US" sz="1000" dirty="0" err="1">
                <a:solidFill>
                  <a:srgbClr val="8F97B7"/>
                </a:solidFill>
              </a:rPr>
              <a:t>sem</a:t>
            </a:r>
            <a:r>
              <a:rPr lang="en-US" sz="1000" dirty="0">
                <a:solidFill>
                  <a:srgbClr val="8F97B7"/>
                </a:solidFill>
              </a:rPr>
              <a:t> at </a:t>
            </a:r>
            <a:r>
              <a:rPr lang="en-US" sz="1000" dirty="0" err="1">
                <a:solidFill>
                  <a:srgbClr val="8F97B7"/>
                </a:solidFill>
              </a:rPr>
              <a:t>massa</a:t>
            </a:r>
            <a:r>
              <a:rPr lang="en-US" sz="1000" dirty="0">
                <a:solidFill>
                  <a:srgbClr val="8F97B7"/>
                </a:solidFill>
              </a:rPr>
              <a:t>. </a:t>
            </a:r>
            <a:r>
              <a:rPr lang="en-US" sz="1000" dirty="0" err="1">
                <a:solidFill>
                  <a:srgbClr val="8F97B7"/>
                </a:solidFill>
              </a:rPr>
              <a:t>Pellentesque</a:t>
            </a:r>
            <a:r>
              <a:rPr lang="en-US" sz="1000" dirty="0">
                <a:solidFill>
                  <a:srgbClr val="8F97B7"/>
                </a:solidFill>
              </a:rPr>
              <a:t> a </a:t>
            </a:r>
            <a:r>
              <a:rPr lang="en-US" sz="1000" dirty="0" err="1">
                <a:solidFill>
                  <a:srgbClr val="8F97B7"/>
                </a:solidFill>
              </a:rPr>
              <a:t>euismod</a:t>
            </a:r>
            <a:r>
              <a:rPr lang="en-US" sz="1000" dirty="0">
                <a:solidFill>
                  <a:srgbClr val="8F97B7"/>
                </a:solidFill>
              </a:rPr>
              <a:t> </a:t>
            </a:r>
            <a:r>
              <a:rPr lang="en-US" sz="1000" dirty="0" err="1">
                <a:solidFill>
                  <a:srgbClr val="8F97B7"/>
                </a:solidFill>
              </a:rPr>
              <a:t>tortor</a:t>
            </a:r>
            <a:r>
              <a:rPr lang="en-US" sz="1000" dirty="0">
                <a:solidFill>
                  <a:srgbClr val="8F97B7"/>
                </a:solidFill>
              </a:rPr>
              <a:t>. Maecenas </a:t>
            </a:r>
            <a:r>
              <a:rPr lang="en-US" sz="1000" dirty="0" err="1">
                <a:solidFill>
                  <a:srgbClr val="8F97B7"/>
                </a:solidFill>
              </a:rPr>
              <a:t>pretium</a:t>
            </a:r>
            <a:r>
              <a:rPr lang="en-US" sz="1000" dirty="0">
                <a:solidFill>
                  <a:srgbClr val="8F97B7"/>
                </a:solidFill>
              </a:rPr>
              <a:t> </a:t>
            </a:r>
            <a:r>
              <a:rPr lang="en-US" sz="1000" dirty="0" err="1">
                <a:solidFill>
                  <a:srgbClr val="8F97B7"/>
                </a:solidFill>
              </a:rPr>
              <a:t>ultrices</a:t>
            </a:r>
            <a:r>
              <a:rPr lang="en-US" sz="1000" dirty="0">
                <a:solidFill>
                  <a:srgbClr val="8F97B7"/>
                </a:solidFill>
              </a:rPr>
              <a:t> </a:t>
            </a:r>
            <a:r>
              <a:rPr lang="en-US" sz="1000" dirty="0" err="1">
                <a:solidFill>
                  <a:srgbClr val="8F97B7"/>
                </a:solidFill>
              </a:rPr>
              <a:t>rutrum</a:t>
            </a:r>
            <a:r>
              <a:rPr lang="en-US" sz="1000" dirty="0">
                <a:solidFill>
                  <a:srgbClr val="8F97B7"/>
                </a:solidFill>
              </a:rPr>
              <a:t>. Cras </a:t>
            </a:r>
            <a:r>
              <a:rPr lang="en-US" sz="1000" dirty="0" err="1">
                <a:solidFill>
                  <a:srgbClr val="8F97B7"/>
                </a:solidFill>
              </a:rPr>
              <a:t>bibendum</a:t>
            </a:r>
            <a:r>
              <a:rPr lang="en-US" sz="1000" dirty="0">
                <a:solidFill>
                  <a:srgbClr val="8F97B7"/>
                </a:solidFill>
              </a:rPr>
              <a:t>, lorem sit </a:t>
            </a:r>
            <a:r>
              <a:rPr lang="en-US" sz="1000" dirty="0" err="1">
                <a:solidFill>
                  <a:srgbClr val="8F97B7"/>
                </a:solidFill>
              </a:rPr>
              <a:t>amet</a:t>
            </a:r>
            <a:r>
              <a:rPr lang="en-US" sz="1000" dirty="0">
                <a:solidFill>
                  <a:srgbClr val="8F97B7"/>
                </a:solidFill>
              </a:rPr>
              <a:t> </a:t>
            </a:r>
            <a:r>
              <a:rPr lang="en-US" sz="1000" dirty="0" err="1">
                <a:solidFill>
                  <a:srgbClr val="8F97B7"/>
                </a:solidFill>
              </a:rPr>
              <a:t>euismod</a:t>
            </a:r>
            <a:r>
              <a:rPr lang="en-US" sz="1000" dirty="0">
                <a:solidFill>
                  <a:srgbClr val="8F97B7"/>
                </a:solidFill>
              </a:rPr>
              <a:t> </a:t>
            </a:r>
            <a:r>
              <a:rPr lang="en-US" sz="1000" dirty="0" err="1">
                <a:solidFill>
                  <a:srgbClr val="8F97B7"/>
                </a:solidFill>
              </a:rPr>
              <a:t>elementum</a:t>
            </a:r>
            <a:r>
              <a:rPr lang="en-US" sz="1000" dirty="0">
                <a:solidFill>
                  <a:srgbClr val="8F97B7"/>
                </a:solidFill>
              </a:rPr>
              <a:t>, </a:t>
            </a:r>
            <a:r>
              <a:rPr lang="en-US" sz="1000" dirty="0" err="1">
                <a:solidFill>
                  <a:srgbClr val="8F97B7"/>
                </a:solidFill>
              </a:rPr>
              <a:t>quam</a:t>
            </a:r>
            <a:r>
              <a:rPr lang="en-US" sz="1000" dirty="0">
                <a:solidFill>
                  <a:srgbClr val="8F97B7"/>
                </a:solidFill>
              </a:rPr>
              <a:t> </a:t>
            </a:r>
            <a:r>
              <a:rPr lang="en-US" sz="1000" dirty="0" err="1">
                <a:solidFill>
                  <a:srgbClr val="8F97B7"/>
                </a:solidFill>
              </a:rPr>
              <a:t>velit</a:t>
            </a:r>
            <a:r>
              <a:rPr lang="en-US" sz="1000" dirty="0">
                <a:solidFill>
                  <a:srgbClr val="8F97B7"/>
                </a:solidFill>
              </a:rPr>
              <a:t> </a:t>
            </a:r>
            <a:r>
              <a:rPr lang="en-US" sz="1000" dirty="0" err="1">
                <a:solidFill>
                  <a:srgbClr val="8F97B7"/>
                </a:solidFill>
              </a:rPr>
              <a:t>lobortis</a:t>
            </a:r>
            <a:r>
              <a:rPr lang="en-US" sz="1000" dirty="0">
                <a:solidFill>
                  <a:srgbClr val="8F97B7"/>
                </a:solidFill>
              </a:rPr>
              <a:t> ex, a </a:t>
            </a:r>
            <a:r>
              <a:rPr lang="en-US" sz="1000" dirty="0" err="1">
                <a:solidFill>
                  <a:srgbClr val="8F97B7"/>
                </a:solidFill>
              </a:rPr>
              <a:t>commodo</a:t>
            </a:r>
            <a:r>
              <a:rPr lang="en-US" sz="1000" dirty="0">
                <a:solidFill>
                  <a:srgbClr val="8F97B7"/>
                </a:solidFill>
              </a:rPr>
              <a:t> </a:t>
            </a:r>
            <a:r>
              <a:rPr lang="en-US" sz="1000" dirty="0" err="1">
                <a:solidFill>
                  <a:srgbClr val="8F97B7"/>
                </a:solidFill>
              </a:rPr>
              <a:t>sem</a:t>
            </a:r>
            <a:r>
              <a:rPr lang="en-US" sz="1000" dirty="0">
                <a:solidFill>
                  <a:srgbClr val="8F97B7"/>
                </a:solidFill>
              </a:rPr>
              <a:t> </a:t>
            </a:r>
            <a:r>
              <a:rPr lang="en-US" sz="1000" dirty="0" err="1">
                <a:solidFill>
                  <a:srgbClr val="8F97B7"/>
                </a:solidFill>
              </a:rPr>
              <a:t>neque</a:t>
            </a:r>
            <a:r>
              <a:rPr lang="en-US" sz="1000" dirty="0">
                <a:solidFill>
                  <a:srgbClr val="8F97B7"/>
                </a:solidFill>
              </a:rPr>
              <a:t> in </a:t>
            </a:r>
            <a:r>
              <a:rPr lang="en-US" sz="1000" dirty="0" err="1">
                <a:solidFill>
                  <a:srgbClr val="8F97B7"/>
                </a:solidFill>
              </a:rPr>
              <a:t>turpis</a:t>
            </a:r>
            <a:r>
              <a:rPr lang="en-US" sz="1000" dirty="0">
                <a:solidFill>
                  <a:srgbClr val="8F97B7"/>
                </a:solidFill>
              </a:rPr>
              <a:t>. </a:t>
            </a:r>
          </a:p>
          <a:p>
            <a:endParaRPr lang="en-US" sz="1000" dirty="0">
              <a:solidFill>
                <a:srgbClr val="8F97B7"/>
              </a:solidFill>
            </a:endParaRPr>
          </a:p>
          <a:p>
            <a:r>
              <a:rPr lang="en-US" sz="1000" dirty="0">
                <a:solidFill>
                  <a:srgbClr val="8F97B7"/>
                </a:solidFill>
              </a:rPr>
              <a:t>Proin a </a:t>
            </a:r>
            <a:r>
              <a:rPr lang="en-US" sz="1000" dirty="0" err="1">
                <a:solidFill>
                  <a:srgbClr val="8F97B7"/>
                </a:solidFill>
              </a:rPr>
              <a:t>massa</a:t>
            </a:r>
            <a:r>
              <a:rPr lang="en-US" sz="1000" dirty="0">
                <a:solidFill>
                  <a:srgbClr val="8F97B7"/>
                </a:solidFill>
              </a:rPr>
              <a:t> </a:t>
            </a:r>
            <a:r>
              <a:rPr lang="en-US" sz="1000" dirty="0" err="1">
                <a:solidFill>
                  <a:srgbClr val="8F97B7"/>
                </a:solidFill>
              </a:rPr>
              <a:t>eget</a:t>
            </a:r>
            <a:r>
              <a:rPr lang="en-US" sz="1000" dirty="0">
                <a:solidFill>
                  <a:srgbClr val="8F97B7"/>
                </a:solidFill>
              </a:rPr>
              <a:t> </a:t>
            </a:r>
            <a:r>
              <a:rPr lang="en-US" sz="1000" dirty="0" err="1">
                <a:solidFill>
                  <a:srgbClr val="8F97B7"/>
                </a:solidFill>
              </a:rPr>
              <a:t>sapien</a:t>
            </a:r>
            <a:r>
              <a:rPr lang="en-US" sz="1000" dirty="0">
                <a:solidFill>
                  <a:srgbClr val="8F97B7"/>
                </a:solidFill>
              </a:rPr>
              <a:t> </a:t>
            </a:r>
            <a:r>
              <a:rPr lang="en-US" sz="1000" dirty="0" err="1">
                <a:solidFill>
                  <a:srgbClr val="8F97B7"/>
                </a:solidFill>
              </a:rPr>
              <a:t>sagittis</a:t>
            </a:r>
            <a:r>
              <a:rPr lang="en-US" sz="1000" dirty="0">
                <a:solidFill>
                  <a:srgbClr val="8F97B7"/>
                </a:solidFill>
              </a:rPr>
              <a:t> convallis. </a:t>
            </a:r>
            <a:r>
              <a:rPr lang="en-US" sz="1000" dirty="0" err="1">
                <a:solidFill>
                  <a:srgbClr val="8F97B7"/>
                </a:solidFill>
              </a:rPr>
              <a:t>Suspendisse</a:t>
            </a:r>
            <a:r>
              <a:rPr lang="en-US" sz="1000" dirty="0">
                <a:solidFill>
                  <a:srgbClr val="8F97B7"/>
                </a:solidFill>
              </a:rPr>
              <a:t> </a:t>
            </a:r>
            <a:r>
              <a:rPr lang="en-US" sz="1000" dirty="0" err="1">
                <a:solidFill>
                  <a:srgbClr val="8F97B7"/>
                </a:solidFill>
              </a:rPr>
              <a:t>commodo</a:t>
            </a:r>
            <a:r>
              <a:rPr lang="en-US" sz="1000" dirty="0">
                <a:solidFill>
                  <a:srgbClr val="8F97B7"/>
                </a:solidFill>
              </a:rPr>
              <a:t> </a:t>
            </a:r>
            <a:r>
              <a:rPr lang="en-US" sz="1000" dirty="0" err="1">
                <a:solidFill>
                  <a:srgbClr val="8F97B7"/>
                </a:solidFill>
              </a:rPr>
              <a:t>elit</a:t>
            </a:r>
            <a:r>
              <a:rPr lang="en-US" sz="1000" dirty="0">
                <a:solidFill>
                  <a:srgbClr val="8F97B7"/>
                </a:solidFill>
              </a:rPr>
              <a:t> </a:t>
            </a:r>
            <a:r>
              <a:rPr lang="en-US" sz="1000" dirty="0" err="1">
                <a:solidFill>
                  <a:srgbClr val="8F97B7"/>
                </a:solidFill>
              </a:rPr>
              <a:t>quis</a:t>
            </a:r>
            <a:r>
              <a:rPr lang="en-US" sz="1000" dirty="0">
                <a:solidFill>
                  <a:srgbClr val="8F97B7"/>
                </a:solidFill>
              </a:rPr>
              <a:t> </a:t>
            </a:r>
            <a:r>
              <a:rPr lang="en-US" sz="1000" dirty="0" err="1">
                <a:solidFill>
                  <a:srgbClr val="8F97B7"/>
                </a:solidFill>
              </a:rPr>
              <a:t>arcu</a:t>
            </a:r>
            <a:r>
              <a:rPr lang="en-US" sz="1000" dirty="0">
                <a:solidFill>
                  <a:srgbClr val="8F97B7"/>
                </a:solidFill>
              </a:rPr>
              <a:t> dictum porta. Sed </a:t>
            </a:r>
            <a:r>
              <a:rPr lang="en-US" sz="1000" dirty="0" err="1">
                <a:solidFill>
                  <a:srgbClr val="8F97B7"/>
                </a:solidFill>
              </a:rPr>
              <a:t>consequat</a:t>
            </a:r>
            <a:r>
              <a:rPr lang="en-US" sz="1000" dirty="0">
                <a:solidFill>
                  <a:srgbClr val="8F97B7"/>
                </a:solidFill>
              </a:rPr>
              <a:t> </a:t>
            </a:r>
            <a:r>
              <a:rPr lang="en-US" sz="1000" dirty="0" err="1">
                <a:solidFill>
                  <a:srgbClr val="8F97B7"/>
                </a:solidFill>
              </a:rPr>
              <a:t>ullamcorper</a:t>
            </a:r>
            <a:r>
              <a:rPr lang="en-US" sz="1000" dirty="0">
                <a:solidFill>
                  <a:srgbClr val="8F97B7"/>
                </a:solidFill>
              </a:rPr>
              <a:t> eros, id……..</a:t>
            </a:r>
          </a:p>
        </p:txBody>
      </p:sp>
      <p:pic>
        <p:nvPicPr>
          <p:cNvPr id="80" name="Graphic 79" descr="Pencil with solid fill">
            <a:extLst>
              <a:ext uri="{FF2B5EF4-FFF2-40B4-BE49-F238E27FC236}">
                <a16:creationId xmlns:a16="http://schemas.microsoft.com/office/drawing/2014/main" id="{27D04A5B-1D28-51B9-86D4-FE4A829E9D9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935234" y="5734346"/>
            <a:ext cx="258055" cy="258055"/>
          </a:xfrm>
          <a:prstGeom prst="rect">
            <a:avLst/>
          </a:prstGeom>
        </p:spPr>
      </p:pic>
      <p:sp>
        <p:nvSpPr>
          <p:cNvPr id="82" name="Rectangle 81">
            <a:extLst>
              <a:ext uri="{FF2B5EF4-FFF2-40B4-BE49-F238E27FC236}">
                <a16:creationId xmlns:a16="http://schemas.microsoft.com/office/drawing/2014/main" id="{EF5D3CAA-722B-6A65-B630-140A3562CE90}"/>
              </a:ext>
            </a:extLst>
          </p:cNvPr>
          <p:cNvSpPr/>
          <p:nvPr/>
        </p:nvSpPr>
        <p:spPr>
          <a:xfrm>
            <a:off x="9325484" y="6385411"/>
            <a:ext cx="2540254" cy="291526"/>
          </a:xfrm>
          <a:prstGeom prst="rect">
            <a:avLst/>
          </a:prstGeom>
          <a:no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5">
                    <a:lumMod val="60000"/>
                    <a:lumOff val="40000"/>
                  </a:schemeClr>
                </a:solidFill>
              </a:rPr>
              <a:t>Is editable</a:t>
            </a:r>
          </a:p>
        </p:txBody>
      </p:sp>
      <p:cxnSp>
        <p:nvCxnSpPr>
          <p:cNvPr id="90" name="Connector: Elbow 89">
            <a:extLst>
              <a:ext uri="{FF2B5EF4-FFF2-40B4-BE49-F238E27FC236}">
                <a16:creationId xmlns:a16="http://schemas.microsoft.com/office/drawing/2014/main" id="{912759BA-F1FA-AB11-866B-EDF29BD3489D}"/>
              </a:ext>
            </a:extLst>
          </p:cNvPr>
          <p:cNvCxnSpPr>
            <a:cxnSpLocks/>
            <a:stCxn id="82" idx="0"/>
            <a:endCxn id="11" idx="3"/>
          </p:cNvCxnSpPr>
          <p:nvPr/>
        </p:nvCxnSpPr>
        <p:spPr>
          <a:xfrm rot="5400000" flipH="1" flipV="1">
            <a:off x="9354290" y="5079516"/>
            <a:ext cx="2547216" cy="64575"/>
          </a:xfrm>
          <a:prstGeom prst="bentConnector4">
            <a:avLst>
              <a:gd name="adj1" fmla="val 14548"/>
              <a:gd name="adj2" fmla="val 454007"/>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92" name="Connector: Elbow 91">
            <a:extLst>
              <a:ext uri="{FF2B5EF4-FFF2-40B4-BE49-F238E27FC236}">
                <a16:creationId xmlns:a16="http://schemas.microsoft.com/office/drawing/2014/main" id="{D3895B4A-2399-FC0B-A836-7C0011DA0365}"/>
              </a:ext>
            </a:extLst>
          </p:cNvPr>
          <p:cNvCxnSpPr>
            <a:cxnSpLocks/>
            <a:stCxn id="82" idx="0"/>
            <a:endCxn id="39" idx="3"/>
          </p:cNvCxnSpPr>
          <p:nvPr/>
        </p:nvCxnSpPr>
        <p:spPr>
          <a:xfrm rot="5400000" flipH="1" flipV="1">
            <a:off x="9741533" y="5466759"/>
            <a:ext cx="1772730" cy="64575"/>
          </a:xfrm>
          <a:prstGeom prst="bentConnector4">
            <a:avLst>
              <a:gd name="adj1" fmla="val 19927"/>
              <a:gd name="adj2" fmla="val 454007"/>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94" name="Connector: Elbow 93">
            <a:extLst>
              <a:ext uri="{FF2B5EF4-FFF2-40B4-BE49-F238E27FC236}">
                <a16:creationId xmlns:a16="http://schemas.microsoft.com/office/drawing/2014/main" id="{3A185C7B-4912-C0E7-523F-2E68C5F28E6E}"/>
              </a:ext>
            </a:extLst>
          </p:cNvPr>
          <p:cNvCxnSpPr>
            <a:cxnSpLocks/>
            <a:stCxn id="82" idx="0"/>
            <a:endCxn id="48" idx="3"/>
          </p:cNvCxnSpPr>
          <p:nvPr/>
        </p:nvCxnSpPr>
        <p:spPr>
          <a:xfrm rot="5400000" flipH="1" flipV="1">
            <a:off x="10128776" y="5854002"/>
            <a:ext cx="998244" cy="64575"/>
          </a:xfrm>
          <a:prstGeom prst="bentConnector4">
            <a:avLst>
              <a:gd name="adj1" fmla="val 36452"/>
              <a:gd name="adj2" fmla="val 454007"/>
            </a:avLst>
          </a:prstGeom>
          <a:ln>
            <a:tailEnd type="triangle"/>
          </a:ln>
        </p:spPr>
        <p:style>
          <a:lnRef idx="2">
            <a:schemeClr val="accent5"/>
          </a:lnRef>
          <a:fillRef idx="0">
            <a:schemeClr val="accent5"/>
          </a:fillRef>
          <a:effectRef idx="1">
            <a:schemeClr val="accent5"/>
          </a:effectRef>
          <a:fontRef idx="minor">
            <a:schemeClr val="tx1"/>
          </a:fontRef>
        </p:style>
      </p:cxnSp>
      <p:sp>
        <p:nvSpPr>
          <p:cNvPr id="95" name="Rectangle 94">
            <a:extLst>
              <a:ext uri="{FF2B5EF4-FFF2-40B4-BE49-F238E27FC236}">
                <a16:creationId xmlns:a16="http://schemas.microsoft.com/office/drawing/2014/main" id="{BCA47937-194F-78D5-4759-9123968B7303}"/>
              </a:ext>
            </a:extLst>
          </p:cNvPr>
          <p:cNvSpPr/>
          <p:nvPr/>
        </p:nvSpPr>
        <p:spPr>
          <a:xfrm>
            <a:off x="8794992" y="891162"/>
            <a:ext cx="2725018" cy="572374"/>
          </a:xfrm>
          <a:prstGeom prst="rect">
            <a:avLst/>
          </a:prstGeom>
          <a:no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5">
                    <a:lumMod val="60000"/>
                    <a:lumOff val="40000"/>
                  </a:schemeClr>
                </a:solidFill>
              </a:rPr>
              <a:t>Info button shows un-editable agent template</a:t>
            </a:r>
          </a:p>
        </p:txBody>
      </p:sp>
      <p:cxnSp>
        <p:nvCxnSpPr>
          <p:cNvPr id="98" name="Straight Arrow Connector 97">
            <a:extLst>
              <a:ext uri="{FF2B5EF4-FFF2-40B4-BE49-F238E27FC236}">
                <a16:creationId xmlns:a16="http://schemas.microsoft.com/office/drawing/2014/main" id="{CED63D95-B6B3-8B36-E6A4-DC87AF809813}"/>
              </a:ext>
            </a:extLst>
          </p:cNvPr>
          <p:cNvCxnSpPr>
            <a:cxnSpLocks/>
          </p:cNvCxnSpPr>
          <p:nvPr/>
        </p:nvCxnSpPr>
        <p:spPr>
          <a:xfrm>
            <a:off x="9774066" y="1463536"/>
            <a:ext cx="235473" cy="1089658"/>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107" name="Rectangle 106">
            <a:extLst>
              <a:ext uri="{FF2B5EF4-FFF2-40B4-BE49-F238E27FC236}">
                <a16:creationId xmlns:a16="http://schemas.microsoft.com/office/drawing/2014/main" id="{06D000DC-F665-AD11-5A7A-94D7DC4DFA20}"/>
              </a:ext>
            </a:extLst>
          </p:cNvPr>
          <p:cNvSpPr/>
          <p:nvPr/>
        </p:nvSpPr>
        <p:spPr>
          <a:xfrm>
            <a:off x="5273374" y="6329370"/>
            <a:ext cx="3778100" cy="291526"/>
          </a:xfrm>
          <a:prstGeom prst="rect">
            <a:avLst/>
          </a:prstGeom>
          <a:no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5">
                    <a:lumMod val="60000"/>
                    <a:lumOff val="40000"/>
                  </a:schemeClr>
                </a:solidFill>
              </a:rPr>
              <a:t>Agent template viewable</a:t>
            </a:r>
          </a:p>
        </p:txBody>
      </p:sp>
      <p:cxnSp>
        <p:nvCxnSpPr>
          <p:cNvPr id="111" name="Straight Arrow Connector 110">
            <a:extLst>
              <a:ext uri="{FF2B5EF4-FFF2-40B4-BE49-F238E27FC236}">
                <a16:creationId xmlns:a16="http://schemas.microsoft.com/office/drawing/2014/main" id="{A88BC951-1D0B-5F27-C777-20F69C7661B4}"/>
              </a:ext>
            </a:extLst>
          </p:cNvPr>
          <p:cNvCxnSpPr>
            <a:cxnSpLocks/>
          </p:cNvCxnSpPr>
          <p:nvPr/>
        </p:nvCxnSpPr>
        <p:spPr>
          <a:xfrm flipV="1">
            <a:off x="8030042" y="3969193"/>
            <a:ext cx="1860520" cy="2287362"/>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13" name="Straight Arrow Connector 112">
            <a:extLst>
              <a:ext uri="{FF2B5EF4-FFF2-40B4-BE49-F238E27FC236}">
                <a16:creationId xmlns:a16="http://schemas.microsoft.com/office/drawing/2014/main" id="{49AE1380-7ACC-ABDD-6A72-8DA9AED3F729}"/>
              </a:ext>
            </a:extLst>
          </p:cNvPr>
          <p:cNvCxnSpPr>
            <a:cxnSpLocks/>
          </p:cNvCxnSpPr>
          <p:nvPr/>
        </p:nvCxnSpPr>
        <p:spPr>
          <a:xfrm flipV="1">
            <a:off x="8205751" y="4780995"/>
            <a:ext cx="1749123" cy="1493779"/>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15" name="Straight Arrow Connector 114">
            <a:extLst>
              <a:ext uri="{FF2B5EF4-FFF2-40B4-BE49-F238E27FC236}">
                <a16:creationId xmlns:a16="http://schemas.microsoft.com/office/drawing/2014/main" id="{6067E2CF-5C17-5688-BD42-FC5D774C1C12}"/>
              </a:ext>
            </a:extLst>
          </p:cNvPr>
          <p:cNvCxnSpPr>
            <a:cxnSpLocks/>
          </p:cNvCxnSpPr>
          <p:nvPr/>
        </p:nvCxnSpPr>
        <p:spPr>
          <a:xfrm flipV="1">
            <a:off x="8525590" y="5533132"/>
            <a:ext cx="1429284" cy="719554"/>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117" name="Rectangle 116">
            <a:extLst>
              <a:ext uri="{FF2B5EF4-FFF2-40B4-BE49-F238E27FC236}">
                <a16:creationId xmlns:a16="http://schemas.microsoft.com/office/drawing/2014/main" id="{B0BB8C42-652D-C2B3-5966-5816907ABF99}"/>
              </a:ext>
            </a:extLst>
          </p:cNvPr>
          <p:cNvSpPr/>
          <p:nvPr/>
        </p:nvSpPr>
        <p:spPr>
          <a:xfrm>
            <a:off x="5536914" y="1269433"/>
            <a:ext cx="1436616" cy="347243"/>
          </a:xfrm>
          <a:prstGeom prst="rect">
            <a:avLst/>
          </a:prstGeom>
          <a:no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accent5">
                    <a:lumMod val="60000"/>
                    <a:lumOff val="40000"/>
                  </a:schemeClr>
                </a:solidFill>
              </a:rPr>
              <a:t>Status change</a:t>
            </a:r>
          </a:p>
        </p:txBody>
      </p:sp>
      <p:cxnSp>
        <p:nvCxnSpPr>
          <p:cNvPr id="119" name="Straight Arrow Connector 118">
            <a:extLst>
              <a:ext uri="{FF2B5EF4-FFF2-40B4-BE49-F238E27FC236}">
                <a16:creationId xmlns:a16="http://schemas.microsoft.com/office/drawing/2014/main" id="{4714E276-8625-6A39-A416-3721EC2CA2B7}"/>
              </a:ext>
            </a:extLst>
          </p:cNvPr>
          <p:cNvCxnSpPr>
            <a:cxnSpLocks/>
          </p:cNvCxnSpPr>
          <p:nvPr/>
        </p:nvCxnSpPr>
        <p:spPr>
          <a:xfrm flipH="1">
            <a:off x="5674533" y="1626758"/>
            <a:ext cx="335378" cy="232528"/>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Tree>
    <p:extLst>
      <p:ext uri="{BB962C8B-B14F-4D97-AF65-F5344CB8AC3E}">
        <p14:creationId xmlns:p14="http://schemas.microsoft.com/office/powerpoint/2010/main" val="10797072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E1C2D"/>
        </a:solidFill>
        <a:effectLst/>
      </p:bgPr>
    </p:bg>
    <p:spTree>
      <p:nvGrpSpPr>
        <p:cNvPr id="1" name="">
          <a:extLst>
            <a:ext uri="{FF2B5EF4-FFF2-40B4-BE49-F238E27FC236}">
              <a16:creationId xmlns:a16="http://schemas.microsoft.com/office/drawing/2014/main" id="{D040AB45-4536-CFE6-EA86-1A581FF4FAF3}"/>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1D5594F1-0BCC-8396-242A-326A0C32D45B}"/>
              </a:ext>
            </a:extLst>
          </p:cNvPr>
          <p:cNvSpPr/>
          <p:nvPr/>
        </p:nvSpPr>
        <p:spPr>
          <a:xfrm>
            <a:off x="1308100" y="1354149"/>
            <a:ext cx="2174995" cy="505137"/>
          </a:xfrm>
          <a:prstGeom prst="roundRect">
            <a:avLst>
              <a:gd name="adj" fmla="val 32277"/>
            </a:avLst>
          </a:prstGeom>
          <a:no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2DD0B21-A592-8123-847B-047A0DBB04A9}"/>
              </a:ext>
            </a:extLst>
          </p:cNvPr>
          <p:cNvSpPr txBox="1"/>
          <p:nvPr/>
        </p:nvSpPr>
        <p:spPr>
          <a:xfrm>
            <a:off x="516531" y="677075"/>
            <a:ext cx="2514919" cy="553998"/>
          </a:xfrm>
          <a:prstGeom prst="rect">
            <a:avLst/>
          </a:prstGeom>
          <a:noFill/>
        </p:spPr>
        <p:txBody>
          <a:bodyPr wrap="none" rtlCol="0">
            <a:spAutoFit/>
          </a:bodyPr>
          <a:lstStyle/>
          <a:p>
            <a:r>
              <a:rPr lang="en-US" dirty="0">
                <a:solidFill>
                  <a:srgbClr val="E1E1E1"/>
                </a:solidFill>
              </a:rPr>
              <a:t>Project: </a:t>
            </a:r>
            <a:r>
              <a:rPr lang="en-US" dirty="0">
                <a:solidFill>
                  <a:srgbClr val="FFC300"/>
                </a:solidFill>
              </a:rPr>
              <a:t>{</a:t>
            </a:r>
            <a:r>
              <a:rPr lang="en-US" dirty="0" err="1">
                <a:solidFill>
                  <a:srgbClr val="FFC300"/>
                </a:solidFill>
              </a:rPr>
              <a:t>project_name</a:t>
            </a:r>
            <a:r>
              <a:rPr lang="en-US" dirty="0">
                <a:solidFill>
                  <a:srgbClr val="FFC300"/>
                </a:solidFill>
              </a:rPr>
              <a:t>}</a:t>
            </a:r>
          </a:p>
          <a:p>
            <a:r>
              <a:rPr lang="en-US" sz="1200" dirty="0">
                <a:solidFill>
                  <a:srgbClr val="8F97B7"/>
                </a:solidFill>
              </a:rPr>
              <a:t>Project ID: {</a:t>
            </a:r>
            <a:r>
              <a:rPr lang="en-US" sz="1200" dirty="0" err="1">
                <a:solidFill>
                  <a:srgbClr val="8F97B7"/>
                </a:solidFill>
              </a:rPr>
              <a:t>full_UUID</a:t>
            </a:r>
            <a:r>
              <a:rPr lang="en-US" sz="1200" dirty="0">
                <a:solidFill>
                  <a:srgbClr val="8F97B7"/>
                </a:solidFill>
              </a:rPr>
              <a:t>}</a:t>
            </a:r>
          </a:p>
        </p:txBody>
      </p:sp>
      <p:sp>
        <p:nvSpPr>
          <p:cNvPr id="3" name="Rectangle: Rounded Corners 2">
            <a:extLst>
              <a:ext uri="{FF2B5EF4-FFF2-40B4-BE49-F238E27FC236}">
                <a16:creationId xmlns:a16="http://schemas.microsoft.com/office/drawing/2014/main" id="{DCE51FBA-D357-FC70-E97B-6FF2494E750F}"/>
              </a:ext>
            </a:extLst>
          </p:cNvPr>
          <p:cNvSpPr/>
          <p:nvPr/>
        </p:nvSpPr>
        <p:spPr>
          <a:xfrm>
            <a:off x="503405" y="1354150"/>
            <a:ext cx="1212683" cy="969932"/>
          </a:xfrm>
          <a:prstGeom prst="roundRect">
            <a:avLst>
              <a:gd name="adj" fmla="val 17766"/>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CA0B810-2A4D-08B3-B6ED-03E982F68BCA}"/>
              </a:ext>
            </a:extLst>
          </p:cNvPr>
          <p:cNvSpPr txBox="1"/>
          <p:nvPr/>
        </p:nvSpPr>
        <p:spPr>
          <a:xfrm>
            <a:off x="658965" y="1326537"/>
            <a:ext cx="929678" cy="369332"/>
          </a:xfrm>
          <a:prstGeom prst="rect">
            <a:avLst/>
          </a:prstGeom>
          <a:noFill/>
        </p:spPr>
        <p:txBody>
          <a:bodyPr wrap="none" rtlCol="0">
            <a:spAutoFit/>
          </a:bodyPr>
          <a:lstStyle/>
          <a:p>
            <a:r>
              <a:rPr lang="en-US" dirty="0">
                <a:solidFill>
                  <a:srgbClr val="E1E1E1"/>
                </a:solidFill>
              </a:rPr>
              <a:t>Launch</a:t>
            </a:r>
          </a:p>
        </p:txBody>
      </p:sp>
      <p:sp>
        <p:nvSpPr>
          <p:cNvPr id="6" name="Rectangle: Rounded Corners 5">
            <a:extLst>
              <a:ext uri="{FF2B5EF4-FFF2-40B4-BE49-F238E27FC236}">
                <a16:creationId xmlns:a16="http://schemas.microsoft.com/office/drawing/2014/main" id="{39EAF968-A1F1-90EE-DC0E-08E0EC1CDCE5}"/>
              </a:ext>
            </a:extLst>
          </p:cNvPr>
          <p:cNvSpPr/>
          <p:nvPr/>
        </p:nvSpPr>
        <p:spPr>
          <a:xfrm>
            <a:off x="503403" y="1668256"/>
            <a:ext cx="11185191" cy="4565020"/>
          </a:xfrm>
          <a:prstGeom prst="roundRect">
            <a:avLst>
              <a:gd name="adj" fmla="val 5962"/>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AF7B33D9-5B14-B845-6C47-7275A366180E}"/>
              </a:ext>
            </a:extLst>
          </p:cNvPr>
          <p:cNvSpPr/>
          <p:nvPr/>
        </p:nvSpPr>
        <p:spPr>
          <a:xfrm>
            <a:off x="512825" y="1626758"/>
            <a:ext cx="1192150" cy="287650"/>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52572FCD-23C3-9045-5B6D-1EA314A05D0C}"/>
              </a:ext>
            </a:extLst>
          </p:cNvPr>
          <p:cNvSpPr/>
          <p:nvPr/>
        </p:nvSpPr>
        <p:spPr>
          <a:xfrm>
            <a:off x="658964" y="2296470"/>
            <a:ext cx="3301961" cy="3818144"/>
          </a:xfrm>
          <a:prstGeom prst="roundRect">
            <a:avLst>
              <a:gd name="adj" fmla="val 8358"/>
            </a:avLst>
          </a:prstGeom>
          <a:solidFill>
            <a:srgbClr val="0E1C2D"/>
          </a:solid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E1F1C82-324E-4ACE-433C-1732A3865C39}"/>
              </a:ext>
            </a:extLst>
          </p:cNvPr>
          <p:cNvSpPr/>
          <p:nvPr/>
        </p:nvSpPr>
        <p:spPr>
          <a:xfrm>
            <a:off x="818741" y="2195310"/>
            <a:ext cx="1396030" cy="224288"/>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Project Description</a:t>
            </a:r>
          </a:p>
        </p:txBody>
      </p:sp>
      <p:cxnSp>
        <p:nvCxnSpPr>
          <p:cNvPr id="12" name="Straight Connector 11">
            <a:extLst>
              <a:ext uri="{FF2B5EF4-FFF2-40B4-BE49-F238E27FC236}">
                <a16:creationId xmlns:a16="http://schemas.microsoft.com/office/drawing/2014/main" id="{B0F01340-657B-94A7-5BF1-0CEEA9E39FA2}"/>
              </a:ext>
            </a:extLst>
          </p:cNvPr>
          <p:cNvCxnSpPr>
            <a:cxnSpLocks/>
          </p:cNvCxnSpPr>
          <p:nvPr/>
        </p:nvCxnSpPr>
        <p:spPr>
          <a:xfrm>
            <a:off x="3788148" y="2767630"/>
            <a:ext cx="0" cy="3018916"/>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B6EF1A8D-8A66-F42A-C20C-8ECD045CF2A1}"/>
              </a:ext>
            </a:extLst>
          </p:cNvPr>
          <p:cNvCxnSpPr>
            <a:cxnSpLocks/>
          </p:cNvCxnSpPr>
          <p:nvPr/>
        </p:nvCxnSpPr>
        <p:spPr>
          <a:xfrm>
            <a:off x="3788148" y="2764279"/>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sp>
        <p:nvSpPr>
          <p:cNvPr id="18" name="Rectangle: Rounded Corners 17">
            <a:extLst>
              <a:ext uri="{FF2B5EF4-FFF2-40B4-BE49-F238E27FC236}">
                <a16:creationId xmlns:a16="http://schemas.microsoft.com/office/drawing/2014/main" id="{358A1B2A-7B10-7FE9-69BF-8B3099534E7B}"/>
              </a:ext>
            </a:extLst>
          </p:cNvPr>
          <p:cNvSpPr/>
          <p:nvPr/>
        </p:nvSpPr>
        <p:spPr>
          <a:xfrm>
            <a:off x="4102232" y="2296469"/>
            <a:ext cx="3359547" cy="3818144"/>
          </a:xfrm>
          <a:prstGeom prst="roundRect">
            <a:avLst>
              <a:gd name="adj" fmla="val 8358"/>
            </a:avLst>
          </a:prstGeom>
          <a:solidFill>
            <a:srgbClr val="0E1C2D"/>
          </a:solid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p>
        </p:txBody>
      </p:sp>
      <p:sp>
        <p:nvSpPr>
          <p:cNvPr id="19" name="Rectangle 18">
            <a:extLst>
              <a:ext uri="{FF2B5EF4-FFF2-40B4-BE49-F238E27FC236}">
                <a16:creationId xmlns:a16="http://schemas.microsoft.com/office/drawing/2014/main" id="{C3365862-8054-D582-84AC-388F929C9F83}"/>
              </a:ext>
            </a:extLst>
          </p:cNvPr>
          <p:cNvSpPr/>
          <p:nvPr/>
        </p:nvSpPr>
        <p:spPr>
          <a:xfrm>
            <a:off x="4294848" y="2195256"/>
            <a:ext cx="2687874" cy="210746"/>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Orchestrator Generated Mission</a:t>
            </a:r>
          </a:p>
        </p:txBody>
      </p:sp>
      <p:cxnSp>
        <p:nvCxnSpPr>
          <p:cNvPr id="21" name="Straight Connector 20">
            <a:extLst>
              <a:ext uri="{FF2B5EF4-FFF2-40B4-BE49-F238E27FC236}">
                <a16:creationId xmlns:a16="http://schemas.microsoft.com/office/drawing/2014/main" id="{13AA2302-9B86-3879-3E74-FB5F09CC0910}"/>
              </a:ext>
            </a:extLst>
          </p:cNvPr>
          <p:cNvCxnSpPr>
            <a:cxnSpLocks/>
          </p:cNvCxnSpPr>
          <p:nvPr/>
        </p:nvCxnSpPr>
        <p:spPr>
          <a:xfrm>
            <a:off x="7315178" y="2767630"/>
            <a:ext cx="0" cy="3018916"/>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C292EAA1-8D31-3CCE-145B-F89830F0325C}"/>
              </a:ext>
            </a:extLst>
          </p:cNvPr>
          <p:cNvCxnSpPr>
            <a:cxnSpLocks/>
          </p:cNvCxnSpPr>
          <p:nvPr/>
        </p:nvCxnSpPr>
        <p:spPr>
          <a:xfrm>
            <a:off x="7315178" y="2767630"/>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F15FB067-2A91-8434-2F29-B8E29A32C33B}"/>
              </a:ext>
            </a:extLst>
          </p:cNvPr>
          <p:cNvSpPr txBox="1"/>
          <p:nvPr/>
        </p:nvSpPr>
        <p:spPr>
          <a:xfrm>
            <a:off x="1899316" y="1330953"/>
            <a:ext cx="1273105" cy="369332"/>
          </a:xfrm>
          <a:prstGeom prst="rect">
            <a:avLst/>
          </a:prstGeom>
          <a:noFill/>
        </p:spPr>
        <p:txBody>
          <a:bodyPr wrap="none" rtlCol="0">
            <a:spAutoFit/>
          </a:bodyPr>
          <a:lstStyle/>
          <a:p>
            <a:r>
              <a:rPr lang="en-US" dirty="0">
                <a:solidFill>
                  <a:srgbClr val="8F97B7"/>
                </a:solidFill>
              </a:rPr>
              <a:t>Implement</a:t>
            </a:r>
          </a:p>
        </p:txBody>
      </p:sp>
      <p:cxnSp>
        <p:nvCxnSpPr>
          <p:cNvPr id="31" name="Straight Connector 30">
            <a:extLst>
              <a:ext uri="{FF2B5EF4-FFF2-40B4-BE49-F238E27FC236}">
                <a16:creationId xmlns:a16="http://schemas.microsoft.com/office/drawing/2014/main" id="{6D118148-4811-BA8E-5627-64C453A229B9}"/>
              </a:ext>
            </a:extLst>
          </p:cNvPr>
          <p:cNvCxnSpPr>
            <a:cxnSpLocks/>
          </p:cNvCxnSpPr>
          <p:nvPr/>
        </p:nvCxnSpPr>
        <p:spPr>
          <a:xfrm>
            <a:off x="7315178" y="2767630"/>
            <a:ext cx="0" cy="3018916"/>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E8AD718D-8055-0328-D3DF-647BA4DB148F}"/>
              </a:ext>
            </a:extLst>
          </p:cNvPr>
          <p:cNvCxnSpPr>
            <a:cxnSpLocks/>
          </p:cNvCxnSpPr>
          <p:nvPr/>
        </p:nvCxnSpPr>
        <p:spPr>
          <a:xfrm>
            <a:off x="7315178" y="2767630"/>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sp>
        <p:nvSpPr>
          <p:cNvPr id="33" name="Rectangle: Rounded Corners 32">
            <a:extLst>
              <a:ext uri="{FF2B5EF4-FFF2-40B4-BE49-F238E27FC236}">
                <a16:creationId xmlns:a16="http://schemas.microsoft.com/office/drawing/2014/main" id="{DEAF762C-1FE0-243A-7215-A409A5ED4C86}"/>
              </a:ext>
            </a:extLst>
          </p:cNvPr>
          <p:cNvSpPr/>
          <p:nvPr/>
        </p:nvSpPr>
        <p:spPr>
          <a:xfrm>
            <a:off x="7740989" y="2497733"/>
            <a:ext cx="2919197" cy="540961"/>
          </a:xfrm>
          <a:prstGeom prst="roundRect">
            <a:avLst>
              <a:gd name="adj" fmla="val 30861"/>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29AEBF47-3C94-2C0E-3853-B150B469DABA}"/>
              </a:ext>
            </a:extLst>
          </p:cNvPr>
          <p:cNvSpPr/>
          <p:nvPr/>
        </p:nvSpPr>
        <p:spPr>
          <a:xfrm>
            <a:off x="7810271" y="2553194"/>
            <a:ext cx="429926" cy="418406"/>
          </a:xfrm>
          <a:prstGeom prst="ellipse">
            <a:avLst/>
          </a:prstGeom>
          <a:solidFill>
            <a:srgbClr val="A9866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E02A5A38-5C4A-86E3-2327-36EB5FE27F59}"/>
              </a:ext>
            </a:extLst>
          </p:cNvPr>
          <p:cNvSpPr txBox="1"/>
          <p:nvPr/>
        </p:nvSpPr>
        <p:spPr>
          <a:xfrm>
            <a:off x="7810270" y="2582965"/>
            <a:ext cx="439544" cy="369332"/>
          </a:xfrm>
          <a:prstGeom prst="rect">
            <a:avLst/>
          </a:prstGeom>
          <a:noFill/>
        </p:spPr>
        <p:txBody>
          <a:bodyPr wrap="none" rtlCol="0">
            <a:spAutoFit/>
          </a:bodyPr>
          <a:lstStyle/>
          <a:p>
            <a:r>
              <a:rPr lang="en-US" b="1" dirty="0">
                <a:solidFill>
                  <a:srgbClr val="0E1C2D"/>
                </a:solidFill>
              </a:rPr>
              <a:t>Or</a:t>
            </a:r>
          </a:p>
        </p:txBody>
      </p:sp>
      <p:sp>
        <p:nvSpPr>
          <p:cNvPr id="36" name="TextBox 35">
            <a:extLst>
              <a:ext uri="{FF2B5EF4-FFF2-40B4-BE49-F238E27FC236}">
                <a16:creationId xmlns:a16="http://schemas.microsoft.com/office/drawing/2014/main" id="{DC8C5A83-F74F-2EE6-9CCB-CB67578B6536}"/>
              </a:ext>
            </a:extLst>
          </p:cNvPr>
          <p:cNvSpPr txBox="1"/>
          <p:nvPr/>
        </p:nvSpPr>
        <p:spPr>
          <a:xfrm>
            <a:off x="8294119" y="2576473"/>
            <a:ext cx="1825087" cy="369332"/>
          </a:xfrm>
          <a:prstGeom prst="rect">
            <a:avLst/>
          </a:prstGeom>
          <a:noFill/>
        </p:spPr>
        <p:txBody>
          <a:bodyPr wrap="square" rtlCol="0">
            <a:spAutoFit/>
          </a:bodyPr>
          <a:lstStyle/>
          <a:p>
            <a:r>
              <a:rPr lang="en-US" dirty="0">
                <a:solidFill>
                  <a:srgbClr val="E1E1E1"/>
                </a:solidFill>
              </a:rPr>
              <a:t>Orchestrator</a:t>
            </a:r>
          </a:p>
        </p:txBody>
      </p:sp>
      <p:pic>
        <p:nvPicPr>
          <p:cNvPr id="37" name="Graphic 36" descr="Information with solid fill">
            <a:extLst>
              <a:ext uri="{FF2B5EF4-FFF2-40B4-BE49-F238E27FC236}">
                <a16:creationId xmlns:a16="http://schemas.microsoft.com/office/drawing/2014/main" id="{853935F9-AA6A-AF4B-D4C2-AFCF0A1E124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54874" y="2632972"/>
            <a:ext cx="270481" cy="270481"/>
          </a:xfrm>
          <a:prstGeom prst="rect">
            <a:avLst/>
          </a:prstGeom>
        </p:spPr>
      </p:pic>
      <p:cxnSp>
        <p:nvCxnSpPr>
          <p:cNvPr id="43" name="Straight Connector 42">
            <a:extLst>
              <a:ext uri="{FF2B5EF4-FFF2-40B4-BE49-F238E27FC236}">
                <a16:creationId xmlns:a16="http://schemas.microsoft.com/office/drawing/2014/main" id="{4DA2F931-5440-7A9C-7FC3-8B7012312E61}"/>
              </a:ext>
            </a:extLst>
          </p:cNvPr>
          <p:cNvCxnSpPr>
            <a:cxnSpLocks/>
          </p:cNvCxnSpPr>
          <p:nvPr/>
        </p:nvCxnSpPr>
        <p:spPr>
          <a:xfrm flipH="1">
            <a:off x="7740989" y="2324082"/>
            <a:ext cx="3168990" cy="0"/>
          </a:xfrm>
          <a:prstGeom prst="line">
            <a:avLst/>
          </a:prstGeom>
          <a:ln w="22225"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95052D49-2551-9C19-476C-876B26941A42}"/>
              </a:ext>
            </a:extLst>
          </p:cNvPr>
          <p:cNvCxnSpPr>
            <a:cxnSpLocks/>
          </p:cNvCxnSpPr>
          <p:nvPr/>
        </p:nvCxnSpPr>
        <p:spPr>
          <a:xfrm flipH="1">
            <a:off x="7740989" y="3328061"/>
            <a:ext cx="3168990" cy="0"/>
          </a:xfrm>
          <a:prstGeom prst="line">
            <a:avLst/>
          </a:prstGeom>
          <a:ln w="22225"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4B598CAC-C039-4465-444A-6A2185EB202F}"/>
              </a:ext>
            </a:extLst>
          </p:cNvPr>
          <p:cNvCxnSpPr>
            <a:cxnSpLocks/>
          </p:cNvCxnSpPr>
          <p:nvPr/>
        </p:nvCxnSpPr>
        <p:spPr>
          <a:xfrm>
            <a:off x="11147051" y="3584306"/>
            <a:ext cx="0" cy="2327883"/>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057C0740-0E5C-4AA7-18A5-12BE95CB02F5}"/>
              </a:ext>
            </a:extLst>
          </p:cNvPr>
          <p:cNvCxnSpPr>
            <a:cxnSpLocks/>
          </p:cNvCxnSpPr>
          <p:nvPr/>
        </p:nvCxnSpPr>
        <p:spPr>
          <a:xfrm>
            <a:off x="11147051" y="3584306"/>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sp>
        <p:nvSpPr>
          <p:cNvPr id="57" name="Rectangle 56">
            <a:extLst>
              <a:ext uri="{FF2B5EF4-FFF2-40B4-BE49-F238E27FC236}">
                <a16:creationId xmlns:a16="http://schemas.microsoft.com/office/drawing/2014/main" id="{D43FBA8B-84A6-2703-792B-984FC1AA87AE}"/>
              </a:ext>
            </a:extLst>
          </p:cNvPr>
          <p:cNvSpPr/>
          <p:nvPr/>
        </p:nvSpPr>
        <p:spPr>
          <a:xfrm>
            <a:off x="8089767" y="2195257"/>
            <a:ext cx="1040765" cy="238699"/>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Default agent</a:t>
            </a:r>
          </a:p>
        </p:txBody>
      </p:sp>
      <p:sp>
        <p:nvSpPr>
          <p:cNvPr id="58" name="Rectangle 57">
            <a:extLst>
              <a:ext uri="{FF2B5EF4-FFF2-40B4-BE49-F238E27FC236}">
                <a16:creationId xmlns:a16="http://schemas.microsoft.com/office/drawing/2014/main" id="{2FEB738D-A6A4-2911-8DB8-F1AC222F34F6}"/>
              </a:ext>
            </a:extLst>
          </p:cNvPr>
          <p:cNvSpPr/>
          <p:nvPr/>
        </p:nvSpPr>
        <p:spPr>
          <a:xfrm>
            <a:off x="8089768" y="3202756"/>
            <a:ext cx="936325" cy="200896"/>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Agent Team</a:t>
            </a:r>
          </a:p>
        </p:txBody>
      </p:sp>
      <p:pic>
        <p:nvPicPr>
          <p:cNvPr id="62" name="Graphic 61" descr="Lock with solid fill">
            <a:extLst>
              <a:ext uri="{FF2B5EF4-FFF2-40B4-BE49-F238E27FC236}">
                <a16:creationId xmlns:a16="http://schemas.microsoft.com/office/drawing/2014/main" id="{C0786485-083C-2863-2BC3-191CB23AED3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239078" y="2620009"/>
            <a:ext cx="279802" cy="279802"/>
          </a:xfrm>
          <a:prstGeom prst="rect">
            <a:avLst/>
          </a:prstGeom>
        </p:spPr>
      </p:pic>
      <p:sp>
        <p:nvSpPr>
          <p:cNvPr id="13" name="Rectangle 12">
            <a:extLst>
              <a:ext uri="{FF2B5EF4-FFF2-40B4-BE49-F238E27FC236}">
                <a16:creationId xmlns:a16="http://schemas.microsoft.com/office/drawing/2014/main" id="{F232CA9D-A206-B1D3-5F46-CFC59AE3AF9B}"/>
              </a:ext>
            </a:extLst>
          </p:cNvPr>
          <p:cNvSpPr/>
          <p:nvPr/>
        </p:nvSpPr>
        <p:spPr>
          <a:xfrm>
            <a:off x="9437181" y="3949783"/>
            <a:ext cx="453381" cy="411829"/>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FE4707C2-8CC9-11B6-3063-525F1FCBB7A0}"/>
              </a:ext>
            </a:extLst>
          </p:cNvPr>
          <p:cNvSpPr txBox="1"/>
          <p:nvPr/>
        </p:nvSpPr>
        <p:spPr>
          <a:xfrm>
            <a:off x="5257267" y="1735340"/>
            <a:ext cx="1359155" cy="369332"/>
          </a:xfrm>
          <a:prstGeom prst="rect">
            <a:avLst/>
          </a:prstGeom>
          <a:noFill/>
        </p:spPr>
        <p:txBody>
          <a:bodyPr wrap="none" rtlCol="0">
            <a:spAutoFit/>
          </a:bodyPr>
          <a:lstStyle/>
          <a:p>
            <a:r>
              <a:rPr lang="en-US" i="1" dirty="0">
                <a:solidFill>
                  <a:srgbClr val="FFC000"/>
                </a:solidFill>
              </a:rPr>
              <a:t>Completed!</a:t>
            </a:r>
          </a:p>
        </p:txBody>
      </p:sp>
      <p:sp>
        <p:nvSpPr>
          <p:cNvPr id="23" name="Rectangle 22">
            <a:extLst>
              <a:ext uri="{FF2B5EF4-FFF2-40B4-BE49-F238E27FC236}">
                <a16:creationId xmlns:a16="http://schemas.microsoft.com/office/drawing/2014/main" id="{CD80CEBC-4D1F-7321-9DF5-0AE78CD9267F}"/>
              </a:ext>
            </a:extLst>
          </p:cNvPr>
          <p:cNvSpPr/>
          <p:nvPr/>
        </p:nvSpPr>
        <p:spPr>
          <a:xfrm>
            <a:off x="9371516" y="3949783"/>
            <a:ext cx="453381" cy="411829"/>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EE85DA4C-B45E-6FCA-EDAA-F83C630C7CFF}"/>
              </a:ext>
            </a:extLst>
          </p:cNvPr>
          <p:cNvSpPr/>
          <p:nvPr/>
        </p:nvSpPr>
        <p:spPr>
          <a:xfrm>
            <a:off x="7740989" y="3567714"/>
            <a:ext cx="2919197" cy="540961"/>
          </a:xfrm>
          <a:prstGeom prst="roundRect">
            <a:avLst>
              <a:gd name="adj" fmla="val 30861"/>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93797B57-FEDA-8C20-9B36-137D5CA347D4}"/>
              </a:ext>
            </a:extLst>
          </p:cNvPr>
          <p:cNvSpPr/>
          <p:nvPr/>
        </p:nvSpPr>
        <p:spPr>
          <a:xfrm>
            <a:off x="7817588" y="3636096"/>
            <a:ext cx="429926" cy="418406"/>
          </a:xfrm>
          <a:prstGeom prst="ellipse">
            <a:avLst/>
          </a:prstGeom>
          <a:solidFill>
            <a:srgbClr val="A32A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1B8865A7-9B5E-D43C-7DB7-0C36A7CA75C6}"/>
              </a:ext>
            </a:extLst>
          </p:cNvPr>
          <p:cNvSpPr txBox="1"/>
          <p:nvPr/>
        </p:nvSpPr>
        <p:spPr>
          <a:xfrm>
            <a:off x="7825078" y="3671440"/>
            <a:ext cx="460382" cy="369332"/>
          </a:xfrm>
          <a:prstGeom prst="rect">
            <a:avLst/>
          </a:prstGeom>
          <a:noFill/>
        </p:spPr>
        <p:txBody>
          <a:bodyPr wrap="none" rtlCol="0">
            <a:spAutoFit/>
          </a:bodyPr>
          <a:lstStyle/>
          <a:p>
            <a:r>
              <a:rPr lang="en-US" b="1" dirty="0">
                <a:solidFill>
                  <a:srgbClr val="0E1C2D"/>
                </a:solidFill>
              </a:rPr>
              <a:t>An</a:t>
            </a:r>
          </a:p>
        </p:txBody>
      </p:sp>
      <p:sp>
        <p:nvSpPr>
          <p:cNvPr id="27" name="TextBox 26">
            <a:extLst>
              <a:ext uri="{FF2B5EF4-FFF2-40B4-BE49-F238E27FC236}">
                <a16:creationId xmlns:a16="http://schemas.microsoft.com/office/drawing/2014/main" id="{6CFBE720-2AC8-6B87-9B74-F82E3C0E0EAA}"/>
              </a:ext>
            </a:extLst>
          </p:cNvPr>
          <p:cNvSpPr txBox="1"/>
          <p:nvPr/>
        </p:nvSpPr>
        <p:spPr>
          <a:xfrm>
            <a:off x="8313708" y="3637177"/>
            <a:ext cx="1030795" cy="369332"/>
          </a:xfrm>
          <a:prstGeom prst="rect">
            <a:avLst/>
          </a:prstGeom>
          <a:noFill/>
        </p:spPr>
        <p:txBody>
          <a:bodyPr wrap="none" rtlCol="0">
            <a:spAutoFit/>
          </a:bodyPr>
          <a:lstStyle/>
          <a:p>
            <a:r>
              <a:rPr lang="en-US" dirty="0">
                <a:solidFill>
                  <a:srgbClr val="E1E1E1"/>
                </a:solidFill>
              </a:rPr>
              <a:t>Analyzer</a:t>
            </a:r>
          </a:p>
        </p:txBody>
      </p:sp>
      <p:pic>
        <p:nvPicPr>
          <p:cNvPr id="28" name="Graphic 27" descr="Information with solid fill">
            <a:extLst>
              <a:ext uri="{FF2B5EF4-FFF2-40B4-BE49-F238E27FC236}">
                <a16:creationId xmlns:a16="http://schemas.microsoft.com/office/drawing/2014/main" id="{6A094869-77E4-C671-563F-53B73E44D58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54874" y="3702953"/>
            <a:ext cx="270481" cy="270481"/>
          </a:xfrm>
          <a:prstGeom prst="rect">
            <a:avLst/>
          </a:prstGeom>
        </p:spPr>
      </p:pic>
      <p:cxnSp>
        <p:nvCxnSpPr>
          <p:cNvPr id="29" name="Straight Connector 28">
            <a:extLst>
              <a:ext uri="{FF2B5EF4-FFF2-40B4-BE49-F238E27FC236}">
                <a16:creationId xmlns:a16="http://schemas.microsoft.com/office/drawing/2014/main" id="{F27790F2-907E-DCCB-16FE-C0CB09FE9423}"/>
              </a:ext>
            </a:extLst>
          </p:cNvPr>
          <p:cNvCxnSpPr>
            <a:cxnSpLocks/>
          </p:cNvCxnSpPr>
          <p:nvPr/>
        </p:nvCxnSpPr>
        <p:spPr>
          <a:xfrm>
            <a:off x="11147051" y="3623553"/>
            <a:ext cx="0" cy="2327883"/>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B0BCD224-E23E-CEF5-E982-8B16A637961E}"/>
              </a:ext>
            </a:extLst>
          </p:cNvPr>
          <p:cNvCxnSpPr>
            <a:cxnSpLocks/>
          </p:cNvCxnSpPr>
          <p:nvPr/>
        </p:nvCxnSpPr>
        <p:spPr>
          <a:xfrm>
            <a:off x="11147051" y="3623553"/>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sp>
        <p:nvSpPr>
          <p:cNvPr id="39" name="Rectangle: Rounded Corners 38">
            <a:extLst>
              <a:ext uri="{FF2B5EF4-FFF2-40B4-BE49-F238E27FC236}">
                <a16:creationId xmlns:a16="http://schemas.microsoft.com/office/drawing/2014/main" id="{2F9F91C0-2A95-EA4C-4A51-85BFE05FBBE1}"/>
              </a:ext>
            </a:extLst>
          </p:cNvPr>
          <p:cNvSpPr/>
          <p:nvPr/>
        </p:nvSpPr>
        <p:spPr>
          <a:xfrm>
            <a:off x="7740989" y="4342200"/>
            <a:ext cx="2919197" cy="540961"/>
          </a:xfrm>
          <a:prstGeom prst="roundRect">
            <a:avLst>
              <a:gd name="adj" fmla="val 30861"/>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F25F1102-E6F8-D5D0-4112-EC5A86CA59DF}"/>
              </a:ext>
            </a:extLst>
          </p:cNvPr>
          <p:cNvSpPr/>
          <p:nvPr/>
        </p:nvSpPr>
        <p:spPr>
          <a:xfrm>
            <a:off x="7817588" y="4410582"/>
            <a:ext cx="429926" cy="418406"/>
          </a:xfrm>
          <a:prstGeom prst="ellipse">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A10B5901-3791-3DDF-9A52-2ADF15EB21F2}"/>
              </a:ext>
            </a:extLst>
          </p:cNvPr>
          <p:cNvSpPr txBox="1"/>
          <p:nvPr/>
        </p:nvSpPr>
        <p:spPr>
          <a:xfrm>
            <a:off x="7825078" y="4445926"/>
            <a:ext cx="457176" cy="369332"/>
          </a:xfrm>
          <a:prstGeom prst="rect">
            <a:avLst/>
          </a:prstGeom>
          <a:noFill/>
        </p:spPr>
        <p:txBody>
          <a:bodyPr wrap="none" rtlCol="0">
            <a:spAutoFit/>
          </a:bodyPr>
          <a:lstStyle/>
          <a:p>
            <a:r>
              <a:rPr lang="en-US" b="1" dirty="0" err="1">
                <a:solidFill>
                  <a:srgbClr val="0E1C2D"/>
                </a:solidFill>
              </a:rPr>
              <a:t>Im</a:t>
            </a:r>
            <a:endParaRPr lang="en-US" b="1" dirty="0">
              <a:solidFill>
                <a:srgbClr val="0E1C2D"/>
              </a:solidFill>
            </a:endParaRPr>
          </a:p>
        </p:txBody>
      </p:sp>
      <p:sp>
        <p:nvSpPr>
          <p:cNvPr id="42" name="TextBox 41">
            <a:extLst>
              <a:ext uri="{FF2B5EF4-FFF2-40B4-BE49-F238E27FC236}">
                <a16:creationId xmlns:a16="http://schemas.microsoft.com/office/drawing/2014/main" id="{462CE125-E9E6-D2BF-968C-E4C8AEAF4BE8}"/>
              </a:ext>
            </a:extLst>
          </p:cNvPr>
          <p:cNvSpPr txBox="1"/>
          <p:nvPr/>
        </p:nvSpPr>
        <p:spPr>
          <a:xfrm>
            <a:off x="8313708" y="4411663"/>
            <a:ext cx="1475532" cy="369332"/>
          </a:xfrm>
          <a:prstGeom prst="rect">
            <a:avLst/>
          </a:prstGeom>
          <a:noFill/>
        </p:spPr>
        <p:txBody>
          <a:bodyPr wrap="none" rtlCol="0">
            <a:spAutoFit/>
          </a:bodyPr>
          <a:lstStyle/>
          <a:p>
            <a:r>
              <a:rPr lang="en-US" dirty="0">
                <a:solidFill>
                  <a:srgbClr val="E1E1E1"/>
                </a:solidFill>
              </a:rPr>
              <a:t>Implementor</a:t>
            </a:r>
          </a:p>
        </p:txBody>
      </p:sp>
      <p:pic>
        <p:nvPicPr>
          <p:cNvPr id="47" name="Graphic 46" descr="Information with solid fill">
            <a:extLst>
              <a:ext uri="{FF2B5EF4-FFF2-40B4-BE49-F238E27FC236}">
                <a16:creationId xmlns:a16="http://schemas.microsoft.com/office/drawing/2014/main" id="{47398328-2A00-3640-2905-CFF439A7A29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54874" y="4477439"/>
            <a:ext cx="270481" cy="270481"/>
          </a:xfrm>
          <a:prstGeom prst="rect">
            <a:avLst/>
          </a:prstGeom>
        </p:spPr>
      </p:pic>
      <p:sp>
        <p:nvSpPr>
          <p:cNvPr id="48" name="Rectangle: Rounded Corners 47">
            <a:extLst>
              <a:ext uri="{FF2B5EF4-FFF2-40B4-BE49-F238E27FC236}">
                <a16:creationId xmlns:a16="http://schemas.microsoft.com/office/drawing/2014/main" id="{2E34AF55-3C82-6A66-8FD0-0FFA76F0563F}"/>
              </a:ext>
            </a:extLst>
          </p:cNvPr>
          <p:cNvSpPr/>
          <p:nvPr/>
        </p:nvSpPr>
        <p:spPr>
          <a:xfrm>
            <a:off x="7740989" y="5116686"/>
            <a:ext cx="2919197" cy="540961"/>
          </a:xfrm>
          <a:prstGeom prst="roundRect">
            <a:avLst>
              <a:gd name="adj" fmla="val 30861"/>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0C94D322-0836-AFF0-7556-F0D8E0C1FEE4}"/>
              </a:ext>
            </a:extLst>
          </p:cNvPr>
          <p:cNvSpPr/>
          <p:nvPr/>
        </p:nvSpPr>
        <p:spPr>
          <a:xfrm>
            <a:off x="7817588" y="5185068"/>
            <a:ext cx="429926" cy="418406"/>
          </a:xfrm>
          <a:prstGeom prst="ellipse">
            <a:avLst/>
          </a:prstGeom>
          <a:solidFill>
            <a:srgbClr val="FFC3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EADD6471-637F-5CB3-3475-C36ADB418F67}"/>
              </a:ext>
            </a:extLst>
          </p:cNvPr>
          <p:cNvSpPr txBox="1"/>
          <p:nvPr/>
        </p:nvSpPr>
        <p:spPr>
          <a:xfrm>
            <a:off x="7825078" y="5220412"/>
            <a:ext cx="411459" cy="369332"/>
          </a:xfrm>
          <a:prstGeom prst="rect">
            <a:avLst/>
          </a:prstGeom>
          <a:noFill/>
        </p:spPr>
        <p:txBody>
          <a:bodyPr wrap="none" rtlCol="0">
            <a:spAutoFit/>
          </a:bodyPr>
          <a:lstStyle/>
          <a:p>
            <a:r>
              <a:rPr lang="en-US" b="1" dirty="0" err="1">
                <a:solidFill>
                  <a:srgbClr val="0E1C2D"/>
                </a:solidFill>
              </a:rPr>
              <a:t>Te</a:t>
            </a:r>
            <a:endParaRPr lang="en-US" b="1" dirty="0">
              <a:solidFill>
                <a:srgbClr val="0E1C2D"/>
              </a:solidFill>
            </a:endParaRPr>
          </a:p>
        </p:txBody>
      </p:sp>
      <p:sp>
        <p:nvSpPr>
          <p:cNvPr id="51" name="TextBox 50">
            <a:extLst>
              <a:ext uri="{FF2B5EF4-FFF2-40B4-BE49-F238E27FC236}">
                <a16:creationId xmlns:a16="http://schemas.microsoft.com/office/drawing/2014/main" id="{3449F9F8-36E2-A02F-2F61-A0FE53171DB4}"/>
              </a:ext>
            </a:extLst>
          </p:cNvPr>
          <p:cNvSpPr txBox="1"/>
          <p:nvPr/>
        </p:nvSpPr>
        <p:spPr>
          <a:xfrm>
            <a:off x="8313708" y="5186149"/>
            <a:ext cx="782458" cy="369332"/>
          </a:xfrm>
          <a:prstGeom prst="rect">
            <a:avLst/>
          </a:prstGeom>
          <a:noFill/>
        </p:spPr>
        <p:txBody>
          <a:bodyPr wrap="none" rtlCol="0">
            <a:spAutoFit/>
          </a:bodyPr>
          <a:lstStyle/>
          <a:p>
            <a:r>
              <a:rPr lang="en-US" dirty="0">
                <a:solidFill>
                  <a:srgbClr val="E1E1E1"/>
                </a:solidFill>
              </a:rPr>
              <a:t>Tester</a:t>
            </a:r>
          </a:p>
        </p:txBody>
      </p:sp>
      <p:pic>
        <p:nvPicPr>
          <p:cNvPr id="52" name="Graphic 51" descr="Information with solid fill">
            <a:extLst>
              <a:ext uri="{FF2B5EF4-FFF2-40B4-BE49-F238E27FC236}">
                <a16:creationId xmlns:a16="http://schemas.microsoft.com/office/drawing/2014/main" id="{7DE1D800-0462-E308-F03A-B1E2FC20825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54874" y="5251925"/>
            <a:ext cx="270481" cy="270481"/>
          </a:xfrm>
          <a:prstGeom prst="rect">
            <a:avLst/>
          </a:prstGeom>
        </p:spPr>
      </p:pic>
      <p:pic>
        <p:nvPicPr>
          <p:cNvPr id="53" name="Graphic 52" descr="Pencil with solid fill">
            <a:extLst>
              <a:ext uri="{FF2B5EF4-FFF2-40B4-BE49-F238E27FC236}">
                <a16:creationId xmlns:a16="http://schemas.microsoft.com/office/drawing/2014/main" id="{B861C53C-B372-CA3D-A8EC-B2F2819A18C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253603" y="3687986"/>
            <a:ext cx="281207" cy="281207"/>
          </a:xfrm>
          <a:prstGeom prst="rect">
            <a:avLst/>
          </a:prstGeom>
        </p:spPr>
      </p:pic>
      <p:pic>
        <p:nvPicPr>
          <p:cNvPr id="54" name="Graphic 53" descr="Pencil with solid fill">
            <a:extLst>
              <a:ext uri="{FF2B5EF4-FFF2-40B4-BE49-F238E27FC236}">
                <a16:creationId xmlns:a16="http://schemas.microsoft.com/office/drawing/2014/main" id="{FE22822D-4D05-D397-D42D-5DC8A57DB1F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252000" y="4477439"/>
            <a:ext cx="281207" cy="281207"/>
          </a:xfrm>
          <a:prstGeom prst="rect">
            <a:avLst/>
          </a:prstGeom>
        </p:spPr>
      </p:pic>
      <p:pic>
        <p:nvPicPr>
          <p:cNvPr id="55" name="Graphic 54" descr="Pencil with solid fill">
            <a:extLst>
              <a:ext uri="{FF2B5EF4-FFF2-40B4-BE49-F238E27FC236}">
                <a16:creationId xmlns:a16="http://schemas.microsoft.com/office/drawing/2014/main" id="{D99D2B66-F00C-7023-3205-45DBA2BE322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238376" y="5251925"/>
            <a:ext cx="281207" cy="281207"/>
          </a:xfrm>
          <a:prstGeom prst="rect">
            <a:avLst/>
          </a:prstGeom>
        </p:spPr>
      </p:pic>
      <p:sp>
        <p:nvSpPr>
          <p:cNvPr id="56" name="Rectangle: Rounded Corners 55">
            <a:extLst>
              <a:ext uri="{FF2B5EF4-FFF2-40B4-BE49-F238E27FC236}">
                <a16:creationId xmlns:a16="http://schemas.microsoft.com/office/drawing/2014/main" id="{00D294D9-430C-DEAB-8F05-35814CC73529}"/>
              </a:ext>
            </a:extLst>
          </p:cNvPr>
          <p:cNvSpPr/>
          <p:nvPr/>
        </p:nvSpPr>
        <p:spPr>
          <a:xfrm>
            <a:off x="10105965" y="1859749"/>
            <a:ext cx="1198523" cy="286492"/>
          </a:xfrm>
          <a:prstGeom prst="roundRect">
            <a:avLst>
              <a:gd name="adj" fmla="val 32223"/>
            </a:avLst>
          </a:prstGeom>
          <a:noFill/>
          <a:ln>
            <a:solidFill>
              <a:srgbClr val="FFC3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Launch Jobs</a:t>
            </a:r>
          </a:p>
        </p:txBody>
      </p:sp>
      <p:sp>
        <p:nvSpPr>
          <p:cNvPr id="59" name="Rectangle: Rounded Corners 58">
            <a:extLst>
              <a:ext uri="{FF2B5EF4-FFF2-40B4-BE49-F238E27FC236}">
                <a16:creationId xmlns:a16="http://schemas.microsoft.com/office/drawing/2014/main" id="{40198BA2-FF8B-2B24-E47B-1F4812371205}"/>
              </a:ext>
            </a:extLst>
          </p:cNvPr>
          <p:cNvSpPr/>
          <p:nvPr/>
        </p:nvSpPr>
        <p:spPr>
          <a:xfrm>
            <a:off x="818741" y="1818947"/>
            <a:ext cx="1198523" cy="286492"/>
          </a:xfrm>
          <a:prstGeom prst="roundRect">
            <a:avLst>
              <a:gd name="adj" fmla="val 32223"/>
            </a:avLst>
          </a:prstGeom>
          <a:no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1E3147"/>
                </a:solidFill>
              </a:rPr>
              <a:t>Stage project</a:t>
            </a:r>
          </a:p>
        </p:txBody>
      </p:sp>
      <p:sp>
        <p:nvSpPr>
          <p:cNvPr id="61" name="TextBox 60">
            <a:extLst>
              <a:ext uri="{FF2B5EF4-FFF2-40B4-BE49-F238E27FC236}">
                <a16:creationId xmlns:a16="http://schemas.microsoft.com/office/drawing/2014/main" id="{656707C2-6B62-3278-DDB4-23129C6AC9AB}"/>
              </a:ext>
            </a:extLst>
          </p:cNvPr>
          <p:cNvSpPr txBox="1"/>
          <p:nvPr/>
        </p:nvSpPr>
        <p:spPr>
          <a:xfrm>
            <a:off x="39778" y="47732"/>
            <a:ext cx="4420441" cy="369332"/>
          </a:xfrm>
          <a:prstGeom prst="rect">
            <a:avLst/>
          </a:prstGeom>
          <a:noFill/>
        </p:spPr>
        <p:txBody>
          <a:bodyPr wrap="none" rtlCol="0">
            <a:spAutoFit/>
          </a:bodyPr>
          <a:lstStyle/>
          <a:p>
            <a:r>
              <a:rPr lang="en-US" dirty="0">
                <a:solidFill>
                  <a:schemeClr val="accent5">
                    <a:lumMod val="60000"/>
                    <a:lumOff val="40000"/>
                  </a:schemeClr>
                </a:solidFill>
              </a:rPr>
              <a:t>SLIDE 2c – Orchestrator finished elements.</a:t>
            </a:r>
          </a:p>
        </p:txBody>
      </p:sp>
      <p:sp>
        <p:nvSpPr>
          <p:cNvPr id="68" name="Rectangle 67">
            <a:extLst>
              <a:ext uri="{FF2B5EF4-FFF2-40B4-BE49-F238E27FC236}">
                <a16:creationId xmlns:a16="http://schemas.microsoft.com/office/drawing/2014/main" id="{04F99F90-C3CB-EEF1-6DFC-974141D88FFF}"/>
              </a:ext>
            </a:extLst>
          </p:cNvPr>
          <p:cNvSpPr/>
          <p:nvPr/>
        </p:nvSpPr>
        <p:spPr>
          <a:xfrm>
            <a:off x="4760465" y="517843"/>
            <a:ext cx="4213672" cy="861045"/>
          </a:xfrm>
          <a:prstGeom prst="rect">
            <a:avLst/>
          </a:prstGeom>
          <a:no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5">
                    <a:lumMod val="60000"/>
                    <a:lumOff val="40000"/>
                  </a:schemeClr>
                </a:solidFill>
              </a:rPr>
              <a:t>User presses ‘Launch Jobs’ and the tab switches and implement page it filled out see slide 4</a:t>
            </a:r>
          </a:p>
        </p:txBody>
      </p:sp>
      <p:cxnSp>
        <p:nvCxnSpPr>
          <p:cNvPr id="69" name="Connector: Elbow 68">
            <a:extLst>
              <a:ext uri="{FF2B5EF4-FFF2-40B4-BE49-F238E27FC236}">
                <a16:creationId xmlns:a16="http://schemas.microsoft.com/office/drawing/2014/main" id="{3F3D6A87-B416-24AD-B33C-A0C79448FF09}"/>
              </a:ext>
            </a:extLst>
          </p:cNvPr>
          <p:cNvCxnSpPr>
            <a:cxnSpLocks/>
            <a:stCxn id="68" idx="3"/>
            <a:endCxn id="56" idx="0"/>
          </p:cNvCxnSpPr>
          <p:nvPr/>
        </p:nvCxnSpPr>
        <p:spPr>
          <a:xfrm>
            <a:off x="8974137" y="948366"/>
            <a:ext cx="1731090" cy="911383"/>
          </a:xfrm>
          <a:prstGeom prst="bentConnector2">
            <a:avLst/>
          </a:prstGeom>
          <a:ln>
            <a:tailEnd type="triangle"/>
          </a:ln>
        </p:spPr>
        <p:style>
          <a:lnRef idx="2">
            <a:schemeClr val="accent5"/>
          </a:lnRef>
          <a:fillRef idx="0">
            <a:schemeClr val="accent5"/>
          </a:fillRef>
          <a:effectRef idx="1">
            <a:schemeClr val="accent5"/>
          </a:effectRef>
          <a:fontRef idx="minor">
            <a:schemeClr val="tx1"/>
          </a:fontRef>
        </p:style>
      </p:cxnSp>
      <p:sp>
        <p:nvSpPr>
          <p:cNvPr id="77" name="TextBox 76">
            <a:extLst>
              <a:ext uri="{FF2B5EF4-FFF2-40B4-BE49-F238E27FC236}">
                <a16:creationId xmlns:a16="http://schemas.microsoft.com/office/drawing/2014/main" id="{234C48C2-39BB-FE4C-DDB6-2D7FD95D49E9}"/>
              </a:ext>
            </a:extLst>
          </p:cNvPr>
          <p:cNvSpPr txBox="1"/>
          <p:nvPr/>
        </p:nvSpPr>
        <p:spPr>
          <a:xfrm>
            <a:off x="4287543" y="2419545"/>
            <a:ext cx="2907763" cy="3323987"/>
          </a:xfrm>
          <a:prstGeom prst="rect">
            <a:avLst/>
          </a:prstGeom>
          <a:noFill/>
        </p:spPr>
        <p:txBody>
          <a:bodyPr wrap="square" rtlCol="0">
            <a:spAutoFit/>
          </a:bodyPr>
          <a:lstStyle/>
          <a:p>
            <a:r>
              <a:rPr lang="en-US" sz="1000" dirty="0" err="1">
                <a:solidFill>
                  <a:srgbClr val="8F97B7"/>
                </a:solidFill>
                <a:latin typeface="Cascadia Code Light" panose="020B0609020000020004" pitchFamily="49" charset="0"/>
                <a:cs typeface="Cascadia Code Light" panose="020B0609020000020004" pitchFamily="49" charset="0"/>
              </a:rPr>
              <a:t>Aliquam</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vulputate</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elit</a:t>
            </a:r>
            <a:r>
              <a:rPr lang="en-US" sz="1000" dirty="0">
                <a:solidFill>
                  <a:srgbClr val="8F97B7"/>
                </a:solidFill>
                <a:latin typeface="Cascadia Code Light" panose="020B0609020000020004" pitchFamily="49" charset="0"/>
                <a:cs typeface="Cascadia Code Light" panose="020B0609020000020004" pitchFamily="49" charset="0"/>
              </a:rPr>
              <a:t> vel </a:t>
            </a:r>
            <a:r>
              <a:rPr lang="en-US" sz="1000" dirty="0" err="1">
                <a:solidFill>
                  <a:srgbClr val="8F97B7"/>
                </a:solidFill>
                <a:latin typeface="Cascadia Code Light" panose="020B0609020000020004" pitchFamily="49" charset="0"/>
                <a:cs typeface="Cascadia Code Light" panose="020B0609020000020004" pitchFamily="49" charset="0"/>
              </a:rPr>
              <a:t>enim</a:t>
            </a:r>
            <a:r>
              <a:rPr lang="en-US" sz="1000" dirty="0">
                <a:solidFill>
                  <a:srgbClr val="8F97B7"/>
                </a:solidFill>
                <a:latin typeface="Cascadia Code Light" panose="020B0609020000020004" pitchFamily="49" charset="0"/>
                <a:cs typeface="Cascadia Code Light" panose="020B0609020000020004" pitchFamily="49" charset="0"/>
              </a:rPr>
              <a:t> tempus </a:t>
            </a:r>
            <a:r>
              <a:rPr lang="en-US" sz="1000" dirty="0" err="1">
                <a:solidFill>
                  <a:srgbClr val="8F97B7"/>
                </a:solidFill>
                <a:latin typeface="Cascadia Code Light" panose="020B0609020000020004" pitchFamily="49" charset="0"/>
                <a:cs typeface="Cascadia Code Light" panose="020B0609020000020004" pitchFamily="49" charset="0"/>
              </a:rPr>
              <a:t>placerat</a:t>
            </a:r>
            <a:r>
              <a:rPr lang="en-US" sz="1000" dirty="0">
                <a:solidFill>
                  <a:srgbClr val="8F97B7"/>
                </a:solidFill>
                <a:latin typeface="Cascadia Code Light" panose="020B0609020000020004" pitchFamily="49" charset="0"/>
                <a:cs typeface="Cascadia Code Light" panose="020B0609020000020004" pitchFamily="49" charset="0"/>
              </a:rPr>
              <a:t>. Cras </a:t>
            </a:r>
            <a:r>
              <a:rPr lang="en-US" sz="1000" dirty="0" err="1">
                <a:solidFill>
                  <a:srgbClr val="8F97B7"/>
                </a:solidFill>
                <a:latin typeface="Cascadia Code Light" panose="020B0609020000020004" pitchFamily="49" charset="0"/>
                <a:cs typeface="Cascadia Code Light" panose="020B0609020000020004" pitchFamily="49" charset="0"/>
              </a:rPr>
              <a:t>sollicitudin</a:t>
            </a:r>
            <a:r>
              <a:rPr lang="en-US" sz="1000" dirty="0">
                <a:solidFill>
                  <a:srgbClr val="8F97B7"/>
                </a:solidFill>
                <a:latin typeface="Cascadia Code Light" panose="020B0609020000020004" pitchFamily="49" charset="0"/>
                <a:cs typeface="Cascadia Code Light" panose="020B0609020000020004" pitchFamily="49" charset="0"/>
              </a:rPr>
              <a:t> libero </a:t>
            </a:r>
            <a:r>
              <a:rPr lang="en-US" sz="1000" dirty="0" err="1">
                <a:solidFill>
                  <a:srgbClr val="8F97B7"/>
                </a:solidFill>
                <a:latin typeface="Cascadia Code Light" panose="020B0609020000020004" pitchFamily="49" charset="0"/>
                <a:cs typeface="Cascadia Code Light" panose="020B0609020000020004" pitchFamily="49" charset="0"/>
              </a:rPr>
              <a:t>ut</a:t>
            </a:r>
            <a:r>
              <a:rPr lang="en-US" sz="1000" dirty="0">
                <a:solidFill>
                  <a:srgbClr val="8F97B7"/>
                </a:solidFill>
                <a:latin typeface="Cascadia Code Light" panose="020B0609020000020004" pitchFamily="49" charset="0"/>
                <a:cs typeface="Cascadia Code Light" panose="020B0609020000020004" pitchFamily="49" charset="0"/>
              </a:rPr>
              <a:t> ligula </a:t>
            </a:r>
            <a:r>
              <a:rPr lang="en-US" sz="1000" dirty="0" err="1">
                <a:solidFill>
                  <a:srgbClr val="8F97B7"/>
                </a:solidFill>
                <a:latin typeface="Cascadia Code Light" panose="020B0609020000020004" pitchFamily="49" charset="0"/>
                <a:cs typeface="Cascadia Code Light" panose="020B0609020000020004" pitchFamily="49" charset="0"/>
              </a:rPr>
              <a:t>aliquam</a:t>
            </a:r>
            <a:r>
              <a:rPr lang="en-US" sz="1000" dirty="0">
                <a:solidFill>
                  <a:srgbClr val="8F97B7"/>
                </a:solidFill>
                <a:latin typeface="Cascadia Code Light" panose="020B0609020000020004" pitchFamily="49" charset="0"/>
                <a:cs typeface="Cascadia Code Light" panose="020B0609020000020004" pitchFamily="49" charset="0"/>
              </a:rPr>
              <a:t>, sit </a:t>
            </a:r>
            <a:r>
              <a:rPr lang="en-US" sz="1000" dirty="0" err="1">
                <a:solidFill>
                  <a:srgbClr val="8F97B7"/>
                </a:solidFill>
                <a:latin typeface="Cascadia Code Light" panose="020B0609020000020004" pitchFamily="49" charset="0"/>
                <a:cs typeface="Cascadia Code Light" panose="020B0609020000020004" pitchFamily="49" charset="0"/>
              </a:rPr>
              <a:t>amet</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molestie</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lectus</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consequat</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Phasellus</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pretium</a:t>
            </a:r>
            <a:r>
              <a:rPr lang="en-US" sz="1000" dirty="0">
                <a:solidFill>
                  <a:srgbClr val="8F97B7"/>
                </a:solidFill>
                <a:latin typeface="Cascadia Code Light" panose="020B0609020000020004" pitchFamily="49" charset="0"/>
                <a:cs typeface="Cascadia Code Light" panose="020B0609020000020004" pitchFamily="49" charset="0"/>
              </a:rPr>
              <a:t> est et fermentum </a:t>
            </a:r>
            <a:r>
              <a:rPr lang="en-US" sz="1000" dirty="0" err="1">
                <a:solidFill>
                  <a:srgbClr val="8F97B7"/>
                </a:solidFill>
                <a:latin typeface="Cascadia Code Light" panose="020B0609020000020004" pitchFamily="49" charset="0"/>
                <a:cs typeface="Cascadia Code Light" panose="020B0609020000020004" pitchFamily="49" charset="0"/>
              </a:rPr>
              <a:t>faucibus</a:t>
            </a:r>
            <a:r>
              <a:rPr lang="en-US" sz="1000" dirty="0">
                <a:solidFill>
                  <a:srgbClr val="8F97B7"/>
                </a:solidFill>
                <a:latin typeface="Cascadia Code Light" panose="020B0609020000020004" pitchFamily="49" charset="0"/>
                <a:cs typeface="Cascadia Code Light" panose="020B0609020000020004" pitchFamily="49" charset="0"/>
              </a:rPr>
              <a:t>. Donec </a:t>
            </a:r>
            <a:r>
              <a:rPr lang="en-US" sz="1000" dirty="0" err="1">
                <a:solidFill>
                  <a:srgbClr val="8F97B7"/>
                </a:solidFill>
                <a:latin typeface="Cascadia Code Light" panose="020B0609020000020004" pitchFamily="49" charset="0"/>
                <a:cs typeface="Cascadia Code Light" panose="020B0609020000020004" pitchFamily="49" charset="0"/>
              </a:rPr>
              <a:t>tempor</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leo</a:t>
            </a:r>
            <a:r>
              <a:rPr lang="en-US" sz="1000" dirty="0">
                <a:solidFill>
                  <a:srgbClr val="8F97B7"/>
                </a:solidFill>
                <a:latin typeface="Cascadia Code Light" panose="020B0609020000020004" pitchFamily="49" charset="0"/>
                <a:cs typeface="Cascadia Code Light" panose="020B0609020000020004" pitchFamily="49" charset="0"/>
              </a:rPr>
              <a:t> vitae pulvinar fermentum. Nulla </a:t>
            </a:r>
            <a:r>
              <a:rPr lang="en-US" sz="1000" dirty="0" err="1">
                <a:solidFill>
                  <a:srgbClr val="8F97B7"/>
                </a:solidFill>
                <a:latin typeface="Cascadia Code Light" panose="020B0609020000020004" pitchFamily="49" charset="0"/>
                <a:cs typeface="Cascadia Code Light" panose="020B0609020000020004" pitchFamily="49" charset="0"/>
              </a:rPr>
              <a:t>facilisi</a:t>
            </a:r>
            <a:r>
              <a:rPr lang="en-US" sz="1000" dirty="0">
                <a:solidFill>
                  <a:srgbClr val="8F97B7"/>
                </a:solidFill>
                <a:latin typeface="Cascadia Code Light" panose="020B0609020000020004" pitchFamily="49" charset="0"/>
                <a:cs typeface="Cascadia Code Light" panose="020B0609020000020004" pitchFamily="49" charset="0"/>
              </a:rPr>
              <a:t>. Duis vitae ligula </a:t>
            </a:r>
            <a:r>
              <a:rPr lang="en-US" sz="1000" dirty="0" err="1">
                <a:solidFill>
                  <a:srgbClr val="8F97B7"/>
                </a:solidFill>
                <a:latin typeface="Cascadia Code Light" panose="020B0609020000020004" pitchFamily="49" charset="0"/>
                <a:cs typeface="Cascadia Code Light" panose="020B0609020000020004" pitchFamily="49" charset="0"/>
              </a:rPr>
              <a:t>eget</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massa</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varius</a:t>
            </a:r>
            <a:r>
              <a:rPr lang="en-US" sz="1000" dirty="0">
                <a:solidFill>
                  <a:srgbClr val="8F97B7"/>
                </a:solidFill>
                <a:latin typeface="Cascadia Code Light" panose="020B0609020000020004" pitchFamily="49" charset="0"/>
                <a:cs typeface="Cascadia Code Light" panose="020B0609020000020004" pitchFamily="49" charset="0"/>
              </a:rPr>
              <a:t> convallis </a:t>
            </a:r>
            <a:r>
              <a:rPr lang="en-US" sz="1000" dirty="0" err="1">
                <a:solidFill>
                  <a:srgbClr val="8F97B7"/>
                </a:solidFill>
                <a:latin typeface="Cascadia Code Light" panose="020B0609020000020004" pitchFamily="49" charset="0"/>
                <a:cs typeface="Cascadia Code Light" panose="020B0609020000020004" pitchFamily="49" charset="0"/>
              </a:rPr>
              <a:t>eget</a:t>
            </a:r>
            <a:r>
              <a:rPr lang="en-US" sz="1000" dirty="0">
                <a:solidFill>
                  <a:srgbClr val="8F97B7"/>
                </a:solidFill>
                <a:latin typeface="Cascadia Code Light" panose="020B0609020000020004" pitchFamily="49" charset="0"/>
                <a:cs typeface="Cascadia Code Light" panose="020B0609020000020004" pitchFamily="49" charset="0"/>
              </a:rPr>
              <a:t> id ante. In </a:t>
            </a:r>
            <a:r>
              <a:rPr lang="en-US" sz="1000" dirty="0" err="1">
                <a:solidFill>
                  <a:srgbClr val="8F97B7"/>
                </a:solidFill>
                <a:latin typeface="Cascadia Code Light" panose="020B0609020000020004" pitchFamily="49" charset="0"/>
                <a:cs typeface="Cascadia Code Light" panose="020B0609020000020004" pitchFamily="49" charset="0"/>
              </a:rPr>
              <a:t>fringilla</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neque</a:t>
            </a:r>
            <a:r>
              <a:rPr lang="en-US" sz="1000" dirty="0">
                <a:solidFill>
                  <a:srgbClr val="8F97B7"/>
                </a:solidFill>
                <a:latin typeface="Cascadia Code Light" panose="020B0609020000020004" pitchFamily="49" charset="0"/>
                <a:cs typeface="Cascadia Code Light" panose="020B0609020000020004" pitchFamily="49" charset="0"/>
              </a:rPr>
              <a:t> vel libero fermentum, et </a:t>
            </a:r>
            <a:r>
              <a:rPr lang="en-US" sz="1000" dirty="0" err="1">
                <a:solidFill>
                  <a:srgbClr val="8F97B7"/>
                </a:solidFill>
                <a:latin typeface="Cascadia Code Light" panose="020B0609020000020004" pitchFamily="49" charset="0"/>
                <a:cs typeface="Cascadia Code Light" panose="020B0609020000020004" pitchFamily="49" charset="0"/>
              </a:rPr>
              <a:t>interdum</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neque</a:t>
            </a:r>
            <a:r>
              <a:rPr lang="en-US" sz="1000" dirty="0">
                <a:solidFill>
                  <a:srgbClr val="8F97B7"/>
                </a:solidFill>
                <a:latin typeface="Cascadia Code Light" panose="020B0609020000020004" pitchFamily="49" charset="0"/>
                <a:cs typeface="Cascadia Code Light" panose="020B0609020000020004" pitchFamily="49" charset="0"/>
              </a:rPr>
              <a:t> lacinia. Vestibulum id </a:t>
            </a:r>
            <a:r>
              <a:rPr lang="en-US" sz="1000" dirty="0" err="1">
                <a:solidFill>
                  <a:srgbClr val="8F97B7"/>
                </a:solidFill>
                <a:latin typeface="Cascadia Code Light" panose="020B0609020000020004" pitchFamily="49" charset="0"/>
                <a:cs typeface="Cascadia Code Light" panose="020B0609020000020004" pitchFamily="49" charset="0"/>
              </a:rPr>
              <a:t>laoreet</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massa</a:t>
            </a:r>
            <a:r>
              <a:rPr lang="en-US" sz="1000" dirty="0">
                <a:solidFill>
                  <a:srgbClr val="8F97B7"/>
                </a:solidFill>
                <a:latin typeface="Cascadia Code Light" panose="020B0609020000020004" pitchFamily="49" charset="0"/>
                <a:cs typeface="Cascadia Code Light" panose="020B0609020000020004" pitchFamily="49" charset="0"/>
              </a:rPr>
              <a:t>, nec </a:t>
            </a:r>
            <a:r>
              <a:rPr lang="en-US" sz="1000" dirty="0" err="1">
                <a:solidFill>
                  <a:srgbClr val="8F97B7"/>
                </a:solidFill>
                <a:latin typeface="Cascadia Code Light" panose="020B0609020000020004" pitchFamily="49" charset="0"/>
                <a:cs typeface="Cascadia Code Light" panose="020B0609020000020004" pitchFamily="49" charset="0"/>
              </a:rPr>
              <a:t>dignissim</a:t>
            </a:r>
            <a:r>
              <a:rPr lang="en-US" sz="1000" dirty="0">
                <a:solidFill>
                  <a:srgbClr val="8F97B7"/>
                </a:solidFill>
                <a:latin typeface="Cascadia Code Light" panose="020B0609020000020004" pitchFamily="49" charset="0"/>
                <a:cs typeface="Cascadia Code Light" panose="020B0609020000020004" pitchFamily="49" charset="0"/>
              </a:rPr>
              <a:t> mi. Proin </a:t>
            </a:r>
            <a:r>
              <a:rPr lang="en-US" sz="1000" dirty="0" err="1">
                <a:solidFill>
                  <a:srgbClr val="8F97B7"/>
                </a:solidFill>
                <a:latin typeface="Cascadia Code Light" panose="020B0609020000020004" pitchFamily="49" charset="0"/>
                <a:cs typeface="Cascadia Code Light" panose="020B0609020000020004" pitchFamily="49" charset="0"/>
              </a:rPr>
              <a:t>hendrerit</a:t>
            </a:r>
            <a:r>
              <a:rPr lang="en-US" sz="1000" dirty="0">
                <a:solidFill>
                  <a:srgbClr val="8F97B7"/>
                </a:solidFill>
                <a:latin typeface="Cascadia Code Light" panose="020B0609020000020004" pitchFamily="49" charset="0"/>
                <a:cs typeface="Cascadia Code Light" panose="020B0609020000020004" pitchFamily="49" charset="0"/>
              </a:rPr>
              <a:t> nec ex ac </a:t>
            </a:r>
            <a:r>
              <a:rPr lang="en-US" sz="1000" dirty="0" err="1">
                <a:solidFill>
                  <a:srgbClr val="8F97B7"/>
                </a:solidFill>
                <a:latin typeface="Cascadia Code Light" panose="020B0609020000020004" pitchFamily="49" charset="0"/>
                <a:cs typeface="Cascadia Code Light" panose="020B0609020000020004" pitchFamily="49" charset="0"/>
              </a:rPr>
              <a:t>feugiat</a:t>
            </a:r>
            <a:r>
              <a:rPr lang="en-US" sz="1000" dirty="0">
                <a:solidFill>
                  <a:srgbClr val="8F97B7"/>
                </a:solidFill>
                <a:latin typeface="Cascadia Code Light" panose="020B0609020000020004" pitchFamily="49" charset="0"/>
                <a:cs typeface="Cascadia Code Light" panose="020B0609020000020004" pitchFamily="49" charset="0"/>
              </a:rPr>
              <a:t>. Integer </a:t>
            </a:r>
            <a:r>
              <a:rPr lang="en-US" sz="1000" dirty="0" err="1">
                <a:solidFill>
                  <a:srgbClr val="8F97B7"/>
                </a:solidFill>
                <a:latin typeface="Cascadia Code Light" panose="020B0609020000020004" pitchFamily="49" charset="0"/>
                <a:cs typeface="Cascadia Code Light" panose="020B0609020000020004" pitchFamily="49" charset="0"/>
              </a:rPr>
              <a:t>elementum</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mauris</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ut</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augue</a:t>
            </a:r>
            <a:r>
              <a:rPr lang="en-US" sz="1000" dirty="0">
                <a:solidFill>
                  <a:srgbClr val="8F97B7"/>
                </a:solidFill>
                <a:latin typeface="Cascadia Code Light" panose="020B0609020000020004" pitchFamily="49" charset="0"/>
                <a:cs typeface="Cascadia Code Light" panose="020B0609020000020004" pitchFamily="49" charset="0"/>
              </a:rPr>
              <a:t> cursus pharetra. Vestibulum id </a:t>
            </a:r>
            <a:r>
              <a:rPr lang="en-US" sz="1000" dirty="0" err="1">
                <a:solidFill>
                  <a:srgbClr val="8F97B7"/>
                </a:solidFill>
                <a:latin typeface="Cascadia Code Light" panose="020B0609020000020004" pitchFamily="49" charset="0"/>
                <a:cs typeface="Cascadia Code Light" panose="020B0609020000020004" pitchFamily="49" charset="0"/>
              </a:rPr>
              <a:t>laoreet</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massa</a:t>
            </a:r>
            <a:r>
              <a:rPr lang="en-US" sz="1000" dirty="0">
                <a:solidFill>
                  <a:srgbClr val="8F97B7"/>
                </a:solidFill>
                <a:latin typeface="Cascadia Code Light" panose="020B0609020000020004" pitchFamily="49" charset="0"/>
                <a:cs typeface="Cascadia Code Light" panose="020B0609020000020004" pitchFamily="49" charset="0"/>
              </a:rPr>
              <a:t>, nec </a:t>
            </a:r>
            <a:r>
              <a:rPr lang="en-US" sz="1000" dirty="0" err="1">
                <a:solidFill>
                  <a:srgbClr val="8F97B7"/>
                </a:solidFill>
                <a:latin typeface="Cascadia Code Light" panose="020B0609020000020004" pitchFamily="49" charset="0"/>
                <a:cs typeface="Cascadia Code Light" panose="020B0609020000020004" pitchFamily="49" charset="0"/>
              </a:rPr>
              <a:t>dignissim</a:t>
            </a:r>
            <a:r>
              <a:rPr lang="en-US" sz="1000" dirty="0">
                <a:solidFill>
                  <a:srgbClr val="8F97B7"/>
                </a:solidFill>
                <a:latin typeface="Cascadia Code Light" panose="020B0609020000020004" pitchFamily="49" charset="0"/>
                <a:cs typeface="Cascadia Code Light" panose="020B0609020000020004" pitchFamily="49" charset="0"/>
              </a:rPr>
              <a:t> mi. Proin </a:t>
            </a:r>
            <a:r>
              <a:rPr lang="en-US" sz="1000" dirty="0" err="1">
                <a:solidFill>
                  <a:srgbClr val="8F97B7"/>
                </a:solidFill>
                <a:latin typeface="Cascadia Code Light" panose="020B0609020000020004" pitchFamily="49" charset="0"/>
                <a:cs typeface="Cascadia Code Light" panose="020B0609020000020004" pitchFamily="49" charset="0"/>
              </a:rPr>
              <a:t>hendrerit</a:t>
            </a:r>
            <a:r>
              <a:rPr lang="en-US" sz="1000" dirty="0">
                <a:solidFill>
                  <a:srgbClr val="8F97B7"/>
                </a:solidFill>
                <a:latin typeface="Cascadia Code Light" panose="020B0609020000020004" pitchFamily="49" charset="0"/>
                <a:cs typeface="Cascadia Code Light" panose="020B0609020000020004" pitchFamily="49" charset="0"/>
              </a:rPr>
              <a:t> nec ex ac </a:t>
            </a:r>
            <a:r>
              <a:rPr lang="en-US" sz="1000" dirty="0" err="1">
                <a:solidFill>
                  <a:srgbClr val="8F97B7"/>
                </a:solidFill>
                <a:latin typeface="Cascadia Code Light" panose="020B0609020000020004" pitchFamily="49" charset="0"/>
                <a:cs typeface="Cascadia Code Light" panose="020B0609020000020004" pitchFamily="49" charset="0"/>
              </a:rPr>
              <a:t>feugiat</a:t>
            </a:r>
            <a:r>
              <a:rPr lang="en-US" sz="1000" dirty="0">
                <a:solidFill>
                  <a:srgbClr val="8F97B7"/>
                </a:solidFill>
                <a:latin typeface="Cascadia Code Light" panose="020B0609020000020004" pitchFamily="49" charset="0"/>
                <a:cs typeface="Cascadia Code Light" panose="020B0609020000020004" pitchFamily="49" charset="0"/>
              </a:rPr>
              <a:t>. Integer </a:t>
            </a:r>
            <a:r>
              <a:rPr lang="en-US" sz="1000" dirty="0" err="1">
                <a:solidFill>
                  <a:srgbClr val="8F97B7"/>
                </a:solidFill>
                <a:latin typeface="Cascadia Code Light" panose="020B0609020000020004" pitchFamily="49" charset="0"/>
                <a:cs typeface="Cascadia Code Light" panose="020B0609020000020004" pitchFamily="49" charset="0"/>
              </a:rPr>
              <a:t>elementum</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mauris</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ut</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augue</a:t>
            </a:r>
            <a:r>
              <a:rPr lang="en-US" sz="1000" dirty="0">
                <a:solidFill>
                  <a:srgbClr val="8F97B7"/>
                </a:solidFill>
                <a:latin typeface="Cascadia Code Light" panose="020B0609020000020004" pitchFamily="49" charset="0"/>
                <a:cs typeface="Cascadia Code Light" panose="020B0609020000020004" pitchFamily="49" charset="0"/>
              </a:rPr>
              <a:t> cursus pharetra.</a:t>
            </a:r>
          </a:p>
          <a:p>
            <a:endParaRPr lang="en-US" sz="1000" dirty="0">
              <a:solidFill>
                <a:srgbClr val="8F97B7"/>
              </a:solidFill>
              <a:latin typeface="Cascadia Code Light" panose="020B0609020000020004" pitchFamily="49" charset="0"/>
              <a:cs typeface="Cascadia Code Light" panose="020B0609020000020004" pitchFamily="49" charset="0"/>
            </a:endParaRPr>
          </a:p>
          <a:p>
            <a:r>
              <a:rPr lang="en-US" sz="1000" dirty="0">
                <a:solidFill>
                  <a:srgbClr val="8F97B7"/>
                </a:solidFill>
                <a:latin typeface="Cascadia Code Light" panose="020B0609020000020004" pitchFamily="49" charset="0"/>
                <a:cs typeface="Cascadia Code Light" panose="020B0609020000020004" pitchFamily="49" charset="0"/>
              </a:rPr>
              <a:t>Sed id </a:t>
            </a:r>
            <a:r>
              <a:rPr lang="en-US" sz="1000" dirty="0" err="1">
                <a:solidFill>
                  <a:srgbClr val="8F97B7"/>
                </a:solidFill>
                <a:latin typeface="Cascadia Code Light" panose="020B0609020000020004" pitchFamily="49" charset="0"/>
                <a:cs typeface="Cascadia Code Light" panose="020B0609020000020004" pitchFamily="49" charset="0"/>
              </a:rPr>
              <a:t>risus</a:t>
            </a:r>
            <a:r>
              <a:rPr lang="en-US" sz="1000" dirty="0">
                <a:solidFill>
                  <a:srgbClr val="8F97B7"/>
                </a:solidFill>
                <a:latin typeface="Cascadia Code Light" panose="020B0609020000020004" pitchFamily="49" charset="0"/>
                <a:cs typeface="Cascadia Code Light" panose="020B0609020000020004" pitchFamily="49" charset="0"/>
              </a:rPr>
              <a:t> </a:t>
            </a:r>
            <a:r>
              <a:rPr lang="en-US" sz="1000" dirty="0" err="1">
                <a:solidFill>
                  <a:srgbClr val="8F97B7"/>
                </a:solidFill>
                <a:latin typeface="Cascadia Code Light" panose="020B0609020000020004" pitchFamily="49" charset="0"/>
                <a:cs typeface="Cascadia Code Light" panose="020B0609020000020004" pitchFamily="49" charset="0"/>
              </a:rPr>
              <a:t>ut</a:t>
            </a:r>
            <a:r>
              <a:rPr lang="en-US" sz="1000" dirty="0">
                <a:solidFill>
                  <a:srgbClr val="8F97B7"/>
                </a:solidFill>
                <a:latin typeface="Cascadia Code Light" panose="020B0609020000020004" pitchFamily="49" charset="0"/>
                <a:cs typeface="Cascadia Code Light" panose="020B0609020000020004" pitchFamily="49" charset="0"/>
              </a:rPr>
              <a:t> lorem </a:t>
            </a:r>
            <a:r>
              <a:rPr lang="en-US" sz="1000" dirty="0" err="1">
                <a:solidFill>
                  <a:srgbClr val="8F97B7"/>
                </a:solidFill>
                <a:latin typeface="Cascadia Code Light" panose="020B0609020000020004" pitchFamily="49" charset="0"/>
                <a:cs typeface="Cascadia Code Light" panose="020B0609020000020004" pitchFamily="49" charset="0"/>
              </a:rPr>
              <a:t>aucto</a:t>
            </a:r>
            <a:r>
              <a:rPr lang="en-US" sz="1000" dirty="0">
                <a:solidFill>
                  <a:srgbClr val="8F97B7"/>
                </a:solidFill>
                <a:latin typeface="Cascadia Code Light" panose="020B0609020000020004" pitchFamily="49" charset="0"/>
                <a:cs typeface="Cascadia Code Light" panose="020B0609020000020004" pitchFamily="49" charset="0"/>
              </a:rPr>
              <a:t>…………</a:t>
            </a:r>
          </a:p>
        </p:txBody>
      </p:sp>
      <p:sp>
        <p:nvSpPr>
          <p:cNvPr id="78" name="TextBox 77">
            <a:extLst>
              <a:ext uri="{FF2B5EF4-FFF2-40B4-BE49-F238E27FC236}">
                <a16:creationId xmlns:a16="http://schemas.microsoft.com/office/drawing/2014/main" id="{BAC93AFF-3164-7E41-2A9D-B3CFE2E3EB9B}"/>
              </a:ext>
            </a:extLst>
          </p:cNvPr>
          <p:cNvSpPr txBox="1"/>
          <p:nvPr/>
        </p:nvSpPr>
        <p:spPr>
          <a:xfrm>
            <a:off x="721581" y="2490502"/>
            <a:ext cx="2884531" cy="3166680"/>
          </a:xfrm>
          <a:prstGeom prst="rect">
            <a:avLst/>
          </a:prstGeom>
          <a:noFill/>
        </p:spPr>
        <p:txBody>
          <a:bodyPr wrap="square" rtlCol="0">
            <a:noAutofit/>
          </a:bodyPr>
          <a:lstStyle/>
          <a:p>
            <a:r>
              <a:rPr lang="en-US" sz="1000" dirty="0">
                <a:solidFill>
                  <a:srgbClr val="8F97B7"/>
                </a:solidFill>
              </a:rPr>
              <a:t>Lorem ipsum dolor sit </a:t>
            </a:r>
            <a:r>
              <a:rPr lang="en-US" sz="1000" dirty="0" err="1">
                <a:solidFill>
                  <a:srgbClr val="8F97B7"/>
                </a:solidFill>
              </a:rPr>
              <a:t>amet</a:t>
            </a:r>
            <a:r>
              <a:rPr lang="en-US" sz="1000" dirty="0">
                <a:solidFill>
                  <a:srgbClr val="8F97B7"/>
                </a:solidFill>
              </a:rPr>
              <a:t>, </a:t>
            </a:r>
            <a:r>
              <a:rPr lang="en-US" sz="1000" dirty="0" err="1">
                <a:solidFill>
                  <a:srgbClr val="8F97B7"/>
                </a:solidFill>
              </a:rPr>
              <a:t>consectetur</a:t>
            </a:r>
            <a:r>
              <a:rPr lang="en-US" sz="1000" dirty="0">
                <a:solidFill>
                  <a:srgbClr val="8F97B7"/>
                </a:solidFill>
              </a:rPr>
              <a:t> </a:t>
            </a:r>
            <a:r>
              <a:rPr lang="en-US" sz="1000" dirty="0" err="1">
                <a:solidFill>
                  <a:srgbClr val="8F97B7"/>
                </a:solidFill>
              </a:rPr>
              <a:t>adipiscing</a:t>
            </a:r>
            <a:r>
              <a:rPr lang="en-US" sz="1000" dirty="0">
                <a:solidFill>
                  <a:srgbClr val="8F97B7"/>
                </a:solidFill>
              </a:rPr>
              <a:t> </a:t>
            </a:r>
            <a:r>
              <a:rPr lang="en-US" sz="1000" dirty="0" err="1">
                <a:solidFill>
                  <a:srgbClr val="8F97B7"/>
                </a:solidFill>
              </a:rPr>
              <a:t>elit</a:t>
            </a:r>
            <a:r>
              <a:rPr lang="en-US" sz="1000" dirty="0">
                <a:solidFill>
                  <a:srgbClr val="8F97B7"/>
                </a:solidFill>
              </a:rPr>
              <a:t>. Nulla </a:t>
            </a:r>
            <a:r>
              <a:rPr lang="en-US" sz="1000" dirty="0" err="1">
                <a:solidFill>
                  <a:srgbClr val="8F97B7"/>
                </a:solidFill>
              </a:rPr>
              <a:t>tincidunt</a:t>
            </a:r>
            <a:r>
              <a:rPr lang="en-US" sz="1000" dirty="0">
                <a:solidFill>
                  <a:srgbClr val="8F97B7"/>
                </a:solidFill>
              </a:rPr>
              <a:t> </a:t>
            </a:r>
            <a:r>
              <a:rPr lang="en-US" sz="1000" dirty="0" err="1">
                <a:solidFill>
                  <a:srgbClr val="8F97B7"/>
                </a:solidFill>
              </a:rPr>
              <a:t>consequat</a:t>
            </a:r>
            <a:r>
              <a:rPr lang="en-US" sz="1000" dirty="0">
                <a:solidFill>
                  <a:srgbClr val="8F97B7"/>
                </a:solidFill>
              </a:rPr>
              <a:t> dolor. </a:t>
            </a:r>
            <a:r>
              <a:rPr lang="en-US" sz="1000" dirty="0" err="1">
                <a:solidFill>
                  <a:srgbClr val="8F97B7"/>
                </a:solidFill>
              </a:rPr>
              <a:t>Praesent</a:t>
            </a:r>
            <a:r>
              <a:rPr lang="en-US" sz="1000" dirty="0">
                <a:solidFill>
                  <a:srgbClr val="8F97B7"/>
                </a:solidFill>
              </a:rPr>
              <a:t> sed </a:t>
            </a:r>
            <a:r>
              <a:rPr lang="en-US" sz="1000" dirty="0" err="1">
                <a:solidFill>
                  <a:srgbClr val="8F97B7"/>
                </a:solidFill>
              </a:rPr>
              <a:t>tempor</a:t>
            </a:r>
            <a:r>
              <a:rPr lang="en-US" sz="1000" dirty="0">
                <a:solidFill>
                  <a:srgbClr val="8F97B7"/>
                </a:solidFill>
              </a:rPr>
              <a:t> </a:t>
            </a:r>
            <a:r>
              <a:rPr lang="en-US" sz="1000" dirty="0" err="1">
                <a:solidFill>
                  <a:srgbClr val="8F97B7"/>
                </a:solidFill>
              </a:rPr>
              <a:t>risus</a:t>
            </a:r>
            <a:r>
              <a:rPr lang="en-US" sz="1000" dirty="0">
                <a:solidFill>
                  <a:srgbClr val="8F97B7"/>
                </a:solidFill>
              </a:rPr>
              <a:t>, vitae convallis </a:t>
            </a:r>
            <a:r>
              <a:rPr lang="en-US" sz="1000" dirty="0" err="1">
                <a:solidFill>
                  <a:srgbClr val="8F97B7"/>
                </a:solidFill>
              </a:rPr>
              <a:t>sapien</a:t>
            </a:r>
            <a:r>
              <a:rPr lang="en-US" sz="1000" dirty="0">
                <a:solidFill>
                  <a:srgbClr val="8F97B7"/>
                </a:solidFill>
              </a:rPr>
              <a:t>. Aenean </a:t>
            </a:r>
            <a:r>
              <a:rPr lang="en-US" sz="1000" dirty="0" err="1">
                <a:solidFill>
                  <a:srgbClr val="8F97B7"/>
                </a:solidFill>
              </a:rPr>
              <a:t>accumsan</a:t>
            </a:r>
            <a:r>
              <a:rPr lang="en-US" sz="1000" dirty="0">
                <a:solidFill>
                  <a:srgbClr val="8F97B7"/>
                </a:solidFill>
              </a:rPr>
              <a:t> </a:t>
            </a:r>
            <a:r>
              <a:rPr lang="en-US" sz="1000" dirty="0" err="1">
                <a:solidFill>
                  <a:srgbClr val="8F97B7"/>
                </a:solidFill>
              </a:rPr>
              <a:t>quis</a:t>
            </a:r>
            <a:r>
              <a:rPr lang="en-US" sz="1000" dirty="0">
                <a:solidFill>
                  <a:srgbClr val="8F97B7"/>
                </a:solidFill>
              </a:rPr>
              <a:t> lorem vitae </a:t>
            </a:r>
            <a:r>
              <a:rPr lang="en-US" sz="1000" dirty="0" err="1">
                <a:solidFill>
                  <a:srgbClr val="8F97B7"/>
                </a:solidFill>
              </a:rPr>
              <a:t>eleifend</a:t>
            </a:r>
            <a:r>
              <a:rPr lang="en-US" sz="1000" dirty="0">
                <a:solidFill>
                  <a:srgbClr val="8F97B7"/>
                </a:solidFill>
              </a:rPr>
              <a:t>. Vestibulum </a:t>
            </a:r>
            <a:r>
              <a:rPr lang="en-US" sz="1000" dirty="0" err="1">
                <a:solidFill>
                  <a:srgbClr val="8F97B7"/>
                </a:solidFill>
              </a:rPr>
              <a:t>sagittis</a:t>
            </a:r>
            <a:r>
              <a:rPr lang="en-US" sz="1000" dirty="0">
                <a:solidFill>
                  <a:srgbClr val="8F97B7"/>
                </a:solidFill>
              </a:rPr>
              <a:t> ipsum nec </a:t>
            </a:r>
            <a:r>
              <a:rPr lang="en-US" sz="1000" dirty="0" err="1">
                <a:solidFill>
                  <a:srgbClr val="8F97B7"/>
                </a:solidFill>
              </a:rPr>
              <a:t>mauris</a:t>
            </a:r>
            <a:r>
              <a:rPr lang="en-US" sz="1000" dirty="0">
                <a:solidFill>
                  <a:srgbClr val="8F97B7"/>
                </a:solidFill>
              </a:rPr>
              <a:t> </a:t>
            </a:r>
            <a:r>
              <a:rPr lang="en-US" sz="1000" dirty="0" err="1">
                <a:solidFill>
                  <a:srgbClr val="8F97B7"/>
                </a:solidFill>
              </a:rPr>
              <a:t>consectetur</a:t>
            </a:r>
            <a:r>
              <a:rPr lang="en-US" sz="1000" dirty="0">
                <a:solidFill>
                  <a:srgbClr val="8F97B7"/>
                </a:solidFill>
              </a:rPr>
              <a:t>, </a:t>
            </a:r>
            <a:r>
              <a:rPr lang="en-US" sz="1000" dirty="0" err="1">
                <a:solidFill>
                  <a:srgbClr val="8F97B7"/>
                </a:solidFill>
              </a:rPr>
              <a:t>commodo</a:t>
            </a:r>
            <a:r>
              <a:rPr lang="en-US" sz="1000" dirty="0">
                <a:solidFill>
                  <a:srgbClr val="8F97B7"/>
                </a:solidFill>
              </a:rPr>
              <a:t> </a:t>
            </a:r>
            <a:r>
              <a:rPr lang="en-US" sz="1000" dirty="0" err="1">
                <a:solidFill>
                  <a:srgbClr val="8F97B7"/>
                </a:solidFill>
              </a:rPr>
              <a:t>posuere</a:t>
            </a:r>
            <a:r>
              <a:rPr lang="en-US" sz="1000" dirty="0">
                <a:solidFill>
                  <a:srgbClr val="8F97B7"/>
                </a:solidFill>
              </a:rPr>
              <a:t> libero </a:t>
            </a:r>
            <a:r>
              <a:rPr lang="en-US" sz="1000" dirty="0" err="1">
                <a:solidFill>
                  <a:srgbClr val="8F97B7"/>
                </a:solidFill>
              </a:rPr>
              <a:t>consectetur</a:t>
            </a:r>
            <a:r>
              <a:rPr lang="en-US" sz="1000" dirty="0">
                <a:solidFill>
                  <a:srgbClr val="8F97B7"/>
                </a:solidFill>
              </a:rPr>
              <a:t>. </a:t>
            </a:r>
          </a:p>
          <a:p>
            <a:endParaRPr lang="en-US" sz="1000" dirty="0">
              <a:solidFill>
                <a:srgbClr val="8F97B7"/>
              </a:solidFill>
            </a:endParaRPr>
          </a:p>
          <a:p>
            <a:r>
              <a:rPr lang="en-US" sz="1000" dirty="0">
                <a:solidFill>
                  <a:srgbClr val="8F97B7"/>
                </a:solidFill>
              </a:rPr>
              <a:t>Donec </a:t>
            </a:r>
            <a:r>
              <a:rPr lang="en-US" sz="1000" dirty="0" err="1">
                <a:solidFill>
                  <a:srgbClr val="8F97B7"/>
                </a:solidFill>
              </a:rPr>
              <a:t>eget</a:t>
            </a:r>
            <a:r>
              <a:rPr lang="en-US" sz="1000" dirty="0">
                <a:solidFill>
                  <a:srgbClr val="8F97B7"/>
                </a:solidFill>
              </a:rPr>
              <a:t> </a:t>
            </a:r>
            <a:r>
              <a:rPr lang="en-US" sz="1000" dirty="0" err="1">
                <a:solidFill>
                  <a:srgbClr val="8F97B7"/>
                </a:solidFill>
              </a:rPr>
              <a:t>tempor</a:t>
            </a:r>
            <a:r>
              <a:rPr lang="en-US" sz="1000" dirty="0">
                <a:solidFill>
                  <a:srgbClr val="8F97B7"/>
                </a:solidFill>
              </a:rPr>
              <a:t> </a:t>
            </a:r>
            <a:r>
              <a:rPr lang="en-US" sz="1000" dirty="0" err="1">
                <a:solidFill>
                  <a:srgbClr val="8F97B7"/>
                </a:solidFill>
              </a:rPr>
              <a:t>nibh</a:t>
            </a:r>
            <a:r>
              <a:rPr lang="en-US" sz="1000" dirty="0">
                <a:solidFill>
                  <a:srgbClr val="8F97B7"/>
                </a:solidFill>
              </a:rPr>
              <a:t>. </a:t>
            </a:r>
            <a:r>
              <a:rPr lang="en-US" sz="1000" dirty="0" err="1">
                <a:solidFill>
                  <a:srgbClr val="8F97B7"/>
                </a:solidFill>
              </a:rPr>
              <a:t>Fusce</a:t>
            </a:r>
            <a:r>
              <a:rPr lang="en-US" sz="1000" dirty="0">
                <a:solidFill>
                  <a:srgbClr val="8F97B7"/>
                </a:solidFill>
              </a:rPr>
              <a:t> </a:t>
            </a:r>
            <a:r>
              <a:rPr lang="en-US" sz="1000" dirty="0" err="1">
                <a:solidFill>
                  <a:srgbClr val="8F97B7"/>
                </a:solidFill>
              </a:rPr>
              <a:t>vehicula</a:t>
            </a:r>
            <a:r>
              <a:rPr lang="en-US" sz="1000" dirty="0">
                <a:solidFill>
                  <a:srgbClr val="8F97B7"/>
                </a:solidFill>
              </a:rPr>
              <a:t> </a:t>
            </a:r>
            <a:r>
              <a:rPr lang="en-US" sz="1000" dirty="0" err="1">
                <a:solidFill>
                  <a:srgbClr val="8F97B7"/>
                </a:solidFill>
              </a:rPr>
              <a:t>ultrices</a:t>
            </a:r>
            <a:r>
              <a:rPr lang="en-US" sz="1000" dirty="0">
                <a:solidFill>
                  <a:srgbClr val="8F97B7"/>
                </a:solidFill>
              </a:rPr>
              <a:t> </a:t>
            </a:r>
            <a:r>
              <a:rPr lang="en-US" sz="1000" dirty="0" err="1">
                <a:solidFill>
                  <a:srgbClr val="8F97B7"/>
                </a:solidFill>
              </a:rPr>
              <a:t>vehicula</a:t>
            </a:r>
            <a:r>
              <a:rPr lang="en-US" sz="1000" dirty="0">
                <a:solidFill>
                  <a:srgbClr val="8F97B7"/>
                </a:solidFill>
              </a:rPr>
              <a:t>. Donec </a:t>
            </a:r>
            <a:r>
              <a:rPr lang="en-US" sz="1000" dirty="0" err="1">
                <a:solidFill>
                  <a:srgbClr val="8F97B7"/>
                </a:solidFill>
              </a:rPr>
              <a:t>consequat</a:t>
            </a:r>
            <a:r>
              <a:rPr lang="en-US" sz="1000" dirty="0">
                <a:solidFill>
                  <a:srgbClr val="8F97B7"/>
                </a:solidFill>
              </a:rPr>
              <a:t>, </a:t>
            </a:r>
            <a:r>
              <a:rPr lang="en-US" sz="1000" dirty="0" err="1">
                <a:solidFill>
                  <a:srgbClr val="8F97B7"/>
                </a:solidFill>
              </a:rPr>
              <a:t>purus</a:t>
            </a:r>
            <a:r>
              <a:rPr lang="en-US" sz="1000" dirty="0">
                <a:solidFill>
                  <a:srgbClr val="8F97B7"/>
                </a:solidFill>
              </a:rPr>
              <a:t> vitae </a:t>
            </a:r>
            <a:r>
              <a:rPr lang="en-US" sz="1000" dirty="0" err="1">
                <a:solidFill>
                  <a:srgbClr val="8F97B7"/>
                </a:solidFill>
              </a:rPr>
              <a:t>vehicula</a:t>
            </a:r>
            <a:r>
              <a:rPr lang="en-US" sz="1000" dirty="0">
                <a:solidFill>
                  <a:srgbClr val="8F97B7"/>
                </a:solidFill>
              </a:rPr>
              <a:t> </a:t>
            </a:r>
            <a:r>
              <a:rPr lang="en-US" sz="1000" dirty="0" err="1">
                <a:solidFill>
                  <a:srgbClr val="8F97B7"/>
                </a:solidFill>
              </a:rPr>
              <a:t>placerat</a:t>
            </a:r>
            <a:r>
              <a:rPr lang="en-US" sz="1000" dirty="0">
                <a:solidFill>
                  <a:srgbClr val="8F97B7"/>
                </a:solidFill>
              </a:rPr>
              <a:t>, </a:t>
            </a:r>
            <a:r>
              <a:rPr lang="en-US" sz="1000" dirty="0" err="1">
                <a:solidFill>
                  <a:srgbClr val="8F97B7"/>
                </a:solidFill>
              </a:rPr>
              <a:t>erat</a:t>
            </a:r>
            <a:r>
              <a:rPr lang="en-US" sz="1000" dirty="0">
                <a:solidFill>
                  <a:srgbClr val="8F97B7"/>
                </a:solidFill>
              </a:rPr>
              <a:t> </a:t>
            </a:r>
            <a:r>
              <a:rPr lang="en-US" sz="1000" dirty="0" err="1">
                <a:solidFill>
                  <a:srgbClr val="8F97B7"/>
                </a:solidFill>
              </a:rPr>
              <a:t>velit</a:t>
            </a:r>
            <a:r>
              <a:rPr lang="en-US" sz="1000" dirty="0">
                <a:solidFill>
                  <a:srgbClr val="8F97B7"/>
                </a:solidFill>
              </a:rPr>
              <a:t> pharetra </a:t>
            </a:r>
            <a:r>
              <a:rPr lang="en-US" sz="1000" dirty="0" err="1">
                <a:solidFill>
                  <a:srgbClr val="8F97B7"/>
                </a:solidFill>
              </a:rPr>
              <a:t>mauris</a:t>
            </a:r>
            <a:r>
              <a:rPr lang="en-US" sz="1000" dirty="0">
                <a:solidFill>
                  <a:srgbClr val="8F97B7"/>
                </a:solidFill>
              </a:rPr>
              <a:t>, </a:t>
            </a:r>
            <a:r>
              <a:rPr lang="en-US" sz="1000" dirty="0" err="1">
                <a:solidFill>
                  <a:srgbClr val="8F97B7"/>
                </a:solidFill>
              </a:rPr>
              <a:t>eu</a:t>
            </a:r>
            <a:r>
              <a:rPr lang="en-US" sz="1000" dirty="0">
                <a:solidFill>
                  <a:srgbClr val="8F97B7"/>
                </a:solidFill>
              </a:rPr>
              <a:t> vestibulum </a:t>
            </a:r>
            <a:r>
              <a:rPr lang="en-US" sz="1000" dirty="0" err="1">
                <a:solidFill>
                  <a:srgbClr val="8F97B7"/>
                </a:solidFill>
              </a:rPr>
              <a:t>tellus</a:t>
            </a:r>
            <a:r>
              <a:rPr lang="en-US" sz="1000" dirty="0">
                <a:solidFill>
                  <a:srgbClr val="8F97B7"/>
                </a:solidFill>
              </a:rPr>
              <a:t> </a:t>
            </a:r>
            <a:r>
              <a:rPr lang="en-US" sz="1000" dirty="0" err="1">
                <a:solidFill>
                  <a:srgbClr val="8F97B7"/>
                </a:solidFill>
              </a:rPr>
              <a:t>sem</a:t>
            </a:r>
            <a:r>
              <a:rPr lang="en-US" sz="1000" dirty="0">
                <a:solidFill>
                  <a:srgbClr val="8F97B7"/>
                </a:solidFill>
              </a:rPr>
              <a:t> at </a:t>
            </a:r>
            <a:r>
              <a:rPr lang="en-US" sz="1000" dirty="0" err="1">
                <a:solidFill>
                  <a:srgbClr val="8F97B7"/>
                </a:solidFill>
              </a:rPr>
              <a:t>massa</a:t>
            </a:r>
            <a:r>
              <a:rPr lang="en-US" sz="1000" dirty="0">
                <a:solidFill>
                  <a:srgbClr val="8F97B7"/>
                </a:solidFill>
              </a:rPr>
              <a:t>. </a:t>
            </a:r>
            <a:r>
              <a:rPr lang="en-US" sz="1000" dirty="0" err="1">
                <a:solidFill>
                  <a:srgbClr val="8F97B7"/>
                </a:solidFill>
              </a:rPr>
              <a:t>Pellentesque</a:t>
            </a:r>
            <a:r>
              <a:rPr lang="en-US" sz="1000" dirty="0">
                <a:solidFill>
                  <a:srgbClr val="8F97B7"/>
                </a:solidFill>
              </a:rPr>
              <a:t> a </a:t>
            </a:r>
            <a:r>
              <a:rPr lang="en-US" sz="1000" dirty="0" err="1">
                <a:solidFill>
                  <a:srgbClr val="8F97B7"/>
                </a:solidFill>
              </a:rPr>
              <a:t>euismod</a:t>
            </a:r>
            <a:r>
              <a:rPr lang="en-US" sz="1000" dirty="0">
                <a:solidFill>
                  <a:srgbClr val="8F97B7"/>
                </a:solidFill>
              </a:rPr>
              <a:t> </a:t>
            </a:r>
            <a:r>
              <a:rPr lang="en-US" sz="1000" dirty="0" err="1">
                <a:solidFill>
                  <a:srgbClr val="8F97B7"/>
                </a:solidFill>
              </a:rPr>
              <a:t>tortor</a:t>
            </a:r>
            <a:r>
              <a:rPr lang="en-US" sz="1000" dirty="0">
                <a:solidFill>
                  <a:srgbClr val="8F97B7"/>
                </a:solidFill>
              </a:rPr>
              <a:t>. Maecenas </a:t>
            </a:r>
            <a:r>
              <a:rPr lang="en-US" sz="1000" dirty="0" err="1">
                <a:solidFill>
                  <a:srgbClr val="8F97B7"/>
                </a:solidFill>
              </a:rPr>
              <a:t>pretium</a:t>
            </a:r>
            <a:r>
              <a:rPr lang="en-US" sz="1000" dirty="0">
                <a:solidFill>
                  <a:srgbClr val="8F97B7"/>
                </a:solidFill>
              </a:rPr>
              <a:t> </a:t>
            </a:r>
            <a:r>
              <a:rPr lang="en-US" sz="1000" dirty="0" err="1">
                <a:solidFill>
                  <a:srgbClr val="8F97B7"/>
                </a:solidFill>
              </a:rPr>
              <a:t>ultrices</a:t>
            </a:r>
            <a:r>
              <a:rPr lang="en-US" sz="1000" dirty="0">
                <a:solidFill>
                  <a:srgbClr val="8F97B7"/>
                </a:solidFill>
              </a:rPr>
              <a:t> </a:t>
            </a:r>
            <a:r>
              <a:rPr lang="en-US" sz="1000" dirty="0" err="1">
                <a:solidFill>
                  <a:srgbClr val="8F97B7"/>
                </a:solidFill>
              </a:rPr>
              <a:t>rutrum</a:t>
            </a:r>
            <a:r>
              <a:rPr lang="en-US" sz="1000" dirty="0">
                <a:solidFill>
                  <a:srgbClr val="8F97B7"/>
                </a:solidFill>
              </a:rPr>
              <a:t>. Cras </a:t>
            </a:r>
            <a:r>
              <a:rPr lang="en-US" sz="1000" dirty="0" err="1">
                <a:solidFill>
                  <a:srgbClr val="8F97B7"/>
                </a:solidFill>
              </a:rPr>
              <a:t>bibendum</a:t>
            </a:r>
            <a:r>
              <a:rPr lang="en-US" sz="1000" dirty="0">
                <a:solidFill>
                  <a:srgbClr val="8F97B7"/>
                </a:solidFill>
              </a:rPr>
              <a:t>, lorem sit </a:t>
            </a:r>
            <a:r>
              <a:rPr lang="en-US" sz="1000" dirty="0" err="1">
                <a:solidFill>
                  <a:srgbClr val="8F97B7"/>
                </a:solidFill>
              </a:rPr>
              <a:t>amet</a:t>
            </a:r>
            <a:r>
              <a:rPr lang="en-US" sz="1000" dirty="0">
                <a:solidFill>
                  <a:srgbClr val="8F97B7"/>
                </a:solidFill>
              </a:rPr>
              <a:t> </a:t>
            </a:r>
            <a:r>
              <a:rPr lang="en-US" sz="1000" dirty="0" err="1">
                <a:solidFill>
                  <a:srgbClr val="8F97B7"/>
                </a:solidFill>
              </a:rPr>
              <a:t>euismod</a:t>
            </a:r>
            <a:r>
              <a:rPr lang="en-US" sz="1000" dirty="0">
                <a:solidFill>
                  <a:srgbClr val="8F97B7"/>
                </a:solidFill>
              </a:rPr>
              <a:t> </a:t>
            </a:r>
            <a:r>
              <a:rPr lang="en-US" sz="1000" dirty="0" err="1">
                <a:solidFill>
                  <a:srgbClr val="8F97B7"/>
                </a:solidFill>
              </a:rPr>
              <a:t>elementum</a:t>
            </a:r>
            <a:r>
              <a:rPr lang="en-US" sz="1000" dirty="0">
                <a:solidFill>
                  <a:srgbClr val="8F97B7"/>
                </a:solidFill>
              </a:rPr>
              <a:t>, </a:t>
            </a:r>
            <a:r>
              <a:rPr lang="en-US" sz="1000" dirty="0" err="1">
                <a:solidFill>
                  <a:srgbClr val="8F97B7"/>
                </a:solidFill>
              </a:rPr>
              <a:t>quam</a:t>
            </a:r>
            <a:r>
              <a:rPr lang="en-US" sz="1000" dirty="0">
                <a:solidFill>
                  <a:srgbClr val="8F97B7"/>
                </a:solidFill>
              </a:rPr>
              <a:t> </a:t>
            </a:r>
            <a:r>
              <a:rPr lang="en-US" sz="1000" dirty="0" err="1">
                <a:solidFill>
                  <a:srgbClr val="8F97B7"/>
                </a:solidFill>
              </a:rPr>
              <a:t>velit</a:t>
            </a:r>
            <a:r>
              <a:rPr lang="en-US" sz="1000" dirty="0">
                <a:solidFill>
                  <a:srgbClr val="8F97B7"/>
                </a:solidFill>
              </a:rPr>
              <a:t> </a:t>
            </a:r>
            <a:r>
              <a:rPr lang="en-US" sz="1000" dirty="0" err="1">
                <a:solidFill>
                  <a:srgbClr val="8F97B7"/>
                </a:solidFill>
              </a:rPr>
              <a:t>lobortis</a:t>
            </a:r>
            <a:r>
              <a:rPr lang="en-US" sz="1000" dirty="0">
                <a:solidFill>
                  <a:srgbClr val="8F97B7"/>
                </a:solidFill>
              </a:rPr>
              <a:t> ex, a </a:t>
            </a:r>
            <a:r>
              <a:rPr lang="en-US" sz="1000" dirty="0" err="1">
                <a:solidFill>
                  <a:srgbClr val="8F97B7"/>
                </a:solidFill>
              </a:rPr>
              <a:t>commodo</a:t>
            </a:r>
            <a:r>
              <a:rPr lang="en-US" sz="1000" dirty="0">
                <a:solidFill>
                  <a:srgbClr val="8F97B7"/>
                </a:solidFill>
              </a:rPr>
              <a:t> </a:t>
            </a:r>
            <a:r>
              <a:rPr lang="en-US" sz="1000" dirty="0" err="1">
                <a:solidFill>
                  <a:srgbClr val="8F97B7"/>
                </a:solidFill>
              </a:rPr>
              <a:t>sem</a:t>
            </a:r>
            <a:r>
              <a:rPr lang="en-US" sz="1000" dirty="0">
                <a:solidFill>
                  <a:srgbClr val="8F97B7"/>
                </a:solidFill>
              </a:rPr>
              <a:t> </a:t>
            </a:r>
            <a:r>
              <a:rPr lang="en-US" sz="1000" dirty="0" err="1">
                <a:solidFill>
                  <a:srgbClr val="8F97B7"/>
                </a:solidFill>
              </a:rPr>
              <a:t>neque</a:t>
            </a:r>
            <a:r>
              <a:rPr lang="en-US" sz="1000" dirty="0">
                <a:solidFill>
                  <a:srgbClr val="8F97B7"/>
                </a:solidFill>
              </a:rPr>
              <a:t> in </a:t>
            </a:r>
            <a:r>
              <a:rPr lang="en-US" sz="1000" dirty="0" err="1">
                <a:solidFill>
                  <a:srgbClr val="8F97B7"/>
                </a:solidFill>
              </a:rPr>
              <a:t>turpis</a:t>
            </a:r>
            <a:r>
              <a:rPr lang="en-US" sz="1000" dirty="0">
                <a:solidFill>
                  <a:srgbClr val="8F97B7"/>
                </a:solidFill>
              </a:rPr>
              <a:t>. </a:t>
            </a:r>
          </a:p>
          <a:p>
            <a:endParaRPr lang="en-US" sz="1000" dirty="0">
              <a:solidFill>
                <a:srgbClr val="8F97B7"/>
              </a:solidFill>
            </a:endParaRPr>
          </a:p>
          <a:p>
            <a:r>
              <a:rPr lang="en-US" sz="1000" dirty="0">
                <a:solidFill>
                  <a:srgbClr val="8F97B7"/>
                </a:solidFill>
              </a:rPr>
              <a:t>Proin a </a:t>
            </a:r>
            <a:r>
              <a:rPr lang="en-US" sz="1000" dirty="0" err="1">
                <a:solidFill>
                  <a:srgbClr val="8F97B7"/>
                </a:solidFill>
              </a:rPr>
              <a:t>massa</a:t>
            </a:r>
            <a:r>
              <a:rPr lang="en-US" sz="1000" dirty="0">
                <a:solidFill>
                  <a:srgbClr val="8F97B7"/>
                </a:solidFill>
              </a:rPr>
              <a:t> </a:t>
            </a:r>
            <a:r>
              <a:rPr lang="en-US" sz="1000" dirty="0" err="1">
                <a:solidFill>
                  <a:srgbClr val="8F97B7"/>
                </a:solidFill>
              </a:rPr>
              <a:t>eget</a:t>
            </a:r>
            <a:r>
              <a:rPr lang="en-US" sz="1000" dirty="0">
                <a:solidFill>
                  <a:srgbClr val="8F97B7"/>
                </a:solidFill>
              </a:rPr>
              <a:t> </a:t>
            </a:r>
            <a:r>
              <a:rPr lang="en-US" sz="1000" dirty="0" err="1">
                <a:solidFill>
                  <a:srgbClr val="8F97B7"/>
                </a:solidFill>
              </a:rPr>
              <a:t>sapien</a:t>
            </a:r>
            <a:r>
              <a:rPr lang="en-US" sz="1000" dirty="0">
                <a:solidFill>
                  <a:srgbClr val="8F97B7"/>
                </a:solidFill>
              </a:rPr>
              <a:t> </a:t>
            </a:r>
            <a:r>
              <a:rPr lang="en-US" sz="1000" dirty="0" err="1">
                <a:solidFill>
                  <a:srgbClr val="8F97B7"/>
                </a:solidFill>
              </a:rPr>
              <a:t>sagittis</a:t>
            </a:r>
            <a:r>
              <a:rPr lang="en-US" sz="1000" dirty="0">
                <a:solidFill>
                  <a:srgbClr val="8F97B7"/>
                </a:solidFill>
              </a:rPr>
              <a:t> convallis. </a:t>
            </a:r>
            <a:r>
              <a:rPr lang="en-US" sz="1000" dirty="0" err="1">
                <a:solidFill>
                  <a:srgbClr val="8F97B7"/>
                </a:solidFill>
              </a:rPr>
              <a:t>Suspendisse</a:t>
            </a:r>
            <a:r>
              <a:rPr lang="en-US" sz="1000" dirty="0">
                <a:solidFill>
                  <a:srgbClr val="8F97B7"/>
                </a:solidFill>
              </a:rPr>
              <a:t> </a:t>
            </a:r>
            <a:r>
              <a:rPr lang="en-US" sz="1000" dirty="0" err="1">
                <a:solidFill>
                  <a:srgbClr val="8F97B7"/>
                </a:solidFill>
              </a:rPr>
              <a:t>commodo</a:t>
            </a:r>
            <a:r>
              <a:rPr lang="en-US" sz="1000" dirty="0">
                <a:solidFill>
                  <a:srgbClr val="8F97B7"/>
                </a:solidFill>
              </a:rPr>
              <a:t> </a:t>
            </a:r>
            <a:r>
              <a:rPr lang="en-US" sz="1000" dirty="0" err="1">
                <a:solidFill>
                  <a:srgbClr val="8F97B7"/>
                </a:solidFill>
              </a:rPr>
              <a:t>elit</a:t>
            </a:r>
            <a:r>
              <a:rPr lang="en-US" sz="1000" dirty="0">
                <a:solidFill>
                  <a:srgbClr val="8F97B7"/>
                </a:solidFill>
              </a:rPr>
              <a:t> </a:t>
            </a:r>
            <a:r>
              <a:rPr lang="en-US" sz="1000" dirty="0" err="1">
                <a:solidFill>
                  <a:srgbClr val="8F97B7"/>
                </a:solidFill>
              </a:rPr>
              <a:t>quis</a:t>
            </a:r>
            <a:r>
              <a:rPr lang="en-US" sz="1000" dirty="0">
                <a:solidFill>
                  <a:srgbClr val="8F97B7"/>
                </a:solidFill>
              </a:rPr>
              <a:t> </a:t>
            </a:r>
            <a:r>
              <a:rPr lang="en-US" sz="1000" dirty="0" err="1">
                <a:solidFill>
                  <a:srgbClr val="8F97B7"/>
                </a:solidFill>
              </a:rPr>
              <a:t>arcu</a:t>
            </a:r>
            <a:r>
              <a:rPr lang="en-US" sz="1000" dirty="0">
                <a:solidFill>
                  <a:srgbClr val="8F97B7"/>
                </a:solidFill>
              </a:rPr>
              <a:t> dictum porta. Sed </a:t>
            </a:r>
            <a:r>
              <a:rPr lang="en-US" sz="1000" dirty="0" err="1">
                <a:solidFill>
                  <a:srgbClr val="8F97B7"/>
                </a:solidFill>
              </a:rPr>
              <a:t>consequat</a:t>
            </a:r>
            <a:r>
              <a:rPr lang="en-US" sz="1000" dirty="0">
                <a:solidFill>
                  <a:srgbClr val="8F97B7"/>
                </a:solidFill>
              </a:rPr>
              <a:t> </a:t>
            </a:r>
            <a:r>
              <a:rPr lang="en-US" sz="1000" dirty="0" err="1">
                <a:solidFill>
                  <a:srgbClr val="8F97B7"/>
                </a:solidFill>
              </a:rPr>
              <a:t>ullamcorper</a:t>
            </a:r>
            <a:r>
              <a:rPr lang="en-US" sz="1000" dirty="0">
                <a:solidFill>
                  <a:srgbClr val="8F97B7"/>
                </a:solidFill>
              </a:rPr>
              <a:t> eros, id……..</a:t>
            </a:r>
          </a:p>
        </p:txBody>
      </p:sp>
      <p:pic>
        <p:nvPicPr>
          <p:cNvPr id="80" name="Graphic 79" descr="Pencil with solid fill">
            <a:extLst>
              <a:ext uri="{FF2B5EF4-FFF2-40B4-BE49-F238E27FC236}">
                <a16:creationId xmlns:a16="http://schemas.microsoft.com/office/drawing/2014/main" id="{B9C75A62-0098-5ECB-F14F-76988C8EC279}"/>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935234" y="5734346"/>
            <a:ext cx="258055" cy="258055"/>
          </a:xfrm>
          <a:prstGeom prst="rect">
            <a:avLst/>
          </a:prstGeom>
        </p:spPr>
      </p:pic>
      <p:cxnSp>
        <p:nvCxnSpPr>
          <p:cNvPr id="20" name="Straight Arrow Connector 19">
            <a:extLst>
              <a:ext uri="{FF2B5EF4-FFF2-40B4-BE49-F238E27FC236}">
                <a16:creationId xmlns:a16="http://schemas.microsoft.com/office/drawing/2014/main" id="{F5DE0946-B4C0-E0F9-9E4B-44311AA93950}"/>
              </a:ext>
            </a:extLst>
          </p:cNvPr>
          <p:cNvCxnSpPr>
            <a:cxnSpLocks/>
            <a:stCxn id="68" idx="1"/>
          </p:cNvCxnSpPr>
          <p:nvPr/>
        </p:nvCxnSpPr>
        <p:spPr>
          <a:xfrm flipH="1">
            <a:off x="3606112" y="948366"/>
            <a:ext cx="1154353" cy="405783"/>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Tree>
    <p:extLst>
      <p:ext uri="{BB962C8B-B14F-4D97-AF65-F5344CB8AC3E}">
        <p14:creationId xmlns:p14="http://schemas.microsoft.com/office/powerpoint/2010/main" val="3226288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E1C2D"/>
        </a:solidFill>
        <a:effectLst/>
      </p:bgPr>
    </p:bg>
    <p:spTree>
      <p:nvGrpSpPr>
        <p:cNvPr id="1" name="">
          <a:extLst>
            <a:ext uri="{FF2B5EF4-FFF2-40B4-BE49-F238E27FC236}">
              <a16:creationId xmlns:a16="http://schemas.microsoft.com/office/drawing/2014/main" id="{E8F83996-48D3-0025-EB53-8CBB5426E276}"/>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897BA4EA-8B09-4A8D-F7B1-3E0952475D3A}"/>
              </a:ext>
            </a:extLst>
          </p:cNvPr>
          <p:cNvSpPr/>
          <p:nvPr/>
        </p:nvSpPr>
        <p:spPr>
          <a:xfrm>
            <a:off x="503403" y="1334840"/>
            <a:ext cx="2218513" cy="1071163"/>
          </a:xfrm>
          <a:prstGeom prst="roundRect">
            <a:avLst>
              <a:gd name="adj" fmla="val 15806"/>
            </a:avLst>
          </a:prstGeom>
          <a:no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ADB9C4C5-6081-FDA7-7E4B-A5484DC8E25E}"/>
              </a:ext>
            </a:extLst>
          </p:cNvPr>
          <p:cNvSpPr txBox="1"/>
          <p:nvPr/>
        </p:nvSpPr>
        <p:spPr>
          <a:xfrm>
            <a:off x="516531" y="677075"/>
            <a:ext cx="2514919" cy="553998"/>
          </a:xfrm>
          <a:prstGeom prst="rect">
            <a:avLst/>
          </a:prstGeom>
          <a:noFill/>
        </p:spPr>
        <p:txBody>
          <a:bodyPr wrap="none" rtlCol="0">
            <a:spAutoFit/>
          </a:bodyPr>
          <a:lstStyle/>
          <a:p>
            <a:r>
              <a:rPr lang="en-US" dirty="0">
                <a:solidFill>
                  <a:srgbClr val="E1E1E1"/>
                </a:solidFill>
              </a:rPr>
              <a:t>Project: </a:t>
            </a:r>
            <a:r>
              <a:rPr lang="en-US" dirty="0">
                <a:solidFill>
                  <a:srgbClr val="FFC300"/>
                </a:solidFill>
              </a:rPr>
              <a:t>{</a:t>
            </a:r>
            <a:r>
              <a:rPr lang="en-US" dirty="0" err="1">
                <a:solidFill>
                  <a:srgbClr val="FFC300"/>
                </a:solidFill>
              </a:rPr>
              <a:t>project_name</a:t>
            </a:r>
            <a:r>
              <a:rPr lang="en-US" dirty="0">
                <a:solidFill>
                  <a:srgbClr val="FFC300"/>
                </a:solidFill>
              </a:rPr>
              <a:t>}</a:t>
            </a:r>
          </a:p>
          <a:p>
            <a:r>
              <a:rPr lang="en-US" sz="1200" dirty="0">
                <a:solidFill>
                  <a:srgbClr val="8F97B7"/>
                </a:solidFill>
              </a:rPr>
              <a:t>Project ID: {</a:t>
            </a:r>
            <a:r>
              <a:rPr lang="en-US" sz="1200" dirty="0" err="1">
                <a:solidFill>
                  <a:srgbClr val="8F97B7"/>
                </a:solidFill>
              </a:rPr>
              <a:t>full_UUID</a:t>
            </a:r>
            <a:r>
              <a:rPr lang="en-US" sz="1200" dirty="0">
                <a:solidFill>
                  <a:srgbClr val="8F97B7"/>
                </a:solidFill>
              </a:rPr>
              <a:t>}</a:t>
            </a:r>
          </a:p>
        </p:txBody>
      </p:sp>
      <p:sp>
        <p:nvSpPr>
          <p:cNvPr id="3" name="Rectangle: Rounded Corners 2">
            <a:extLst>
              <a:ext uri="{FF2B5EF4-FFF2-40B4-BE49-F238E27FC236}">
                <a16:creationId xmlns:a16="http://schemas.microsoft.com/office/drawing/2014/main" id="{47E1324F-70CD-12BA-6FF2-88C3AB0B4393}"/>
              </a:ext>
            </a:extLst>
          </p:cNvPr>
          <p:cNvSpPr/>
          <p:nvPr/>
        </p:nvSpPr>
        <p:spPr>
          <a:xfrm>
            <a:off x="1643382" y="1342292"/>
            <a:ext cx="1805578" cy="969932"/>
          </a:xfrm>
          <a:prstGeom prst="roundRect">
            <a:avLst>
              <a:gd name="adj" fmla="val 17766"/>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EFD9893-8D96-64A9-922B-333DCD6606BA}"/>
              </a:ext>
            </a:extLst>
          </p:cNvPr>
          <p:cNvSpPr txBox="1"/>
          <p:nvPr/>
        </p:nvSpPr>
        <p:spPr>
          <a:xfrm>
            <a:off x="682981" y="1327205"/>
            <a:ext cx="929678" cy="369332"/>
          </a:xfrm>
          <a:prstGeom prst="rect">
            <a:avLst/>
          </a:prstGeom>
          <a:noFill/>
        </p:spPr>
        <p:txBody>
          <a:bodyPr wrap="none" rtlCol="0">
            <a:spAutoFit/>
          </a:bodyPr>
          <a:lstStyle/>
          <a:p>
            <a:r>
              <a:rPr lang="en-US" dirty="0">
                <a:solidFill>
                  <a:srgbClr val="1E3147"/>
                </a:solidFill>
              </a:rPr>
              <a:t>Launch</a:t>
            </a:r>
          </a:p>
        </p:txBody>
      </p:sp>
      <p:sp>
        <p:nvSpPr>
          <p:cNvPr id="6" name="Rectangle: Rounded Corners 5">
            <a:extLst>
              <a:ext uri="{FF2B5EF4-FFF2-40B4-BE49-F238E27FC236}">
                <a16:creationId xmlns:a16="http://schemas.microsoft.com/office/drawing/2014/main" id="{35AEB734-7B17-11FF-0CD0-9AF75298034B}"/>
              </a:ext>
            </a:extLst>
          </p:cNvPr>
          <p:cNvSpPr/>
          <p:nvPr/>
        </p:nvSpPr>
        <p:spPr>
          <a:xfrm>
            <a:off x="503403" y="1668256"/>
            <a:ext cx="11185191" cy="3476117"/>
          </a:xfrm>
          <a:prstGeom prst="roundRect">
            <a:avLst>
              <a:gd name="adj" fmla="val 5962"/>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F347B7AD-3E0A-E77A-59A7-C4D175325942}"/>
              </a:ext>
            </a:extLst>
          </p:cNvPr>
          <p:cNvSpPr/>
          <p:nvPr/>
        </p:nvSpPr>
        <p:spPr>
          <a:xfrm>
            <a:off x="1654808" y="1622562"/>
            <a:ext cx="1787171" cy="287650"/>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E006B94-CAB3-6BDE-6A85-01EA0530A29C}"/>
              </a:ext>
            </a:extLst>
          </p:cNvPr>
          <p:cNvSpPr/>
          <p:nvPr/>
        </p:nvSpPr>
        <p:spPr>
          <a:xfrm>
            <a:off x="758606" y="2617315"/>
            <a:ext cx="293929" cy="306770"/>
          </a:xfrm>
          <a:prstGeom prst="ellipse">
            <a:avLst/>
          </a:prstGeom>
          <a:solidFill>
            <a:srgbClr val="A9866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1D35F879-AD2F-7EE9-1C9B-5F848ADC14EC}"/>
              </a:ext>
            </a:extLst>
          </p:cNvPr>
          <p:cNvSpPr txBox="1"/>
          <p:nvPr/>
        </p:nvSpPr>
        <p:spPr>
          <a:xfrm>
            <a:off x="1899316" y="1330953"/>
            <a:ext cx="1444177" cy="369332"/>
          </a:xfrm>
          <a:prstGeom prst="rect">
            <a:avLst/>
          </a:prstGeom>
          <a:noFill/>
        </p:spPr>
        <p:txBody>
          <a:bodyPr wrap="square" rtlCol="0">
            <a:spAutoFit/>
          </a:bodyPr>
          <a:lstStyle/>
          <a:p>
            <a:r>
              <a:rPr lang="en-US" dirty="0">
                <a:solidFill>
                  <a:srgbClr val="8F97B7"/>
                </a:solidFill>
              </a:rPr>
              <a:t>Implement</a:t>
            </a:r>
          </a:p>
        </p:txBody>
      </p:sp>
      <p:sp>
        <p:nvSpPr>
          <p:cNvPr id="24" name="TextBox 23">
            <a:extLst>
              <a:ext uri="{FF2B5EF4-FFF2-40B4-BE49-F238E27FC236}">
                <a16:creationId xmlns:a16="http://schemas.microsoft.com/office/drawing/2014/main" id="{96693FDD-E8DA-AE17-639D-05BFF1E0F2C9}"/>
              </a:ext>
            </a:extLst>
          </p:cNvPr>
          <p:cNvSpPr txBox="1"/>
          <p:nvPr/>
        </p:nvSpPr>
        <p:spPr>
          <a:xfrm>
            <a:off x="738137" y="2624295"/>
            <a:ext cx="460382" cy="282316"/>
          </a:xfrm>
          <a:prstGeom prst="rect">
            <a:avLst/>
          </a:prstGeom>
          <a:noFill/>
        </p:spPr>
        <p:txBody>
          <a:bodyPr wrap="square" rtlCol="0">
            <a:spAutoFit/>
          </a:bodyPr>
          <a:lstStyle/>
          <a:p>
            <a:r>
              <a:rPr lang="en-US" sz="1200" b="1" dirty="0">
                <a:solidFill>
                  <a:srgbClr val="0E1C2D"/>
                </a:solidFill>
              </a:rPr>
              <a:t>Or</a:t>
            </a:r>
          </a:p>
        </p:txBody>
      </p:sp>
      <p:sp>
        <p:nvSpPr>
          <p:cNvPr id="27" name="TextBox 26">
            <a:extLst>
              <a:ext uri="{FF2B5EF4-FFF2-40B4-BE49-F238E27FC236}">
                <a16:creationId xmlns:a16="http://schemas.microsoft.com/office/drawing/2014/main" id="{5B91F27E-1B6C-C754-76B7-B29E1412C87D}"/>
              </a:ext>
            </a:extLst>
          </p:cNvPr>
          <p:cNvSpPr txBox="1"/>
          <p:nvPr/>
        </p:nvSpPr>
        <p:spPr>
          <a:xfrm>
            <a:off x="1184559" y="2638386"/>
            <a:ext cx="965329" cy="261610"/>
          </a:xfrm>
          <a:prstGeom prst="rect">
            <a:avLst/>
          </a:prstGeom>
          <a:noFill/>
        </p:spPr>
        <p:txBody>
          <a:bodyPr wrap="none" rtlCol="0">
            <a:spAutoFit/>
          </a:bodyPr>
          <a:lstStyle/>
          <a:p>
            <a:r>
              <a:rPr lang="en-US" sz="1100" dirty="0">
                <a:solidFill>
                  <a:srgbClr val="E1E1E1"/>
                </a:solidFill>
              </a:rPr>
              <a:t>Orchestrator</a:t>
            </a:r>
          </a:p>
        </p:txBody>
      </p:sp>
      <p:pic>
        <p:nvPicPr>
          <p:cNvPr id="29" name="Graphic 28" descr="Information with solid fill">
            <a:extLst>
              <a:ext uri="{FF2B5EF4-FFF2-40B4-BE49-F238E27FC236}">
                <a16:creationId xmlns:a16="http://schemas.microsoft.com/office/drawing/2014/main" id="{EC8B64A1-8A80-500C-C8E3-E59C4FEF134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3975" y="2661152"/>
            <a:ext cx="193473" cy="193473"/>
          </a:xfrm>
          <a:prstGeom prst="rect">
            <a:avLst/>
          </a:prstGeom>
        </p:spPr>
      </p:pic>
      <p:sp>
        <p:nvSpPr>
          <p:cNvPr id="16" name="TextBox 15">
            <a:extLst>
              <a:ext uri="{FF2B5EF4-FFF2-40B4-BE49-F238E27FC236}">
                <a16:creationId xmlns:a16="http://schemas.microsoft.com/office/drawing/2014/main" id="{ED34DD46-2582-6341-6889-6642ED3AB349}"/>
              </a:ext>
            </a:extLst>
          </p:cNvPr>
          <p:cNvSpPr txBox="1"/>
          <p:nvPr/>
        </p:nvSpPr>
        <p:spPr>
          <a:xfrm>
            <a:off x="1226477" y="3087372"/>
            <a:ext cx="705642" cy="261610"/>
          </a:xfrm>
          <a:prstGeom prst="rect">
            <a:avLst/>
          </a:prstGeom>
          <a:noFill/>
        </p:spPr>
        <p:txBody>
          <a:bodyPr wrap="none" rtlCol="0">
            <a:spAutoFit/>
          </a:bodyPr>
          <a:lstStyle>
            <a:defPPr>
              <a:defRPr lang="en-US"/>
            </a:defPPr>
            <a:lvl1pPr>
              <a:defRPr sz="1100">
                <a:solidFill>
                  <a:srgbClr val="E1E1E1"/>
                </a:solidFill>
              </a:defRPr>
            </a:lvl1pPr>
          </a:lstStyle>
          <a:p>
            <a:r>
              <a:rPr lang="en-US" dirty="0"/>
              <a:t>Analyzer</a:t>
            </a:r>
          </a:p>
        </p:txBody>
      </p:sp>
      <p:cxnSp>
        <p:nvCxnSpPr>
          <p:cNvPr id="75" name="Straight Connector 74">
            <a:extLst>
              <a:ext uri="{FF2B5EF4-FFF2-40B4-BE49-F238E27FC236}">
                <a16:creationId xmlns:a16="http://schemas.microsoft.com/office/drawing/2014/main" id="{03008DDB-87A9-8958-4DF6-DCAB1E455C26}"/>
              </a:ext>
            </a:extLst>
          </p:cNvPr>
          <p:cNvCxnSpPr>
            <a:cxnSpLocks/>
          </p:cNvCxnSpPr>
          <p:nvPr/>
        </p:nvCxnSpPr>
        <p:spPr>
          <a:xfrm>
            <a:off x="652293" y="2505875"/>
            <a:ext cx="10203544" cy="6404"/>
          </a:xfrm>
          <a:prstGeom prst="line">
            <a:avLst/>
          </a:prstGeom>
          <a:ln>
            <a:solidFill>
              <a:srgbClr val="1E3147"/>
            </a:solidFill>
          </a:ln>
        </p:spPr>
        <p:style>
          <a:lnRef idx="2">
            <a:schemeClr val="accent1"/>
          </a:lnRef>
          <a:fillRef idx="0">
            <a:schemeClr val="accent1"/>
          </a:fillRef>
          <a:effectRef idx="1">
            <a:schemeClr val="accent1"/>
          </a:effectRef>
          <a:fontRef idx="minor">
            <a:schemeClr val="tx1"/>
          </a:fontRef>
        </p:style>
      </p:cxnSp>
      <p:sp>
        <p:nvSpPr>
          <p:cNvPr id="77" name="TextBox 76">
            <a:extLst>
              <a:ext uri="{FF2B5EF4-FFF2-40B4-BE49-F238E27FC236}">
                <a16:creationId xmlns:a16="http://schemas.microsoft.com/office/drawing/2014/main" id="{8A2EC5B7-D9BD-21D5-9BEF-9A33245B3D3A}"/>
              </a:ext>
            </a:extLst>
          </p:cNvPr>
          <p:cNvSpPr txBox="1"/>
          <p:nvPr/>
        </p:nvSpPr>
        <p:spPr>
          <a:xfrm>
            <a:off x="1274326" y="2217384"/>
            <a:ext cx="785793" cy="246221"/>
          </a:xfrm>
          <a:prstGeom prst="rect">
            <a:avLst/>
          </a:prstGeom>
          <a:noFill/>
        </p:spPr>
        <p:txBody>
          <a:bodyPr wrap="none" rtlCol="0">
            <a:spAutoFit/>
          </a:bodyPr>
          <a:lstStyle/>
          <a:p>
            <a:pPr algn="ctr"/>
            <a:r>
              <a:rPr lang="en-US" sz="1000" dirty="0">
                <a:solidFill>
                  <a:srgbClr val="E1E1E1"/>
                </a:solidFill>
              </a:rPr>
              <a:t>Agent Type</a:t>
            </a:r>
          </a:p>
        </p:txBody>
      </p:sp>
      <p:sp>
        <p:nvSpPr>
          <p:cNvPr id="78" name="TextBox 77">
            <a:extLst>
              <a:ext uri="{FF2B5EF4-FFF2-40B4-BE49-F238E27FC236}">
                <a16:creationId xmlns:a16="http://schemas.microsoft.com/office/drawing/2014/main" id="{84357432-35D4-5759-D2C5-09C9C669C136}"/>
              </a:ext>
            </a:extLst>
          </p:cNvPr>
          <p:cNvSpPr txBox="1"/>
          <p:nvPr/>
        </p:nvSpPr>
        <p:spPr>
          <a:xfrm>
            <a:off x="662149" y="1838089"/>
            <a:ext cx="1202573" cy="246221"/>
          </a:xfrm>
          <a:prstGeom prst="rect">
            <a:avLst/>
          </a:prstGeom>
          <a:noFill/>
        </p:spPr>
        <p:txBody>
          <a:bodyPr wrap="none" rtlCol="0">
            <a:spAutoFit/>
          </a:bodyPr>
          <a:lstStyle/>
          <a:p>
            <a:r>
              <a:rPr lang="en-US" sz="1000" dirty="0">
                <a:solidFill>
                  <a:srgbClr val="E1E1E1"/>
                </a:solidFill>
              </a:rPr>
              <a:t>Claude Subagents</a:t>
            </a:r>
          </a:p>
        </p:txBody>
      </p:sp>
      <p:sp>
        <p:nvSpPr>
          <p:cNvPr id="80" name="Rectangle: Rounded Corners 79">
            <a:extLst>
              <a:ext uri="{FF2B5EF4-FFF2-40B4-BE49-F238E27FC236}">
                <a16:creationId xmlns:a16="http://schemas.microsoft.com/office/drawing/2014/main" id="{40983A0D-9E8C-30AE-6B74-A6C90361DDBB}"/>
              </a:ext>
            </a:extLst>
          </p:cNvPr>
          <p:cNvSpPr/>
          <p:nvPr/>
        </p:nvSpPr>
        <p:spPr>
          <a:xfrm>
            <a:off x="1813390" y="1884175"/>
            <a:ext cx="336498" cy="182696"/>
          </a:xfrm>
          <a:prstGeom prst="roundRect">
            <a:avLst>
              <a:gd name="adj" fmla="val 50000"/>
            </a:avLst>
          </a:prstGeom>
          <a:solidFill>
            <a:srgbClr val="0E1C2D"/>
          </a:solid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a:extLst>
              <a:ext uri="{FF2B5EF4-FFF2-40B4-BE49-F238E27FC236}">
                <a16:creationId xmlns:a16="http://schemas.microsoft.com/office/drawing/2014/main" id="{C61DB27B-5548-E22C-04F0-86B525585DD9}"/>
              </a:ext>
            </a:extLst>
          </p:cNvPr>
          <p:cNvSpPr/>
          <p:nvPr/>
        </p:nvSpPr>
        <p:spPr>
          <a:xfrm>
            <a:off x="1962999" y="1883047"/>
            <a:ext cx="174503" cy="184050"/>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a:extLst>
              <a:ext uri="{FF2B5EF4-FFF2-40B4-BE49-F238E27FC236}">
                <a16:creationId xmlns:a16="http://schemas.microsoft.com/office/drawing/2014/main" id="{9A4495F2-8F9C-3698-30C4-365AB70E420F}"/>
              </a:ext>
            </a:extLst>
          </p:cNvPr>
          <p:cNvSpPr/>
          <p:nvPr/>
        </p:nvSpPr>
        <p:spPr>
          <a:xfrm>
            <a:off x="758606" y="3066408"/>
            <a:ext cx="293929" cy="306770"/>
          </a:xfrm>
          <a:prstGeom prst="ellipse">
            <a:avLst/>
          </a:prstGeom>
          <a:solidFill>
            <a:srgbClr val="A32A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83F048F2-C39F-8E60-5238-AD76AC28D392}"/>
              </a:ext>
            </a:extLst>
          </p:cNvPr>
          <p:cNvSpPr/>
          <p:nvPr/>
        </p:nvSpPr>
        <p:spPr>
          <a:xfrm>
            <a:off x="758606" y="3513494"/>
            <a:ext cx="293929" cy="306770"/>
          </a:xfrm>
          <a:prstGeom prst="ellipse">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E34A03B1-070E-55E9-5824-897EEDF235A1}"/>
              </a:ext>
            </a:extLst>
          </p:cNvPr>
          <p:cNvSpPr/>
          <p:nvPr/>
        </p:nvSpPr>
        <p:spPr>
          <a:xfrm>
            <a:off x="758606" y="3970226"/>
            <a:ext cx="293929" cy="306770"/>
          </a:xfrm>
          <a:prstGeom prst="ellipse">
            <a:avLst/>
          </a:prstGeom>
          <a:solidFill>
            <a:srgbClr val="FFC3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TextBox 88">
            <a:extLst>
              <a:ext uri="{FF2B5EF4-FFF2-40B4-BE49-F238E27FC236}">
                <a16:creationId xmlns:a16="http://schemas.microsoft.com/office/drawing/2014/main" id="{6CDDA088-84E4-57AC-DAED-17B5DE2518E3}"/>
              </a:ext>
            </a:extLst>
          </p:cNvPr>
          <p:cNvSpPr txBox="1"/>
          <p:nvPr/>
        </p:nvSpPr>
        <p:spPr>
          <a:xfrm>
            <a:off x="1226477" y="3532367"/>
            <a:ext cx="970137" cy="261610"/>
          </a:xfrm>
          <a:prstGeom prst="rect">
            <a:avLst/>
          </a:prstGeom>
          <a:noFill/>
        </p:spPr>
        <p:txBody>
          <a:bodyPr wrap="none" rtlCol="0">
            <a:spAutoFit/>
          </a:bodyPr>
          <a:lstStyle>
            <a:defPPr>
              <a:defRPr lang="en-US"/>
            </a:defPPr>
            <a:lvl1pPr>
              <a:defRPr sz="1100">
                <a:solidFill>
                  <a:srgbClr val="E1E1E1"/>
                </a:solidFill>
              </a:defRPr>
            </a:lvl1pPr>
          </a:lstStyle>
          <a:p>
            <a:r>
              <a:rPr lang="en-US" dirty="0"/>
              <a:t>Implementor</a:t>
            </a:r>
          </a:p>
        </p:txBody>
      </p:sp>
      <p:sp>
        <p:nvSpPr>
          <p:cNvPr id="90" name="TextBox 89">
            <a:extLst>
              <a:ext uri="{FF2B5EF4-FFF2-40B4-BE49-F238E27FC236}">
                <a16:creationId xmlns:a16="http://schemas.microsoft.com/office/drawing/2014/main" id="{80FE46A6-EB69-A1B6-3CC9-650A9FA2407D}"/>
              </a:ext>
            </a:extLst>
          </p:cNvPr>
          <p:cNvSpPr txBox="1"/>
          <p:nvPr/>
        </p:nvSpPr>
        <p:spPr>
          <a:xfrm>
            <a:off x="1245503" y="3998201"/>
            <a:ext cx="559769" cy="261610"/>
          </a:xfrm>
          <a:prstGeom prst="rect">
            <a:avLst/>
          </a:prstGeom>
          <a:noFill/>
        </p:spPr>
        <p:txBody>
          <a:bodyPr wrap="none" rtlCol="0">
            <a:spAutoFit/>
          </a:bodyPr>
          <a:lstStyle>
            <a:defPPr>
              <a:defRPr lang="en-US"/>
            </a:defPPr>
            <a:lvl1pPr>
              <a:defRPr sz="1100">
                <a:solidFill>
                  <a:srgbClr val="E1E1E1"/>
                </a:solidFill>
              </a:defRPr>
            </a:lvl1pPr>
          </a:lstStyle>
          <a:p>
            <a:r>
              <a:rPr lang="en-US" dirty="0"/>
              <a:t>Tester</a:t>
            </a:r>
          </a:p>
        </p:txBody>
      </p:sp>
      <p:sp>
        <p:nvSpPr>
          <p:cNvPr id="91" name="TextBox 90">
            <a:extLst>
              <a:ext uri="{FF2B5EF4-FFF2-40B4-BE49-F238E27FC236}">
                <a16:creationId xmlns:a16="http://schemas.microsoft.com/office/drawing/2014/main" id="{B233418F-0A01-6307-5539-C63BC3FA3EA2}"/>
              </a:ext>
            </a:extLst>
          </p:cNvPr>
          <p:cNvSpPr txBox="1"/>
          <p:nvPr/>
        </p:nvSpPr>
        <p:spPr>
          <a:xfrm>
            <a:off x="4260936" y="2611055"/>
            <a:ext cx="683200" cy="261610"/>
          </a:xfrm>
          <a:prstGeom prst="rect">
            <a:avLst/>
          </a:prstGeom>
          <a:noFill/>
        </p:spPr>
        <p:txBody>
          <a:bodyPr wrap="none" rtlCol="0">
            <a:spAutoFit/>
          </a:bodyPr>
          <a:lstStyle/>
          <a:p>
            <a:r>
              <a:rPr lang="en-US" sz="1100" i="1" dirty="0">
                <a:solidFill>
                  <a:srgbClr val="FFC000"/>
                </a:solidFill>
              </a:rPr>
              <a:t>Waiting.</a:t>
            </a:r>
          </a:p>
        </p:txBody>
      </p:sp>
      <p:pic>
        <p:nvPicPr>
          <p:cNvPr id="93" name="Graphic 92" descr="Information with solid fill">
            <a:extLst>
              <a:ext uri="{FF2B5EF4-FFF2-40B4-BE49-F238E27FC236}">
                <a16:creationId xmlns:a16="http://schemas.microsoft.com/office/drawing/2014/main" id="{BE2D60BE-7757-02CD-3473-7D61E52875B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2365" y="3102069"/>
            <a:ext cx="193473" cy="193473"/>
          </a:xfrm>
          <a:prstGeom prst="rect">
            <a:avLst/>
          </a:prstGeom>
        </p:spPr>
      </p:pic>
      <p:pic>
        <p:nvPicPr>
          <p:cNvPr id="94" name="Graphic 93" descr="Information with solid fill">
            <a:extLst>
              <a:ext uri="{FF2B5EF4-FFF2-40B4-BE49-F238E27FC236}">
                <a16:creationId xmlns:a16="http://schemas.microsoft.com/office/drawing/2014/main" id="{426DDE94-503B-22DA-45E8-7A58EE6AF4A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2365" y="3553624"/>
            <a:ext cx="193473" cy="193473"/>
          </a:xfrm>
          <a:prstGeom prst="rect">
            <a:avLst/>
          </a:prstGeom>
        </p:spPr>
      </p:pic>
      <p:pic>
        <p:nvPicPr>
          <p:cNvPr id="95" name="Graphic 94" descr="Information with solid fill">
            <a:extLst>
              <a:ext uri="{FF2B5EF4-FFF2-40B4-BE49-F238E27FC236}">
                <a16:creationId xmlns:a16="http://schemas.microsoft.com/office/drawing/2014/main" id="{16B3594E-E7BD-1883-FEEE-464CC7A5C38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2364" y="4014063"/>
            <a:ext cx="193473" cy="193473"/>
          </a:xfrm>
          <a:prstGeom prst="rect">
            <a:avLst/>
          </a:prstGeom>
        </p:spPr>
      </p:pic>
      <p:sp>
        <p:nvSpPr>
          <p:cNvPr id="96" name="TextBox 95">
            <a:extLst>
              <a:ext uri="{FF2B5EF4-FFF2-40B4-BE49-F238E27FC236}">
                <a16:creationId xmlns:a16="http://schemas.microsoft.com/office/drawing/2014/main" id="{B42405A9-F88E-E4F3-3110-2EA53EC7E085}"/>
              </a:ext>
            </a:extLst>
          </p:cNvPr>
          <p:cNvSpPr txBox="1"/>
          <p:nvPr/>
        </p:nvSpPr>
        <p:spPr>
          <a:xfrm>
            <a:off x="729726" y="3076054"/>
            <a:ext cx="460382" cy="282316"/>
          </a:xfrm>
          <a:prstGeom prst="rect">
            <a:avLst/>
          </a:prstGeom>
          <a:noFill/>
        </p:spPr>
        <p:txBody>
          <a:bodyPr wrap="square" rtlCol="0">
            <a:spAutoFit/>
          </a:bodyPr>
          <a:lstStyle/>
          <a:p>
            <a:r>
              <a:rPr lang="en-US" sz="1200" b="1" dirty="0">
                <a:solidFill>
                  <a:srgbClr val="0E1C2D"/>
                </a:solidFill>
              </a:rPr>
              <a:t>An</a:t>
            </a:r>
          </a:p>
        </p:txBody>
      </p:sp>
      <p:sp>
        <p:nvSpPr>
          <p:cNvPr id="97" name="TextBox 96">
            <a:extLst>
              <a:ext uri="{FF2B5EF4-FFF2-40B4-BE49-F238E27FC236}">
                <a16:creationId xmlns:a16="http://schemas.microsoft.com/office/drawing/2014/main" id="{E5853718-844A-2065-8AD6-33AB82361578}"/>
              </a:ext>
            </a:extLst>
          </p:cNvPr>
          <p:cNvSpPr txBox="1"/>
          <p:nvPr/>
        </p:nvSpPr>
        <p:spPr>
          <a:xfrm>
            <a:off x="736070" y="3523140"/>
            <a:ext cx="460382" cy="282316"/>
          </a:xfrm>
          <a:prstGeom prst="rect">
            <a:avLst/>
          </a:prstGeom>
          <a:noFill/>
        </p:spPr>
        <p:txBody>
          <a:bodyPr wrap="square" rtlCol="0">
            <a:spAutoFit/>
          </a:bodyPr>
          <a:lstStyle/>
          <a:p>
            <a:r>
              <a:rPr lang="en-US" sz="1200" b="1" dirty="0" err="1">
                <a:solidFill>
                  <a:srgbClr val="0E1C2D"/>
                </a:solidFill>
              </a:rPr>
              <a:t>Im</a:t>
            </a:r>
            <a:endParaRPr lang="en-US" sz="1200" b="1" dirty="0">
              <a:solidFill>
                <a:srgbClr val="0E1C2D"/>
              </a:solidFill>
            </a:endParaRPr>
          </a:p>
        </p:txBody>
      </p:sp>
      <p:sp>
        <p:nvSpPr>
          <p:cNvPr id="98" name="TextBox 97">
            <a:extLst>
              <a:ext uri="{FF2B5EF4-FFF2-40B4-BE49-F238E27FC236}">
                <a16:creationId xmlns:a16="http://schemas.microsoft.com/office/drawing/2014/main" id="{ADA914AB-7BE8-69F9-8DDF-B0B37F368BEC}"/>
              </a:ext>
            </a:extLst>
          </p:cNvPr>
          <p:cNvSpPr txBox="1"/>
          <p:nvPr/>
        </p:nvSpPr>
        <p:spPr>
          <a:xfrm>
            <a:off x="736070" y="3989707"/>
            <a:ext cx="460382" cy="282316"/>
          </a:xfrm>
          <a:prstGeom prst="rect">
            <a:avLst/>
          </a:prstGeom>
          <a:noFill/>
        </p:spPr>
        <p:txBody>
          <a:bodyPr wrap="square" rtlCol="0">
            <a:spAutoFit/>
          </a:bodyPr>
          <a:lstStyle/>
          <a:p>
            <a:r>
              <a:rPr lang="en-US" sz="1200" b="1" dirty="0" err="1">
                <a:solidFill>
                  <a:srgbClr val="0E1C2D"/>
                </a:solidFill>
              </a:rPr>
              <a:t>Te</a:t>
            </a:r>
            <a:endParaRPr lang="en-US" sz="1200" b="1" dirty="0">
              <a:solidFill>
                <a:srgbClr val="0E1C2D"/>
              </a:solidFill>
            </a:endParaRPr>
          </a:p>
        </p:txBody>
      </p:sp>
      <p:sp>
        <p:nvSpPr>
          <p:cNvPr id="99" name="TextBox 98">
            <a:extLst>
              <a:ext uri="{FF2B5EF4-FFF2-40B4-BE49-F238E27FC236}">
                <a16:creationId xmlns:a16="http://schemas.microsoft.com/office/drawing/2014/main" id="{BAB3B439-4C5C-4FF6-DD1F-773D01670A50}"/>
              </a:ext>
            </a:extLst>
          </p:cNvPr>
          <p:cNvSpPr txBox="1"/>
          <p:nvPr/>
        </p:nvSpPr>
        <p:spPr>
          <a:xfrm>
            <a:off x="4193614" y="2214394"/>
            <a:ext cx="886781" cy="246221"/>
          </a:xfrm>
          <a:prstGeom prst="rect">
            <a:avLst/>
          </a:prstGeom>
          <a:noFill/>
        </p:spPr>
        <p:txBody>
          <a:bodyPr wrap="none" rtlCol="0">
            <a:spAutoFit/>
          </a:bodyPr>
          <a:lstStyle/>
          <a:p>
            <a:pPr algn="ctr"/>
            <a:r>
              <a:rPr lang="en-US" sz="1000" dirty="0">
                <a:solidFill>
                  <a:srgbClr val="E1E1E1"/>
                </a:solidFill>
              </a:rPr>
              <a:t>Agent Status</a:t>
            </a:r>
          </a:p>
        </p:txBody>
      </p:sp>
      <p:sp>
        <p:nvSpPr>
          <p:cNvPr id="100" name="TextBox 99">
            <a:extLst>
              <a:ext uri="{FF2B5EF4-FFF2-40B4-BE49-F238E27FC236}">
                <a16:creationId xmlns:a16="http://schemas.microsoft.com/office/drawing/2014/main" id="{881E63A7-AF2C-3764-8A4C-2BEB2B79FA89}"/>
              </a:ext>
            </a:extLst>
          </p:cNvPr>
          <p:cNvSpPr txBox="1"/>
          <p:nvPr/>
        </p:nvSpPr>
        <p:spPr>
          <a:xfrm>
            <a:off x="7929117" y="2092323"/>
            <a:ext cx="772505" cy="400110"/>
          </a:xfrm>
          <a:prstGeom prst="rect">
            <a:avLst/>
          </a:prstGeom>
          <a:noFill/>
        </p:spPr>
        <p:txBody>
          <a:bodyPr wrap="square" rtlCol="0">
            <a:spAutoFit/>
          </a:bodyPr>
          <a:lstStyle/>
          <a:p>
            <a:pPr algn="ctr"/>
            <a:r>
              <a:rPr lang="en-US" sz="1000" dirty="0">
                <a:solidFill>
                  <a:srgbClr val="E1E1E1"/>
                </a:solidFill>
              </a:rPr>
              <a:t>Messages waiting</a:t>
            </a:r>
          </a:p>
        </p:txBody>
      </p:sp>
      <p:sp>
        <p:nvSpPr>
          <p:cNvPr id="114" name="TextBox 113">
            <a:extLst>
              <a:ext uri="{FF2B5EF4-FFF2-40B4-BE49-F238E27FC236}">
                <a16:creationId xmlns:a16="http://schemas.microsoft.com/office/drawing/2014/main" id="{5AF6258E-D82A-E7B2-441D-996EC58BFA12}"/>
              </a:ext>
            </a:extLst>
          </p:cNvPr>
          <p:cNvSpPr txBox="1"/>
          <p:nvPr/>
        </p:nvSpPr>
        <p:spPr>
          <a:xfrm>
            <a:off x="7041082" y="2099303"/>
            <a:ext cx="772505" cy="400110"/>
          </a:xfrm>
          <a:prstGeom prst="rect">
            <a:avLst/>
          </a:prstGeom>
          <a:noFill/>
        </p:spPr>
        <p:txBody>
          <a:bodyPr wrap="square" rtlCol="0">
            <a:spAutoFit/>
          </a:bodyPr>
          <a:lstStyle/>
          <a:p>
            <a:pPr algn="ctr"/>
            <a:r>
              <a:rPr lang="en-US" sz="1000" dirty="0">
                <a:solidFill>
                  <a:srgbClr val="E1E1E1"/>
                </a:solidFill>
              </a:rPr>
              <a:t>Messages</a:t>
            </a:r>
          </a:p>
          <a:p>
            <a:pPr algn="ctr"/>
            <a:r>
              <a:rPr lang="en-US" sz="1000" dirty="0">
                <a:solidFill>
                  <a:srgbClr val="E1E1E1"/>
                </a:solidFill>
              </a:rPr>
              <a:t>Sent</a:t>
            </a:r>
          </a:p>
        </p:txBody>
      </p:sp>
      <p:sp>
        <p:nvSpPr>
          <p:cNvPr id="115" name="TextBox 114">
            <a:extLst>
              <a:ext uri="{FF2B5EF4-FFF2-40B4-BE49-F238E27FC236}">
                <a16:creationId xmlns:a16="http://schemas.microsoft.com/office/drawing/2014/main" id="{0F595976-913C-0AF5-3494-90737A0DA723}"/>
              </a:ext>
            </a:extLst>
          </p:cNvPr>
          <p:cNvSpPr txBox="1"/>
          <p:nvPr/>
        </p:nvSpPr>
        <p:spPr>
          <a:xfrm>
            <a:off x="8932682" y="2112169"/>
            <a:ext cx="751053" cy="400110"/>
          </a:xfrm>
          <a:prstGeom prst="rect">
            <a:avLst/>
          </a:prstGeom>
          <a:noFill/>
        </p:spPr>
        <p:txBody>
          <a:bodyPr wrap="square" rtlCol="0">
            <a:spAutoFit/>
          </a:bodyPr>
          <a:lstStyle/>
          <a:p>
            <a:pPr algn="ctr"/>
            <a:r>
              <a:rPr lang="en-US" sz="1000" dirty="0">
                <a:solidFill>
                  <a:srgbClr val="E1E1E1"/>
                </a:solidFill>
              </a:rPr>
              <a:t>Messages Read</a:t>
            </a:r>
          </a:p>
        </p:txBody>
      </p:sp>
      <p:pic>
        <p:nvPicPr>
          <p:cNvPr id="117" name="Graphic 116" descr="Chat with solid fill">
            <a:extLst>
              <a:ext uri="{FF2B5EF4-FFF2-40B4-BE49-F238E27FC236}">
                <a16:creationId xmlns:a16="http://schemas.microsoft.com/office/drawing/2014/main" id="{F110CF70-1780-09B3-1052-F666B858325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305301" y="2637658"/>
            <a:ext cx="261610" cy="261610"/>
          </a:xfrm>
          <a:prstGeom prst="rect">
            <a:avLst/>
          </a:prstGeom>
        </p:spPr>
      </p:pic>
      <p:pic>
        <p:nvPicPr>
          <p:cNvPr id="118" name="Graphic 117" descr="Chat with solid fill">
            <a:extLst>
              <a:ext uri="{FF2B5EF4-FFF2-40B4-BE49-F238E27FC236}">
                <a16:creationId xmlns:a16="http://schemas.microsoft.com/office/drawing/2014/main" id="{34DA8AAE-9693-60BA-CC5A-F7C07E5FA55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297189" y="3068000"/>
            <a:ext cx="261610" cy="261610"/>
          </a:xfrm>
          <a:prstGeom prst="rect">
            <a:avLst/>
          </a:prstGeom>
        </p:spPr>
      </p:pic>
      <p:pic>
        <p:nvPicPr>
          <p:cNvPr id="119" name="Graphic 118" descr="Chat with solid fill">
            <a:extLst>
              <a:ext uri="{FF2B5EF4-FFF2-40B4-BE49-F238E27FC236}">
                <a16:creationId xmlns:a16="http://schemas.microsoft.com/office/drawing/2014/main" id="{A8D0AF45-092B-FB90-8230-03B721D9630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297189" y="3527404"/>
            <a:ext cx="261610" cy="261610"/>
          </a:xfrm>
          <a:prstGeom prst="rect">
            <a:avLst/>
          </a:prstGeom>
        </p:spPr>
      </p:pic>
      <p:pic>
        <p:nvPicPr>
          <p:cNvPr id="120" name="Graphic 119" descr="Chat with solid fill">
            <a:extLst>
              <a:ext uri="{FF2B5EF4-FFF2-40B4-BE49-F238E27FC236}">
                <a16:creationId xmlns:a16="http://schemas.microsoft.com/office/drawing/2014/main" id="{997A7C7B-AF2C-7D6B-503C-5D47DD57FBB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310562" y="3991625"/>
            <a:ext cx="261610" cy="261610"/>
          </a:xfrm>
          <a:prstGeom prst="rect">
            <a:avLst/>
          </a:prstGeom>
        </p:spPr>
      </p:pic>
      <p:pic>
        <p:nvPicPr>
          <p:cNvPr id="137" name="Graphic 136" descr="Play with solid fill">
            <a:extLst>
              <a:ext uri="{FF2B5EF4-FFF2-40B4-BE49-F238E27FC236}">
                <a16:creationId xmlns:a16="http://schemas.microsoft.com/office/drawing/2014/main" id="{B98DEA94-F3ED-795E-90CC-16216291F66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00374" y="3545730"/>
            <a:ext cx="193474" cy="193474"/>
          </a:xfrm>
          <a:prstGeom prst="rect">
            <a:avLst/>
          </a:prstGeom>
        </p:spPr>
      </p:pic>
      <p:pic>
        <p:nvPicPr>
          <p:cNvPr id="138" name="Graphic 137" descr="Play with solid fill">
            <a:extLst>
              <a:ext uri="{FF2B5EF4-FFF2-40B4-BE49-F238E27FC236}">
                <a16:creationId xmlns:a16="http://schemas.microsoft.com/office/drawing/2014/main" id="{15513C89-6E2B-D074-6070-03C6951A9D8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02983" y="4004988"/>
            <a:ext cx="193474" cy="193474"/>
          </a:xfrm>
          <a:prstGeom prst="rect">
            <a:avLst/>
          </a:prstGeom>
        </p:spPr>
      </p:pic>
      <p:sp>
        <p:nvSpPr>
          <p:cNvPr id="23" name="TextBox 22">
            <a:extLst>
              <a:ext uri="{FF2B5EF4-FFF2-40B4-BE49-F238E27FC236}">
                <a16:creationId xmlns:a16="http://schemas.microsoft.com/office/drawing/2014/main" id="{18B366CE-48DD-AC67-6500-D5BEA1FFF26A}"/>
              </a:ext>
            </a:extLst>
          </p:cNvPr>
          <p:cNvSpPr txBox="1"/>
          <p:nvPr/>
        </p:nvSpPr>
        <p:spPr>
          <a:xfrm>
            <a:off x="2947872" y="2209718"/>
            <a:ext cx="649537" cy="246221"/>
          </a:xfrm>
          <a:prstGeom prst="rect">
            <a:avLst/>
          </a:prstGeom>
          <a:noFill/>
        </p:spPr>
        <p:txBody>
          <a:bodyPr wrap="none" rtlCol="0">
            <a:spAutoFit/>
          </a:bodyPr>
          <a:lstStyle/>
          <a:p>
            <a:pPr algn="ctr"/>
            <a:r>
              <a:rPr lang="en-US" sz="1000" dirty="0">
                <a:solidFill>
                  <a:srgbClr val="E1E1E1"/>
                </a:solidFill>
              </a:rPr>
              <a:t>Agent ID</a:t>
            </a:r>
          </a:p>
        </p:txBody>
      </p:sp>
      <p:sp>
        <p:nvSpPr>
          <p:cNvPr id="28" name="TextBox 27">
            <a:extLst>
              <a:ext uri="{FF2B5EF4-FFF2-40B4-BE49-F238E27FC236}">
                <a16:creationId xmlns:a16="http://schemas.microsoft.com/office/drawing/2014/main" id="{424C7622-1569-5C1E-DFB0-D9873DAD8641}"/>
              </a:ext>
            </a:extLst>
          </p:cNvPr>
          <p:cNvSpPr txBox="1"/>
          <p:nvPr/>
        </p:nvSpPr>
        <p:spPr>
          <a:xfrm>
            <a:off x="2647311" y="2620646"/>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0" name="TextBox 29">
            <a:extLst>
              <a:ext uri="{FF2B5EF4-FFF2-40B4-BE49-F238E27FC236}">
                <a16:creationId xmlns:a16="http://schemas.microsoft.com/office/drawing/2014/main" id="{68BB3529-51BD-581A-B710-AE9D4AD4C056}"/>
              </a:ext>
            </a:extLst>
          </p:cNvPr>
          <p:cNvSpPr txBox="1"/>
          <p:nvPr/>
        </p:nvSpPr>
        <p:spPr>
          <a:xfrm>
            <a:off x="2647311" y="3086580"/>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1" name="TextBox 30">
            <a:extLst>
              <a:ext uri="{FF2B5EF4-FFF2-40B4-BE49-F238E27FC236}">
                <a16:creationId xmlns:a16="http://schemas.microsoft.com/office/drawing/2014/main" id="{004E08CD-534A-E3DE-25D5-D4503B19E131}"/>
              </a:ext>
            </a:extLst>
          </p:cNvPr>
          <p:cNvSpPr txBox="1"/>
          <p:nvPr/>
        </p:nvSpPr>
        <p:spPr>
          <a:xfrm>
            <a:off x="2647311" y="3545730"/>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2" name="TextBox 31">
            <a:extLst>
              <a:ext uri="{FF2B5EF4-FFF2-40B4-BE49-F238E27FC236}">
                <a16:creationId xmlns:a16="http://schemas.microsoft.com/office/drawing/2014/main" id="{3CF70685-4AE1-1F01-D9DE-6AE37EEC2D06}"/>
              </a:ext>
            </a:extLst>
          </p:cNvPr>
          <p:cNvSpPr txBox="1"/>
          <p:nvPr/>
        </p:nvSpPr>
        <p:spPr>
          <a:xfrm>
            <a:off x="2636441" y="4004880"/>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3" name="TextBox 32">
            <a:extLst>
              <a:ext uri="{FF2B5EF4-FFF2-40B4-BE49-F238E27FC236}">
                <a16:creationId xmlns:a16="http://schemas.microsoft.com/office/drawing/2014/main" id="{42A25D0A-86A8-1470-11AE-F7503CB8D207}"/>
              </a:ext>
            </a:extLst>
          </p:cNvPr>
          <p:cNvSpPr txBox="1"/>
          <p:nvPr/>
        </p:nvSpPr>
        <p:spPr>
          <a:xfrm>
            <a:off x="5445208" y="2092323"/>
            <a:ext cx="772505" cy="400110"/>
          </a:xfrm>
          <a:prstGeom prst="rect">
            <a:avLst/>
          </a:prstGeom>
          <a:noFill/>
        </p:spPr>
        <p:txBody>
          <a:bodyPr wrap="square" rtlCol="0">
            <a:spAutoFit/>
          </a:bodyPr>
          <a:lstStyle/>
          <a:p>
            <a:pPr algn="ctr"/>
            <a:r>
              <a:rPr lang="en-US" sz="1000" dirty="0">
                <a:solidFill>
                  <a:srgbClr val="E1E1E1"/>
                </a:solidFill>
              </a:rPr>
              <a:t>Job </a:t>
            </a:r>
          </a:p>
          <a:p>
            <a:pPr algn="ctr"/>
            <a:r>
              <a:rPr lang="en-US" sz="1000" dirty="0">
                <a:solidFill>
                  <a:srgbClr val="E1E1E1"/>
                </a:solidFill>
              </a:rPr>
              <a:t>Read</a:t>
            </a:r>
          </a:p>
        </p:txBody>
      </p:sp>
      <p:sp>
        <p:nvSpPr>
          <p:cNvPr id="34" name="TextBox 33">
            <a:extLst>
              <a:ext uri="{FF2B5EF4-FFF2-40B4-BE49-F238E27FC236}">
                <a16:creationId xmlns:a16="http://schemas.microsoft.com/office/drawing/2014/main" id="{7A9C1B5C-6909-9ADA-9A57-ECF766A8C90E}"/>
              </a:ext>
            </a:extLst>
          </p:cNvPr>
          <p:cNvSpPr txBox="1"/>
          <p:nvPr/>
        </p:nvSpPr>
        <p:spPr>
          <a:xfrm>
            <a:off x="6129630" y="2105765"/>
            <a:ext cx="1037054" cy="400110"/>
          </a:xfrm>
          <a:prstGeom prst="rect">
            <a:avLst/>
          </a:prstGeom>
          <a:noFill/>
        </p:spPr>
        <p:txBody>
          <a:bodyPr wrap="square" rtlCol="0">
            <a:spAutoFit/>
          </a:bodyPr>
          <a:lstStyle/>
          <a:p>
            <a:pPr algn="ctr"/>
            <a:r>
              <a:rPr lang="en-US" sz="1000" dirty="0">
                <a:solidFill>
                  <a:srgbClr val="E1E1E1"/>
                </a:solidFill>
              </a:rPr>
              <a:t>Job Acknowledged</a:t>
            </a:r>
          </a:p>
        </p:txBody>
      </p:sp>
      <p:cxnSp>
        <p:nvCxnSpPr>
          <p:cNvPr id="41" name="Straight Connector 40">
            <a:extLst>
              <a:ext uri="{FF2B5EF4-FFF2-40B4-BE49-F238E27FC236}">
                <a16:creationId xmlns:a16="http://schemas.microsoft.com/office/drawing/2014/main" id="{DB1D7483-1F98-F5FB-3C55-B204DAAE9FF7}"/>
              </a:ext>
            </a:extLst>
          </p:cNvPr>
          <p:cNvCxnSpPr>
            <a:cxnSpLocks/>
          </p:cNvCxnSpPr>
          <p:nvPr/>
        </p:nvCxnSpPr>
        <p:spPr>
          <a:xfrm>
            <a:off x="11391357" y="2585825"/>
            <a:ext cx="0" cy="2327883"/>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2D478223-FB24-C7E6-6029-63567EE39684}"/>
              </a:ext>
            </a:extLst>
          </p:cNvPr>
          <p:cNvCxnSpPr>
            <a:cxnSpLocks/>
          </p:cNvCxnSpPr>
          <p:nvPr/>
        </p:nvCxnSpPr>
        <p:spPr>
          <a:xfrm>
            <a:off x="11391357" y="2585825"/>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86DA910F-7D66-3F02-8852-4E535FE6FF55}"/>
              </a:ext>
            </a:extLst>
          </p:cNvPr>
          <p:cNvCxnSpPr>
            <a:cxnSpLocks/>
          </p:cNvCxnSpPr>
          <p:nvPr/>
        </p:nvCxnSpPr>
        <p:spPr>
          <a:xfrm>
            <a:off x="11391357" y="2625072"/>
            <a:ext cx="0" cy="2327883"/>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134FA163-3249-1AD3-3FAB-752222D8C2C7}"/>
              </a:ext>
            </a:extLst>
          </p:cNvPr>
          <p:cNvCxnSpPr>
            <a:cxnSpLocks/>
          </p:cNvCxnSpPr>
          <p:nvPr/>
        </p:nvCxnSpPr>
        <p:spPr>
          <a:xfrm>
            <a:off x="11391357" y="2625072"/>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sp>
        <p:nvSpPr>
          <p:cNvPr id="45" name="Rectangle: Rounded Corners 44">
            <a:extLst>
              <a:ext uri="{FF2B5EF4-FFF2-40B4-BE49-F238E27FC236}">
                <a16:creationId xmlns:a16="http://schemas.microsoft.com/office/drawing/2014/main" id="{3F020534-7188-246F-08BC-78BD026F455D}"/>
              </a:ext>
            </a:extLst>
          </p:cNvPr>
          <p:cNvSpPr/>
          <p:nvPr/>
        </p:nvSpPr>
        <p:spPr>
          <a:xfrm>
            <a:off x="3031449" y="5377380"/>
            <a:ext cx="5904873" cy="421811"/>
          </a:xfrm>
          <a:prstGeom prst="roundRect">
            <a:avLst>
              <a:gd name="adj" fmla="val 27474"/>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a:t>
            </a:r>
          </a:p>
        </p:txBody>
      </p:sp>
      <p:sp>
        <p:nvSpPr>
          <p:cNvPr id="46" name="Rectangle: Rounded Corners 45">
            <a:extLst>
              <a:ext uri="{FF2B5EF4-FFF2-40B4-BE49-F238E27FC236}">
                <a16:creationId xmlns:a16="http://schemas.microsoft.com/office/drawing/2014/main" id="{23DC95F8-4FA4-E037-8F8F-85118FF436BB}"/>
              </a:ext>
            </a:extLst>
          </p:cNvPr>
          <p:cNvSpPr/>
          <p:nvPr/>
        </p:nvSpPr>
        <p:spPr>
          <a:xfrm>
            <a:off x="522553" y="5375748"/>
            <a:ext cx="1132255" cy="421811"/>
          </a:xfrm>
          <a:prstGeom prst="roundRect">
            <a:avLst>
              <a:gd name="adj" fmla="val 27474"/>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1E3147"/>
                </a:solidFill>
              </a:rPr>
              <a:t>Message Orchestrator</a:t>
            </a:r>
          </a:p>
        </p:txBody>
      </p:sp>
      <p:sp>
        <p:nvSpPr>
          <p:cNvPr id="47" name="Rectangle: Rounded Corners 46">
            <a:extLst>
              <a:ext uri="{FF2B5EF4-FFF2-40B4-BE49-F238E27FC236}">
                <a16:creationId xmlns:a16="http://schemas.microsoft.com/office/drawing/2014/main" id="{36CC875F-5072-7B38-BB33-526BF0823A5E}"/>
              </a:ext>
            </a:extLst>
          </p:cNvPr>
          <p:cNvSpPr/>
          <p:nvPr/>
        </p:nvSpPr>
        <p:spPr>
          <a:xfrm>
            <a:off x="1753756" y="5378268"/>
            <a:ext cx="1178745" cy="421811"/>
          </a:xfrm>
          <a:prstGeom prst="roundRect">
            <a:avLst>
              <a:gd name="adj" fmla="val 27474"/>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1E1E1"/>
                </a:solidFill>
              </a:rPr>
              <a:t>Broadcast</a:t>
            </a:r>
          </a:p>
        </p:txBody>
      </p:sp>
      <p:sp>
        <p:nvSpPr>
          <p:cNvPr id="50" name="Oval 49">
            <a:extLst>
              <a:ext uri="{FF2B5EF4-FFF2-40B4-BE49-F238E27FC236}">
                <a16:creationId xmlns:a16="http://schemas.microsoft.com/office/drawing/2014/main" id="{CC8A91BA-4B32-4FA2-CC9E-FDA32D3D377F}"/>
              </a:ext>
            </a:extLst>
          </p:cNvPr>
          <p:cNvSpPr/>
          <p:nvPr/>
        </p:nvSpPr>
        <p:spPr>
          <a:xfrm>
            <a:off x="8997072" y="5441706"/>
            <a:ext cx="293929" cy="306770"/>
          </a:xfrm>
          <a:prstGeom prst="ellipse">
            <a:avLst/>
          </a:prstGeom>
          <a:solidFill>
            <a:srgbClr val="FFC3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 name="Graphic 48" descr="Play with solid fill">
            <a:extLst>
              <a:ext uri="{FF2B5EF4-FFF2-40B4-BE49-F238E27FC236}">
                <a16:creationId xmlns:a16="http://schemas.microsoft.com/office/drawing/2014/main" id="{63A1C2E1-66CE-5DF0-4E0C-7E67194CBA8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073173" y="5507713"/>
            <a:ext cx="174755" cy="174755"/>
          </a:xfrm>
          <a:prstGeom prst="rect">
            <a:avLst/>
          </a:prstGeom>
        </p:spPr>
      </p:pic>
      <p:sp>
        <p:nvSpPr>
          <p:cNvPr id="53" name="TextBox 52">
            <a:extLst>
              <a:ext uri="{FF2B5EF4-FFF2-40B4-BE49-F238E27FC236}">
                <a16:creationId xmlns:a16="http://schemas.microsoft.com/office/drawing/2014/main" id="{48EBCD81-38B4-B023-A773-66FD8674BE14}"/>
              </a:ext>
            </a:extLst>
          </p:cNvPr>
          <p:cNvSpPr txBox="1"/>
          <p:nvPr/>
        </p:nvSpPr>
        <p:spPr>
          <a:xfrm>
            <a:off x="39778" y="47732"/>
            <a:ext cx="4306628" cy="369332"/>
          </a:xfrm>
          <a:prstGeom prst="rect">
            <a:avLst/>
          </a:prstGeom>
          <a:noFill/>
        </p:spPr>
        <p:txBody>
          <a:bodyPr wrap="none" rtlCol="0">
            <a:spAutoFit/>
          </a:bodyPr>
          <a:lstStyle/>
          <a:p>
            <a:r>
              <a:rPr lang="en-US" dirty="0">
                <a:solidFill>
                  <a:schemeClr val="accent5">
                    <a:lumMod val="60000"/>
                    <a:lumOff val="40000"/>
                  </a:schemeClr>
                </a:solidFill>
              </a:rPr>
              <a:t>SLIDE 3a – Implementation Tab. Elements</a:t>
            </a:r>
          </a:p>
        </p:txBody>
      </p:sp>
      <p:sp>
        <p:nvSpPr>
          <p:cNvPr id="7" name="Rectangle 6">
            <a:extLst>
              <a:ext uri="{FF2B5EF4-FFF2-40B4-BE49-F238E27FC236}">
                <a16:creationId xmlns:a16="http://schemas.microsoft.com/office/drawing/2014/main" id="{EA4A66A0-BE29-EBB2-58E4-0862CDE962BB}"/>
              </a:ext>
            </a:extLst>
          </p:cNvPr>
          <p:cNvSpPr/>
          <p:nvPr/>
        </p:nvSpPr>
        <p:spPr>
          <a:xfrm>
            <a:off x="4260936" y="544669"/>
            <a:ext cx="2764140" cy="914400"/>
          </a:xfrm>
          <a:prstGeom prst="rect">
            <a:avLst/>
          </a:prstGeom>
          <a:no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5">
                    <a:lumMod val="60000"/>
                    <a:lumOff val="40000"/>
                  </a:schemeClr>
                </a:solidFill>
              </a:rPr>
              <a:t>Implement tab is ready and Launch is faded</a:t>
            </a:r>
          </a:p>
        </p:txBody>
      </p:sp>
      <p:cxnSp>
        <p:nvCxnSpPr>
          <p:cNvPr id="10" name="Straight Arrow Connector 9">
            <a:extLst>
              <a:ext uri="{FF2B5EF4-FFF2-40B4-BE49-F238E27FC236}">
                <a16:creationId xmlns:a16="http://schemas.microsoft.com/office/drawing/2014/main" id="{EFE3AE1C-5714-18C9-E937-082B7AF855EE}"/>
              </a:ext>
            </a:extLst>
          </p:cNvPr>
          <p:cNvCxnSpPr>
            <a:stCxn id="7" idx="1"/>
          </p:cNvCxnSpPr>
          <p:nvPr/>
        </p:nvCxnSpPr>
        <p:spPr>
          <a:xfrm flipH="1">
            <a:off x="3538937" y="1001869"/>
            <a:ext cx="721999" cy="510002"/>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2" name="Straight Arrow Connector 11">
            <a:extLst>
              <a:ext uri="{FF2B5EF4-FFF2-40B4-BE49-F238E27FC236}">
                <a16:creationId xmlns:a16="http://schemas.microsoft.com/office/drawing/2014/main" id="{4CA21049-3746-8113-70CF-3E140A0158D0}"/>
              </a:ext>
            </a:extLst>
          </p:cNvPr>
          <p:cNvCxnSpPr/>
          <p:nvPr/>
        </p:nvCxnSpPr>
        <p:spPr>
          <a:xfrm flipH="1">
            <a:off x="1525387" y="732916"/>
            <a:ext cx="2668227" cy="609376"/>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48" name="TextBox 47">
            <a:extLst>
              <a:ext uri="{FF2B5EF4-FFF2-40B4-BE49-F238E27FC236}">
                <a16:creationId xmlns:a16="http://schemas.microsoft.com/office/drawing/2014/main" id="{C0FF47AA-1936-F550-DC5F-FCB1949EC1FF}"/>
              </a:ext>
            </a:extLst>
          </p:cNvPr>
          <p:cNvSpPr txBox="1"/>
          <p:nvPr/>
        </p:nvSpPr>
        <p:spPr>
          <a:xfrm>
            <a:off x="390686" y="6097720"/>
            <a:ext cx="3493631" cy="369332"/>
          </a:xfrm>
          <a:prstGeom prst="rect">
            <a:avLst/>
          </a:prstGeom>
          <a:solidFill>
            <a:srgbClr val="FF0000"/>
          </a:solidFill>
          <a:ln>
            <a:solidFill>
              <a:schemeClr val="accent5">
                <a:lumMod val="60000"/>
                <a:lumOff val="40000"/>
              </a:schemeClr>
            </a:solidFill>
          </a:ln>
        </p:spPr>
        <p:txBody>
          <a:bodyPr wrap="square" rtlCol="0">
            <a:spAutoFit/>
          </a:bodyPr>
          <a:lstStyle/>
          <a:p>
            <a:r>
              <a:rPr lang="en-US" dirty="0">
                <a:solidFill>
                  <a:schemeClr val="bg1"/>
                </a:solidFill>
              </a:rPr>
              <a:t>CLAUDE CODE CLI MODE</a:t>
            </a:r>
          </a:p>
        </p:txBody>
      </p:sp>
      <p:pic>
        <p:nvPicPr>
          <p:cNvPr id="56" name="Graphic 55" descr="Play with solid fill">
            <a:extLst>
              <a:ext uri="{FF2B5EF4-FFF2-40B4-BE49-F238E27FC236}">
                <a16:creationId xmlns:a16="http://schemas.microsoft.com/office/drawing/2014/main" id="{4FBDC2E9-8120-A0B5-D386-31AF01BDB26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979845" y="2671726"/>
            <a:ext cx="193474" cy="193474"/>
          </a:xfrm>
          <a:prstGeom prst="rect">
            <a:avLst/>
          </a:prstGeom>
        </p:spPr>
      </p:pic>
      <p:sp>
        <p:nvSpPr>
          <p:cNvPr id="63" name="TextBox 62">
            <a:extLst>
              <a:ext uri="{FF2B5EF4-FFF2-40B4-BE49-F238E27FC236}">
                <a16:creationId xmlns:a16="http://schemas.microsoft.com/office/drawing/2014/main" id="{4E9C1A58-0023-EF42-9070-79A57F860E02}"/>
              </a:ext>
            </a:extLst>
          </p:cNvPr>
          <p:cNvSpPr txBox="1"/>
          <p:nvPr/>
        </p:nvSpPr>
        <p:spPr>
          <a:xfrm>
            <a:off x="7078513" y="198362"/>
            <a:ext cx="4610081" cy="1077218"/>
          </a:xfrm>
          <a:prstGeom prst="rect">
            <a:avLst/>
          </a:prstGeom>
          <a:noFill/>
        </p:spPr>
        <p:txBody>
          <a:bodyPr wrap="square" rtlCol="0">
            <a:spAutoFit/>
          </a:bodyPr>
          <a:lstStyle/>
          <a:p>
            <a:pPr algn="ctr"/>
            <a:r>
              <a:rPr lang="en-US" sz="3200" dirty="0">
                <a:solidFill>
                  <a:schemeClr val="accent5">
                    <a:lumMod val="60000"/>
                    <a:lumOff val="40000"/>
                  </a:schemeClr>
                </a:solidFill>
              </a:rPr>
              <a:t>STATUS BOARD Variant MVP</a:t>
            </a:r>
          </a:p>
        </p:txBody>
      </p:sp>
      <p:sp>
        <p:nvSpPr>
          <p:cNvPr id="79" name="TextBox 78">
            <a:extLst>
              <a:ext uri="{FF2B5EF4-FFF2-40B4-BE49-F238E27FC236}">
                <a16:creationId xmlns:a16="http://schemas.microsoft.com/office/drawing/2014/main" id="{84FA55E2-5E54-8770-6BE0-2D503372750B}"/>
              </a:ext>
            </a:extLst>
          </p:cNvPr>
          <p:cNvSpPr txBox="1"/>
          <p:nvPr/>
        </p:nvSpPr>
        <p:spPr>
          <a:xfrm>
            <a:off x="4253814" y="3982173"/>
            <a:ext cx="683200" cy="261610"/>
          </a:xfrm>
          <a:prstGeom prst="rect">
            <a:avLst/>
          </a:prstGeom>
          <a:noFill/>
        </p:spPr>
        <p:txBody>
          <a:bodyPr wrap="none" rtlCol="0">
            <a:spAutoFit/>
          </a:bodyPr>
          <a:lstStyle/>
          <a:p>
            <a:r>
              <a:rPr lang="en-US" sz="1100" i="1" dirty="0">
                <a:solidFill>
                  <a:srgbClr val="FFC000"/>
                </a:solidFill>
              </a:rPr>
              <a:t>Waiting.</a:t>
            </a:r>
          </a:p>
        </p:txBody>
      </p:sp>
      <p:sp>
        <p:nvSpPr>
          <p:cNvPr id="84" name="TextBox 83">
            <a:extLst>
              <a:ext uri="{FF2B5EF4-FFF2-40B4-BE49-F238E27FC236}">
                <a16:creationId xmlns:a16="http://schemas.microsoft.com/office/drawing/2014/main" id="{1B96187F-816B-E517-7708-AB52C8FE7C1C}"/>
              </a:ext>
            </a:extLst>
          </p:cNvPr>
          <p:cNvSpPr txBox="1"/>
          <p:nvPr/>
        </p:nvSpPr>
        <p:spPr>
          <a:xfrm>
            <a:off x="8152537" y="2627083"/>
            <a:ext cx="260008" cy="261610"/>
          </a:xfrm>
          <a:prstGeom prst="rect">
            <a:avLst/>
          </a:prstGeom>
          <a:noFill/>
        </p:spPr>
        <p:txBody>
          <a:bodyPr wrap="square" rtlCol="0">
            <a:spAutoFit/>
          </a:bodyPr>
          <a:lstStyle/>
          <a:p>
            <a:r>
              <a:rPr lang="en-US" sz="1100" dirty="0">
                <a:solidFill>
                  <a:srgbClr val="E1E1E1"/>
                </a:solidFill>
              </a:rPr>
              <a:t>1</a:t>
            </a:r>
          </a:p>
        </p:txBody>
      </p:sp>
      <p:sp>
        <p:nvSpPr>
          <p:cNvPr id="86" name="TextBox 85">
            <a:extLst>
              <a:ext uri="{FF2B5EF4-FFF2-40B4-BE49-F238E27FC236}">
                <a16:creationId xmlns:a16="http://schemas.microsoft.com/office/drawing/2014/main" id="{E9F9A9BB-DD80-41F0-C46B-36F384F70E52}"/>
              </a:ext>
            </a:extLst>
          </p:cNvPr>
          <p:cNvSpPr txBox="1"/>
          <p:nvPr/>
        </p:nvSpPr>
        <p:spPr>
          <a:xfrm>
            <a:off x="8155156" y="3496213"/>
            <a:ext cx="260008" cy="261610"/>
          </a:xfrm>
          <a:prstGeom prst="rect">
            <a:avLst/>
          </a:prstGeom>
          <a:noFill/>
        </p:spPr>
        <p:txBody>
          <a:bodyPr wrap="square" rtlCol="0">
            <a:spAutoFit/>
          </a:bodyPr>
          <a:lstStyle/>
          <a:p>
            <a:r>
              <a:rPr lang="en-US" sz="1100" dirty="0">
                <a:solidFill>
                  <a:srgbClr val="E1E1E1"/>
                </a:solidFill>
              </a:rPr>
              <a:t>1</a:t>
            </a:r>
          </a:p>
        </p:txBody>
      </p:sp>
      <p:sp>
        <p:nvSpPr>
          <p:cNvPr id="88" name="TextBox 87">
            <a:extLst>
              <a:ext uri="{FF2B5EF4-FFF2-40B4-BE49-F238E27FC236}">
                <a16:creationId xmlns:a16="http://schemas.microsoft.com/office/drawing/2014/main" id="{F6F8ED57-1181-8E25-0E10-4A1157D5C827}"/>
              </a:ext>
            </a:extLst>
          </p:cNvPr>
          <p:cNvSpPr txBox="1"/>
          <p:nvPr/>
        </p:nvSpPr>
        <p:spPr>
          <a:xfrm>
            <a:off x="4250868" y="3548989"/>
            <a:ext cx="683200" cy="261610"/>
          </a:xfrm>
          <a:prstGeom prst="rect">
            <a:avLst/>
          </a:prstGeom>
          <a:noFill/>
        </p:spPr>
        <p:txBody>
          <a:bodyPr wrap="none" rtlCol="0">
            <a:spAutoFit/>
          </a:bodyPr>
          <a:lstStyle/>
          <a:p>
            <a:r>
              <a:rPr lang="en-US" sz="1100" i="1" dirty="0">
                <a:solidFill>
                  <a:srgbClr val="FFC000"/>
                </a:solidFill>
              </a:rPr>
              <a:t>Waiting.</a:t>
            </a:r>
          </a:p>
        </p:txBody>
      </p:sp>
      <p:sp>
        <p:nvSpPr>
          <p:cNvPr id="92" name="TextBox 91">
            <a:extLst>
              <a:ext uri="{FF2B5EF4-FFF2-40B4-BE49-F238E27FC236}">
                <a16:creationId xmlns:a16="http://schemas.microsoft.com/office/drawing/2014/main" id="{6F20B57D-0B65-43B2-7030-5A641CC532BF}"/>
              </a:ext>
            </a:extLst>
          </p:cNvPr>
          <p:cNvSpPr txBox="1"/>
          <p:nvPr/>
        </p:nvSpPr>
        <p:spPr>
          <a:xfrm>
            <a:off x="4253599" y="3080702"/>
            <a:ext cx="683200" cy="261610"/>
          </a:xfrm>
          <a:prstGeom prst="rect">
            <a:avLst/>
          </a:prstGeom>
          <a:noFill/>
        </p:spPr>
        <p:txBody>
          <a:bodyPr wrap="none" rtlCol="0">
            <a:spAutoFit/>
          </a:bodyPr>
          <a:lstStyle/>
          <a:p>
            <a:r>
              <a:rPr lang="en-US" sz="1100" i="1" dirty="0">
                <a:solidFill>
                  <a:srgbClr val="FFC000"/>
                </a:solidFill>
              </a:rPr>
              <a:t>Waiting.</a:t>
            </a:r>
          </a:p>
        </p:txBody>
      </p:sp>
      <p:sp>
        <p:nvSpPr>
          <p:cNvPr id="101" name="TextBox 100">
            <a:extLst>
              <a:ext uri="{FF2B5EF4-FFF2-40B4-BE49-F238E27FC236}">
                <a16:creationId xmlns:a16="http://schemas.microsoft.com/office/drawing/2014/main" id="{7071C756-0A40-78F9-DE4A-5A8315D2375C}"/>
              </a:ext>
            </a:extLst>
          </p:cNvPr>
          <p:cNvSpPr txBox="1"/>
          <p:nvPr/>
        </p:nvSpPr>
        <p:spPr>
          <a:xfrm>
            <a:off x="7260027" y="2637913"/>
            <a:ext cx="260008" cy="261610"/>
          </a:xfrm>
          <a:prstGeom prst="rect">
            <a:avLst/>
          </a:prstGeom>
          <a:noFill/>
        </p:spPr>
        <p:txBody>
          <a:bodyPr wrap="square" rtlCol="0">
            <a:spAutoFit/>
          </a:bodyPr>
          <a:lstStyle/>
          <a:p>
            <a:r>
              <a:rPr lang="en-US" sz="1100" dirty="0">
                <a:solidFill>
                  <a:srgbClr val="E1E1E1"/>
                </a:solidFill>
              </a:rPr>
              <a:t>4</a:t>
            </a:r>
          </a:p>
        </p:txBody>
      </p:sp>
      <p:sp>
        <p:nvSpPr>
          <p:cNvPr id="102" name="TextBox 101">
            <a:extLst>
              <a:ext uri="{FF2B5EF4-FFF2-40B4-BE49-F238E27FC236}">
                <a16:creationId xmlns:a16="http://schemas.microsoft.com/office/drawing/2014/main" id="{EC53E955-FEE6-0D26-D639-BDC8AB970DDB}"/>
              </a:ext>
            </a:extLst>
          </p:cNvPr>
          <p:cNvSpPr txBox="1"/>
          <p:nvPr/>
        </p:nvSpPr>
        <p:spPr>
          <a:xfrm>
            <a:off x="8152537" y="3061648"/>
            <a:ext cx="260008" cy="261610"/>
          </a:xfrm>
          <a:prstGeom prst="rect">
            <a:avLst/>
          </a:prstGeom>
          <a:noFill/>
        </p:spPr>
        <p:txBody>
          <a:bodyPr wrap="square" rtlCol="0">
            <a:spAutoFit/>
          </a:bodyPr>
          <a:lstStyle/>
          <a:p>
            <a:r>
              <a:rPr lang="en-US" sz="1100" dirty="0">
                <a:solidFill>
                  <a:srgbClr val="E1E1E1"/>
                </a:solidFill>
              </a:rPr>
              <a:t>1</a:t>
            </a:r>
          </a:p>
        </p:txBody>
      </p:sp>
      <p:sp>
        <p:nvSpPr>
          <p:cNvPr id="103" name="TextBox 102">
            <a:extLst>
              <a:ext uri="{FF2B5EF4-FFF2-40B4-BE49-F238E27FC236}">
                <a16:creationId xmlns:a16="http://schemas.microsoft.com/office/drawing/2014/main" id="{D5AFBD0D-BD63-E0CE-1590-EC78AE616943}"/>
              </a:ext>
            </a:extLst>
          </p:cNvPr>
          <p:cNvSpPr txBox="1"/>
          <p:nvPr/>
        </p:nvSpPr>
        <p:spPr>
          <a:xfrm>
            <a:off x="8129611" y="3945926"/>
            <a:ext cx="260008" cy="261610"/>
          </a:xfrm>
          <a:prstGeom prst="rect">
            <a:avLst/>
          </a:prstGeom>
          <a:noFill/>
        </p:spPr>
        <p:txBody>
          <a:bodyPr wrap="square" rtlCol="0">
            <a:spAutoFit/>
          </a:bodyPr>
          <a:lstStyle/>
          <a:p>
            <a:r>
              <a:rPr lang="en-US" sz="1100" dirty="0">
                <a:solidFill>
                  <a:srgbClr val="E1E1E1"/>
                </a:solidFill>
              </a:rPr>
              <a:t>1</a:t>
            </a:r>
          </a:p>
        </p:txBody>
      </p:sp>
      <p:pic>
        <p:nvPicPr>
          <p:cNvPr id="104" name="Graphic 103" descr="Play with solid fill">
            <a:extLst>
              <a:ext uri="{FF2B5EF4-FFF2-40B4-BE49-F238E27FC236}">
                <a16:creationId xmlns:a16="http://schemas.microsoft.com/office/drawing/2014/main" id="{13BF5422-A41E-8EA5-6B9A-6197559DC26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979845" y="3094427"/>
            <a:ext cx="193474" cy="193474"/>
          </a:xfrm>
          <a:prstGeom prst="rect">
            <a:avLst/>
          </a:prstGeom>
        </p:spPr>
      </p:pic>
    </p:spTree>
    <p:extLst>
      <p:ext uri="{BB962C8B-B14F-4D97-AF65-F5344CB8AC3E}">
        <p14:creationId xmlns:p14="http://schemas.microsoft.com/office/powerpoint/2010/main" val="40009100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E1C2D"/>
        </a:solidFill>
        <a:effectLst/>
      </p:bgPr>
    </p:bg>
    <p:spTree>
      <p:nvGrpSpPr>
        <p:cNvPr id="1" name="">
          <a:extLst>
            <a:ext uri="{FF2B5EF4-FFF2-40B4-BE49-F238E27FC236}">
              <a16:creationId xmlns:a16="http://schemas.microsoft.com/office/drawing/2014/main" id="{B152CF14-6D08-7E05-BBB4-101D91A4B8EB}"/>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8AEB1055-9DDE-8448-983C-A42E4FADB0CA}"/>
              </a:ext>
            </a:extLst>
          </p:cNvPr>
          <p:cNvSpPr/>
          <p:nvPr/>
        </p:nvSpPr>
        <p:spPr>
          <a:xfrm>
            <a:off x="503403" y="1334840"/>
            <a:ext cx="2218513" cy="1071163"/>
          </a:xfrm>
          <a:prstGeom prst="roundRect">
            <a:avLst>
              <a:gd name="adj" fmla="val 15806"/>
            </a:avLst>
          </a:prstGeom>
          <a:no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8BA4241E-5564-3A03-E75B-2ECECC7923B0}"/>
              </a:ext>
            </a:extLst>
          </p:cNvPr>
          <p:cNvSpPr txBox="1"/>
          <p:nvPr/>
        </p:nvSpPr>
        <p:spPr>
          <a:xfrm>
            <a:off x="516531" y="677075"/>
            <a:ext cx="2514919" cy="553998"/>
          </a:xfrm>
          <a:prstGeom prst="rect">
            <a:avLst/>
          </a:prstGeom>
          <a:noFill/>
        </p:spPr>
        <p:txBody>
          <a:bodyPr wrap="none" rtlCol="0">
            <a:spAutoFit/>
          </a:bodyPr>
          <a:lstStyle/>
          <a:p>
            <a:r>
              <a:rPr lang="en-US" dirty="0">
                <a:solidFill>
                  <a:srgbClr val="E1E1E1"/>
                </a:solidFill>
              </a:rPr>
              <a:t>Project: </a:t>
            </a:r>
            <a:r>
              <a:rPr lang="en-US" dirty="0">
                <a:solidFill>
                  <a:srgbClr val="FFC300"/>
                </a:solidFill>
              </a:rPr>
              <a:t>{</a:t>
            </a:r>
            <a:r>
              <a:rPr lang="en-US" dirty="0" err="1">
                <a:solidFill>
                  <a:srgbClr val="FFC300"/>
                </a:solidFill>
              </a:rPr>
              <a:t>project_name</a:t>
            </a:r>
            <a:r>
              <a:rPr lang="en-US" dirty="0">
                <a:solidFill>
                  <a:srgbClr val="FFC300"/>
                </a:solidFill>
              </a:rPr>
              <a:t>}</a:t>
            </a:r>
          </a:p>
          <a:p>
            <a:r>
              <a:rPr lang="en-US" sz="1200" dirty="0">
                <a:solidFill>
                  <a:srgbClr val="8F97B7"/>
                </a:solidFill>
              </a:rPr>
              <a:t>Project ID: {</a:t>
            </a:r>
            <a:r>
              <a:rPr lang="en-US" sz="1200" dirty="0" err="1">
                <a:solidFill>
                  <a:srgbClr val="8F97B7"/>
                </a:solidFill>
              </a:rPr>
              <a:t>full_UUID</a:t>
            </a:r>
            <a:r>
              <a:rPr lang="en-US" sz="1200" dirty="0">
                <a:solidFill>
                  <a:srgbClr val="8F97B7"/>
                </a:solidFill>
              </a:rPr>
              <a:t>}</a:t>
            </a:r>
          </a:p>
        </p:txBody>
      </p:sp>
      <p:sp>
        <p:nvSpPr>
          <p:cNvPr id="3" name="Rectangle: Rounded Corners 2">
            <a:extLst>
              <a:ext uri="{FF2B5EF4-FFF2-40B4-BE49-F238E27FC236}">
                <a16:creationId xmlns:a16="http://schemas.microsoft.com/office/drawing/2014/main" id="{45D8F5E1-A2B6-EFDC-95E1-AC4EFBA46816}"/>
              </a:ext>
            </a:extLst>
          </p:cNvPr>
          <p:cNvSpPr/>
          <p:nvPr/>
        </p:nvSpPr>
        <p:spPr>
          <a:xfrm>
            <a:off x="1643382" y="1342292"/>
            <a:ext cx="1805578" cy="969932"/>
          </a:xfrm>
          <a:prstGeom prst="roundRect">
            <a:avLst>
              <a:gd name="adj" fmla="val 17766"/>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3385FF0-030B-26B2-DFF2-F25354E70A82}"/>
              </a:ext>
            </a:extLst>
          </p:cNvPr>
          <p:cNvSpPr txBox="1"/>
          <p:nvPr/>
        </p:nvSpPr>
        <p:spPr>
          <a:xfrm>
            <a:off x="682981" y="1327205"/>
            <a:ext cx="929678" cy="369332"/>
          </a:xfrm>
          <a:prstGeom prst="rect">
            <a:avLst/>
          </a:prstGeom>
          <a:noFill/>
        </p:spPr>
        <p:txBody>
          <a:bodyPr wrap="none" rtlCol="0">
            <a:spAutoFit/>
          </a:bodyPr>
          <a:lstStyle/>
          <a:p>
            <a:r>
              <a:rPr lang="en-US" dirty="0">
                <a:solidFill>
                  <a:srgbClr val="1E3147"/>
                </a:solidFill>
              </a:rPr>
              <a:t>Launch</a:t>
            </a:r>
          </a:p>
        </p:txBody>
      </p:sp>
      <p:sp>
        <p:nvSpPr>
          <p:cNvPr id="6" name="Rectangle: Rounded Corners 5">
            <a:extLst>
              <a:ext uri="{FF2B5EF4-FFF2-40B4-BE49-F238E27FC236}">
                <a16:creationId xmlns:a16="http://schemas.microsoft.com/office/drawing/2014/main" id="{E59210EE-73C4-65A5-544C-4680302B8D47}"/>
              </a:ext>
            </a:extLst>
          </p:cNvPr>
          <p:cNvSpPr/>
          <p:nvPr/>
        </p:nvSpPr>
        <p:spPr>
          <a:xfrm>
            <a:off x="503403" y="1668256"/>
            <a:ext cx="11185191" cy="3476117"/>
          </a:xfrm>
          <a:prstGeom prst="roundRect">
            <a:avLst>
              <a:gd name="adj" fmla="val 5962"/>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E7FA4041-2876-1A72-6F0A-201369E0C968}"/>
              </a:ext>
            </a:extLst>
          </p:cNvPr>
          <p:cNvSpPr/>
          <p:nvPr/>
        </p:nvSpPr>
        <p:spPr>
          <a:xfrm>
            <a:off x="1654808" y="1622562"/>
            <a:ext cx="1787171" cy="287650"/>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F7996A31-25F8-0FE3-A29D-B918EA2339FA}"/>
              </a:ext>
            </a:extLst>
          </p:cNvPr>
          <p:cNvSpPr/>
          <p:nvPr/>
        </p:nvSpPr>
        <p:spPr>
          <a:xfrm>
            <a:off x="758606" y="2617315"/>
            <a:ext cx="293929" cy="306770"/>
          </a:xfrm>
          <a:prstGeom prst="ellipse">
            <a:avLst/>
          </a:prstGeom>
          <a:solidFill>
            <a:srgbClr val="A9866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DD10DF4C-6238-B6BA-D4F0-0CA3D8FCEA5B}"/>
              </a:ext>
            </a:extLst>
          </p:cNvPr>
          <p:cNvSpPr txBox="1"/>
          <p:nvPr/>
        </p:nvSpPr>
        <p:spPr>
          <a:xfrm>
            <a:off x="1899316" y="1330953"/>
            <a:ext cx="1444177" cy="369332"/>
          </a:xfrm>
          <a:prstGeom prst="rect">
            <a:avLst/>
          </a:prstGeom>
          <a:noFill/>
        </p:spPr>
        <p:txBody>
          <a:bodyPr wrap="square" rtlCol="0">
            <a:spAutoFit/>
          </a:bodyPr>
          <a:lstStyle/>
          <a:p>
            <a:r>
              <a:rPr lang="en-US" dirty="0">
                <a:solidFill>
                  <a:srgbClr val="8F97B7"/>
                </a:solidFill>
              </a:rPr>
              <a:t>Implement</a:t>
            </a:r>
          </a:p>
        </p:txBody>
      </p:sp>
      <p:sp>
        <p:nvSpPr>
          <p:cNvPr id="24" name="TextBox 23">
            <a:extLst>
              <a:ext uri="{FF2B5EF4-FFF2-40B4-BE49-F238E27FC236}">
                <a16:creationId xmlns:a16="http://schemas.microsoft.com/office/drawing/2014/main" id="{F98D3FA0-9165-6486-4EAC-F0AE98D8D5DD}"/>
              </a:ext>
            </a:extLst>
          </p:cNvPr>
          <p:cNvSpPr txBox="1"/>
          <p:nvPr/>
        </p:nvSpPr>
        <p:spPr>
          <a:xfrm>
            <a:off x="738137" y="2624295"/>
            <a:ext cx="460382" cy="282316"/>
          </a:xfrm>
          <a:prstGeom prst="rect">
            <a:avLst/>
          </a:prstGeom>
          <a:noFill/>
        </p:spPr>
        <p:txBody>
          <a:bodyPr wrap="square" rtlCol="0">
            <a:spAutoFit/>
          </a:bodyPr>
          <a:lstStyle/>
          <a:p>
            <a:r>
              <a:rPr lang="en-US" sz="1200" b="1" dirty="0">
                <a:solidFill>
                  <a:srgbClr val="0E1C2D"/>
                </a:solidFill>
              </a:rPr>
              <a:t>Or</a:t>
            </a:r>
          </a:p>
        </p:txBody>
      </p:sp>
      <p:sp>
        <p:nvSpPr>
          <p:cNvPr id="27" name="TextBox 26">
            <a:extLst>
              <a:ext uri="{FF2B5EF4-FFF2-40B4-BE49-F238E27FC236}">
                <a16:creationId xmlns:a16="http://schemas.microsoft.com/office/drawing/2014/main" id="{56342182-9C79-03BC-C490-2FCC6F12651A}"/>
              </a:ext>
            </a:extLst>
          </p:cNvPr>
          <p:cNvSpPr txBox="1"/>
          <p:nvPr/>
        </p:nvSpPr>
        <p:spPr>
          <a:xfrm>
            <a:off x="1184559" y="2638386"/>
            <a:ext cx="965329" cy="261610"/>
          </a:xfrm>
          <a:prstGeom prst="rect">
            <a:avLst/>
          </a:prstGeom>
          <a:noFill/>
        </p:spPr>
        <p:txBody>
          <a:bodyPr wrap="none" rtlCol="0">
            <a:spAutoFit/>
          </a:bodyPr>
          <a:lstStyle/>
          <a:p>
            <a:r>
              <a:rPr lang="en-US" sz="1100" dirty="0">
                <a:solidFill>
                  <a:srgbClr val="E1E1E1"/>
                </a:solidFill>
              </a:rPr>
              <a:t>Orchestrator</a:t>
            </a:r>
          </a:p>
        </p:txBody>
      </p:sp>
      <p:pic>
        <p:nvPicPr>
          <p:cNvPr id="29" name="Graphic 28" descr="Information with solid fill">
            <a:extLst>
              <a:ext uri="{FF2B5EF4-FFF2-40B4-BE49-F238E27FC236}">
                <a16:creationId xmlns:a16="http://schemas.microsoft.com/office/drawing/2014/main" id="{957C105F-362B-6742-6E08-622FD637558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3975" y="2661152"/>
            <a:ext cx="193473" cy="193473"/>
          </a:xfrm>
          <a:prstGeom prst="rect">
            <a:avLst/>
          </a:prstGeom>
        </p:spPr>
      </p:pic>
      <p:sp>
        <p:nvSpPr>
          <p:cNvPr id="16" name="TextBox 15">
            <a:extLst>
              <a:ext uri="{FF2B5EF4-FFF2-40B4-BE49-F238E27FC236}">
                <a16:creationId xmlns:a16="http://schemas.microsoft.com/office/drawing/2014/main" id="{D4B5DB38-EACD-057C-74A1-10241F51B7CB}"/>
              </a:ext>
            </a:extLst>
          </p:cNvPr>
          <p:cNvSpPr txBox="1"/>
          <p:nvPr/>
        </p:nvSpPr>
        <p:spPr>
          <a:xfrm>
            <a:off x="1226477" y="3087372"/>
            <a:ext cx="705642" cy="261610"/>
          </a:xfrm>
          <a:prstGeom prst="rect">
            <a:avLst/>
          </a:prstGeom>
          <a:noFill/>
        </p:spPr>
        <p:txBody>
          <a:bodyPr wrap="none" rtlCol="0">
            <a:spAutoFit/>
          </a:bodyPr>
          <a:lstStyle>
            <a:defPPr>
              <a:defRPr lang="en-US"/>
            </a:defPPr>
            <a:lvl1pPr>
              <a:defRPr sz="1100">
                <a:solidFill>
                  <a:srgbClr val="E1E1E1"/>
                </a:solidFill>
              </a:defRPr>
            </a:lvl1pPr>
          </a:lstStyle>
          <a:p>
            <a:r>
              <a:rPr lang="en-US" dirty="0"/>
              <a:t>Analyzer</a:t>
            </a:r>
          </a:p>
        </p:txBody>
      </p:sp>
      <p:cxnSp>
        <p:nvCxnSpPr>
          <p:cNvPr id="75" name="Straight Connector 74">
            <a:extLst>
              <a:ext uri="{FF2B5EF4-FFF2-40B4-BE49-F238E27FC236}">
                <a16:creationId xmlns:a16="http://schemas.microsoft.com/office/drawing/2014/main" id="{CC2062B3-EF31-39C1-A825-44BB4A9BB457}"/>
              </a:ext>
            </a:extLst>
          </p:cNvPr>
          <p:cNvCxnSpPr>
            <a:cxnSpLocks/>
          </p:cNvCxnSpPr>
          <p:nvPr/>
        </p:nvCxnSpPr>
        <p:spPr>
          <a:xfrm>
            <a:off x="652293" y="2505875"/>
            <a:ext cx="10203544" cy="6404"/>
          </a:xfrm>
          <a:prstGeom prst="line">
            <a:avLst/>
          </a:prstGeom>
          <a:ln>
            <a:solidFill>
              <a:srgbClr val="1E3147"/>
            </a:solidFill>
          </a:ln>
        </p:spPr>
        <p:style>
          <a:lnRef idx="2">
            <a:schemeClr val="accent1"/>
          </a:lnRef>
          <a:fillRef idx="0">
            <a:schemeClr val="accent1"/>
          </a:fillRef>
          <a:effectRef idx="1">
            <a:schemeClr val="accent1"/>
          </a:effectRef>
          <a:fontRef idx="minor">
            <a:schemeClr val="tx1"/>
          </a:fontRef>
        </p:style>
      </p:cxnSp>
      <p:sp>
        <p:nvSpPr>
          <p:cNvPr id="77" name="TextBox 76">
            <a:extLst>
              <a:ext uri="{FF2B5EF4-FFF2-40B4-BE49-F238E27FC236}">
                <a16:creationId xmlns:a16="http://schemas.microsoft.com/office/drawing/2014/main" id="{1F62DEAD-155F-D908-6BA7-AF70818EE278}"/>
              </a:ext>
            </a:extLst>
          </p:cNvPr>
          <p:cNvSpPr txBox="1"/>
          <p:nvPr/>
        </p:nvSpPr>
        <p:spPr>
          <a:xfrm>
            <a:off x="1274326" y="2217384"/>
            <a:ext cx="785793" cy="246221"/>
          </a:xfrm>
          <a:prstGeom prst="rect">
            <a:avLst/>
          </a:prstGeom>
          <a:noFill/>
        </p:spPr>
        <p:txBody>
          <a:bodyPr wrap="none" rtlCol="0">
            <a:spAutoFit/>
          </a:bodyPr>
          <a:lstStyle/>
          <a:p>
            <a:pPr algn="ctr"/>
            <a:r>
              <a:rPr lang="en-US" sz="1000" dirty="0">
                <a:solidFill>
                  <a:srgbClr val="E1E1E1"/>
                </a:solidFill>
              </a:rPr>
              <a:t>Agent Type</a:t>
            </a:r>
          </a:p>
        </p:txBody>
      </p:sp>
      <p:sp>
        <p:nvSpPr>
          <p:cNvPr id="78" name="TextBox 77">
            <a:extLst>
              <a:ext uri="{FF2B5EF4-FFF2-40B4-BE49-F238E27FC236}">
                <a16:creationId xmlns:a16="http://schemas.microsoft.com/office/drawing/2014/main" id="{1D7C7ECD-9712-F5BA-B5E8-73ECD8459D96}"/>
              </a:ext>
            </a:extLst>
          </p:cNvPr>
          <p:cNvSpPr txBox="1"/>
          <p:nvPr/>
        </p:nvSpPr>
        <p:spPr>
          <a:xfrm>
            <a:off x="662149" y="1838089"/>
            <a:ext cx="1202573" cy="246221"/>
          </a:xfrm>
          <a:prstGeom prst="rect">
            <a:avLst/>
          </a:prstGeom>
          <a:noFill/>
        </p:spPr>
        <p:txBody>
          <a:bodyPr wrap="none" rtlCol="0">
            <a:spAutoFit/>
          </a:bodyPr>
          <a:lstStyle/>
          <a:p>
            <a:r>
              <a:rPr lang="en-US" sz="1000" dirty="0">
                <a:solidFill>
                  <a:srgbClr val="E1E1E1"/>
                </a:solidFill>
              </a:rPr>
              <a:t>Claude Subagents</a:t>
            </a:r>
          </a:p>
        </p:txBody>
      </p:sp>
      <p:sp>
        <p:nvSpPr>
          <p:cNvPr id="80" name="Rectangle: Rounded Corners 79">
            <a:extLst>
              <a:ext uri="{FF2B5EF4-FFF2-40B4-BE49-F238E27FC236}">
                <a16:creationId xmlns:a16="http://schemas.microsoft.com/office/drawing/2014/main" id="{7472987F-0676-2337-C6C3-43246AA6BFEC}"/>
              </a:ext>
            </a:extLst>
          </p:cNvPr>
          <p:cNvSpPr/>
          <p:nvPr/>
        </p:nvSpPr>
        <p:spPr>
          <a:xfrm>
            <a:off x="1813390" y="1884175"/>
            <a:ext cx="336498" cy="182696"/>
          </a:xfrm>
          <a:prstGeom prst="roundRect">
            <a:avLst>
              <a:gd name="adj" fmla="val 50000"/>
            </a:avLst>
          </a:prstGeom>
          <a:solidFill>
            <a:srgbClr val="0E1C2D"/>
          </a:solid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a:extLst>
              <a:ext uri="{FF2B5EF4-FFF2-40B4-BE49-F238E27FC236}">
                <a16:creationId xmlns:a16="http://schemas.microsoft.com/office/drawing/2014/main" id="{E49BF8EC-12EE-4E7F-8D22-B22A14E11557}"/>
              </a:ext>
            </a:extLst>
          </p:cNvPr>
          <p:cNvSpPr/>
          <p:nvPr/>
        </p:nvSpPr>
        <p:spPr>
          <a:xfrm>
            <a:off x="1962999" y="1883047"/>
            <a:ext cx="174503" cy="184050"/>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a:extLst>
              <a:ext uri="{FF2B5EF4-FFF2-40B4-BE49-F238E27FC236}">
                <a16:creationId xmlns:a16="http://schemas.microsoft.com/office/drawing/2014/main" id="{617E22E6-F408-B6F9-CB3D-125067194290}"/>
              </a:ext>
            </a:extLst>
          </p:cNvPr>
          <p:cNvSpPr/>
          <p:nvPr/>
        </p:nvSpPr>
        <p:spPr>
          <a:xfrm>
            <a:off x="758606" y="3066408"/>
            <a:ext cx="293929" cy="306770"/>
          </a:xfrm>
          <a:prstGeom prst="ellipse">
            <a:avLst/>
          </a:prstGeom>
          <a:solidFill>
            <a:srgbClr val="A32A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7FF89AFF-E10C-D73B-0699-79F7253309EE}"/>
              </a:ext>
            </a:extLst>
          </p:cNvPr>
          <p:cNvSpPr/>
          <p:nvPr/>
        </p:nvSpPr>
        <p:spPr>
          <a:xfrm>
            <a:off x="758606" y="3513494"/>
            <a:ext cx="293929" cy="306770"/>
          </a:xfrm>
          <a:prstGeom prst="ellipse">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06746989-4E49-379A-A724-4F993B9605EC}"/>
              </a:ext>
            </a:extLst>
          </p:cNvPr>
          <p:cNvSpPr/>
          <p:nvPr/>
        </p:nvSpPr>
        <p:spPr>
          <a:xfrm>
            <a:off x="758606" y="3970226"/>
            <a:ext cx="293929" cy="306770"/>
          </a:xfrm>
          <a:prstGeom prst="ellipse">
            <a:avLst/>
          </a:prstGeom>
          <a:solidFill>
            <a:srgbClr val="FFC3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TextBox 88">
            <a:extLst>
              <a:ext uri="{FF2B5EF4-FFF2-40B4-BE49-F238E27FC236}">
                <a16:creationId xmlns:a16="http://schemas.microsoft.com/office/drawing/2014/main" id="{EE1549A0-1746-FCB8-E8E6-3BA62EEFC9C3}"/>
              </a:ext>
            </a:extLst>
          </p:cNvPr>
          <p:cNvSpPr txBox="1"/>
          <p:nvPr/>
        </p:nvSpPr>
        <p:spPr>
          <a:xfrm>
            <a:off x="1226477" y="3532367"/>
            <a:ext cx="970137" cy="261610"/>
          </a:xfrm>
          <a:prstGeom prst="rect">
            <a:avLst/>
          </a:prstGeom>
          <a:noFill/>
        </p:spPr>
        <p:txBody>
          <a:bodyPr wrap="none" rtlCol="0">
            <a:spAutoFit/>
          </a:bodyPr>
          <a:lstStyle>
            <a:defPPr>
              <a:defRPr lang="en-US"/>
            </a:defPPr>
            <a:lvl1pPr>
              <a:defRPr sz="1100">
                <a:solidFill>
                  <a:srgbClr val="E1E1E1"/>
                </a:solidFill>
              </a:defRPr>
            </a:lvl1pPr>
          </a:lstStyle>
          <a:p>
            <a:r>
              <a:rPr lang="en-US" dirty="0"/>
              <a:t>Implementor</a:t>
            </a:r>
          </a:p>
        </p:txBody>
      </p:sp>
      <p:sp>
        <p:nvSpPr>
          <p:cNvPr id="90" name="TextBox 89">
            <a:extLst>
              <a:ext uri="{FF2B5EF4-FFF2-40B4-BE49-F238E27FC236}">
                <a16:creationId xmlns:a16="http://schemas.microsoft.com/office/drawing/2014/main" id="{6FD3E96B-614D-3ABD-A86E-97E93F533EFA}"/>
              </a:ext>
            </a:extLst>
          </p:cNvPr>
          <p:cNvSpPr txBox="1"/>
          <p:nvPr/>
        </p:nvSpPr>
        <p:spPr>
          <a:xfrm>
            <a:off x="1245503" y="3998201"/>
            <a:ext cx="559769" cy="261610"/>
          </a:xfrm>
          <a:prstGeom prst="rect">
            <a:avLst/>
          </a:prstGeom>
          <a:noFill/>
        </p:spPr>
        <p:txBody>
          <a:bodyPr wrap="none" rtlCol="0">
            <a:spAutoFit/>
          </a:bodyPr>
          <a:lstStyle>
            <a:defPPr>
              <a:defRPr lang="en-US"/>
            </a:defPPr>
            <a:lvl1pPr>
              <a:defRPr sz="1100">
                <a:solidFill>
                  <a:srgbClr val="E1E1E1"/>
                </a:solidFill>
              </a:defRPr>
            </a:lvl1pPr>
          </a:lstStyle>
          <a:p>
            <a:r>
              <a:rPr lang="en-US" dirty="0"/>
              <a:t>Tester</a:t>
            </a:r>
          </a:p>
        </p:txBody>
      </p:sp>
      <p:sp>
        <p:nvSpPr>
          <p:cNvPr id="91" name="TextBox 90">
            <a:extLst>
              <a:ext uri="{FF2B5EF4-FFF2-40B4-BE49-F238E27FC236}">
                <a16:creationId xmlns:a16="http://schemas.microsoft.com/office/drawing/2014/main" id="{D816D14E-1F9D-6C20-8355-07D2065DE860}"/>
              </a:ext>
            </a:extLst>
          </p:cNvPr>
          <p:cNvSpPr txBox="1"/>
          <p:nvPr/>
        </p:nvSpPr>
        <p:spPr>
          <a:xfrm>
            <a:off x="4260936" y="2611055"/>
            <a:ext cx="683200" cy="261610"/>
          </a:xfrm>
          <a:prstGeom prst="rect">
            <a:avLst/>
          </a:prstGeom>
          <a:noFill/>
        </p:spPr>
        <p:txBody>
          <a:bodyPr wrap="none" rtlCol="0">
            <a:spAutoFit/>
          </a:bodyPr>
          <a:lstStyle/>
          <a:p>
            <a:r>
              <a:rPr lang="en-US" sz="1100" i="1" dirty="0">
                <a:solidFill>
                  <a:srgbClr val="FFC000"/>
                </a:solidFill>
              </a:rPr>
              <a:t>Waiting.</a:t>
            </a:r>
          </a:p>
        </p:txBody>
      </p:sp>
      <p:pic>
        <p:nvPicPr>
          <p:cNvPr id="93" name="Graphic 92" descr="Information with solid fill">
            <a:extLst>
              <a:ext uri="{FF2B5EF4-FFF2-40B4-BE49-F238E27FC236}">
                <a16:creationId xmlns:a16="http://schemas.microsoft.com/office/drawing/2014/main" id="{38399F42-7F7F-795E-24F9-A8DDAA39C23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2365" y="3102069"/>
            <a:ext cx="193473" cy="193473"/>
          </a:xfrm>
          <a:prstGeom prst="rect">
            <a:avLst/>
          </a:prstGeom>
        </p:spPr>
      </p:pic>
      <p:pic>
        <p:nvPicPr>
          <p:cNvPr id="94" name="Graphic 93" descr="Information with solid fill">
            <a:extLst>
              <a:ext uri="{FF2B5EF4-FFF2-40B4-BE49-F238E27FC236}">
                <a16:creationId xmlns:a16="http://schemas.microsoft.com/office/drawing/2014/main" id="{58AAB187-F17A-1A36-38AC-596D9013902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2365" y="3553624"/>
            <a:ext cx="193473" cy="193473"/>
          </a:xfrm>
          <a:prstGeom prst="rect">
            <a:avLst/>
          </a:prstGeom>
        </p:spPr>
      </p:pic>
      <p:pic>
        <p:nvPicPr>
          <p:cNvPr id="95" name="Graphic 94" descr="Information with solid fill">
            <a:extLst>
              <a:ext uri="{FF2B5EF4-FFF2-40B4-BE49-F238E27FC236}">
                <a16:creationId xmlns:a16="http://schemas.microsoft.com/office/drawing/2014/main" id="{2651BA1D-2AFF-C8C6-E227-157D7FA1C12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2364" y="4014063"/>
            <a:ext cx="193473" cy="193473"/>
          </a:xfrm>
          <a:prstGeom prst="rect">
            <a:avLst/>
          </a:prstGeom>
        </p:spPr>
      </p:pic>
      <p:sp>
        <p:nvSpPr>
          <p:cNvPr id="96" name="TextBox 95">
            <a:extLst>
              <a:ext uri="{FF2B5EF4-FFF2-40B4-BE49-F238E27FC236}">
                <a16:creationId xmlns:a16="http://schemas.microsoft.com/office/drawing/2014/main" id="{03753071-7C7A-BB04-0B7C-968EF394A73C}"/>
              </a:ext>
            </a:extLst>
          </p:cNvPr>
          <p:cNvSpPr txBox="1"/>
          <p:nvPr/>
        </p:nvSpPr>
        <p:spPr>
          <a:xfrm>
            <a:off x="729726" y="3076054"/>
            <a:ext cx="460382" cy="282316"/>
          </a:xfrm>
          <a:prstGeom prst="rect">
            <a:avLst/>
          </a:prstGeom>
          <a:noFill/>
        </p:spPr>
        <p:txBody>
          <a:bodyPr wrap="square" rtlCol="0">
            <a:spAutoFit/>
          </a:bodyPr>
          <a:lstStyle/>
          <a:p>
            <a:r>
              <a:rPr lang="en-US" sz="1200" b="1" dirty="0">
                <a:solidFill>
                  <a:srgbClr val="0E1C2D"/>
                </a:solidFill>
              </a:rPr>
              <a:t>An</a:t>
            </a:r>
          </a:p>
        </p:txBody>
      </p:sp>
      <p:sp>
        <p:nvSpPr>
          <p:cNvPr id="97" name="TextBox 96">
            <a:extLst>
              <a:ext uri="{FF2B5EF4-FFF2-40B4-BE49-F238E27FC236}">
                <a16:creationId xmlns:a16="http://schemas.microsoft.com/office/drawing/2014/main" id="{46982821-21C9-994F-9EE9-6F7576A1CFE7}"/>
              </a:ext>
            </a:extLst>
          </p:cNvPr>
          <p:cNvSpPr txBox="1"/>
          <p:nvPr/>
        </p:nvSpPr>
        <p:spPr>
          <a:xfrm>
            <a:off x="736070" y="3523140"/>
            <a:ext cx="460382" cy="282316"/>
          </a:xfrm>
          <a:prstGeom prst="rect">
            <a:avLst/>
          </a:prstGeom>
          <a:noFill/>
        </p:spPr>
        <p:txBody>
          <a:bodyPr wrap="square" rtlCol="0">
            <a:spAutoFit/>
          </a:bodyPr>
          <a:lstStyle/>
          <a:p>
            <a:r>
              <a:rPr lang="en-US" sz="1200" b="1" dirty="0" err="1">
                <a:solidFill>
                  <a:srgbClr val="0E1C2D"/>
                </a:solidFill>
              </a:rPr>
              <a:t>Im</a:t>
            </a:r>
            <a:endParaRPr lang="en-US" sz="1200" b="1" dirty="0">
              <a:solidFill>
                <a:srgbClr val="0E1C2D"/>
              </a:solidFill>
            </a:endParaRPr>
          </a:p>
        </p:txBody>
      </p:sp>
      <p:sp>
        <p:nvSpPr>
          <p:cNvPr id="98" name="TextBox 97">
            <a:extLst>
              <a:ext uri="{FF2B5EF4-FFF2-40B4-BE49-F238E27FC236}">
                <a16:creationId xmlns:a16="http://schemas.microsoft.com/office/drawing/2014/main" id="{9B716EDB-D22F-FA0D-E555-51A7670E5276}"/>
              </a:ext>
            </a:extLst>
          </p:cNvPr>
          <p:cNvSpPr txBox="1"/>
          <p:nvPr/>
        </p:nvSpPr>
        <p:spPr>
          <a:xfrm>
            <a:off x="736070" y="3989707"/>
            <a:ext cx="460382" cy="282316"/>
          </a:xfrm>
          <a:prstGeom prst="rect">
            <a:avLst/>
          </a:prstGeom>
          <a:noFill/>
        </p:spPr>
        <p:txBody>
          <a:bodyPr wrap="square" rtlCol="0">
            <a:spAutoFit/>
          </a:bodyPr>
          <a:lstStyle/>
          <a:p>
            <a:r>
              <a:rPr lang="en-US" sz="1200" b="1" dirty="0" err="1">
                <a:solidFill>
                  <a:srgbClr val="0E1C2D"/>
                </a:solidFill>
              </a:rPr>
              <a:t>Te</a:t>
            </a:r>
            <a:endParaRPr lang="en-US" sz="1200" b="1" dirty="0">
              <a:solidFill>
                <a:srgbClr val="0E1C2D"/>
              </a:solidFill>
            </a:endParaRPr>
          </a:p>
        </p:txBody>
      </p:sp>
      <p:sp>
        <p:nvSpPr>
          <p:cNvPr id="99" name="TextBox 98">
            <a:extLst>
              <a:ext uri="{FF2B5EF4-FFF2-40B4-BE49-F238E27FC236}">
                <a16:creationId xmlns:a16="http://schemas.microsoft.com/office/drawing/2014/main" id="{AF3F16BA-BF36-21F1-8D2C-DA15D23EFA87}"/>
              </a:ext>
            </a:extLst>
          </p:cNvPr>
          <p:cNvSpPr txBox="1"/>
          <p:nvPr/>
        </p:nvSpPr>
        <p:spPr>
          <a:xfrm>
            <a:off x="4193614" y="2214394"/>
            <a:ext cx="886781" cy="246221"/>
          </a:xfrm>
          <a:prstGeom prst="rect">
            <a:avLst/>
          </a:prstGeom>
          <a:noFill/>
        </p:spPr>
        <p:txBody>
          <a:bodyPr wrap="none" rtlCol="0">
            <a:spAutoFit/>
          </a:bodyPr>
          <a:lstStyle/>
          <a:p>
            <a:pPr algn="ctr"/>
            <a:r>
              <a:rPr lang="en-US" sz="1000" dirty="0">
                <a:solidFill>
                  <a:srgbClr val="E1E1E1"/>
                </a:solidFill>
              </a:rPr>
              <a:t>Agent Status</a:t>
            </a:r>
          </a:p>
        </p:txBody>
      </p:sp>
      <p:sp>
        <p:nvSpPr>
          <p:cNvPr id="100" name="TextBox 99">
            <a:extLst>
              <a:ext uri="{FF2B5EF4-FFF2-40B4-BE49-F238E27FC236}">
                <a16:creationId xmlns:a16="http://schemas.microsoft.com/office/drawing/2014/main" id="{75ABBCC2-A901-0CC5-8802-3735D2C12080}"/>
              </a:ext>
            </a:extLst>
          </p:cNvPr>
          <p:cNvSpPr txBox="1"/>
          <p:nvPr/>
        </p:nvSpPr>
        <p:spPr>
          <a:xfrm>
            <a:off x="7929117" y="2092323"/>
            <a:ext cx="772505" cy="400110"/>
          </a:xfrm>
          <a:prstGeom prst="rect">
            <a:avLst/>
          </a:prstGeom>
          <a:noFill/>
        </p:spPr>
        <p:txBody>
          <a:bodyPr wrap="square" rtlCol="0">
            <a:spAutoFit/>
          </a:bodyPr>
          <a:lstStyle/>
          <a:p>
            <a:pPr algn="ctr"/>
            <a:r>
              <a:rPr lang="en-US" sz="1000" dirty="0">
                <a:solidFill>
                  <a:srgbClr val="E1E1E1"/>
                </a:solidFill>
              </a:rPr>
              <a:t>Messages waiting</a:t>
            </a:r>
          </a:p>
        </p:txBody>
      </p:sp>
      <p:sp>
        <p:nvSpPr>
          <p:cNvPr id="114" name="TextBox 113">
            <a:extLst>
              <a:ext uri="{FF2B5EF4-FFF2-40B4-BE49-F238E27FC236}">
                <a16:creationId xmlns:a16="http://schemas.microsoft.com/office/drawing/2014/main" id="{B27248FC-11AC-D3B4-CE42-85AFB98BD55D}"/>
              </a:ext>
            </a:extLst>
          </p:cNvPr>
          <p:cNvSpPr txBox="1"/>
          <p:nvPr/>
        </p:nvSpPr>
        <p:spPr>
          <a:xfrm>
            <a:off x="7041082" y="2099303"/>
            <a:ext cx="772505" cy="400110"/>
          </a:xfrm>
          <a:prstGeom prst="rect">
            <a:avLst/>
          </a:prstGeom>
          <a:noFill/>
        </p:spPr>
        <p:txBody>
          <a:bodyPr wrap="square" rtlCol="0">
            <a:spAutoFit/>
          </a:bodyPr>
          <a:lstStyle/>
          <a:p>
            <a:pPr algn="ctr"/>
            <a:r>
              <a:rPr lang="en-US" sz="1000" dirty="0">
                <a:solidFill>
                  <a:srgbClr val="E1E1E1"/>
                </a:solidFill>
              </a:rPr>
              <a:t>Messages</a:t>
            </a:r>
          </a:p>
          <a:p>
            <a:pPr algn="ctr"/>
            <a:r>
              <a:rPr lang="en-US" sz="1000" dirty="0">
                <a:solidFill>
                  <a:srgbClr val="E1E1E1"/>
                </a:solidFill>
              </a:rPr>
              <a:t>Sent</a:t>
            </a:r>
          </a:p>
        </p:txBody>
      </p:sp>
      <p:sp>
        <p:nvSpPr>
          <p:cNvPr id="115" name="TextBox 114">
            <a:extLst>
              <a:ext uri="{FF2B5EF4-FFF2-40B4-BE49-F238E27FC236}">
                <a16:creationId xmlns:a16="http://schemas.microsoft.com/office/drawing/2014/main" id="{1AC75547-7584-F622-A4CC-3DCF319455AA}"/>
              </a:ext>
            </a:extLst>
          </p:cNvPr>
          <p:cNvSpPr txBox="1"/>
          <p:nvPr/>
        </p:nvSpPr>
        <p:spPr>
          <a:xfrm>
            <a:off x="8932682" y="2112169"/>
            <a:ext cx="751053" cy="400110"/>
          </a:xfrm>
          <a:prstGeom prst="rect">
            <a:avLst/>
          </a:prstGeom>
          <a:noFill/>
        </p:spPr>
        <p:txBody>
          <a:bodyPr wrap="square" rtlCol="0">
            <a:spAutoFit/>
          </a:bodyPr>
          <a:lstStyle/>
          <a:p>
            <a:pPr algn="ctr"/>
            <a:r>
              <a:rPr lang="en-US" sz="1000" dirty="0">
                <a:solidFill>
                  <a:srgbClr val="E1E1E1"/>
                </a:solidFill>
              </a:rPr>
              <a:t>Messages Read</a:t>
            </a:r>
          </a:p>
        </p:txBody>
      </p:sp>
      <p:pic>
        <p:nvPicPr>
          <p:cNvPr id="117" name="Graphic 116" descr="Chat with solid fill">
            <a:extLst>
              <a:ext uri="{FF2B5EF4-FFF2-40B4-BE49-F238E27FC236}">
                <a16:creationId xmlns:a16="http://schemas.microsoft.com/office/drawing/2014/main" id="{67C1F295-7F43-BEC9-D644-F1354714AFE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305301" y="2637658"/>
            <a:ext cx="261610" cy="261610"/>
          </a:xfrm>
          <a:prstGeom prst="rect">
            <a:avLst/>
          </a:prstGeom>
        </p:spPr>
      </p:pic>
      <p:pic>
        <p:nvPicPr>
          <p:cNvPr id="118" name="Graphic 117" descr="Chat with solid fill">
            <a:extLst>
              <a:ext uri="{FF2B5EF4-FFF2-40B4-BE49-F238E27FC236}">
                <a16:creationId xmlns:a16="http://schemas.microsoft.com/office/drawing/2014/main" id="{44E882F9-B647-9F54-F0B5-6A3D69DF195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297189" y="3068000"/>
            <a:ext cx="261610" cy="261610"/>
          </a:xfrm>
          <a:prstGeom prst="rect">
            <a:avLst/>
          </a:prstGeom>
        </p:spPr>
      </p:pic>
      <p:pic>
        <p:nvPicPr>
          <p:cNvPr id="119" name="Graphic 118" descr="Chat with solid fill">
            <a:extLst>
              <a:ext uri="{FF2B5EF4-FFF2-40B4-BE49-F238E27FC236}">
                <a16:creationId xmlns:a16="http://schemas.microsoft.com/office/drawing/2014/main" id="{3D79A873-B6B6-88A2-E05C-26C6C281007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297189" y="3527404"/>
            <a:ext cx="261610" cy="261610"/>
          </a:xfrm>
          <a:prstGeom prst="rect">
            <a:avLst/>
          </a:prstGeom>
        </p:spPr>
      </p:pic>
      <p:pic>
        <p:nvPicPr>
          <p:cNvPr id="120" name="Graphic 119" descr="Chat with solid fill">
            <a:extLst>
              <a:ext uri="{FF2B5EF4-FFF2-40B4-BE49-F238E27FC236}">
                <a16:creationId xmlns:a16="http://schemas.microsoft.com/office/drawing/2014/main" id="{BC9C89BF-636B-A0E5-C174-974B0ED74E7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310562" y="3991625"/>
            <a:ext cx="261610" cy="261610"/>
          </a:xfrm>
          <a:prstGeom prst="rect">
            <a:avLst/>
          </a:prstGeom>
        </p:spPr>
      </p:pic>
      <p:sp>
        <p:nvSpPr>
          <p:cNvPr id="136" name="TextBox 135">
            <a:extLst>
              <a:ext uri="{FF2B5EF4-FFF2-40B4-BE49-F238E27FC236}">
                <a16:creationId xmlns:a16="http://schemas.microsoft.com/office/drawing/2014/main" id="{FC0F211F-9311-DB84-39D7-6F626F1588F8}"/>
              </a:ext>
            </a:extLst>
          </p:cNvPr>
          <p:cNvSpPr txBox="1"/>
          <p:nvPr/>
        </p:nvSpPr>
        <p:spPr>
          <a:xfrm>
            <a:off x="4253814" y="3982173"/>
            <a:ext cx="683200" cy="261610"/>
          </a:xfrm>
          <a:prstGeom prst="rect">
            <a:avLst/>
          </a:prstGeom>
          <a:noFill/>
        </p:spPr>
        <p:txBody>
          <a:bodyPr wrap="none" rtlCol="0">
            <a:spAutoFit/>
          </a:bodyPr>
          <a:lstStyle/>
          <a:p>
            <a:r>
              <a:rPr lang="en-US" sz="1100" i="1" dirty="0">
                <a:solidFill>
                  <a:srgbClr val="FFC000"/>
                </a:solidFill>
              </a:rPr>
              <a:t>Waiting.</a:t>
            </a:r>
          </a:p>
        </p:txBody>
      </p:sp>
      <p:pic>
        <p:nvPicPr>
          <p:cNvPr id="137" name="Graphic 136" descr="Play with solid fill">
            <a:extLst>
              <a:ext uri="{FF2B5EF4-FFF2-40B4-BE49-F238E27FC236}">
                <a16:creationId xmlns:a16="http://schemas.microsoft.com/office/drawing/2014/main" id="{4D94E8ED-E85D-8601-9965-8775E37BE18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00374" y="3545730"/>
            <a:ext cx="193474" cy="193474"/>
          </a:xfrm>
          <a:prstGeom prst="rect">
            <a:avLst/>
          </a:prstGeom>
        </p:spPr>
      </p:pic>
      <p:pic>
        <p:nvPicPr>
          <p:cNvPr id="138" name="Graphic 137" descr="Play with solid fill">
            <a:extLst>
              <a:ext uri="{FF2B5EF4-FFF2-40B4-BE49-F238E27FC236}">
                <a16:creationId xmlns:a16="http://schemas.microsoft.com/office/drawing/2014/main" id="{CE5FD303-7029-B33A-8A3F-544400E03A4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02983" y="4004988"/>
            <a:ext cx="193474" cy="193474"/>
          </a:xfrm>
          <a:prstGeom prst="rect">
            <a:avLst/>
          </a:prstGeom>
        </p:spPr>
      </p:pic>
      <p:sp>
        <p:nvSpPr>
          <p:cNvPr id="14" name="TextBox 13">
            <a:extLst>
              <a:ext uri="{FF2B5EF4-FFF2-40B4-BE49-F238E27FC236}">
                <a16:creationId xmlns:a16="http://schemas.microsoft.com/office/drawing/2014/main" id="{ACB24120-6C97-1BE1-D684-85C91AABF6F3}"/>
              </a:ext>
            </a:extLst>
          </p:cNvPr>
          <p:cNvSpPr txBox="1"/>
          <p:nvPr/>
        </p:nvSpPr>
        <p:spPr>
          <a:xfrm>
            <a:off x="8152537" y="2627083"/>
            <a:ext cx="260008" cy="261610"/>
          </a:xfrm>
          <a:prstGeom prst="rect">
            <a:avLst/>
          </a:prstGeom>
          <a:noFill/>
        </p:spPr>
        <p:txBody>
          <a:bodyPr wrap="square" rtlCol="0">
            <a:spAutoFit/>
          </a:bodyPr>
          <a:lstStyle/>
          <a:p>
            <a:r>
              <a:rPr lang="en-US" sz="1100" dirty="0">
                <a:solidFill>
                  <a:srgbClr val="E1E1E1"/>
                </a:solidFill>
              </a:rPr>
              <a:t>1</a:t>
            </a:r>
          </a:p>
        </p:txBody>
      </p:sp>
      <p:sp>
        <p:nvSpPr>
          <p:cNvPr id="19" name="TextBox 18">
            <a:extLst>
              <a:ext uri="{FF2B5EF4-FFF2-40B4-BE49-F238E27FC236}">
                <a16:creationId xmlns:a16="http://schemas.microsoft.com/office/drawing/2014/main" id="{D8D01E6A-AF4E-238C-7636-6588987B4D7F}"/>
              </a:ext>
            </a:extLst>
          </p:cNvPr>
          <p:cNvSpPr txBox="1"/>
          <p:nvPr/>
        </p:nvSpPr>
        <p:spPr>
          <a:xfrm>
            <a:off x="8155156" y="3980155"/>
            <a:ext cx="260008" cy="261610"/>
          </a:xfrm>
          <a:prstGeom prst="rect">
            <a:avLst/>
          </a:prstGeom>
          <a:noFill/>
        </p:spPr>
        <p:txBody>
          <a:bodyPr wrap="square" rtlCol="0">
            <a:spAutoFit/>
          </a:bodyPr>
          <a:lstStyle/>
          <a:p>
            <a:r>
              <a:rPr lang="en-US" sz="1100" dirty="0">
                <a:solidFill>
                  <a:srgbClr val="E1E1E1"/>
                </a:solidFill>
              </a:rPr>
              <a:t>1</a:t>
            </a:r>
          </a:p>
        </p:txBody>
      </p:sp>
      <p:sp>
        <p:nvSpPr>
          <p:cNvPr id="20" name="TextBox 19">
            <a:extLst>
              <a:ext uri="{FF2B5EF4-FFF2-40B4-BE49-F238E27FC236}">
                <a16:creationId xmlns:a16="http://schemas.microsoft.com/office/drawing/2014/main" id="{723BA6B0-5653-74B3-F35F-C3A1DA023EF2}"/>
              </a:ext>
            </a:extLst>
          </p:cNvPr>
          <p:cNvSpPr txBox="1"/>
          <p:nvPr/>
        </p:nvSpPr>
        <p:spPr>
          <a:xfrm>
            <a:off x="8155156" y="3496213"/>
            <a:ext cx="260008" cy="261610"/>
          </a:xfrm>
          <a:prstGeom prst="rect">
            <a:avLst/>
          </a:prstGeom>
          <a:noFill/>
        </p:spPr>
        <p:txBody>
          <a:bodyPr wrap="square" rtlCol="0">
            <a:spAutoFit/>
          </a:bodyPr>
          <a:lstStyle/>
          <a:p>
            <a:r>
              <a:rPr lang="en-US" sz="1100" dirty="0">
                <a:solidFill>
                  <a:srgbClr val="E1E1E1"/>
                </a:solidFill>
              </a:rPr>
              <a:t>1</a:t>
            </a:r>
          </a:p>
        </p:txBody>
      </p:sp>
      <p:sp>
        <p:nvSpPr>
          <p:cNvPr id="23" name="TextBox 22">
            <a:extLst>
              <a:ext uri="{FF2B5EF4-FFF2-40B4-BE49-F238E27FC236}">
                <a16:creationId xmlns:a16="http://schemas.microsoft.com/office/drawing/2014/main" id="{85848891-BB60-391F-BA64-353763E2E709}"/>
              </a:ext>
            </a:extLst>
          </p:cNvPr>
          <p:cNvSpPr txBox="1"/>
          <p:nvPr/>
        </p:nvSpPr>
        <p:spPr>
          <a:xfrm>
            <a:off x="2947872" y="2209718"/>
            <a:ext cx="649537" cy="246221"/>
          </a:xfrm>
          <a:prstGeom prst="rect">
            <a:avLst/>
          </a:prstGeom>
          <a:noFill/>
        </p:spPr>
        <p:txBody>
          <a:bodyPr wrap="none" rtlCol="0">
            <a:spAutoFit/>
          </a:bodyPr>
          <a:lstStyle/>
          <a:p>
            <a:pPr algn="ctr"/>
            <a:r>
              <a:rPr lang="en-US" sz="1000" dirty="0">
                <a:solidFill>
                  <a:srgbClr val="E1E1E1"/>
                </a:solidFill>
              </a:rPr>
              <a:t>Agent ID</a:t>
            </a:r>
          </a:p>
        </p:txBody>
      </p:sp>
      <p:sp>
        <p:nvSpPr>
          <p:cNvPr id="28" name="TextBox 27">
            <a:extLst>
              <a:ext uri="{FF2B5EF4-FFF2-40B4-BE49-F238E27FC236}">
                <a16:creationId xmlns:a16="http://schemas.microsoft.com/office/drawing/2014/main" id="{336835AD-5A20-5A71-E9CB-2640B4116CFB}"/>
              </a:ext>
            </a:extLst>
          </p:cNvPr>
          <p:cNvSpPr txBox="1"/>
          <p:nvPr/>
        </p:nvSpPr>
        <p:spPr>
          <a:xfrm>
            <a:off x="2647311" y="2620646"/>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0" name="TextBox 29">
            <a:extLst>
              <a:ext uri="{FF2B5EF4-FFF2-40B4-BE49-F238E27FC236}">
                <a16:creationId xmlns:a16="http://schemas.microsoft.com/office/drawing/2014/main" id="{32EB2430-500E-B625-BFD4-0A68FC5348EF}"/>
              </a:ext>
            </a:extLst>
          </p:cNvPr>
          <p:cNvSpPr txBox="1"/>
          <p:nvPr/>
        </p:nvSpPr>
        <p:spPr>
          <a:xfrm>
            <a:off x="2647311" y="3086580"/>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1" name="TextBox 30">
            <a:extLst>
              <a:ext uri="{FF2B5EF4-FFF2-40B4-BE49-F238E27FC236}">
                <a16:creationId xmlns:a16="http://schemas.microsoft.com/office/drawing/2014/main" id="{02168C07-0F93-F2FF-0F9F-CFE4657918FC}"/>
              </a:ext>
            </a:extLst>
          </p:cNvPr>
          <p:cNvSpPr txBox="1"/>
          <p:nvPr/>
        </p:nvSpPr>
        <p:spPr>
          <a:xfrm>
            <a:off x="2647311" y="3545730"/>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2" name="TextBox 31">
            <a:extLst>
              <a:ext uri="{FF2B5EF4-FFF2-40B4-BE49-F238E27FC236}">
                <a16:creationId xmlns:a16="http://schemas.microsoft.com/office/drawing/2014/main" id="{B4532D57-84BC-D9CF-3DD3-0CE10DFA2048}"/>
              </a:ext>
            </a:extLst>
          </p:cNvPr>
          <p:cNvSpPr txBox="1"/>
          <p:nvPr/>
        </p:nvSpPr>
        <p:spPr>
          <a:xfrm>
            <a:off x="2636441" y="4004880"/>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3" name="TextBox 32">
            <a:extLst>
              <a:ext uri="{FF2B5EF4-FFF2-40B4-BE49-F238E27FC236}">
                <a16:creationId xmlns:a16="http://schemas.microsoft.com/office/drawing/2014/main" id="{814AEE68-FC34-0609-D6E4-C931586A4226}"/>
              </a:ext>
            </a:extLst>
          </p:cNvPr>
          <p:cNvSpPr txBox="1"/>
          <p:nvPr/>
        </p:nvSpPr>
        <p:spPr>
          <a:xfrm>
            <a:off x="5445208" y="2092323"/>
            <a:ext cx="772505" cy="400110"/>
          </a:xfrm>
          <a:prstGeom prst="rect">
            <a:avLst/>
          </a:prstGeom>
          <a:noFill/>
        </p:spPr>
        <p:txBody>
          <a:bodyPr wrap="square" rtlCol="0">
            <a:spAutoFit/>
          </a:bodyPr>
          <a:lstStyle/>
          <a:p>
            <a:pPr algn="ctr"/>
            <a:r>
              <a:rPr lang="en-US" sz="1000" dirty="0">
                <a:solidFill>
                  <a:srgbClr val="E1E1E1"/>
                </a:solidFill>
              </a:rPr>
              <a:t>Job </a:t>
            </a:r>
          </a:p>
          <a:p>
            <a:pPr algn="ctr"/>
            <a:r>
              <a:rPr lang="en-US" sz="1000" dirty="0">
                <a:solidFill>
                  <a:srgbClr val="E1E1E1"/>
                </a:solidFill>
              </a:rPr>
              <a:t>Read</a:t>
            </a:r>
          </a:p>
        </p:txBody>
      </p:sp>
      <p:sp>
        <p:nvSpPr>
          <p:cNvPr id="34" name="TextBox 33">
            <a:extLst>
              <a:ext uri="{FF2B5EF4-FFF2-40B4-BE49-F238E27FC236}">
                <a16:creationId xmlns:a16="http://schemas.microsoft.com/office/drawing/2014/main" id="{726829A4-76EA-4D48-195B-9ABB883A6B01}"/>
              </a:ext>
            </a:extLst>
          </p:cNvPr>
          <p:cNvSpPr txBox="1"/>
          <p:nvPr/>
        </p:nvSpPr>
        <p:spPr>
          <a:xfrm>
            <a:off x="6129630" y="2105765"/>
            <a:ext cx="1037054" cy="400110"/>
          </a:xfrm>
          <a:prstGeom prst="rect">
            <a:avLst/>
          </a:prstGeom>
          <a:noFill/>
        </p:spPr>
        <p:txBody>
          <a:bodyPr wrap="square" rtlCol="0">
            <a:spAutoFit/>
          </a:bodyPr>
          <a:lstStyle/>
          <a:p>
            <a:pPr algn="ctr"/>
            <a:r>
              <a:rPr lang="en-US" sz="1000" dirty="0">
                <a:solidFill>
                  <a:srgbClr val="E1E1E1"/>
                </a:solidFill>
              </a:rPr>
              <a:t>Job Acknowledged</a:t>
            </a:r>
          </a:p>
        </p:txBody>
      </p:sp>
      <p:cxnSp>
        <p:nvCxnSpPr>
          <p:cNvPr id="41" name="Straight Connector 40">
            <a:extLst>
              <a:ext uri="{FF2B5EF4-FFF2-40B4-BE49-F238E27FC236}">
                <a16:creationId xmlns:a16="http://schemas.microsoft.com/office/drawing/2014/main" id="{D4B7CA23-4C94-436A-1591-291CF1233231}"/>
              </a:ext>
            </a:extLst>
          </p:cNvPr>
          <p:cNvCxnSpPr>
            <a:cxnSpLocks/>
          </p:cNvCxnSpPr>
          <p:nvPr/>
        </p:nvCxnSpPr>
        <p:spPr>
          <a:xfrm>
            <a:off x="11391357" y="2585825"/>
            <a:ext cx="0" cy="2327883"/>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5E98833D-F62F-00AB-5616-633E25DCDF93}"/>
              </a:ext>
            </a:extLst>
          </p:cNvPr>
          <p:cNvCxnSpPr>
            <a:cxnSpLocks/>
          </p:cNvCxnSpPr>
          <p:nvPr/>
        </p:nvCxnSpPr>
        <p:spPr>
          <a:xfrm>
            <a:off x="11391357" y="2585825"/>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EF3D3BE9-0A2B-3A66-A14A-30E34635016C}"/>
              </a:ext>
            </a:extLst>
          </p:cNvPr>
          <p:cNvCxnSpPr>
            <a:cxnSpLocks/>
          </p:cNvCxnSpPr>
          <p:nvPr/>
        </p:nvCxnSpPr>
        <p:spPr>
          <a:xfrm>
            <a:off x="11391357" y="2625072"/>
            <a:ext cx="0" cy="2327883"/>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20A70C4D-DD97-0B92-9369-6F2BCFA7A916}"/>
              </a:ext>
            </a:extLst>
          </p:cNvPr>
          <p:cNvCxnSpPr>
            <a:cxnSpLocks/>
          </p:cNvCxnSpPr>
          <p:nvPr/>
        </p:nvCxnSpPr>
        <p:spPr>
          <a:xfrm>
            <a:off x="11391357" y="2625072"/>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sp>
        <p:nvSpPr>
          <p:cNvPr id="45" name="Rectangle: Rounded Corners 44">
            <a:extLst>
              <a:ext uri="{FF2B5EF4-FFF2-40B4-BE49-F238E27FC236}">
                <a16:creationId xmlns:a16="http://schemas.microsoft.com/office/drawing/2014/main" id="{D1BD9079-C5E8-8F0A-0814-76D7A9AD4465}"/>
              </a:ext>
            </a:extLst>
          </p:cNvPr>
          <p:cNvSpPr/>
          <p:nvPr/>
        </p:nvSpPr>
        <p:spPr>
          <a:xfrm>
            <a:off x="3031449" y="5377380"/>
            <a:ext cx="5904873" cy="421811"/>
          </a:xfrm>
          <a:prstGeom prst="roundRect">
            <a:avLst>
              <a:gd name="adj" fmla="val 27474"/>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a:t>
            </a:r>
          </a:p>
        </p:txBody>
      </p:sp>
      <p:sp>
        <p:nvSpPr>
          <p:cNvPr id="46" name="Rectangle: Rounded Corners 45">
            <a:extLst>
              <a:ext uri="{FF2B5EF4-FFF2-40B4-BE49-F238E27FC236}">
                <a16:creationId xmlns:a16="http://schemas.microsoft.com/office/drawing/2014/main" id="{2BBB5780-0BD0-7B38-163E-A42B654E5085}"/>
              </a:ext>
            </a:extLst>
          </p:cNvPr>
          <p:cNvSpPr/>
          <p:nvPr/>
        </p:nvSpPr>
        <p:spPr>
          <a:xfrm>
            <a:off x="522553" y="5375748"/>
            <a:ext cx="1132255" cy="421811"/>
          </a:xfrm>
          <a:prstGeom prst="roundRect">
            <a:avLst>
              <a:gd name="adj" fmla="val 27474"/>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1E3147"/>
                </a:solidFill>
              </a:rPr>
              <a:t>Message Orchestrator</a:t>
            </a:r>
          </a:p>
        </p:txBody>
      </p:sp>
      <p:sp>
        <p:nvSpPr>
          <p:cNvPr id="47" name="Rectangle: Rounded Corners 46">
            <a:extLst>
              <a:ext uri="{FF2B5EF4-FFF2-40B4-BE49-F238E27FC236}">
                <a16:creationId xmlns:a16="http://schemas.microsoft.com/office/drawing/2014/main" id="{AEA94A23-2D9D-101B-AFAE-C4693EF5BBF0}"/>
              </a:ext>
            </a:extLst>
          </p:cNvPr>
          <p:cNvSpPr/>
          <p:nvPr/>
        </p:nvSpPr>
        <p:spPr>
          <a:xfrm>
            <a:off x="1753756" y="5378268"/>
            <a:ext cx="1178745" cy="421811"/>
          </a:xfrm>
          <a:prstGeom prst="roundRect">
            <a:avLst>
              <a:gd name="adj" fmla="val 27474"/>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1E1E1"/>
                </a:solidFill>
              </a:rPr>
              <a:t>Broadcast</a:t>
            </a:r>
          </a:p>
        </p:txBody>
      </p:sp>
      <p:sp>
        <p:nvSpPr>
          <p:cNvPr id="50" name="Oval 49">
            <a:extLst>
              <a:ext uri="{FF2B5EF4-FFF2-40B4-BE49-F238E27FC236}">
                <a16:creationId xmlns:a16="http://schemas.microsoft.com/office/drawing/2014/main" id="{A971EF49-2160-4980-6B6E-8FD3857578DC}"/>
              </a:ext>
            </a:extLst>
          </p:cNvPr>
          <p:cNvSpPr/>
          <p:nvPr/>
        </p:nvSpPr>
        <p:spPr>
          <a:xfrm>
            <a:off x="8997072" y="5441706"/>
            <a:ext cx="293929" cy="306770"/>
          </a:xfrm>
          <a:prstGeom prst="ellipse">
            <a:avLst/>
          </a:prstGeom>
          <a:solidFill>
            <a:srgbClr val="FFC3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 name="Graphic 48" descr="Play with solid fill">
            <a:extLst>
              <a:ext uri="{FF2B5EF4-FFF2-40B4-BE49-F238E27FC236}">
                <a16:creationId xmlns:a16="http://schemas.microsoft.com/office/drawing/2014/main" id="{BAE8E5CF-62E5-0C40-FC1C-21C83A0FE78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073173" y="5507713"/>
            <a:ext cx="174755" cy="174755"/>
          </a:xfrm>
          <a:prstGeom prst="rect">
            <a:avLst/>
          </a:prstGeom>
        </p:spPr>
      </p:pic>
      <p:sp>
        <p:nvSpPr>
          <p:cNvPr id="52" name="TextBox 51">
            <a:extLst>
              <a:ext uri="{FF2B5EF4-FFF2-40B4-BE49-F238E27FC236}">
                <a16:creationId xmlns:a16="http://schemas.microsoft.com/office/drawing/2014/main" id="{E3EE8305-9ABE-5B27-5214-9B8469D71F9B}"/>
              </a:ext>
            </a:extLst>
          </p:cNvPr>
          <p:cNvSpPr txBox="1"/>
          <p:nvPr/>
        </p:nvSpPr>
        <p:spPr>
          <a:xfrm>
            <a:off x="5390293" y="210991"/>
            <a:ext cx="4610081" cy="1077218"/>
          </a:xfrm>
          <a:prstGeom prst="rect">
            <a:avLst/>
          </a:prstGeom>
          <a:noFill/>
        </p:spPr>
        <p:txBody>
          <a:bodyPr wrap="square" rtlCol="0">
            <a:spAutoFit/>
          </a:bodyPr>
          <a:lstStyle/>
          <a:p>
            <a:pPr algn="ctr"/>
            <a:r>
              <a:rPr lang="en-US" sz="3200" dirty="0">
                <a:solidFill>
                  <a:schemeClr val="accent5">
                    <a:lumMod val="60000"/>
                    <a:lumOff val="40000"/>
                  </a:schemeClr>
                </a:solidFill>
              </a:rPr>
              <a:t>STATUS BOARD Variant MVP</a:t>
            </a:r>
          </a:p>
        </p:txBody>
      </p:sp>
      <p:sp>
        <p:nvSpPr>
          <p:cNvPr id="53" name="TextBox 52">
            <a:extLst>
              <a:ext uri="{FF2B5EF4-FFF2-40B4-BE49-F238E27FC236}">
                <a16:creationId xmlns:a16="http://schemas.microsoft.com/office/drawing/2014/main" id="{19611A61-D69C-88A9-FCEB-766BEA986ACD}"/>
              </a:ext>
            </a:extLst>
          </p:cNvPr>
          <p:cNvSpPr txBox="1"/>
          <p:nvPr/>
        </p:nvSpPr>
        <p:spPr>
          <a:xfrm>
            <a:off x="39778" y="47732"/>
            <a:ext cx="3312061" cy="369332"/>
          </a:xfrm>
          <a:prstGeom prst="rect">
            <a:avLst/>
          </a:prstGeom>
          <a:noFill/>
        </p:spPr>
        <p:txBody>
          <a:bodyPr wrap="none" rtlCol="0">
            <a:spAutoFit/>
          </a:bodyPr>
          <a:lstStyle/>
          <a:p>
            <a:r>
              <a:rPr lang="en-US" dirty="0">
                <a:solidFill>
                  <a:schemeClr val="accent5">
                    <a:lumMod val="60000"/>
                    <a:lumOff val="40000"/>
                  </a:schemeClr>
                </a:solidFill>
              </a:rPr>
              <a:t>SLIDE 3b – Implementation Tab.</a:t>
            </a:r>
          </a:p>
        </p:txBody>
      </p:sp>
      <p:pic>
        <p:nvPicPr>
          <p:cNvPr id="54" name="Graphic 53" descr="Play with solid fill">
            <a:extLst>
              <a:ext uri="{FF2B5EF4-FFF2-40B4-BE49-F238E27FC236}">
                <a16:creationId xmlns:a16="http://schemas.microsoft.com/office/drawing/2014/main" id="{C2C73059-E9B7-B069-72FB-9C493B9794F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979845" y="2671726"/>
            <a:ext cx="193474" cy="193474"/>
          </a:xfrm>
          <a:prstGeom prst="rect">
            <a:avLst/>
          </a:prstGeom>
        </p:spPr>
      </p:pic>
      <p:pic>
        <p:nvPicPr>
          <p:cNvPr id="59" name="Graphic 58" descr="Play with solid fill">
            <a:extLst>
              <a:ext uri="{FF2B5EF4-FFF2-40B4-BE49-F238E27FC236}">
                <a16:creationId xmlns:a16="http://schemas.microsoft.com/office/drawing/2014/main" id="{4E7FE78C-8AD9-FBDC-11F9-342E5766EE5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955195" y="3096151"/>
            <a:ext cx="193474" cy="193474"/>
          </a:xfrm>
          <a:prstGeom prst="rect">
            <a:avLst/>
          </a:prstGeom>
        </p:spPr>
      </p:pic>
      <p:sp>
        <p:nvSpPr>
          <p:cNvPr id="61" name="TextBox 60">
            <a:extLst>
              <a:ext uri="{FF2B5EF4-FFF2-40B4-BE49-F238E27FC236}">
                <a16:creationId xmlns:a16="http://schemas.microsoft.com/office/drawing/2014/main" id="{3C8D4AB3-1844-9BF9-1195-E27DCD97F0AF}"/>
              </a:ext>
            </a:extLst>
          </p:cNvPr>
          <p:cNvSpPr txBox="1"/>
          <p:nvPr/>
        </p:nvSpPr>
        <p:spPr>
          <a:xfrm>
            <a:off x="4250868" y="3548989"/>
            <a:ext cx="683200" cy="261610"/>
          </a:xfrm>
          <a:prstGeom prst="rect">
            <a:avLst/>
          </a:prstGeom>
          <a:noFill/>
        </p:spPr>
        <p:txBody>
          <a:bodyPr wrap="none" rtlCol="0">
            <a:spAutoFit/>
          </a:bodyPr>
          <a:lstStyle/>
          <a:p>
            <a:r>
              <a:rPr lang="en-US" sz="1100" i="1" dirty="0">
                <a:solidFill>
                  <a:srgbClr val="FFC000"/>
                </a:solidFill>
              </a:rPr>
              <a:t>Waiting.</a:t>
            </a:r>
          </a:p>
        </p:txBody>
      </p:sp>
      <p:sp>
        <p:nvSpPr>
          <p:cNvPr id="62" name="TextBox 61">
            <a:extLst>
              <a:ext uri="{FF2B5EF4-FFF2-40B4-BE49-F238E27FC236}">
                <a16:creationId xmlns:a16="http://schemas.microsoft.com/office/drawing/2014/main" id="{D22329B8-A705-EEB7-BE51-E87BB2561110}"/>
              </a:ext>
            </a:extLst>
          </p:cNvPr>
          <p:cNvSpPr txBox="1"/>
          <p:nvPr/>
        </p:nvSpPr>
        <p:spPr>
          <a:xfrm>
            <a:off x="4253599" y="3080702"/>
            <a:ext cx="683200" cy="261610"/>
          </a:xfrm>
          <a:prstGeom prst="rect">
            <a:avLst/>
          </a:prstGeom>
          <a:noFill/>
        </p:spPr>
        <p:txBody>
          <a:bodyPr wrap="none" rtlCol="0">
            <a:spAutoFit/>
          </a:bodyPr>
          <a:lstStyle/>
          <a:p>
            <a:r>
              <a:rPr lang="en-US" sz="1100" i="1" dirty="0">
                <a:solidFill>
                  <a:srgbClr val="FFC000"/>
                </a:solidFill>
              </a:rPr>
              <a:t>Waiting.</a:t>
            </a:r>
          </a:p>
        </p:txBody>
      </p:sp>
      <p:sp>
        <p:nvSpPr>
          <p:cNvPr id="7" name="TextBox 6">
            <a:extLst>
              <a:ext uri="{FF2B5EF4-FFF2-40B4-BE49-F238E27FC236}">
                <a16:creationId xmlns:a16="http://schemas.microsoft.com/office/drawing/2014/main" id="{94FB88C8-62CA-3EF5-E96C-6CB0FE9C415A}"/>
              </a:ext>
            </a:extLst>
          </p:cNvPr>
          <p:cNvSpPr txBox="1"/>
          <p:nvPr/>
        </p:nvSpPr>
        <p:spPr>
          <a:xfrm>
            <a:off x="7260027" y="2637913"/>
            <a:ext cx="260008" cy="261610"/>
          </a:xfrm>
          <a:prstGeom prst="rect">
            <a:avLst/>
          </a:prstGeom>
          <a:noFill/>
        </p:spPr>
        <p:txBody>
          <a:bodyPr wrap="square" rtlCol="0">
            <a:spAutoFit/>
          </a:bodyPr>
          <a:lstStyle/>
          <a:p>
            <a:r>
              <a:rPr lang="en-US" sz="1100" dirty="0">
                <a:solidFill>
                  <a:srgbClr val="E1E1E1"/>
                </a:solidFill>
              </a:rPr>
              <a:t>4</a:t>
            </a:r>
          </a:p>
        </p:txBody>
      </p:sp>
      <p:sp>
        <p:nvSpPr>
          <p:cNvPr id="8" name="TextBox 7">
            <a:extLst>
              <a:ext uri="{FF2B5EF4-FFF2-40B4-BE49-F238E27FC236}">
                <a16:creationId xmlns:a16="http://schemas.microsoft.com/office/drawing/2014/main" id="{97A711F5-479C-35E2-A50D-BDFD399C4CF3}"/>
              </a:ext>
            </a:extLst>
          </p:cNvPr>
          <p:cNvSpPr txBox="1"/>
          <p:nvPr/>
        </p:nvSpPr>
        <p:spPr>
          <a:xfrm>
            <a:off x="8152537" y="3076054"/>
            <a:ext cx="260008" cy="261610"/>
          </a:xfrm>
          <a:prstGeom prst="rect">
            <a:avLst/>
          </a:prstGeom>
          <a:noFill/>
        </p:spPr>
        <p:txBody>
          <a:bodyPr wrap="square" rtlCol="0">
            <a:spAutoFit/>
          </a:bodyPr>
          <a:lstStyle/>
          <a:p>
            <a:r>
              <a:rPr lang="en-US" sz="1100" dirty="0">
                <a:solidFill>
                  <a:srgbClr val="E1E1E1"/>
                </a:solidFill>
              </a:rPr>
              <a:t>1</a:t>
            </a:r>
          </a:p>
        </p:txBody>
      </p:sp>
      <p:sp>
        <p:nvSpPr>
          <p:cNvPr id="9" name="Rectangle 8">
            <a:extLst>
              <a:ext uri="{FF2B5EF4-FFF2-40B4-BE49-F238E27FC236}">
                <a16:creationId xmlns:a16="http://schemas.microsoft.com/office/drawing/2014/main" id="{A56796F9-3499-C01E-75F0-5B09E317B69B}"/>
              </a:ext>
            </a:extLst>
          </p:cNvPr>
          <p:cNvSpPr/>
          <p:nvPr/>
        </p:nvSpPr>
        <p:spPr>
          <a:xfrm>
            <a:off x="3343493" y="423526"/>
            <a:ext cx="2143429" cy="914400"/>
          </a:xfrm>
          <a:prstGeom prst="rect">
            <a:avLst/>
          </a:prstGeom>
          <a:no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5">
                    <a:lumMod val="60000"/>
                    <a:lumOff val="40000"/>
                  </a:schemeClr>
                </a:solidFill>
              </a:rPr>
              <a:t>Starting state Claude Code CLI toggle on</a:t>
            </a:r>
          </a:p>
        </p:txBody>
      </p:sp>
      <p:cxnSp>
        <p:nvCxnSpPr>
          <p:cNvPr id="11" name="Connector: Elbow 10">
            <a:extLst>
              <a:ext uri="{FF2B5EF4-FFF2-40B4-BE49-F238E27FC236}">
                <a16:creationId xmlns:a16="http://schemas.microsoft.com/office/drawing/2014/main" id="{4CACBD6C-F27B-5E70-373D-9584F19F9901}"/>
              </a:ext>
            </a:extLst>
          </p:cNvPr>
          <p:cNvCxnSpPr>
            <a:cxnSpLocks/>
            <a:stCxn id="9" idx="2"/>
            <a:endCxn id="80" idx="3"/>
          </p:cNvCxnSpPr>
          <p:nvPr/>
        </p:nvCxnSpPr>
        <p:spPr>
          <a:xfrm rot="5400000">
            <a:off x="2963750" y="524064"/>
            <a:ext cx="637597" cy="2265320"/>
          </a:xfrm>
          <a:prstGeom prst="bentConnector2">
            <a:avLst/>
          </a:prstGeom>
          <a:ln>
            <a:tailEnd type="triangle"/>
          </a:ln>
        </p:spPr>
        <p:style>
          <a:lnRef idx="2">
            <a:schemeClr val="accent5"/>
          </a:lnRef>
          <a:fillRef idx="0">
            <a:schemeClr val="accent5"/>
          </a:fillRef>
          <a:effectRef idx="1">
            <a:schemeClr val="accent5"/>
          </a:effectRef>
          <a:fontRef idx="minor">
            <a:schemeClr val="tx1"/>
          </a:fontRef>
        </p:style>
      </p:cxnSp>
      <p:sp>
        <p:nvSpPr>
          <p:cNvPr id="12" name="TextBox 11">
            <a:extLst>
              <a:ext uri="{FF2B5EF4-FFF2-40B4-BE49-F238E27FC236}">
                <a16:creationId xmlns:a16="http://schemas.microsoft.com/office/drawing/2014/main" id="{9B1E3AF7-4E0E-28CC-2350-C95FEFAE15BD}"/>
              </a:ext>
            </a:extLst>
          </p:cNvPr>
          <p:cNvSpPr txBox="1"/>
          <p:nvPr/>
        </p:nvSpPr>
        <p:spPr>
          <a:xfrm>
            <a:off x="390686" y="6097720"/>
            <a:ext cx="3493631" cy="369332"/>
          </a:xfrm>
          <a:prstGeom prst="rect">
            <a:avLst/>
          </a:prstGeom>
          <a:solidFill>
            <a:srgbClr val="FF0000"/>
          </a:solidFill>
          <a:ln>
            <a:solidFill>
              <a:schemeClr val="accent5">
                <a:lumMod val="60000"/>
                <a:lumOff val="40000"/>
              </a:schemeClr>
            </a:solidFill>
          </a:ln>
        </p:spPr>
        <p:txBody>
          <a:bodyPr wrap="square" rtlCol="0">
            <a:spAutoFit/>
          </a:bodyPr>
          <a:lstStyle/>
          <a:p>
            <a:r>
              <a:rPr lang="en-US" dirty="0">
                <a:solidFill>
                  <a:schemeClr val="bg1"/>
                </a:solidFill>
              </a:rPr>
              <a:t>CLAUDE CODE CLI MODE</a:t>
            </a:r>
          </a:p>
        </p:txBody>
      </p:sp>
      <p:sp>
        <p:nvSpPr>
          <p:cNvPr id="48" name="Rectangle 47">
            <a:extLst>
              <a:ext uri="{FF2B5EF4-FFF2-40B4-BE49-F238E27FC236}">
                <a16:creationId xmlns:a16="http://schemas.microsoft.com/office/drawing/2014/main" id="{251CFC2A-3660-209E-5499-74D58BC44B58}"/>
              </a:ext>
            </a:extLst>
          </p:cNvPr>
          <p:cNvSpPr/>
          <p:nvPr/>
        </p:nvSpPr>
        <p:spPr>
          <a:xfrm>
            <a:off x="9947059" y="371404"/>
            <a:ext cx="2143429" cy="1076252"/>
          </a:xfrm>
          <a:prstGeom prst="rect">
            <a:avLst/>
          </a:prstGeom>
          <a:no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5">
                    <a:lumMod val="60000"/>
                    <a:lumOff val="40000"/>
                  </a:schemeClr>
                </a:solidFill>
              </a:rPr>
              <a:t>Only one terminal, so only one trigger prompt for orchestrator</a:t>
            </a:r>
          </a:p>
        </p:txBody>
      </p:sp>
      <p:cxnSp>
        <p:nvCxnSpPr>
          <p:cNvPr id="57" name="Connector: Elbow 56">
            <a:extLst>
              <a:ext uri="{FF2B5EF4-FFF2-40B4-BE49-F238E27FC236}">
                <a16:creationId xmlns:a16="http://schemas.microsoft.com/office/drawing/2014/main" id="{ACE0AE6B-7996-23E6-32E9-9A89FCC39651}"/>
              </a:ext>
            </a:extLst>
          </p:cNvPr>
          <p:cNvCxnSpPr>
            <a:stCxn id="48" idx="2"/>
          </p:cNvCxnSpPr>
          <p:nvPr/>
        </p:nvCxnSpPr>
        <p:spPr>
          <a:xfrm rot="5400000">
            <a:off x="9930042" y="1582994"/>
            <a:ext cx="1224070" cy="953394"/>
          </a:xfrm>
          <a:prstGeom prst="bentConnector3">
            <a:avLst/>
          </a:prstGeom>
          <a:ln>
            <a:tailEnd type="triangle"/>
          </a:ln>
        </p:spPr>
        <p:style>
          <a:lnRef idx="2">
            <a:schemeClr val="accent5"/>
          </a:lnRef>
          <a:fillRef idx="0">
            <a:schemeClr val="accent5"/>
          </a:fillRef>
          <a:effectRef idx="1">
            <a:schemeClr val="accent5"/>
          </a:effectRef>
          <a:fontRef idx="minor">
            <a:schemeClr val="tx1"/>
          </a:fontRef>
        </p:style>
      </p:cxnSp>
    </p:spTree>
    <p:extLst>
      <p:ext uri="{BB962C8B-B14F-4D97-AF65-F5344CB8AC3E}">
        <p14:creationId xmlns:p14="http://schemas.microsoft.com/office/powerpoint/2010/main" val="569074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E1C2D"/>
        </a:solidFill>
        <a:effectLst/>
      </p:bgPr>
    </p:bg>
    <p:spTree>
      <p:nvGrpSpPr>
        <p:cNvPr id="1" name="">
          <a:extLst>
            <a:ext uri="{FF2B5EF4-FFF2-40B4-BE49-F238E27FC236}">
              <a16:creationId xmlns:a16="http://schemas.microsoft.com/office/drawing/2014/main" id="{1F866481-8412-9DB0-BE5E-DFAE4378C603}"/>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C5E59374-2A74-485C-0572-1C3105763368}"/>
              </a:ext>
            </a:extLst>
          </p:cNvPr>
          <p:cNvSpPr/>
          <p:nvPr/>
        </p:nvSpPr>
        <p:spPr>
          <a:xfrm>
            <a:off x="503403" y="1334840"/>
            <a:ext cx="2218513" cy="1071163"/>
          </a:xfrm>
          <a:prstGeom prst="roundRect">
            <a:avLst>
              <a:gd name="adj" fmla="val 15806"/>
            </a:avLst>
          </a:prstGeom>
          <a:no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EF901081-2EF0-FF62-E8EE-0EC925E3C806}"/>
              </a:ext>
            </a:extLst>
          </p:cNvPr>
          <p:cNvSpPr txBox="1"/>
          <p:nvPr/>
        </p:nvSpPr>
        <p:spPr>
          <a:xfrm>
            <a:off x="516531" y="677075"/>
            <a:ext cx="2514919" cy="553998"/>
          </a:xfrm>
          <a:prstGeom prst="rect">
            <a:avLst/>
          </a:prstGeom>
          <a:noFill/>
        </p:spPr>
        <p:txBody>
          <a:bodyPr wrap="none" rtlCol="0">
            <a:spAutoFit/>
          </a:bodyPr>
          <a:lstStyle/>
          <a:p>
            <a:r>
              <a:rPr lang="en-US" dirty="0">
                <a:solidFill>
                  <a:srgbClr val="E1E1E1"/>
                </a:solidFill>
              </a:rPr>
              <a:t>Project: </a:t>
            </a:r>
            <a:r>
              <a:rPr lang="en-US" dirty="0">
                <a:solidFill>
                  <a:srgbClr val="FFC300"/>
                </a:solidFill>
              </a:rPr>
              <a:t>{</a:t>
            </a:r>
            <a:r>
              <a:rPr lang="en-US" dirty="0" err="1">
                <a:solidFill>
                  <a:srgbClr val="FFC300"/>
                </a:solidFill>
              </a:rPr>
              <a:t>project_name</a:t>
            </a:r>
            <a:r>
              <a:rPr lang="en-US" dirty="0">
                <a:solidFill>
                  <a:srgbClr val="FFC300"/>
                </a:solidFill>
              </a:rPr>
              <a:t>}</a:t>
            </a:r>
          </a:p>
          <a:p>
            <a:r>
              <a:rPr lang="en-US" sz="1200" dirty="0">
                <a:solidFill>
                  <a:srgbClr val="8F97B7"/>
                </a:solidFill>
              </a:rPr>
              <a:t>Project ID: {</a:t>
            </a:r>
            <a:r>
              <a:rPr lang="en-US" sz="1200" dirty="0" err="1">
                <a:solidFill>
                  <a:srgbClr val="8F97B7"/>
                </a:solidFill>
              </a:rPr>
              <a:t>full_UUID</a:t>
            </a:r>
            <a:r>
              <a:rPr lang="en-US" sz="1200" dirty="0">
                <a:solidFill>
                  <a:srgbClr val="8F97B7"/>
                </a:solidFill>
              </a:rPr>
              <a:t>}</a:t>
            </a:r>
          </a:p>
        </p:txBody>
      </p:sp>
      <p:sp>
        <p:nvSpPr>
          <p:cNvPr id="3" name="Rectangle: Rounded Corners 2">
            <a:extLst>
              <a:ext uri="{FF2B5EF4-FFF2-40B4-BE49-F238E27FC236}">
                <a16:creationId xmlns:a16="http://schemas.microsoft.com/office/drawing/2014/main" id="{111D6E7B-D2C6-480F-901C-0A3360110792}"/>
              </a:ext>
            </a:extLst>
          </p:cNvPr>
          <p:cNvSpPr/>
          <p:nvPr/>
        </p:nvSpPr>
        <p:spPr>
          <a:xfrm>
            <a:off x="1643382" y="1342292"/>
            <a:ext cx="1805578" cy="969932"/>
          </a:xfrm>
          <a:prstGeom prst="roundRect">
            <a:avLst>
              <a:gd name="adj" fmla="val 17766"/>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F4D4C87-60CF-C883-CFF4-125614406A33}"/>
              </a:ext>
            </a:extLst>
          </p:cNvPr>
          <p:cNvSpPr txBox="1"/>
          <p:nvPr/>
        </p:nvSpPr>
        <p:spPr>
          <a:xfrm>
            <a:off x="682981" y="1327205"/>
            <a:ext cx="929678" cy="369332"/>
          </a:xfrm>
          <a:prstGeom prst="rect">
            <a:avLst/>
          </a:prstGeom>
          <a:noFill/>
        </p:spPr>
        <p:txBody>
          <a:bodyPr wrap="none" rtlCol="0">
            <a:spAutoFit/>
          </a:bodyPr>
          <a:lstStyle/>
          <a:p>
            <a:r>
              <a:rPr lang="en-US" dirty="0">
                <a:solidFill>
                  <a:srgbClr val="1E3147"/>
                </a:solidFill>
              </a:rPr>
              <a:t>Launch</a:t>
            </a:r>
          </a:p>
        </p:txBody>
      </p:sp>
      <p:sp>
        <p:nvSpPr>
          <p:cNvPr id="6" name="Rectangle: Rounded Corners 5">
            <a:extLst>
              <a:ext uri="{FF2B5EF4-FFF2-40B4-BE49-F238E27FC236}">
                <a16:creationId xmlns:a16="http://schemas.microsoft.com/office/drawing/2014/main" id="{FA3734E8-1ACA-AB79-FB8D-896A9C2F8614}"/>
              </a:ext>
            </a:extLst>
          </p:cNvPr>
          <p:cNvSpPr/>
          <p:nvPr/>
        </p:nvSpPr>
        <p:spPr>
          <a:xfrm>
            <a:off x="503403" y="1668256"/>
            <a:ext cx="11185191" cy="3476117"/>
          </a:xfrm>
          <a:prstGeom prst="roundRect">
            <a:avLst>
              <a:gd name="adj" fmla="val 5962"/>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A44CE5B7-C7AD-66EC-B2CF-F610D4F511C1}"/>
              </a:ext>
            </a:extLst>
          </p:cNvPr>
          <p:cNvSpPr/>
          <p:nvPr/>
        </p:nvSpPr>
        <p:spPr>
          <a:xfrm>
            <a:off x="1654808" y="1622562"/>
            <a:ext cx="1787171" cy="287650"/>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D2AD8923-F174-29BB-FA0E-8B9585FA03E4}"/>
              </a:ext>
            </a:extLst>
          </p:cNvPr>
          <p:cNvSpPr/>
          <p:nvPr/>
        </p:nvSpPr>
        <p:spPr>
          <a:xfrm>
            <a:off x="758606" y="2617315"/>
            <a:ext cx="293929" cy="306770"/>
          </a:xfrm>
          <a:prstGeom prst="ellipse">
            <a:avLst/>
          </a:prstGeom>
          <a:solidFill>
            <a:srgbClr val="A9866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06436649-E8BD-BFFB-C57F-202682E9548A}"/>
              </a:ext>
            </a:extLst>
          </p:cNvPr>
          <p:cNvSpPr txBox="1"/>
          <p:nvPr/>
        </p:nvSpPr>
        <p:spPr>
          <a:xfrm>
            <a:off x="1899316" y="1330953"/>
            <a:ext cx="1444177" cy="369332"/>
          </a:xfrm>
          <a:prstGeom prst="rect">
            <a:avLst/>
          </a:prstGeom>
          <a:noFill/>
        </p:spPr>
        <p:txBody>
          <a:bodyPr wrap="square" rtlCol="0">
            <a:spAutoFit/>
          </a:bodyPr>
          <a:lstStyle/>
          <a:p>
            <a:r>
              <a:rPr lang="en-US" dirty="0">
                <a:solidFill>
                  <a:srgbClr val="8F97B7"/>
                </a:solidFill>
              </a:rPr>
              <a:t>Implement</a:t>
            </a:r>
          </a:p>
        </p:txBody>
      </p:sp>
      <p:sp>
        <p:nvSpPr>
          <p:cNvPr id="24" name="TextBox 23">
            <a:extLst>
              <a:ext uri="{FF2B5EF4-FFF2-40B4-BE49-F238E27FC236}">
                <a16:creationId xmlns:a16="http://schemas.microsoft.com/office/drawing/2014/main" id="{32428AE5-39A4-5772-58F4-BBCF68B4A377}"/>
              </a:ext>
            </a:extLst>
          </p:cNvPr>
          <p:cNvSpPr txBox="1"/>
          <p:nvPr/>
        </p:nvSpPr>
        <p:spPr>
          <a:xfrm>
            <a:off x="738137" y="2624295"/>
            <a:ext cx="460382" cy="282316"/>
          </a:xfrm>
          <a:prstGeom prst="rect">
            <a:avLst/>
          </a:prstGeom>
          <a:noFill/>
        </p:spPr>
        <p:txBody>
          <a:bodyPr wrap="square" rtlCol="0">
            <a:spAutoFit/>
          </a:bodyPr>
          <a:lstStyle/>
          <a:p>
            <a:r>
              <a:rPr lang="en-US" sz="1200" b="1" dirty="0">
                <a:solidFill>
                  <a:srgbClr val="0E1C2D"/>
                </a:solidFill>
              </a:rPr>
              <a:t>Or</a:t>
            </a:r>
          </a:p>
        </p:txBody>
      </p:sp>
      <p:sp>
        <p:nvSpPr>
          <p:cNvPr id="27" name="TextBox 26">
            <a:extLst>
              <a:ext uri="{FF2B5EF4-FFF2-40B4-BE49-F238E27FC236}">
                <a16:creationId xmlns:a16="http://schemas.microsoft.com/office/drawing/2014/main" id="{3FAC6D0E-ECD1-1A48-26F6-5D8800D9A425}"/>
              </a:ext>
            </a:extLst>
          </p:cNvPr>
          <p:cNvSpPr txBox="1"/>
          <p:nvPr/>
        </p:nvSpPr>
        <p:spPr>
          <a:xfrm>
            <a:off x="1184559" y="2638386"/>
            <a:ext cx="965329" cy="261610"/>
          </a:xfrm>
          <a:prstGeom prst="rect">
            <a:avLst/>
          </a:prstGeom>
          <a:noFill/>
        </p:spPr>
        <p:txBody>
          <a:bodyPr wrap="none" rtlCol="0">
            <a:spAutoFit/>
          </a:bodyPr>
          <a:lstStyle/>
          <a:p>
            <a:r>
              <a:rPr lang="en-US" sz="1100" dirty="0">
                <a:solidFill>
                  <a:srgbClr val="E1E1E1"/>
                </a:solidFill>
              </a:rPr>
              <a:t>Orchestrator</a:t>
            </a:r>
          </a:p>
        </p:txBody>
      </p:sp>
      <p:pic>
        <p:nvPicPr>
          <p:cNvPr id="29" name="Graphic 28" descr="Information with solid fill">
            <a:extLst>
              <a:ext uri="{FF2B5EF4-FFF2-40B4-BE49-F238E27FC236}">
                <a16:creationId xmlns:a16="http://schemas.microsoft.com/office/drawing/2014/main" id="{165F61E9-FDCA-D6B0-A2F2-C082CDADB8F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3975" y="2661152"/>
            <a:ext cx="193473" cy="193473"/>
          </a:xfrm>
          <a:prstGeom prst="rect">
            <a:avLst/>
          </a:prstGeom>
        </p:spPr>
      </p:pic>
      <p:sp>
        <p:nvSpPr>
          <p:cNvPr id="16" name="TextBox 15">
            <a:extLst>
              <a:ext uri="{FF2B5EF4-FFF2-40B4-BE49-F238E27FC236}">
                <a16:creationId xmlns:a16="http://schemas.microsoft.com/office/drawing/2014/main" id="{AD16036E-AA6C-E886-DF12-29FB687751DB}"/>
              </a:ext>
            </a:extLst>
          </p:cNvPr>
          <p:cNvSpPr txBox="1"/>
          <p:nvPr/>
        </p:nvSpPr>
        <p:spPr>
          <a:xfrm>
            <a:off x="1226477" y="3087372"/>
            <a:ext cx="705642" cy="261610"/>
          </a:xfrm>
          <a:prstGeom prst="rect">
            <a:avLst/>
          </a:prstGeom>
          <a:noFill/>
        </p:spPr>
        <p:txBody>
          <a:bodyPr wrap="none" rtlCol="0">
            <a:spAutoFit/>
          </a:bodyPr>
          <a:lstStyle>
            <a:defPPr>
              <a:defRPr lang="en-US"/>
            </a:defPPr>
            <a:lvl1pPr>
              <a:defRPr sz="1100">
                <a:solidFill>
                  <a:srgbClr val="E1E1E1"/>
                </a:solidFill>
              </a:defRPr>
            </a:lvl1pPr>
          </a:lstStyle>
          <a:p>
            <a:r>
              <a:rPr lang="en-US" dirty="0"/>
              <a:t>Analyzer</a:t>
            </a:r>
          </a:p>
        </p:txBody>
      </p:sp>
      <p:cxnSp>
        <p:nvCxnSpPr>
          <p:cNvPr id="75" name="Straight Connector 74">
            <a:extLst>
              <a:ext uri="{FF2B5EF4-FFF2-40B4-BE49-F238E27FC236}">
                <a16:creationId xmlns:a16="http://schemas.microsoft.com/office/drawing/2014/main" id="{CECF977E-6480-9592-D328-A0B8FE488F3C}"/>
              </a:ext>
            </a:extLst>
          </p:cNvPr>
          <p:cNvCxnSpPr>
            <a:cxnSpLocks/>
          </p:cNvCxnSpPr>
          <p:nvPr/>
        </p:nvCxnSpPr>
        <p:spPr>
          <a:xfrm>
            <a:off x="652293" y="2505875"/>
            <a:ext cx="10203544" cy="6404"/>
          </a:xfrm>
          <a:prstGeom prst="line">
            <a:avLst/>
          </a:prstGeom>
          <a:ln>
            <a:solidFill>
              <a:srgbClr val="1E3147"/>
            </a:solidFill>
          </a:ln>
        </p:spPr>
        <p:style>
          <a:lnRef idx="2">
            <a:schemeClr val="accent1"/>
          </a:lnRef>
          <a:fillRef idx="0">
            <a:schemeClr val="accent1"/>
          </a:fillRef>
          <a:effectRef idx="1">
            <a:schemeClr val="accent1"/>
          </a:effectRef>
          <a:fontRef idx="minor">
            <a:schemeClr val="tx1"/>
          </a:fontRef>
        </p:style>
      </p:cxnSp>
      <p:sp>
        <p:nvSpPr>
          <p:cNvPr id="77" name="TextBox 76">
            <a:extLst>
              <a:ext uri="{FF2B5EF4-FFF2-40B4-BE49-F238E27FC236}">
                <a16:creationId xmlns:a16="http://schemas.microsoft.com/office/drawing/2014/main" id="{7C02C9D4-E6BE-B2C7-622C-DF4A5FEBD9C2}"/>
              </a:ext>
            </a:extLst>
          </p:cNvPr>
          <p:cNvSpPr txBox="1"/>
          <p:nvPr/>
        </p:nvSpPr>
        <p:spPr>
          <a:xfrm>
            <a:off x="1274326" y="2217384"/>
            <a:ext cx="785793" cy="246221"/>
          </a:xfrm>
          <a:prstGeom prst="rect">
            <a:avLst/>
          </a:prstGeom>
          <a:noFill/>
        </p:spPr>
        <p:txBody>
          <a:bodyPr wrap="none" rtlCol="0">
            <a:spAutoFit/>
          </a:bodyPr>
          <a:lstStyle/>
          <a:p>
            <a:pPr algn="ctr"/>
            <a:r>
              <a:rPr lang="en-US" sz="1000" dirty="0">
                <a:solidFill>
                  <a:srgbClr val="E1E1E1"/>
                </a:solidFill>
              </a:rPr>
              <a:t>Agent Type</a:t>
            </a:r>
          </a:p>
        </p:txBody>
      </p:sp>
      <p:sp>
        <p:nvSpPr>
          <p:cNvPr id="78" name="TextBox 77">
            <a:extLst>
              <a:ext uri="{FF2B5EF4-FFF2-40B4-BE49-F238E27FC236}">
                <a16:creationId xmlns:a16="http://schemas.microsoft.com/office/drawing/2014/main" id="{C809A984-7BE1-38F7-B7DD-1652FAA24678}"/>
              </a:ext>
            </a:extLst>
          </p:cNvPr>
          <p:cNvSpPr txBox="1"/>
          <p:nvPr/>
        </p:nvSpPr>
        <p:spPr>
          <a:xfrm>
            <a:off x="662149" y="1838089"/>
            <a:ext cx="1202573" cy="246221"/>
          </a:xfrm>
          <a:prstGeom prst="rect">
            <a:avLst/>
          </a:prstGeom>
          <a:noFill/>
        </p:spPr>
        <p:txBody>
          <a:bodyPr wrap="none" rtlCol="0">
            <a:spAutoFit/>
          </a:bodyPr>
          <a:lstStyle/>
          <a:p>
            <a:r>
              <a:rPr lang="en-US" sz="1000" dirty="0">
                <a:solidFill>
                  <a:srgbClr val="E1E1E1"/>
                </a:solidFill>
              </a:rPr>
              <a:t>Claude Subagents</a:t>
            </a:r>
          </a:p>
        </p:txBody>
      </p:sp>
      <p:sp>
        <p:nvSpPr>
          <p:cNvPr id="80" name="Rectangle: Rounded Corners 79">
            <a:extLst>
              <a:ext uri="{FF2B5EF4-FFF2-40B4-BE49-F238E27FC236}">
                <a16:creationId xmlns:a16="http://schemas.microsoft.com/office/drawing/2014/main" id="{FF2284A8-C7E1-078F-A35C-17D266175010}"/>
              </a:ext>
            </a:extLst>
          </p:cNvPr>
          <p:cNvSpPr/>
          <p:nvPr/>
        </p:nvSpPr>
        <p:spPr>
          <a:xfrm>
            <a:off x="1813390" y="1884175"/>
            <a:ext cx="336498" cy="182696"/>
          </a:xfrm>
          <a:prstGeom prst="roundRect">
            <a:avLst>
              <a:gd name="adj" fmla="val 50000"/>
            </a:avLst>
          </a:prstGeom>
          <a:solidFill>
            <a:srgbClr val="0E1C2D"/>
          </a:solid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a:extLst>
              <a:ext uri="{FF2B5EF4-FFF2-40B4-BE49-F238E27FC236}">
                <a16:creationId xmlns:a16="http://schemas.microsoft.com/office/drawing/2014/main" id="{C600D8EF-11B3-C1B3-38AA-A7764B60230E}"/>
              </a:ext>
            </a:extLst>
          </p:cNvPr>
          <p:cNvSpPr/>
          <p:nvPr/>
        </p:nvSpPr>
        <p:spPr>
          <a:xfrm>
            <a:off x="1962999" y="1883047"/>
            <a:ext cx="174503" cy="184050"/>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a:extLst>
              <a:ext uri="{FF2B5EF4-FFF2-40B4-BE49-F238E27FC236}">
                <a16:creationId xmlns:a16="http://schemas.microsoft.com/office/drawing/2014/main" id="{16A9F2E9-8664-18B3-9CF4-73F81E1871CB}"/>
              </a:ext>
            </a:extLst>
          </p:cNvPr>
          <p:cNvSpPr/>
          <p:nvPr/>
        </p:nvSpPr>
        <p:spPr>
          <a:xfrm>
            <a:off x="758606" y="3066408"/>
            <a:ext cx="293929" cy="306770"/>
          </a:xfrm>
          <a:prstGeom prst="ellipse">
            <a:avLst/>
          </a:prstGeom>
          <a:solidFill>
            <a:srgbClr val="A32A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0CB64D7D-3C3A-5EC0-9FB5-8AAE7939E2C7}"/>
              </a:ext>
            </a:extLst>
          </p:cNvPr>
          <p:cNvSpPr/>
          <p:nvPr/>
        </p:nvSpPr>
        <p:spPr>
          <a:xfrm>
            <a:off x="758606" y="3513494"/>
            <a:ext cx="293929" cy="306770"/>
          </a:xfrm>
          <a:prstGeom prst="ellipse">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D1761A92-B2DB-541B-74AD-1C442EEF74F2}"/>
              </a:ext>
            </a:extLst>
          </p:cNvPr>
          <p:cNvSpPr/>
          <p:nvPr/>
        </p:nvSpPr>
        <p:spPr>
          <a:xfrm>
            <a:off x="758606" y="3970226"/>
            <a:ext cx="293929" cy="306770"/>
          </a:xfrm>
          <a:prstGeom prst="ellipse">
            <a:avLst/>
          </a:prstGeom>
          <a:solidFill>
            <a:srgbClr val="FFC3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TextBox 88">
            <a:extLst>
              <a:ext uri="{FF2B5EF4-FFF2-40B4-BE49-F238E27FC236}">
                <a16:creationId xmlns:a16="http://schemas.microsoft.com/office/drawing/2014/main" id="{465068C1-2FB4-843A-6740-450CCB167E3A}"/>
              </a:ext>
            </a:extLst>
          </p:cNvPr>
          <p:cNvSpPr txBox="1"/>
          <p:nvPr/>
        </p:nvSpPr>
        <p:spPr>
          <a:xfrm>
            <a:off x="1226477" y="3532367"/>
            <a:ext cx="970137" cy="261610"/>
          </a:xfrm>
          <a:prstGeom prst="rect">
            <a:avLst/>
          </a:prstGeom>
          <a:noFill/>
        </p:spPr>
        <p:txBody>
          <a:bodyPr wrap="none" rtlCol="0">
            <a:spAutoFit/>
          </a:bodyPr>
          <a:lstStyle>
            <a:defPPr>
              <a:defRPr lang="en-US"/>
            </a:defPPr>
            <a:lvl1pPr>
              <a:defRPr sz="1100">
                <a:solidFill>
                  <a:srgbClr val="E1E1E1"/>
                </a:solidFill>
              </a:defRPr>
            </a:lvl1pPr>
          </a:lstStyle>
          <a:p>
            <a:r>
              <a:rPr lang="en-US" dirty="0"/>
              <a:t>Implementor</a:t>
            </a:r>
          </a:p>
        </p:txBody>
      </p:sp>
      <p:sp>
        <p:nvSpPr>
          <p:cNvPr id="90" name="TextBox 89">
            <a:extLst>
              <a:ext uri="{FF2B5EF4-FFF2-40B4-BE49-F238E27FC236}">
                <a16:creationId xmlns:a16="http://schemas.microsoft.com/office/drawing/2014/main" id="{24CCDE43-CE73-2F8E-E2BB-1A363D4C1EDA}"/>
              </a:ext>
            </a:extLst>
          </p:cNvPr>
          <p:cNvSpPr txBox="1"/>
          <p:nvPr/>
        </p:nvSpPr>
        <p:spPr>
          <a:xfrm>
            <a:off x="1245503" y="3998201"/>
            <a:ext cx="559769" cy="261610"/>
          </a:xfrm>
          <a:prstGeom prst="rect">
            <a:avLst/>
          </a:prstGeom>
          <a:noFill/>
        </p:spPr>
        <p:txBody>
          <a:bodyPr wrap="none" rtlCol="0">
            <a:spAutoFit/>
          </a:bodyPr>
          <a:lstStyle>
            <a:defPPr>
              <a:defRPr lang="en-US"/>
            </a:defPPr>
            <a:lvl1pPr>
              <a:defRPr sz="1100">
                <a:solidFill>
                  <a:srgbClr val="E1E1E1"/>
                </a:solidFill>
              </a:defRPr>
            </a:lvl1pPr>
          </a:lstStyle>
          <a:p>
            <a:r>
              <a:rPr lang="en-US" dirty="0"/>
              <a:t>Tester</a:t>
            </a:r>
          </a:p>
        </p:txBody>
      </p:sp>
      <p:sp>
        <p:nvSpPr>
          <p:cNvPr id="91" name="TextBox 90">
            <a:extLst>
              <a:ext uri="{FF2B5EF4-FFF2-40B4-BE49-F238E27FC236}">
                <a16:creationId xmlns:a16="http://schemas.microsoft.com/office/drawing/2014/main" id="{CF15BD12-0603-C657-8EC9-EAD85A0C8827}"/>
              </a:ext>
            </a:extLst>
          </p:cNvPr>
          <p:cNvSpPr txBox="1"/>
          <p:nvPr/>
        </p:nvSpPr>
        <p:spPr>
          <a:xfrm>
            <a:off x="4260936" y="2611055"/>
            <a:ext cx="683200" cy="261610"/>
          </a:xfrm>
          <a:prstGeom prst="rect">
            <a:avLst/>
          </a:prstGeom>
          <a:noFill/>
        </p:spPr>
        <p:txBody>
          <a:bodyPr wrap="none" rtlCol="0">
            <a:spAutoFit/>
          </a:bodyPr>
          <a:lstStyle/>
          <a:p>
            <a:r>
              <a:rPr lang="en-US" sz="1100" i="1" dirty="0">
                <a:solidFill>
                  <a:srgbClr val="FFC000"/>
                </a:solidFill>
              </a:rPr>
              <a:t>Waiting.</a:t>
            </a:r>
          </a:p>
        </p:txBody>
      </p:sp>
      <p:pic>
        <p:nvPicPr>
          <p:cNvPr id="93" name="Graphic 92" descr="Information with solid fill">
            <a:extLst>
              <a:ext uri="{FF2B5EF4-FFF2-40B4-BE49-F238E27FC236}">
                <a16:creationId xmlns:a16="http://schemas.microsoft.com/office/drawing/2014/main" id="{CEC6B436-DAF4-381A-EADB-7FEFCEBDD43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2365" y="3102069"/>
            <a:ext cx="193473" cy="193473"/>
          </a:xfrm>
          <a:prstGeom prst="rect">
            <a:avLst/>
          </a:prstGeom>
        </p:spPr>
      </p:pic>
      <p:pic>
        <p:nvPicPr>
          <p:cNvPr id="94" name="Graphic 93" descr="Information with solid fill">
            <a:extLst>
              <a:ext uri="{FF2B5EF4-FFF2-40B4-BE49-F238E27FC236}">
                <a16:creationId xmlns:a16="http://schemas.microsoft.com/office/drawing/2014/main" id="{83CBF288-1497-1467-08F1-03BEB298B2C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2365" y="3553624"/>
            <a:ext cx="193473" cy="193473"/>
          </a:xfrm>
          <a:prstGeom prst="rect">
            <a:avLst/>
          </a:prstGeom>
        </p:spPr>
      </p:pic>
      <p:pic>
        <p:nvPicPr>
          <p:cNvPr id="95" name="Graphic 94" descr="Information with solid fill">
            <a:extLst>
              <a:ext uri="{FF2B5EF4-FFF2-40B4-BE49-F238E27FC236}">
                <a16:creationId xmlns:a16="http://schemas.microsoft.com/office/drawing/2014/main" id="{9FAEF13F-872B-2BFA-8573-112240F63C2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2364" y="4014063"/>
            <a:ext cx="193473" cy="193473"/>
          </a:xfrm>
          <a:prstGeom prst="rect">
            <a:avLst/>
          </a:prstGeom>
        </p:spPr>
      </p:pic>
      <p:sp>
        <p:nvSpPr>
          <p:cNvPr id="96" name="TextBox 95">
            <a:extLst>
              <a:ext uri="{FF2B5EF4-FFF2-40B4-BE49-F238E27FC236}">
                <a16:creationId xmlns:a16="http://schemas.microsoft.com/office/drawing/2014/main" id="{BFFE8B06-A1DF-6310-82AC-302E0F15ACF7}"/>
              </a:ext>
            </a:extLst>
          </p:cNvPr>
          <p:cNvSpPr txBox="1"/>
          <p:nvPr/>
        </p:nvSpPr>
        <p:spPr>
          <a:xfrm>
            <a:off x="729726" y="3076054"/>
            <a:ext cx="460382" cy="282316"/>
          </a:xfrm>
          <a:prstGeom prst="rect">
            <a:avLst/>
          </a:prstGeom>
          <a:noFill/>
        </p:spPr>
        <p:txBody>
          <a:bodyPr wrap="square" rtlCol="0">
            <a:spAutoFit/>
          </a:bodyPr>
          <a:lstStyle/>
          <a:p>
            <a:r>
              <a:rPr lang="en-US" sz="1200" b="1" dirty="0">
                <a:solidFill>
                  <a:srgbClr val="0E1C2D"/>
                </a:solidFill>
              </a:rPr>
              <a:t>An</a:t>
            </a:r>
          </a:p>
        </p:txBody>
      </p:sp>
      <p:sp>
        <p:nvSpPr>
          <p:cNvPr id="97" name="TextBox 96">
            <a:extLst>
              <a:ext uri="{FF2B5EF4-FFF2-40B4-BE49-F238E27FC236}">
                <a16:creationId xmlns:a16="http://schemas.microsoft.com/office/drawing/2014/main" id="{0C625989-EDBD-F7EA-C7EA-9B65F6C88DD2}"/>
              </a:ext>
            </a:extLst>
          </p:cNvPr>
          <p:cNvSpPr txBox="1"/>
          <p:nvPr/>
        </p:nvSpPr>
        <p:spPr>
          <a:xfrm>
            <a:off x="736070" y="3523140"/>
            <a:ext cx="460382" cy="282316"/>
          </a:xfrm>
          <a:prstGeom prst="rect">
            <a:avLst/>
          </a:prstGeom>
          <a:noFill/>
        </p:spPr>
        <p:txBody>
          <a:bodyPr wrap="square" rtlCol="0">
            <a:spAutoFit/>
          </a:bodyPr>
          <a:lstStyle/>
          <a:p>
            <a:r>
              <a:rPr lang="en-US" sz="1200" b="1" dirty="0" err="1">
                <a:solidFill>
                  <a:srgbClr val="0E1C2D"/>
                </a:solidFill>
              </a:rPr>
              <a:t>Im</a:t>
            </a:r>
            <a:endParaRPr lang="en-US" sz="1200" b="1" dirty="0">
              <a:solidFill>
                <a:srgbClr val="0E1C2D"/>
              </a:solidFill>
            </a:endParaRPr>
          </a:p>
        </p:txBody>
      </p:sp>
      <p:sp>
        <p:nvSpPr>
          <p:cNvPr id="98" name="TextBox 97">
            <a:extLst>
              <a:ext uri="{FF2B5EF4-FFF2-40B4-BE49-F238E27FC236}">
                <a16:creationId xmlns:a16="http://schemas.microsoft.com/office/drawing/2014/main" id="{1152DD5A-CBF9-10C8-180D-8A95C902704B}"/>
              </a:ext>
            </a:extLst>
          </p:cNvPr>
          <p:cNvSpPr txBox="1"/>
          <p:nvPr/>
        </p:nvSpPr>
        <p:spPr>
          <a:xfrm>
            <a:off x="736070" y="3989707"/>
            <a:ext cx="460382" cy="282316"/>
          </a:xfrm>
          <a:prstGeom prst="rect">
            <a:avLst/>
          </a:prstGeom>
          <a:noFill/>
        </p:spPr>
        <p:txBody>
          <a:bodyPr wrap="square" rtlCol="0">
            <a:spAutoFit/>
          </a:bodyPr>
          <a:lstStyle/>
          <a:p>
            <a:r>
              <a:rPr lang="en-US" sz="1200" b="1" dirty="0" err="1">
                <a:solidFill>
                  <a:srgbClr val="0E1C2D"/>
                </a:solidFill>
              </a:rPr>
              <a:t>Te</a:t>
            </a:r>
            <a:endParaRPr lang="en-US" sz="1200" b="1" dirty="0">
              <a:solidFill>
                <a:srgbClr val="0E1C2D"/>
              </a:solidFill>
            </a:endParaRPr>
          </a:p>
        </p:txBody>
      </p:sp>
      <p:sp>
        <p:nvSpPr>
          <p:cNvPr id="99" name="TextBox 98">
            <a:extLst>
              <a:ext uri="{FF2B5EF4-FFF2-40B4-BE49-F238E27FC236}">
                <a16:creationId xmlns:a16="http://schemas.microsoft.com/office/drawing/2014/main" id="{2DB62870-D9F0-A0DC-C8AB-E4EBCC6425D9}"/>
              </a:ext>
            </a:extLst>
          </p:cNvPr>
          <p:cNvSpPr txBox="1"/>
          <p:nvPr/>
        </p:nvSpPr>
        <p:spPr>
          <a:xfrm>
            <a:off x="4193614" y="2214394"/>
            <a:ext cx="886781" cy="246221"/>
          </a:xfrm>
          <a:prstGeom prst="rect">
            <a:avLst/>
          </a:prstGeom>
          <a:noFill/>
        </p:spPr>
        <p:txBody>
          <a:bodyPr wrap="none" rtlCol="0">
            <a:spAutoFit/>
          </a:bodyPr>
          <a:lstStyle/>
          <a:p>
            <a:pPr algn="ctr"/>
            <a:r>
              <a:rPr lang="en-US" sz="1000" dirty="0">
                <a:solidFill>
                  <a:srgbClr val="E1E1E1"/>
                </a:solidFill>
              </a:rPr>
              <a:t>Agent Status</a:t>
            </a:r>
          </a:p>
        </p:txBody>
      </p:sp>
      <p:sp>
        <p:nvSpPr>
          <p:cNvPr id="100" name="TextBox 99">
            <a:extLst>
              <a:ext uri="{FF2B5EF4-FFF2-40B4-BE49-F238E27FC236}">
                <a16:creationId xmlns:a16="http://schemas.microsoft.com/office/drawing/2014/main" id="{467A4555-88C6-ECA9-11B9-A5BD4824B35F}"/>
              </a:ext>
            </a:extLst>
          </p:cNvPr>
          <p:cNvSpPr txBox="1"/>
          <p:nvPr/>
        </p:nvSpPr>
        <p:spPr>
          <a:xfrm>
            <a:off x="7929117" y="2092323"/>
            <a:ext cx="772505" cy="400110"/>
          </a:xfrm>
          <a:prstGeom prst="rect">
            <a:avLst/>
          </a:prstGeom>
          <a:noFill/>
        </p:spPr>
        <p:txBody>
          <a:bodyPr wrap="square" rtlCol="0">
            <a:spAutoFit/>
          </a:bodyPr>
          <a:lstStyle/>
          <a:p>
            <a:pPr algn="ctr"/>
            <a:r>
              <a:rPr lang="en-US" sz="1000" dirty="0">
                <a:solidFill>
                  <a:srgbClr val="E1E1E1"/>
                </a:solidFill>
              </a:rPr>
              <a:t>Messages waiting</a:t>
            </a:r>
          </a:p>
        </p:txBody>
      </p:sp>
      <p:sp>
        <p:nvSpPr>
          <p:cNvPr id="114" name="TextBox 113">
            <a:extLst>
              <a:ext uri="{FF2B5EF4-FFF2-40B4-BE49-F238E27FC236}">
                <a16:creationId xmlns:a16="http://schemas.microsoft.com/office/drawing/2014/main" id="{C7A34F81-983C-23E0-4DEF-6221AD8ABEBE}"/>
              </a:ext>
            </a:extLst>
          </p:cNvPr>
          <p:cNvSpPr txBox="1"/>
          <p:nvPr/>
        </p:nvSpPr>
        <p:spPr>
          <a:xfrm>
            <a:off x="7041082" y="2099303"/>
            <a:ext cx="772505" cy="400110"/>
          </a:xfrm>
          <a:prstGeom prst="rect">
            <a:avLst/>
          </a:prstGeom>
          <a:noFill/>
        </p:spPr>
        <p:txBody>
          <a:bodyPr wrap="square" rtlCol="0">
            <a:spAutoFit/>
          </a:bodyPr>
          <a:lstStyle/>
          <a:p>
            <a:pPr algn="ctr"/>
            <a:r>
              <a:rPr lang="en-US" sz="1000" dirty="0">
                <a:solidFill>
                  <a:srgbClr val="E1E1E1"/>
                </a:solidFill>
              </a:rPr>
              <a:t>Messages</a:t>
            </a:r>
          </a:p>
          <a:p>
            <a:pPr algn="ctr"/>
            <a:r>
              <a:rPr lang="en-US" sz="1000" dirty="0">
                <a:solidFill>
                  <a:srgbClr val="E1E1E1"/>
                </a:solidFill>
              </a:rPr>
              <a:t>Sent</a:t>
            </a:r>
          </a:p>
        </p:txBody>
      </p:sp>
      <p:sp>
        <p:nvSpPr>
          <p:cNvPr id="115" name="TextBox 114">
            <a:extLst>
              <a:ext uri="{FF2B5EF4-FFF2-40B4-BE49-F238E27FC236}">
                <a16:creationId xmlns:a16="http://schemas.microsoft.com/office/drawing/2014/main" id="{139320FB-A9CA-55F1-1566-0447D6CD3B64}"/>
              </a:ext>
            </a:extLst>
          </p:cNvPr>
          <p:cNvSpPr txBox="1"/>
          <p:nvPr/>
        </p:nvSpPr>
        <p:spPr>
          <a:xfrm>
            <a:off x="8932682" y="2112169"/>
            <a:ext cx="751053" cy="400110"/>
          </a:xfrm>
          <a:prstGeom prst="rect">
            <a:avLst/>
          </a:prstGeom>
          <a:noFill/>
        </p:spPr>
        <p:txBody>
          <a:bodyPr wrap="square" rtlCol="0">
            <a:spAutoFit/>
          </a:bodyPr>
          <a:lstStyle/>
          <a:p>
            <a:pPr algn="ctr"/>
            <a:r>
              <a:rPr lang="en-US" sz="1000" dirty="0">
                <a:solidFill>
                  <a:srgbClr val="E1E1E1"/>
                </a:solidFill>
              </a:rPr>
              <a:t>Messages Read</a:t>
            </a:r>
          </a:p>
        </p:txBody>
      </p:sp>
      <p:pic>
        <p:nvPicPr>
          <p:cNvPr id="117" name="Graphic 116" descr="Chat with solid fill">
            <a:extLst>
              <a:ext uri="{FF2B5EF4-FFF2-40B4-BE49-F238E27FC236}">
                <a16:creationId xmlns:a16="http://schemas.microsoft.com/office/drawing/2014/main" id="{07C7E1D2-F26F-24E9-BC00-7265D74640C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305301" y="2637658"/>
            <a:ext cx="261610" cy="261610"/>
          </a:xfrm>
          <a:prstGeom prst="rect">
            <a:avLst/>
          </a:prstGeom>
        </p:spPr>
      </p:pic>
      <p:pic>
        <p:nvPicPr>
          <p:cNvPr id="118" name="Graphic 117" descr="Chat with solid fill">
            <a:extLst>
              <a:ext uri="{FF2B5EF4-FFF2-40B4-BE49-F238E27FC236}">
                <a16:creationId xmlns:a16="http://schemas.microsoft.com/office/drawing/2014/main" id="{1B953F14-D1B5-9349-20F3-6E2EAF31E8B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297189" y="3068000"/>
            <a:ext cx="261610" cy="261610"/>
          </a:xfrm>
          <a:prstGeom prst="rect">
            <a:avLst/>
          </a:prstGeom>
        </p:spPr>
      </p:pic>
      <p:pic>
        <p:nvPicPr>
          <p:cNvPr id="119" name="Graphic 118" descr="Chat with solid fill">
            <a:extLst>
              <a:ext uri="{FF2B5EF4-FFF2-40B4-BE49-F238E27FC236}">
                <a16:creationId xmlns:a16="http://schemas.microsoft.com/office/drawing/2014/main" id="{B359E97C-5D02-8E91-9210-848A2AAFA55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297189" y="3527404"/>
            <a:ext cx="261610" cy="261610"/>
          </a:xfrm>
          <a:prstGeom prst="rect">
            <a:avLst/>
          </a:prstGeom>
        </p:spPr>
      </p:pic>
      <p:pic>
        <p:nvPicPr>
          <p:cNvPr id="120" name="Graphic 119" descr="Chat with solid fill">
            <a:extLst>
              <a:ext uri="{FF2B5EF4-FFF2-40B4-BE49-F238E27FC236}">
                <a16:creationId xmlns:a16="http://schemas.microsoft.com/office/drawing/2014/main" id="{3BC74EC2-EE43-8B01-1FFB-85B96F26FA2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310562" y="3991625"/>
            <a:ext cx="261610" cy="261610"/>
          </a:xfrm>
          <a:prstGeom prst="rect">
            <a:avLst/>
          </a:prstGeom>
        </p:spPr>
      </p:pic>
      <p:sp>
        <p:nvSpPr>
          <p:cNvPr id="136" name="TextBox 135">
            <a:extLst>
              <a:ext uri="{FF2B5EF4-FFF2-40B4-BE49-F238E27FC236}">
                <a16:creationId xmlns:a16="http://schemas.microsoft.com/office/drawing/2014/main" id="{1BD9C644-86D7-4AB9-D23A-4DBF37FC1510}"/>
              </a:ext>
            </a:extLst>
          </p:cNvPr>
          <p:cNvSpPr txBox="1"/>
          <p:nvPr/>
        </p:nvSpPr>
        <p:spPr>
          <a:xfrm>
            <a:off x="4253814" y="3982173"/>
            <a:ext cx="683200" cy="261610"/>
          </a:xfrm>
          <a:prstGeom prst="rect">
            <a:avLst/>
          </a:prstGeom>
          <a:noFill/>
        </p:spPr>
        <p:txBody>
          <a:bodyPr wrap="none" rtlCol="0">
            <a:spAutoFit/>
          </a:bodyPr>
          <a:lstStyle/>
          <a:p>
            <a:r>
              <a:rPr lang="en-US" sz="1100" i="1" dirty="0">
                <a:solidFill>
                  <a:srgbClr val="FFC000"/>
                </a:solidFill>
              </a:rPr>
              <a:t>Waiting.</a:t>
            </a:r>
          </a:p>
        </p:txBody>
      </p:sp>
      <p:pic>
        <p:nvPicPr>
          <p:cNvPr id="137" name="Graphic 136" descr="Play with solid fill">
            <a:extLst>
              <a:ext uri="{FF2B5EF4-FFF2-40B4-BE49-F238E27FC236}">
                <a16:creationId xmlns:a16="http://schemas.microsoft.com/office/drawing/2014/main" id="{0F6B8129-0EAE-0155-BA62-6D80A144C79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00374" y="3545730"/>
            <a:ext cx="193474" cy="193474"/>
          </a:xfrm>
          <a:prstGeom prst="rect">
            <a:avLst/>
          </a:prstGeom>
        </p:spPr>
      </p:pic>
      <p:pic>
        <p:nvPicPr>
          <p:cNvPr id="138" name="Graphic 137" descr="Play with solid fill">
            <a:extLst>
              <a:ext uri="{FF2B5EF4-FFF2-40B4-BE49-F238E27FC236}">
                <a16:creationId xmlns:a16="http://schemas.microsoft.com/office/drawing/2014/main" id="{8014FD0A-236C-1104-4D03-DA58E77DFD3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02983" y="4004988"/>
            <a:ext cx="193474" cy="193474"/>
          </a:xfrm>
          <a:prstGeom prst="rect">
            <a:avLst/>
          </a:prstGeom>
        </p:spPr>
      </p:pic>
      <p:sp>
        <p:nvSpPr>
          <p:cNvPr id="14" name="TextBox 13">
            <a:extLst>
              <a:ext uri="{FF2B5EF4-FFF2-40B4-BE49-F238E27FC236}">
                <a16:creationId xmlns:a16="http://schemas.microsoft.com/office/drawing/2014/main" id="{1EB627DC-551A-F66C-0887-B8BCD19DAE0D}"/>
              </a:ext>
            </a:extLst>
          </p:cNvPr>
          <p:cNvSpPr txBox="1"/>
          <p:nvPr/>
        </p:nvSpPr>
        <p:spPr>
          <a:xfrm>
            <a:off x="8152537" y="2627083"/>
            <a:ext cx="260008" cy="261610"/>
          </a:xfrm>
          <a:prstGeom prst="rect">
            <a:avLst/>
          </a:prstGeom>
          <a:noFill/>
        </p:spPr>
        <p:txBody>
          <a:bodyPr wrap="square" rtlCol="0">
            <a:spAutoFit/>
          </a:bodyPr>
          <a:lstStyle/>
          <a:p>
            <a:r>
              <a:rPr lang="en-US" sz="1100" dirty="0">
                <a:solidFill>
                  <a:srgbClr val="E1E1E1"/>
                </a:solidFill>
              </a:rPr>
              <a:t>1</a:t>
            </a:r>
          </a:p>
        </p:txBody>
      </p:sp>
      <p:sp>
        <p:nvSpPr>
          <p:cNvPr id="19" name="TextBox 18">
            <a:extLst>
              <a:ext uri="{FF2B5EF4-FFF2-40B4-BE49-F238E27FC236}">
                <a16:creationId xmlns:a16="http://schemas.microsoft.com/office/drawing/2014/main" id="{0762A631-F441-B718-C8C5-3EBF79D8E989}"/>
              </a:ext>
            </a:extLst>
          </p:cNvPr>
          <p:cNvSpPr txBox="1"/>
          <p:nvPr/>
        </p:nvSpPr>
        <p:spPr>
          <a:xfrm>
            <a:off x="8155156" y="3980155"/>
            <a:ext cx="260008" cy="261610"/>
          </a:xfrm>
          <a:prstGeom prst="rect">
            <a:avLst/>
          </a:prstGeom>
          <a:noFill/>
        </p:spPr>
        <p:txBody>
          <a:bodyPr wrap="square" rtlCol="0">
            <a:spAutoFit/>
          </a:bodyPr>
          <a:lstStyle/>
          <a:p>
            <a:r>
              <a:rPr lang="en-US" sz="1100" dirty="0">
                <a:solidFill>
                  <a:srgbClr val="E1E1E1"/>
                </a:solidFill>
              </a:rPr>
              <a:t>1</a:t>
            </a:r>
          </a:p>
        </p:txBody>
      </p:sp>
      <p:sp>
        <p:nvSpPr>
          <p:cNvPr id="20" name="TextBox 19">
            <a:extLst>
              <a:ext uri="{FF2B5EF4-FFF2-40B4-BE49-F238E27FC236}">
                <a16:creationId xmlns:a16="http://schemas.microsoft.com/office/drawing/2014/main" id="{7D955EB7-BC79-B2B0-3831-DBAC4378CA49}"/>
              </a:ext>
            </a:extLst>
          </p:cNvPr>
          <p:cNvSpPr txBox="1"/>
          <p:nvPr/>
        </p:nvSpPr>
        <p:spPr>
          <a:xfrm>
            <a:off x="8155156" y="3496213"/>
            <a:ext cx="260008" cy="261610"/>
          </a:xfrm>
          <a:prstGeom prst="rect">
            <a:avLst/>
          </a:prstGeom>
          <a:noFill/>
        </p:spPr>
        <p:txBody>
          <a:bodyPr wrap="square" rtlCol="0">
            <a:spAutoFit/>
          </a:bodyPr>
          <a:lstStyle/>
          <a:p>
            <a:r>
              <a:rPr lang="en-US" sz="1100" dirty="0">
                <a:solidFill>
                  <a:srgbClr val="E1E1E1"/>
                </a:solidFill>
              </a:rPr>
              <a:t>1</a:t>
            </a:r>
          </a:p>
        </p:txBody>
      </p:sp>
      <p:sp>
        <p:nvSpPr>
          <p:cNvPr id="23" name="TextBox 22">
            <a:extLst>
              <a:ext uri="{FF2B5EF4-FFF2-40B4-BE49-F238E27FC236}">
                <a16:creationId xmlns:a16="http://schemas.microsoft.com/office/drawing/2014/main" id="{54C4574C-A97C-4DDC-1111-7E2ACFFE4A1E}"/>
              </a:ext>
            </a:extLst>
          </p:cNvPr>
          <p:cNvSpPr txBox="1"/>
          <p:nvPr/>
        </p:nvSpPr>
        <p:spPr>
          <a:xfrm>
            <a:off x="2947872" y="2209718"/>
            <a:ext cx="649537" cy="246221"/>
          </a:xfrm>
          <a:prstGeom prst="rect">
            <a:avLst/>
          </a:prstGeom>
          <a:noFill/>
        </p:spPr>
        <p:txBody>
          <a:bodyPr wrap="none" rtlCol="0">
            <a:spAutoFit/>
          </a:bodyPr>
          <a:lstStyle/>
          <a:p>
            <a:pPr algn="ctr"/>
            <a:r>
              <a:rPr lang="en-US" sz="1000" dirty="0">
                <a:solidFill>
                  <a:srgbClr val="E1E1E1"/>
                </a:solidFill>
              </a:rPr>
              <a:t>Agent ID</a:t>
            </a:r>
          </a:p>
        </p:txBody>
      </p:sp>
      <p:sp>
        <p:nvSpPr>
          <p:cNvPr id="28" name="TextBox 27">
            <a:extLst>
              <a:ext uri="{FF2B5EF4-FFF2-40B4-BE49-F238E27FC236}">
                <a16:creationId xmlns:a16="http://schemas.microsoft.com/office/drawing/2014/main" id="{51081F7F-1084-B218-3B85-E2FD9347F23C}"/>
              </a:ext>
            </a:extLst>
          </p:cNvPr>
          <p:cNvSpPr txBox="1"/>
          <p:nvPr/>
        </p:nvSpPr>
        <p:spPr>
          <a:xfrm>
            <a:off x="2647311" y="2620646"/>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0" name="TextBox 29">
            <a:extLst>
              <a:ext uri="{FF2B5EF4-FFF2-40B4-BE49-F238E27FC236}">
                <a16:creationId xmlns:a16="http://schemas.microsoft.com/office/drawing/2014/main" id="{6F304D93-E95B-2C64-A541-FD69CA0B3362}"/>
              </a:ext>
            </a:extLst>
          </p:cNvPr>
          <p:cNvSpPr txBox="1"/>
          <p:nvPr/>
        </p:nvSpPr>
        <p:spPr>
          <a:xfrm>
            <a:off x="2647311" y="3086580"/>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1" name="TextBox 30">
            <a:extLst>
              <a:ext uri="{FF2B5EF4-FFF2-40B4-BE49-F238E27FC236}">
                <a16:creationId xmlns:a16="http://schemas.microsoft.com/office/drawing/2014/main" id="{9C330F8B-6A29-0133-4434-292894F72B40}"/>
              </a:ext>
            </a:extLst>
          </p:cNvPr>
          <p:cNvSpPr txBox="1"/>
          <p:nvPr/>
        </p:nvSpPr>
        <p:spPr>
          <a:xfrm>
            <a:off x="2647311" y="3545730"/>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2" name="TextBox 31">
            <a:extLst>
              <a:ext uri="{FF2B5EF4-FFF2-40B4-BE49-F238E27FC236}">
                <a16:creationId xmlns:a16="http://schemas.microsoft.com/office/drawing/2014/main" id="{8804F4FE-5913-F125-30B7-EAE669D17CFF}"/>
              </a:ext>
            </a:extLst>
          </p:cNvPr>
          <p:cNvSpPr txBox="1"/>
          <p:nvPr/>
        </p:nvSpPr>
        <p:spPr>
          <a:xfrm>
            <a:off x="2636441" y="4004880"/>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3" name="TextBox 32">
            <a:extLst>
              <a:ext uri="{FF2B5EF4-FFF2-40B4-BE49-F238E27FC236}">
                <a16:creationId xmlns:a16="http://schemas.microsoft.com/office/drawing/2014/main" id="{AD7002BC-EBEB-4E63-0B75-BE415567E848}"/>
              </a:ext>
            </a:extLst>
          </p:cNvPr>
          <p:cNvSpPr txBox="1"/>
          <p:nvPr/>
        </p:nvSpPr>
        <p:spPr>
          <a:xfrm>
            <a:off x="5445208" y="2092323"/>
            <a:ext cx="772505" cy="400110"/>
          </a:xfrm>
          <a:prstGeom prst="rect">
            <a:avLst/>
          </a:prstGeom>
          <a:noFill/>
        </p:spPr>
        <p:txBody>
          <a:bodyPr wrap="square" rtlCol="0">
            <a:spAutoFit/>
          </a:bodyPr>
          <a:lstStyle/>
          <a:p>
            <a:pPr algn="ctr"/>
            <a:r>
              <a:rPr lang="en-US" sz="1000" dirty="0">
                <a:solidFill>
                  <a:srgbClr val="E1E1E1"/>
                </a:solidFill>
              </a:rPr>
              <a:t>Job </a:t>
            </a:r>
          </a:p>
          <a:p>
            <a:pPr algn="ctr"/>
            <a:r>
              <a:rPr lang="en-US" sz="1000" dirty="0">
                <a:solidFill>
                  <a:srgbClr val="E1E1E1"/>
                </a:solidFill>
              </a:rPr>
              <a:t>Read</a:t>
            </a:r>
          </a:p>
        </p:txBody>
      </p:sp>
      <p:sp>
        <p:nvSpPr>
          <p:cNvPr id="34" name="TextBox 33">
            <a:extLst>
              <a:ext uri="{FF2B5EF4-FFF2-40B4-BE49-F238E27FC236}">
                <a16:creationId xmlns:a16="http://schemas.microsoft.com/office/drawing/2014/main" id="{FBD59BB3-FFD9-A3EE-3B6E-806A0B01F7DF}"/>
              </a:ext>
            </a:extLst>
          </p:cNvPr>
          <p:cNvSpPr txBox="1"/>
          <p:nvPr/>
        </p:nvSpPr>
        <p:spPr>
          <a:xfrm>
            <a:off x="6129630" y="2105765"/>
            <a:ext cx="1037054" cy="400110"/>
          </a:xfrm>
          <a:prstGeom prst="rect">
            <a:avLst/>
          </a:prstGeom>
          <a:noFill/>
        </p:spPr>
        <p:txBody>
          <a:bodyPr wrap="square" rtlCol="0">
            <a:spAutoFit/>
          </a:bodyPr>
          <a:lstStyle/>
          <a:p>
            <a:pPr algn="ctr"/>
            <a:r>
              <a:rPr lang="en-US" sz="1000" dirty="0">
                <a:solidFill>
                  <a:srgbClr val="E1E1E1"/>
                </a:solidFill>
              </a:rPr>
              <a:t>Job Acknowledged</a:t>
            </a:r>
          </a:p>
        </p:txBody>
      </p:sp>
      <p:cxnSp>
        <p:nvCxnSpPr>
          <p:cNvPr id="41" name="Straight Connector 40">
            <a:extLst>
              <a:ext uri="{FF2B5EF4-FFF2-40B4-BE49-F238E27FC236}">
                <a16:creationId xmlns:a16="http://schemas.microsoft.com/office/drawing/2014/main" id="{7CC4D980-9C1B-8EE7-E679-38D6EA15D317}"/>
              </a:ext>
            </a:extLst>
          </p:cNvPr>
          <p:cNvCxnSpPr>
            <a:cxnSpLocks/>
          </p:cNvCxnSpPr>
          <p:nvPr/>
        </p:nvCxnSpPr>
        <p:spPr>
          <a:xfrm>
            <a:off x="11391357" y="2585825"/>
            <a:ext cx="0" cy="2327883"/>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419B6241-6F20-AD0D-9345-241E269E9EAE}"/>
              </a:ext>
            </a:extLst>
          </p:cNvPr>
          <p:cNvCxnSpPr>
            <a:cxnSpLocks/>
          </p:cNvCxnSpPr>
          <p:nvPr/>
        </p:nvCxnSpPr>
        <p:spPr>
          <a:xfrm>
            <a:off x="11391357" y="2585825"/>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BD8384CC-69E5-C933-15FE-0243EF6CEE48}"/>
              </a:ext>
            </a:extLst>
          </p:cNvPr>
          <p:cNvCxnSpPr>
            <a:cxnSpLocks/>
          </p:cNvCxnSpPr>
          <p:nvPr/>
        </p:nvCxnSpPr>
        <p:spPr>
          <a:xfrm>
            <a:off x="11391357" y="2625072"/>
            <a:ext cx="0" cy="2327883"/>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2A9046B1-EB1B-C67D-46C4-9E811AFDBD50}"/>
              </a:ext>
            </a:extLst>
          </p:cNvPr>
          <p:cNvCxnSpPr>
            <a:cxnSpLocks/>
          </p:cNvCxnSpPr>
          <p:nvPr/>
        </p:nvCxnSpPr>
        <p:spPr>
          <a:xfrm>
            <a:off x="11391357" y="2625072"/>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sp>
        <p:nvSpPr>
          <p:cNvPr id="45" name="Rectangle: Rounded Corners 44">
            <a:extLst>
              <a:ext uri="{FF2B5EF4-FFF2-40B4-BE49-F238E27FC236}">
                <a16:creationId xmlns:a16="http://schemas.microsoft.com/office/drawing/2014/main" id="{83AAD64E-2844-3444-F612-AF00D6268A02}"/>
              </a:ext>
            </a:extLst>
          </p:cNvPr>
          <p:cNvSpPr/>
          <p:nvPr/>
        </p:nvSpPr>
        <p:spPr>
          <a:xfrm>
            <a:off x="3031449" y="5377380"/>
            <a:ext cx="5904873" cy="421811"/>
          </a:xfrm>
          <a:prstGeom prst="roundRect">
            <a:avLst>
              <a:gd name="adj" fmla="val 27474"/>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a:t>
            </a:r>
          </a:p>
        </p:txBody>
      </p:sp>
      <p:sp>
        <p:nvSpPr>
          <p:cNvPr id="46" name="Rectangle: Rounded Corners 45">
            <a:extLst>
              <a:ext uri="{FF2B5EF4-FFF2-40B4-BE49-F238E27FC236}">
                <a16:creationId xmlns:a16="http://schemas.microsoft.com/office/drawing/2014/main" id="{6E70C50E-7251-4776-6A24-F84CE6210139}"/>
              </a:ext>
            </a:extLst>
          </p:cNvPr>
          <p:cNvSpPr/>
          <p:nvPr/>
        </p:nvSpPr>
        <p:spPr>
          <a:xfrm>
            <a:off x="522553" y="5375748"/>
            <a:ext cx="1132255" cy="421811"/>
          </a:xfrm>
          <a:prstGeom prst="roundRect">
            <a:avLst>
              <a:gd name="adj" fmla="val 27474"/>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1E3147"/>
                </a:solidFill>
              </a:rPr>
              <a:t>Message Orchestrator</a:t>
            </a:r>
          </a:p>
        </p:txBody>
      </p:sp>
      <p:sp>
        <p:nvSpPr>
          <p:cNvPr id="47" name="Rectangle: Rounded Corners 46">
            <a:extLst>
              <a:ext uri="{FF2B5EF4-FFF2-40B4-BE49-F238E27FC236}">
                <a16:creationId xmlns:a16="http://schemas.microsoft.com/office/drawing/2014/main" id="{629B1CF8-19A0-F89B-9836-BAD9CF638510}"/>
              </a:ext>
            </a:extLst>
          </p:cNvPr>
          <p:cNvSpPr/>
          <p:nvPr/>
        </p:nvSpPr>
        <p:spPr>
          <a:xfrm>
            <a:off x="1753756" y="5378268"/>
            <a:ext cx="1178745" cy="421811"/>
          </a:xfrm>
          <a:prstGeom prst="roundRect">
            <a:avLst>
              <a:gd name="adj" fmla="val 27474"/>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1E1E1"/>
                </a:solidFill>
              </a:rPr>
              <a:t>Broadcast</a:t>
            </a:r>
          </a:p>
        </p:txBody>
      </p:sp>
      <p:sp>
        <p:nvSpPr>
          <p:cNvPr id="50" name="Oval 49">
            <a:extLst>
              <a:ext uri="{FF2B5EF4-FFF2-40B4-BE49-F238E27FC236}">
                <a16:creationId xmlns:a16="http://schemas.microsoft.com/office/drawing/2014/main" id="{33DC05E9-427D-84BB-7175-F554C355266A}"/>
              </a:ext>
            </a:extLst>
          </p:cNvPr>
          <p:cNvSpPr/>
          <p:nvPr/>
        </p:nvSpPr>
        <p:spPr>
          <a:xfrm>
            <a:off x="8997072" y="5441706"/>
            <a:ext cx="293929" cy="306770"/>
          </a:xfrm>
          <a:prstGeom prst="ellipse">
            <a:avLst/>
          </a:prstGeom>
          <a:solidFill>
            <a:srgbClr val="FFC3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 name="Graphic 48" descr="Play with solid fill">
            <a:extLst>
              <a:ext uri="{FF2B5EF4-FFF2-40B4-BE49-F238E27FC236}">
                <a16:creationId xmlns:a16="http://schemas.microsoft.com/office/drawing/2014/main" id="{73BF2C14-80EF-515D-46A3-91EEC588CCF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073173" y="5507713"/>
            <a:ext cx="174755" cy="174755"/>
          </a:xfrm>
          <a:prstGeom prst="rect">
            <a:avLst/>
          </a:prstGeom>
        </p:spPr>
      </p:pic>
      <p:sp>
        <p:nvSpPr>
          <p:cNvPr id="52" name="TextBox 51">
            <a:extLst>
              <a:ext uri="{FF2B5EF4-FFF2-40B4-BE49-F238E27FC236}">
                <a16:creationId xmlns:a16="http://schemas.microsoft.com/office/drawing/2014/main" id="{DD3480E4-8638-6A00-2980-20C2BA76DFFC}"/>
              </a:ext>
            </a:extLst>
          </p:cNvPr>
          <p:cNvSpPr txBox="1"/>
          <p:nvPr/>
        </p:nvSpPr>
        <p:spPr>
          <a:xfrm>
            <a:off x="5390293" y="210991"/>
            <a:ext cx="4610081" cy="1077218"/>
          </a:xfrm>
          <a:prstGeom prst="rect">
            <a:avLst/>
          </a:prstGeom>
          <a:noFill/>
        </p:spPr>
        <p:txBody>
          <a:bodyPr wrap="square" rtlCol="0">
            <a:spAutoFit/>
          </a:bodyPr>
          <a:lstStyle/>
          <a:p>
            <a:pPr algn="ctr"/>
            <a:r>
              <a:rPr lang="en-US" sz="3200" dirty="0">
                <a:solidFill>
                  <a:schemeClr val="accent5">
                    <a:lumMod val="60000"/>
                    <a:lumOff val="40000"/>
                  </a:schemeClr>
                </a:solidFill>
              </a:rPr>
              <a:t>STATUS BOARD Variant MVP</a:t>
            </a:r>
          </a:p>
        </p:txBody>
      </p:sp>
      <p:sp>
        <p:nvSpPr>
          <p:cNvPr id="53" name="TextBox 52">
            <a:extLst>
              <a:ext uri="{FF2B5EF4-FFF2-40B4-BE49-F238E27FC236}">
                <a16:creationId xmlns:a16="http://schemas.microsoft.com/office/drawing/2014/main" id="{4F20A0A8-E757-8D9F-DA43-C07992AE2C6E}"/>
              </a:ext>
            </a:extLst>
          </p:cNvPr>
          <p:cNvSpPr txBox="1"/>
          <p:nvPr/>
        </p:nvSpPr>
        <p:spPr>
          <a:xfrm>
            <a:off x="39778" y="47732"/>
            <a:ext cx="3312061" cy="369332"/>
          </a:xfrm>
          <a:prstGeom prst="rect">
            <a:avLst/>
          </a:prstGeom>
          <a:noFill/>
        </p:spPr>
        <p:txBody>
          <a:bodyPr wrap="none" rtlCol="0">
            <a:spAutoFit/>
          </a:bodyPr>
          <a:lstStyle/>
          <a:p>
            <a:r>
              <a:rPr lang="en-US" dirty="0">
                <a:solidFill>
                  <a:schemeClr val="accent5">
                    <a:lumMod val="60000"/>
                    <a:lumOff val="40000"/>
                  </a:schemeClr>
                </a:solidFill>
              </a:rPr>
              <a:t>SLIDE 3c – Implementation Tab.</a:t>
            </a:r>
          </a:p>
        </p:txBody>
      </p:sp>
      <p:pic>
        <p:nvPicPr>
          <p:cNvPr id="54" name="Graphic 53" descr="Play with solid fill">
            <a:extLst>
              <a:ext uri="{FF2B5EF4-FFF2-40B4-BE49-F238E27FC236}">
                <a16:creationId xmlns:a16="http://schemas.microsoft.com/office/drawing/2014/main" id="{18668E65-AEFA-F33F-E1B7-FE8693F0CAF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979845" y="2671726"/>
            <a:ext cx="193474" cy="193474"/>
          </a:xfrm>
          <a:prstGeom prst="rect">
            <a:avLst/>
          </a:prstGeom>
        </p:spPr>
      </p:pic>
      <p:pic>
        <p:nvPicPr>
          <p:cNvPr id="59" name="Graphic 58" descr="Play with solid fill">
            <a:extLst>
              <a:ext uri="{FF2B5EF4-FFF2-40B4-BE49-F238E27FC236}">
                <a16:creationId xmlns:a16="http://schemas.microsoft.com/office/drawing/2014/main" id="{4C84F939-EECE-28C5-C01D-FECED2873BE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955195" y="3096151"/>
            <a:ext cx="193474" cy="193474"/>
          </a:xfrm>
          <a:prstGeom prst="rect">
            <a:avLst/>
          </a:prstGeom>
        </p:spPr>
      </p:pic>
      <p:sp>
        <p:nvSpPr>
          <p:cNvPr id="61" name="TextBox 60">
            <a:extLst>
              <a:ext uri="{FF2B5EF4-FFF2-40B4-BE49-F238E27FC236}">
                <a16:creationId xmlns:a16="http://schemas.microsoft.com/office/drawing/2014/main" id="{0A298240-6FEA-898D-FB0C-C27D6E2327F8}"/>
              </a:ext>
            </a:extLst>
          </p:cNvPr>
          <p:cNvSpPr txBox="1"/>
          <p:nvPr/>
        </p:nvSpPr>
        <p:spPr>
          <a:xfrm>
            <a:off x="4250868" y="3548989"/>
            <a:ext cx="683200" cy="261610"/>
          </a:xfrm>
          <a:prstGeom prst="rect">
            <a:avLst/>
          </a:prstGeom>
          <a:noFill/>
        </p:spPr>
        <p:txBody>
          <a:bodyPr wrap="none" rtlCol="0">
            <a:spAutoFit/>
          </a:bodyPr>
          <a:lstStyle/>
          <a:p>
            <a:r>
              <a:rPr lang="en-US" sz="1100" i="1" dirty="0">
                <a:solidFill>
                  <a:srgbClr val="FFC000"/>
                </a:solidFill>
              </a:rPr>
              <a:t>Waiting.</a:t>
            </a:r>
          </a:p>
        </p:txBody>
      </p:sp>
      <p:sp>
        <p:nvSpPr>
          <p:cNvPr id="62" name="TextBox 61">
            <a:extLst>
              <a:ext uri="{FF2B5EF4-FFF2-40B4-BE49-F238E27FC236}">
                <a16:creationId xmlns:a16="http://schemas.microsoft.com/office/drawing/2014/main" id="{2CB6AFB7-94ED-B00B-A1FE-BE2C4D3B0525}"/>
              </a:ext>
            </a:extLst>
          </p:cNvPr>
          <p:cNvSpPr txBox="1"/>
          <p:nvPr/>
        </p:nvSpPr>
        <p:spPr>
          <a:xfrm>
            <a:off x="4253599" y="3080702"/>
            <a:ext cx="683200" cy="261610"/>
          </a:xfrm>
          <a:prstGeom prst="rect">
            <a:avLst/>
          </a:prstGeom>
          <a:noFill/>
        </p:spPr>
        <p:txBody>
          <a:bodyPr wrap="none" rtlCol="0">
            <a:spAutoFit/>
          </a:bodyPr>
          <a:lstStyle/>
          <a:p>
            <a:r>
              <a:rPr lang="en-US" sz="1100" i="1" dirty="0">
                <a:solidFill>
                  <a:srgbClr val="FFC000"/>
                </a:solidFill>
              </a:rPr>
              <a:t>Waiting.</a:t>
            </a:r>
          </a:p>
        </p:txBody>
      </p:sp>
      <p:sp>
        <p:nvSpPr>
          <p:cNvPr id="7" name="TextBox 6">
            <a:extLst>
              <a:ext uri="{FF2B5EF4-FFF2-40B4-BE49-F238E27FC236}">
                <a16:creationId xmlns:a16="http://schemas.microsoft.com/office/drawing/2014/main" id="{A475A5ED-D8D3-E817-791E-685F3A1BD4A5}"/>
              </a:ext>
            </a:extLst>
          </p:cNvPr>
          <p:cNvSpPr txBox="1"/>
          <p:nvPr/>
        </p:nvSpPr>
        <p:spPr>
          <a:xfrm>
            <a:off x="7260027" y="2637913"/>
            <a:ext cx="260008" cy="261610"/>
          </a:xfrm>
          <a:prstGeom prst="rect">
            <a:avLst/>
          </a:prstGeom>
          <a:noFill/>
        </p:spPr>
        <p:txBody>
          <a:bodyPr wrap="square" rtlCol="0">
            <a:spAutoFit/>
          </a:bodyPr>
          <a:lstStyle/>
          <a:p>
            <a:r>
              <a:rPr lang="en-US" sz="1100" dirty="0">
                <a:solidFill>
                  <a:srgbClr val="E1E1E1"/>
                </a:solidFill>
              </a:rPr>
              <a:t>4</a:t>
            </a:r>
          </a:p>
        </p:txBody>
      </p:sp>
      <p:sp>
        <p:nvSpPr>
          <p:cNvPr id="8" name="TextBox 7">
            <a:extLst>
              <a:ext uri="{FF2B5EF4-FFF2-40B4-BE49-F238E27FC236}">
                <a16:creationId xmlns:a16="http://schemas.microsoft.com/office/drawing/2014/main" id="{B8D6A3A8-8761-1925-4711-98AAD8B5806F}"/>
              </a:ext>
            </a:extLst>
          </p:cNvPr>
          <p:cNvSpPr txBox="1"/>
          <p:nvPr/>
        </p:nvSpPr>
        <p:spPr>
          <a:xfrm>
            <a:off x="8152537" y="3076054"/>
            <a:ext cx="260008" cy="261610"/>
          </a:xfrm>
          <a:prstGeom prst="rect">
            <a:avLst/>
          </a:prstGeom>
          <a:noFill/>
        </p:spPr>
        <p:txBody>
          <a:bodyPr wrap="square" rtlCol="0">
            <a:spAutoFit/>
          </a:bodyPr>
          <a:lstStyle/>
          <a:p>
            <a:r>
              <a:rPr lang="en-US" sz="1100" dirty="0">
                <a:solidFill>
                  <a:srgbClr val="E1E1E1"/>
                </a:solidFill>
              </a:rPr>
              <a:t>1</a:t>
            </a:r>
          </a:p>
        </p:txBody>
      </p:sp>
      <p:sp>
        <p:nvSpPr>
          <p:cNvPr id="12" name="TextBox 11">
            <a:extLst>
              <a:ext uri="{FF2B5EF4-FFF2-40B4-BE49-F238E27FC236}">
                <a16:creationId xmlns:a16="http://schemas.microsoft.com/office/drawing/2014/main" id="{D6D0ECB9-41C2-1AE5-5740-13195C25F21B}"/>
              </a:ext>
            </a:extLst>
          </p:cNvPr>
          <p:cNvSpPr txBox="1"/>
          <p:nvPr/>
        </p:nvSpPr>
        <p:spPr>
          <a:xfrm>
            <a:off x="390686" y="6097720"/>
            <a:ext cx="3493631" cy="369332"/>
          </a:xfrm>
          <a:prstGeom prst="rect">
            <a:avLst/>
          </a:prstGeom>
          <a:solidFill>
            <a:srgbClr val="FF0000"/>
          </a:solidFill>
          <a:ln>
            <a:solidFill>
              <a:schemeClr val="accent5">
                <a:lumMod val="60000"/>
                <a:lumOff val="40000"/>
              </a:schemeClr>
            </a:solidFill>
          </a:ln>
        </p:spPr>
        <p:txBody>
          <a:bodyPr wrap="square" rtlCol="0">
            <a:spAutoFit/>
          </a:bodyPr>
          <a:lstStyle/>
          <a:p>
            <a:r>
              <a:rPr lang="en-US" dirty="0">
                <a:solidFill>
                  <a:schemeClr val="bg1"/>
                </a:solidFill>
              </a:rPr>
              <a:t>CLAUDE CODE CLI MODE</a:t>
            </a:r>
          </a:p>
        </p:txBody>
      </p:sp>
      <p:sp>
        <p:nvSpPr>
          <p:cNvPr id="60" name="Rectangle 59">
            <a:extLst>
              <a:ext uri="{FF2B5EF4-FFF2-40B4-BE49-F238E27FC236}">
                <a16:creationId xmlns:a16="http://schemas.microsoft.com/office/drawing/2014/main" id="{7964341A-EB5F-CF53-2857-E2DE8B560DC3}"/>
              </a:ext>
            </a:extLst>
          </p:cNvPr>
          <p:cNvSpPr/>
          <p:nvPr/>
        </p:nvSpPr>
        <p:spPr>
          <a:xfrm>
            <a:off x="10148669" y="5420304"/>
            <a:ext cx="1835953" cy="1076252"/>
          </a:xfrm>
          <a:prstGeom prst="rect">
            <a:avLst/>
          </a:prstGeom>
          <a:no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5">
                    <a:lumMod val="60000"/>
                    <a:lumOff val="40000"/>
                  </a:schemeClr>
                </a:solidFill>
              </a:rPr>
              <a:t>Rest of agents are subagents in Claude code CLI buttons inactive</a:t>
            </a:r>
          </a:p>
        </p:txBody>
      </p:sp>
      <p:cxnSp>
        <p:nvCxnSpPr>
          <p:cNvPr id="64" name="Connector: Elbow 63">
            <a:extLst>
              <a:ext uri="{FF2B5EF4-FFF2-40B4-BE49-F238E27FC236}">
                <a16:creationId xmlns:a16="http://schemas.microsoft.com/office/drawing/2014/main" id="{F854A4B0-5016-6A18-072D-92DC87B9DFF1}"/>
              </a:ext>
            </a:extLst>
          </p:cNvPr>
          <p:cNvCxnSpPr>
            <a:cxnSpLocks/>
            <a:stCxn id="60" idx="0"/>
            <a:endCxn id="138" idx="1"/>
          </p:cNvCxnSpPr>
          <p:nvPr/>
        </p:nvCxnSpPr>
        <p:spPr>
          <a:xfrm rot="16200000" flipV="1">
            <a:off x="9875526" y="4229183"/>
            <a:ext cx="1318579" cy="1063663"/>
          </a:xfrm>
          <a:prstGeom prst="bentConnector4">
            <a:avLst>
              <a:gd name="adj1" fmla="val 46332"/>
              <a:gd name="adj2" fmla="val 121492"/>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67" name="Connector: Elbow 66">
            <a:extLst>
              <a:ext uri="{FF2B5EF4-FFF2-40B4-BE49-F238E27FC236}">
                <a16:creationId xmlns:a16="http://schemas.microsoft.com/office/drawing/2014/main" id="{5FCB37BC-92C3-672E-CEBD-707F0647132A}"/>
              </a:ext>
            </a:extLst>
          </p:cNvPr>
          <p:cNvCxnSpPr>
            <a:cxnSpLocks/>
            <a:stCxn id="60" idx="0"/>
            <a:endCxn id="137" idx="1"/>
          </p:cNvCxnSpPr>
          <p:nvPr/>
        </p:nvCxnSpPr>
        <p:spPr>
          <a:xfrm rot="16200000" flipV="1">
            <a:off x="9644592" y="3998250"/>
            <a:ext cx="1777837" cy="1066272"/>
          </a:xfrm>
          <a:prstGeom prst="bentConnector4">
            <a:avLst>
              <a:gd name="adj1" fmla="val 47279"/>
              <a:gd name="adj2" fmla="val 121439"/>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70" name="Connector: Elbow 69">
            <a:extLst>
              <a:ext uri="{FF2B5EF4-FFF2-40B4-BE49-F238E27FC236}">
                <a16:creationId xmlns:a16="http://schemas.microsoft.com/office/drawing/2014/main" id="{AF565281-D779-FCFF-C4C5-26790F06C28E}"/>
              </a:ext>
            </a:extLst>
          </p:cNvPr>
          <p:cNvCxnSpPr>
            <a:cxnSpLocks/>
            <a:stCxn id="60" idx="0"/>
            <a:endCxn id="59" idx="1"/>
          </p:cNvCxnSpPr>
          <p:nvPr/>
        </p:nvCxnSpPr>
        <p:spPr>
          <a:xfrm rot="16200000" flipV="1">
            <a:off x="9397213" y="3750870"/>
            <a:ext cx="2227416" cy="1111451"/>
          </a:xfrm>
          <a:prstGeom prst="bentConnector4">
            <a:avLst>
              <a:gd name="adj1" fmla="val 47828"/>
              <a:gd name="adj2" fmla="val 115544"/>
            </a:avLst>
          </a:prstGeom>
          <a:ln>
            <a:tailEnd type="triangle"/>
          </a:ln>
        </p:spPr>
        <p:style>
          <a:lnRef idx="2">
            <a:schemeClr val="accent5"/>
          </a:lnRef>
          <a:fillRef idx="0">
            <a:schemeClr val="accent5"/>
          </a:fillRef>
          <a:effectRef idx="1">
            <a:schemeClr val="accent5"/>
          </a:effectRef>
          <a:fontRef idx="minor">
            <a:schemeClr val="tx1"/>
          </a:fontRef>
        </p:style>
      </p:cxnSp>
    </p:spTree>
    <p:extLst>
      <p:ext uri="{BB962C8B-B14F-4D97-AF65-F5344CB8AC3E}">
        <p14:creationId xmlns:p14="http://schemas.microsoft.com/office/powerpoint/2010/main" val="20907075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E1C2D"/>
        </a:solidFill>
        <a:effectLst/>
      </p:bgPr>
    </p:bg>
    <p:spTree>
      <p:nvGrpSpPr>
        <p:cNvPr id="1" name="">
          <a:extLst>
            <a:ext uri="{FF2B5EF4-FFF2-40B4-BE49-F238E27FC236}">
              <a16:creationId xmlns:a16="http://schemas.microsoft.com/office/drawing/2014/main" id="{D32DD4AB-4E1C-1C58-250A-BB5FF4E21D7F}"/>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F3D150BE-2117-C004-640B-9F7C19ECC360}"/>
              </a:ext>
            </a:extLst>
          </p:cNvPr>
          <p:cNvSpPr/>
          <p:nvPr/>
        </p:nvSpPr>
        <p:spPr>
          <a:xfrm>
            <a:off x="503403" y="1334840"/>
            <a:ext cx="2218513" cy="1071163"/>
          </a:xfrm>
          <a:prstGeom prst="roundRect">
            <a:avLst>
              <a:gd name="adj" fmla="val 15806"/>
            </a:avLst>
          </a:prstGeom>
          <a:no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E94E2BE0-5E56-8AEE-3FCE-9303219F0781}"/>
              </a:ext>
            </a:extLst>
          </p:cNvPr>
          <p:cNvSpPr txBox="1"/>
          <p:nvPr/>
        </p:nvSpPr>
        <p:spPr>
          <a:xfrm>
            <a:off x="516531" y="677075"/>
            <a:ext cx="2514919" cy="553998"/>
          </a:xfrm>
          <a:prstGeom prst="rect">
            <a:avLst/>
          </a:prstGeom>
          <a:noFill/>
        </p:spPr>
        <p:txBody>
          <a:bodyPr wrap="none" rtlCol="0">
            <a:spAutoFit/>
          </a:bodyPr>
          <a:lstStyle/>
          <a:p>
            <a:r>
              <a:rPr lang="en-US" dirty="0">
                <a:solidFill>
                  <a:srgbClr val="E1E1E1"/>
                </a:solidFill>
              </a:rPr>
              <a:t>Project: </a:t>
            </a:r>
            <a:r>
              <a:rPr lang="en-US" dirty="0">
                <a:solidFill>
                  <a:srgbClr val="FFC300"/>
                </a:solidFill>
              </a:rPr>
              <a:t>{</a:t>
            </a:r>
            <a:r>
              <a:rPr lang="en-US" dirty="0" err="1">
                <a:solidFill>
                  <a:srgbClr val="FFC300"/>
                </a:solidFill>
              </a:rPr>
              <a:t>project_name</a:t>
            </a:r>
            <a:r>
              <a:rPr lang="en-US" dirty="0">
                <a:solidFill>
                  <a:srgbClr val="FFC300"/>
                </a:solidFill>
              </a:rPr>
              <a:t>}</a:t>
            </a:r>
          </a:p>
          <a:p>
            <a:r>
              <a:rPr lang="en-US" sz="1200" dirty="0">
                <a:solidFill>
                  <a:srgbClr val="8F97B7"/>
                </a:solidFill>
              </a:rPr>
              <a:t>Project ID: {</a:t>
            </a:r>
            <a:r>
              <a:rPr lang="en-US" sz="1200" dirty="0" err="1">
                <a:solidFill>
                  <a:srgbClr val="8F97B7"/>
                </a:solidFill>
              </a:rPr>
              <a:t>full_UUID</a:t>
            </a:r>
            <a:r>
              <a:rPr lang="en-US" sz="1200" dirty="0">
                <a:solidFill>
                  <a:srgbClr val="8F97B7"/>
                </a:solidFill>
              </a:rPr>
              <a:t>}</a:t>
            </a:r>
          </a:p>
        </p:txBody>
      </p:sp>
      <p:sp>
        <p:nvSpPr>
          <p:cNvPr id="3" name="Rectangle: Rounded Corners 2">
            <a:extLst>
              <a:ext uri="{FF2B5EF4-FFF2-40B4-BE49-F238E27FC236}">
                <a16:creationId xmlns:a16="http://schemas.microsoft.com/office/drawing/2014/main" id="{38F4AB12-BD7D-4081-8103-DD1D351229FA}"/>
              </a:ext>
            </a:extLst>
          </p:cNvPr>
          <p:cNvSpPr/>
          <p:nvPr/>
        </p:nvSpPr>
        <p:spPr>
          <a:xfrm>
            <a:off x="1643382" y="1342292"/>
            <a:ext cx="1805578" cy="969932"/>
          </a:xfrm>
          <a:prstGeom prst="roundRect">
            <a:avLst>
              <a:gd name="adj" fmla="val 17766"/>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E9E3570-03F9-8FE6-3C13-F82958BFAE3C}"/>
              </a:ext>
            </a:extLst>
          </p:cNvPr>
          <p:cNvSpPr txBox="1"/>
          <p:nvPr/>
        </p:nvSpPr>
        <p:spPr>
          <a:xfrm>
            <a:off x="682981" y="1327205"/>
            <a:ext cx="929678" cy="369332"/>
          </a:xfrm>
          <a:prstGeom prst="rect">
            <a:avLst/>
          </a:prstGeom>
          <a:noFill/>
        </p:spPr>
        <p:txBody>
          <a:bodyPr wrap="none" rtlCol="0">
            <a:spAutoFit/>
          </a:bodyPr>
          <a:lstStyle/>
          <a:p>
            <a:r>
              <a:rPr lang="en-US" dirty="0">
                <a:solidFill>
                  <a:srgbClr val="1E3147"/>
                </a:solidFill>
              </a:rPr>
              <a:t>Launch</a:t>
            </a:r>
          </a:p>
        </p:txBody>
      </p:sp>
      <p:sp>
        <p:nvSpPr>
          <p:cNvPr id="6" name="Rectangle: Rounded Corners 5">
            <a:extLst>
              <a:ext uri="{FF2B5EF4-FFF2-40B4-BE49-F238E27FC236}">
                <a16:creationId xmlns:a16="http://schemas.microsoft.com/office/drawing/2014/main" id="{97AB0917-F61E-F100-B40C-D179063E85BD}"/>
              </a:ext>
            </a:extLst>
          </p:cNvPr>
          <p:cNvSpPr/>
          <p:nvPr/>
        </p:nvSpPr>
        <p:spPr>
          <a:xfrm>
            <a:off x="503403" y="1668256"/>
            <a:ext cx="11185191" cy="3476117"/>
          </a:xfrm>
          <a:prstGeom prst="roundRect">
            <a:avLst>
              <a:gd name="adj" fmla="val 5962"/>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7BCACF66-E8BA-378F-300A-BCC6407CA78C}"/>
              </a:ext>
            </a:extLst>
          </p:cNvPr>
          <p:cNvSpPr/>
          <p:nvPr/>
        </p:nvSpPr>
        <p:spPr>
          <a:xfrm>
            <a:off x="1654808" y="1622562"/>
            <a:ext cx="1787171" cy="287650"/>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AE61FB1F-7263-156E-26E1-939AB3FB530B}"/>
              </a:ext>
            </a:extLst>
          </p:cNvPr>
          <p:cNvSpPr/>
          <p:nvPr/>
        </p:nvSpPr>
        <p:spPr>
          <a:xfrm>
            <a:off x="758606" y="2617315"/>
            <a:ext cx="293929" cy="306770"/>
          </a:xfrm>
          <a:prstGeom prst="ellipse">
            <a:avLst/>
          </a:prstGeom>
          <a:solidFill>
            <a:srgbClr val="A9866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6EB3A193-8012-7DDB-C67D-3ACBD7590AE4}"/>
              </a:ext>
            </a:extLst>
          </p:cNvPr>
          <p:cNvSpPr txBox="1"/>
          <p:nvPr/>
        </p:nvSpPr>
        <p:spPr>
          <a:xfrm>
            <a:off x="1899316" y="1330953"/>
            <a:ext cx="1444177" cy="369332"/>
          </a:xfrm>
          <a:prstGeom prst="rect">
            <a:avLst/>
          </a:prstGeom>
          <a:noFill/>
        </p:spPr>
        <p:txBody>
          <a:bodyPr wrap="square" rtlCol="0">
            <a:spAutoFit/>
          </a:bodyPr>
          <a:lstStyle/>
          <a:p>
            <a:r>
              <a:rPr lang="en-US" dirty="0">
                <a:solidFill>
                  <a:srgbClr val="8F97B7"/>
                </a:solidFill>
              </a:rPr>
              <a:t>Implement</a:t>
            </a:r>
          </a:p>
        </p:txBody>
      </p:sp>
      <p:sp>
        <p:nvSpPr>
          <p:cNvPr id="24" name="TextBox 23">
            <a:extLst>
              <a:ext uri="{FF2B5EF4-FFF2-40B4-BE49-F238E27FC236}">
                <a16:creationId xmlns:a16="http://schemas.microsoft.com/office/drawing/2014/main" id="{426814CB-8703-77D2-A9C4-FE79651F5BBD}"/>
              </a:ext>
            </a:extLst>
          </p:cNvPr>
          <p:cNvSpPr txBox="1"/>
          <p:nvPr/>
        </p:nvSpPr>
        <p:spPr>
          <a:xfrm>
            <a:off x="738137" y="2624295"/>
            <a:ext cx="460382" cy="282316"/>
          </a:xfrm>
          <a:prstGeom prst="rect">
            <a:avLst/>
          </a:prstGeom>
          <a:noFill/>
        </p:spPr>
        <p:txBody>
          <a:bodyPr wrap="square" rtlCol="0">
            <a:spAutoFit/>
          </a:bodyPr>
          <a:lstStyle/>
          <a:p>
            <a:r>
              <a:rPr lang="en-US" sz="1200" b="1" dirty="0">
                <a:solidFill>
                  <a:srgbClr val="0E1C2D"/>
                </a:solidFill>
              </a:rPr>
              <a:t>Or</a:t>
            </a:r>
          </a:p>
        </p:txBody>
      </p:sp>
      <p:sp>
        <p:nvSpPr>
          <p:cNvPr id="27" name="TextBox 26">
            <a:extLst>
              <a:ext uri="{FF2B5EF4-FFF2-40B4-BE49-F238E27FC236}">
                <a16:creationId xmlns:a16="http://schemas.microsoft.com/office/drawing/2014/main" id="{EA0621BD-655E-C277-A69B-27B57A101FA6}"/>
              </a:ext>
            </a:extLst>
          </p:cNvPr>
          <p:cNvSpPr txBox="1"/>
          <p:nvPr/>
        </p:nvSpPr>
        <p:spPr>
          <a:xfrm>
            <a:off x="1184559" y="2638386"/>
            <a:ext cx="965329" cy="261610"/>
          </a:xfrm>
          <a:prstGeom prst="rect">
            <a:avLst/>
          </a:prstGeom>
          <a:noFill/>
        </p:spPr>
        <p:txBody>
          <a:bodyPr wrap="none" rtlCol="0">
            <a:spAutoFit/>
          </a:bodyPr>
          <a:lstStyle/>
          <a:p>
            <a:r>
              <a:rPr lang="en-US" sz="1100" dirty="0">
                <a:solidFill>
                  <a:srgbClr val="E1E1E1"/>
                </a:solidFill>
              </a:rPr>
              <a:t>Orchestrator</a:t>
            </a:r>
          </a:p>
        </p:txBody>
      </p:sp>
      <p:pic>
        <p:nvPicPr>
          <p:cNvPr id="29" name="Graphic 28" descr="Information with solid fill">
            <a:extLst>
              <a:ext uri="{FF2B5EF4-FFF2-40B4-BE49-F238E27FC236}">
                <a16:creationId xmlns:a16="http://schemas.microsoft.com/office/drawing/2014/main" id="{C12D6521-5B8D-B18A-0B5F-20A1D085ECA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3975" y="2661152"/>
            <a:ext cx="193473" cy="193473"/>
          </a:xfrm>
          <a:prstGeom prst="rect">
            <a:avLst/>
          </a:prstGeom>
        </p:spPr>
      </p:pic>
      <p:sp>
        <p:nvSpPr>
          <p:cNvPr id="16" name="TextBox 15">
            <a:extLst>
              <a:ext uri="{FF2B5EF4-FFF2-40B4-BE49-F238E27FC236}">
                <a16:creationId xmlns:a16="http://schemas.microsoft.com/office/drawing/2014/main" id="{9B88C7B4-6DAA-F886-81ED-A3D687700E4E}"/>
              </a:ext>
            </a:extLst>
          </p:cNvPr>
          <p:cNvSpPr txBox="1"/>
          <p:nvPr/>
        </p:nvSpPr>
        <p:spPr>
          <a:xfrm>
            <a:off x="1226477" y="3087372"/>
            <a:ext cx="705642" cy="261610"/>
          </a:xfrm>
          <a:prstGeom prst="rect">
            <a:avLst/>
          </a:prstGeom>
          <a:noFill/>
        </p:spPr>
        <p:txBody>
          <a:bodyPr wrap="none" rtlCol="0">
            <a:spAutoFit/>
          </a:bodyPr>
          <a:lstStyle>
            <a:defPPr>
              <a:defRPr lang="en-US"/>
            </a:defPPr>
            <a:lvl1pPr>
              <a:defRPr sz="1100">
                <a:solidFill>
                  <a:srgbClr val="E1E1E1"/>
                </a:solidFill>
              </a:defRPr>
            </a:lvl1pPr>
          </a:lstStyle>
          <a:p>
            <a:r>
              <a:rPr lang="en-US" dirty="0"/>
              <a:t>Analyzer</a:t>
            </a:r>
          </a:p>
        </p:txBody>
      </p:sp>
      <p:cxnSp>
        <p:nvCxnSpPr>
          <p:cNvPr id="75" name="Straight Connector 74">
            <a:extLst>
              <a:ext uri="{FF2B5EF4-FFF2-40B4-BE49-F238E27FC236}">
                <a16:creationId xmlns:a16="http://schemas.microsoft.com/office/drawing/2014/main" id="{F1FE3BF2-291A-77DA-7E44-A045D1EE3B40}"/>
              </a:ext>
            </a:extLst>
          </p:cNvPr>
          <p:cNvCxnSpPr>
            <a:cxnSpLocks/>
          </p:cNvCxnSpPr>
          <p:nvPr/>
        </p:nvCxnSpPr>
        <p:spPr>
          <a:xfrm>
            <a:off x="652293" y="2505875"/>
            <a:ext cx="10203544" cy="6404"/>
          </a:xfrm>
          <a:prstGeom prst="line">
            <a:avLst/>
          </a:prstGeom>
          <a:ln>
            <a:solidFill>
              <a:srgbClr val="1E3147"/>
            </a:solidFill>
          </a:ln>
        </p:spPr>
        <p:style>
          <a:lnRef idx="2">
            <a:schemeClr val="accent1"/>
          </a:lnRef>
          <a:fillRef idx="0">
            <a:schemeClr val="accent1"/>
          </a:fillRef>
          <a:effectRef idx="1">
            <a:schemeClr val="accent1"/>
          </a:effectRef>
          <a:fontRef idx="minor">
            <a:schemeClr val="tx1"/>
          </a:fontRef>
        </p:style>
      </p:cxnSp>
      <p:sp>
        <p:nvSpPr>
          <p:cNvPr id="77" name="TextBox 76">
            <a:extLst>
              <a:ext uri="{FF2B5EF4-FFF2-40B4-BE49-F238E27FC236}">
                <a16:creationId xmlns:a16="http://schemas.microsoft.com/office/drawing/2014/main" id="{ACC9C9A6-BA7B-851E-2CF7-B04559CBC381}"/>
              </a:ext>
            </a:extLst>
          </p:cNvPr>
          <p:cNvSpPr txBox="1"/>
          <p:nvPr/>
        </p:nvSpPr>
        <p:spPr>
          <a:xfrm>
            <a:off x="1274326" y="2217384"/>
            <a:ext cx="785793" cy="246221"/>
          </a:xfrm>
          <a:prstGeom prst="rect">
            <a:avLst/>
          </a:prstGeom>
          <a:noFill/>
        </p:spPr>
        <p:txBody>
          <a:bodyPr wrap="none" rtlCol="0">
            <a:spAutoFit/>
          </a:bodyPr>
          <a:lstStyle/>
          <a:p>
            <a:pPr algn="ctr"/>
            <a:r>
              <a:rPr lang="en-US" sz="1000" dirty="0">
                <a:solidFill>
                  <a:srgbClr val="E1E1E1"/>
                </a:solidFill>
              </a:rPr>
              <a:t>Agent Type</a:t>
            </a:r>
          </a:p>
        </p:txBody>
      </p:sp>
      <p:sp>
        <p:nvSpPr>
          <p:cNvPr id="78" name="TextBox 77">
            <a:extLst>
              <a:ext uri="{FF2B5EF4-FFF2-40B4-BE49-F238E27FC236}">
                <a16:creationId xmlns:a16="http://schemas.microsoft.com/office/drawing/2014/main" id="{EEBF4C43-ECAC-3A39-F1B9-043923A3D1D0}"/>
              </a:ext>
            </a:extLst>
          </p:cNvPr>
          <p:cNvSpPr txBox="1"/>
          <p:nvPr/>
        </p:nvSpPr>
        <p:spPr>
          <a:xfrm>
            <a:off x="662149" y="1838089"/>
            <a:ext cx="1202573" cy="246221"/>
          </a:xfrm>
          <a:prstGeom prst="rect">
            <a:avLst/>
          </a:prstGeom>
          <a:noFill/>
        </p:spPr>
        <p:txBody>
          <a:bodyPr wrap="none" rtlCol="0">
            <a:spAutoFit/>
          </a:bodyPr>
          <a:lstStyle/>
          <a:p>
            <a:r>
              <a:rPr lang="en-US" sz="1000" dirty="0">
                <a:solidFill>
                  <a:srgbClr val="E1E1E1"/>
                </a:solidFill>
              </a:rPr>
              <a:t>Claude Subagents</a:t>
            </a:r>
          </a:p>
        </p:txBody>
      </p:sp>
      <p:sp>
        <p:nvSpPr>
          <p:cNvPr id="80" name="Rectangle: Rounded Corners 79">
            <a:extLst>
              <a:ext uri="{FF2B5EF4-FFF2-40B4-BE49-F238E27FC236}">
                <a16:creationId xmlns:a16="http://schemas.microsoft.com/office/drawing/2014/main" id="{C345EC14-4CF6-525D-F1DD-A9A0B552F8B0}"/>
              </a:ext>
            </a:extLst>
          </p:cNvPr>
          <p:cNvSpPr/>
          <p:nvPr/>
        </p:nvSpPr>
        <p:spPr>
          <a:xfrm>
            <a:off x="1813390" y="1884175"/>
            <a:ext cx="336498" cy="182696"/>
          </a:xfrm>
          <a:prstGeom prst="roundRect">
            <a:avLst>
              <a:gd name="adj" fmla="val 50000"/>
            </a:avLst>
          </a:prstGeom>
          <a:solidFill>
            <a:srgbClr val="0E1C2D"/>
          </a:solid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a:extLst>
              <a:ext uri="{FF2B5EF4-FFF2-40B4-BE49-F238E27FC236}">
                <a16:creationId xmlns:a16="http://schemas.microsoft.com/office/drawing/2014/main" id="{49AF7063-9BF6-2726-F0B0-F23DE11B86B9}"/>
              </a:ext>
            </a:extLst>
          </p:cNvPr>
          <p:cNvSpPr/>
          <p:nvPr/>
        </p:nvSpPr>
        <p:spPr>
          <a:xfrm>
            <a:off x="1962999" y="1883047"/>
            <a:ext cx="174503" cy="184050"/>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a:extLst>
              <a:ext uri="{FF2B5EF4-FFF2-40B4-BE49-F238E27FC236}">
                <a16:creationId xmlns:a16="http://schemas.microsoft.com/office/drawing/2014/main" id="{512333CC-A509-3B05-EE55-0943555D1A3A}"/>
              </a:ext>
            </a:extLst>
          </p:cNvPr>
          <p:cNvSpPr/>
          <p:nvPr/>
        </p:nvSpPr>
        <p:spPr>
          <a:xfrm>
            <a:off x="758606" y="3066408"/>
            <a:ext cx="293929" cy="306770"/>
          </a:xfrm>
          <a:prstGeom prst="ellipse">
            <a:avLst/>
          </a:prstGeom>
          <a:solidFill>
            <a:srgbClr val="A32A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C8F1FA0D-5200-A1EB-FA54-DA762BAB69C5}"/>
              </a:ext>
            </a:extLst>
          </p:cNvPr>
          <p:cNvSpPr/>
          <p:nvPr/>
        </p:nvSpPr>
        <p:spPr>
          <a:xfrm>
            <a:off x="758606" y="3513494"/>
            <a:ext cx="293929" cy="306770"/>
          </a:xfrm>
          <a:prstGeom prst="ellipse">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C86317A9-8D2E-D50E-B470-5B686E7F3E23}"/>
              </a:ext>
            </a:extLst>
          </p:cNvPr>
          <p:cNvSpPr/>
          <p:nvPr/>
        </p:nvSpPr>
        <p:spPr>
          <a:xfrm>
            <a:off x="758606" y="3970226"/>
            <a:ext cx="293929" cy="306770"/>
          </a:xfrm>
          <a:prstGeom prst="ellipse">
            <a:avLst/>
          </a:prstGeom>
          <a:solidFill>
            <a:srgbClr val="FFC3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TextBox 88">
            <a:extLst>
              <a:ext uri="{FF2B5EF4-FFF2-40B4-BE49-F238E27FC236}">
                <a16:creationId xmlns:a16="http://schemas.microsoft.com/office/drawing/2014/main" id="{D7981BA5-EDC7-482E-53C0-1740700FE310}"/>
              </a:ext>
            </a:extLst>
          </p:cNvPr>
          <p:cNvSpPr txBox="1"/>
          <p:nvPr/>
        </p:nvSpPr>
        <p:spPr>
          <a:xfrm>
            <a:off x="1226477" y="3532367"/>
            <a:ext cx="970137" cy="261610"/>
          </a:xfrm>
          <a:prstGeom prst="rect">
            <a:avLst/>
          </a:prstGeom>
          <a:noFill/>
        </p:spPr>
        <p:txBody>
          <a:bodyPr wrap="none" rtlCol="0">
            <a:spAutoFit/>
          </a:bodyPr>
          <a:lstStyle>
            <a:defPPr>
              <a:defRPr lang="en-US"/>
            </a:defPPr>
            <a:lvl1pPr>
              <a:defRPr sz="1100">
                <a:solidFill>
                  <a:srgbClr val="E1E1E1"/>
                </a:solidFill>
              </a:defRPr>
            </a:lvl1pPr>
          </a:lstStyle>
          <a:p>
            <a:r>
              <a:rPr lang="en-US" dirty="0"/>
              <a:t>Implementor</a:t>
            </a:r>
          </a:p>
        </p:txBody>
      </p:sp>
      <p:sp>
        <p:nvSpPr>
          <p:cNvPr id="90" name="TextBox 89">
            <a:extLst>
              <a:ext uri="{FF2B5EF4-FFF2-40B4-BE49-F238E27FC236}">
                <a16:creationId xmlns:a16="http://schemas.microsoft.com/office/drawing/2014/main" id="{3B9C61F9-B0EB-C5EE-867C-9BFA97E8634A}"/>
              </a:ext>
            </a:extLst>
          </p:cNvPr>
          <p:cNvSpPr txBox="1"/>
          <p:nvPr/>
        </p:nvSpPr>
        <p:spPr>
          <a:xfrm>
            <a:off x="1245503" y="3998201"/>
            <a:ext cx="559769" cy="261610"/>
          </a:xfrm>
          <a:prstGeom prst="rect">
            <a:avLst/>
          </a:prstGeom>
          <a:noFill/>
        </p:spPr>
        <p:txBody>
          <a:bodyPr wrap="none" rtlCol="0">
            <a:spAutoFit/>
          </a:bodyPr>
          <a:lstStyle>
            <a:defPPr>
              <a:defRPr lang="en-US"/>
            </a:defPPr>
            <a:lvl1pPr>
              <a:defRPr sz="1100">
                <a:solidFill>
                  <a:srgbClr val="E1E1E1"/>
                </a:solidFill>
              </a:defRPr>
            </a:lvl1pPr>
          </a:lstStyle>
          <a:p>
            <a:r>
              <a:rPr lang="en-US" dirty="0"/>
              <a:t>Tester</a:t>
            </a:r>
          </a:p>
        </p:txBody>
      </p:sp>
      <p:sp>
        <p:nvSpPr>
          <p:cNvPr id="91" name="TextBox 90">
            <a:extLst>
              <a:ext uri="{FF2B5EF4-FFF2-40B4-BE49-F238E27FC236}">
                <a16:creationId xmlns:a16="http://schemas.microsoft.com/office/drawing/2014/main" id="{36EB3AF9-D754-FA2E-4501-AE7B455D4B67}"/>
              </a:ext>
            </a:extLst>
          </p:cNvPr>
          <p:cNvSpPr txBox="1"/>
          <p:nvPr/>
        </p:nvSpPr>
        <p:spPr>
          <a:xfrm>
            <a:off x="4260936" y="2611055"/>
            <a:ext cx="683200" cy="261610"/>
          </a:xfrm>
          <a:prstGeom prst="rect">
            <a:avLst/>
          </a:prstGeom>
          <a:noFill/>
        </p:spPr>
        <p:txBody>
          <a:bodyPr wrap="none" rtlCol="0">
            <a:spAutoFit/>
          </a:bodyPr>
          <a:lstStyle/>
          <a:p>
            <a:r>
              <a:rPr lang="en-US" sz="1100" i="1" dirty="0">
                <a:solidFill>
                  <a:srgbClr val="FFC000"/>
                </a:solidFill>
              </a:rPr>
              <a:t>Waiting.</a:t>
            </a:r>
          </a:p>
        </p:txBody>
      </p:sp>
      <p:pic>
        <p:nvPicPr>
          <p:cNvPr id="93" name="Graphic 92" descr="Information with solid fill">
            <a:extLst>
              <a:ext uri="{FF2B5EF4-FFF2-40B4-BE49-F238E27FC236}">
                <a16:creationId xmlns:a16="http://schemas.microsoft.com/office/drawing/2014/main" id="{0FA7FE31-F431-B4C9-BEDB-35A187DBD08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2365" y="3102069"/>
            <a:ext cx="193473" cy="193473"/>
          </a:xfrm>
          <a:prstGeom prst="rect">
            <a:avLst/>
          </a:prstGeom>
        </p:spPr>
      </p:pic>
      <p:pic>
        <p:nvPicPr>
          <p:cNvPr id="94" name="Graphic 93" descr="Information with solid fill">
            <a:extLst>
              <a:ext uri="{FF2B5EF4-FFF2-40B4-BE49-F238E27FC236}">
                <a16:creationId xmlns:a16="http://schemas.microsoft.com/office/drawing/2014/main" id="{8C42252C-B0A1-7E63-D387-75C13297DFD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2365" y="3553624"/>
            <a:ext cx="193473" cy="193473"/>
          </a:xfrm>
          <a:prstGeom prst="rect">
            <a:avLst/>
          </a:prstGeom>
        </p:spPr>
      </p:pic>
      <p:pic>
        <p:nvPicPr>
          <p:cNvPr id="95" name="Graphic 94" descr="Information with solid fill">
            <a:extLst>
              <a:ext uri="{FF2B5EF4-FFF2-40B4-BE49-F238E27FC236}">
                <a16:creationId xmlns:a16="http://schemas.microsoft.com/office/drawing/2014/main" id="{F3510105-4D39-F588-A453-DC64E6324F6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2364" y="4014063"/>
            <a:ext cx="193473" cy="193473"/>
          </a:xfrm>
          <a:prstGeom prst="rect">
            <a:avLst/>
          </a:prstGeom>
        </p:spPr>
      </p:pic>
      <p:sp>
        <p:nvSpPr>
          <p:cNvPr id="96" name="TextBox 95">
            <a:extLst>
              <a:ext uri="{FF2B5EF4-FFF2-40B4-BE49-F238E27FC236}">
                <a16:creationId xmlns:a16="http://schemas.microsoft.com/office/drawing/2014/main" id="{646EE1EC-97A7-84E7-88B8-8BEC163B52EF}"/>
              </a:ext>
            </a:extLst>
          </p:cNvPr>
          <p:cNvSpPr txBox="1"/>
          <p:nvPr/>
        </p:nvSpPr>
        <p:spPr>
          <a:xfrm>
            <a:off x="729726" y="3076054"/>
            <a:ext cx="460382" cy="282316"/>
          </a:xfrm>
          <a:prstGeom prst="rect">
            <a:avLst/>
          </a:prstGeom>
          <a:noFill/>
        </p:spPr>
        <p:txBody>
          <a:bodyPr wrap="square" rtlCol="0">
            <a:spAutoFit/>
          </a:bodyPr>
          <a:lstStyle/>
          <a:p>
            <a:r>
              <a:rPr lang="en-US" sz="1200" b="1" dirty="0">
                <a:solidFill>
                  <a:srgbClr val="0E1C2D"/>
                </a:solidFill>
              </a:rPr>
              <a:t>An</a:t>
            </a:r>
          </a:p>
        </p:txBody>
      </p:sp>
      <p:sp>
        <p:nvSpPr>
          <p:cNvPr id="97" name="TextBox 96">
            <a:extLst>
              <a:ext uri="{FF2B5EF4-FFF2-40B4-BE49-F238E27FC236}">
                <a16:creationId xmlns:a16="http://schemas.microsoft.com/office/drawing/2014/main" id="{D109116F-FAED-1313-1705-97EF85278439}"/>
              </a:ext>
            </a:extLst>
          </p:cNvPr>
          <p:cNvSpPr txBox="1"/>
          <p:nvPr/>
        </p:nvSpPr>
        <p:spPr>
          <a:xfrm>
            <a:off x="736070" y="3523140"/>
            <a:ext cx="460382" cy="282316"/>
          </a:xfrm>
          <a:prstGeom prst="rect">
            <a:avLst/>
          </a:prstGeom>
          <a:noFill/>
        </p:spPr>
        <p:txBody>
          <a:bodyPr wrap="square" rtlCol="0">
            <a:spAutoFit/>
          </a:bodyPr>
          <a:lstStyle/>
          <a:p>
            <a:r>
              <a:rPr lang="en-US" sz="1200" b="1" dirty="0" err="1">
                <a:solidFill>
                  <a:srgbClr val="0E1C2D"/>
                </a:solidFill>
              </a:rPr>
              <a:t>Im</a:t>
            </a:r>
            <a:endParaRPr lang="en-US" sz="1200" b="1" dirty="0">
              <a:solidFill>
                <a:srgbClr val="0E1C2D"/>
              </a:solidFill>
            </a:endParaRPr>
          </a:p>
        </p:txBody>
      </p:sp>
      <p:sp>
        <p:nvSpPr>
          <p:cNvPr id="98" name="TextBox 97">
            <a:extLst>
              <a:ext uri="{FF2B5EF4-FFF2-40B4-BE49-F238E27FC236}">
                <a16:creationId xmlns:a16="http://schemas.microsoft.com/office/drawing/2014/main" id="{37FCF47C-04EC-DA4C-232A-5860E2AFE4B8}"/>
              </a:ext>
            </a:extLst>
          </p:cNvPr>
          <p:cNvSpPr txBox="1"/>
          <p:nvPr/>
        </p:nvSpPr>
        <p:spPr>
          <a:xfrm>
            <a:off x="736070" y="3989707"/>
            <a:ext cx="460382" cy="282316"/>
          </a:xfrm>
          <a:prstGeom prst="rect">
            <a:avLst/>
          </a:prstGeom>
          <a:noFill/>
        </p:spPr>
        <p:txBody>
          <a:bodyPr wrap="square" rtlCol="0">
            <a:spAutoFit/>
          </a:bodyPr>
          <a:lstStyle/>
          <a:p>
            <a:r>
              <a:rPr lang="en-US" sz="1200" b="1" dirty="0" err="1">
                <a:solidFill>
                  <a:srgbClr val="0E1C2D"/>
                </a:solidFill>
              </a:rPr>
              <a:t>Te</a:t>
            </a:r>
            <a:endParaRPr lang="en-US" sz="1200" b="1" dirty="0">
              <a:solidFill>
                <a:srgbClr val="0E1C2D"/>
              </a:solidFill>
            </a:endParaRPr>
          </a:p>
        </p:txBody>
      </p:sp>
      <p:sp>
        <p:nvSpPr>
          <p:cNvPr id="99" name="TextBox 98">
            <a:extLst>
              <a:ext uri="{FF2B5EF4-FFF2-40B4-BE49-F238E27FC236}">
                <a16:creationId xmlns:a16="http://schemas.microsoft.com/office/drawing/2014/main" id="{8B634183-DE36-9884-FACE-52E2F151B9A5}"/>
              </a:ext>
            </a:extLst>
          </p:cNvPr>
          <p:cNvSpPr txBox="1"/>
          <p:nvPr/>
        </p:nvSpPr>
        <p:spPr>
          <a:xfrm>
            <a:off x="4193614" y="2214394"/>
            <a:ext cx="886781" cy="246221"/>
          </a:xfrm>
          <a:prstGeom prst="rect">
            <a:avLst/>
          </a:prstGeom>
          <a:noFill/>
        </p:spPr>
        <p:txBody>
          <a:bodyPr wrap="none" rtlCol="0">
            <a:spAutoFit/>
          </a:bodyPr>
          <a:lstStyle/>
          <a:p>
            <a:pPr algn="ctr"/>
            <a:r>
              <a:rPr lang="en-US" sz="1000" dirty="0">
                <a:solidFill>
                  <a:srgbClr val="E1E1E1"/>
                </a:solidFill>
              </a:rPr>
              <a:t>Agent Status</a:t>
            </a:r>
          </a:p>
        </p:txBody>
      </p:sp>
      <p:sp>
        <p:nvSpPr>
          <p:cNvPr id="100" name="TextBox 99">
            <a:extLst>
              <a:ext uri="{FF2B5EF4-FFF2-40B4-BE49-F238E27FC236}">
                <a16:creationId xmlns:a16="http://schemas.microsoft.com/office/drawing/2014/main" id="{045F1785-C9BF-7254-6F1C-1AE83F9A1E52}"/>
              </a:ext>
            </a:extLst>
          </p:cNvPr>
          <p:cNvSpPr txBox="1"/>
          <p:nvPr/>
        </p:nvSpPr>
        <p:spPr>
          <a:xfrm>
            <a:off x="7929117" y="2092323"/>
            <a:ext cx="772505" cy="400110"/>
          </a:xfrm>
          <a:prstGeom prst="rect">
            <a:avLst/>
          </a:prstGeom>
          <a:noFill/>
        </p:spPr>
        <p:txBody>
          <a:bodyPr wrap="square" rtlCol="0">
            <a:spAutoFit/>
          </a:bodyPr>
          <a:lstStyle/>
          <a:p>
            <a:pPr algn="ctr"/>
            <a:r>
              <a:rPr lang="en-US" sz="1000" dirty="0">
                <a:solidFill>
                  <a:srgbClr val="E1E1E1"/>
                </a:solidFill>
              </a:rPr>
              <a:t>Messages waiting</a:t>
            </a:r>
          </a:p>
        </p:txBody>
      </p:sp>
      <p:sp>
        <p:nvSpPr>
          <p:cNvPr id="114" name="TextBox 113">
            <a:extLst>
              <a:ext uri="{FF2B5EF4-FFF2-40B4-BE49-F238E27FC236}">
                <a16:creationId xmlns:a16="http://schemas.microsoft.com/office/drawing/2014/main" id="{083F16FB-002A-0450-64DE-BA393766DCB2}"/>
              </a:ext>
            </a:extLst>
          </p:cNvPr>
          <p:cNvSpPr txBox="1"/>
          <p:nvPr/>
        </p:nvSpPr>
        <p:spPr>
          <a:xfrm>
            <a:off x="7041082" y="2099303"/>
            <a:ext cx="772505" cy="400110"/>
          </a:xfrm>
          <a:prstGeom prst="rect">
            <a:avLst/>
          </a:prstGeom>
          <a:noFill/>
        </p:spPr>
        <p:txBody>
          <a:bodyPr wrap="square" rtlCol="0">
            <a:spAutoFit/>
          </a:bodyPr>
          <a:lstStyle/>
          <a:p>
            <a:pPr algn="ctr"/>
            <a:r>
              <a:rPr lang="en-US" sz="1000" dirty="0">
                <a:solidFill>
                  <a:srgbClr val="E1E1E1"/>
                </a:solidFill>
              </a:rPr>
              <a:t>Messages</a:t>
            </a:r>
          </a:p>
          <a:p>
            <a:pPr algn="ctr"/>
            <a:r>
              <a:rPr lang="en-US" sz="1000" dirty="0">
                <a:solidFill>
                  <a:srgbClr val="E1E1E1"/>
                </a:solidFill>
              </a:rPr>
              <a:t>Sent</a:t>
            </a:r>
          </a:p>
        </p:txBody>
      </p:sp>
      <p:sp>
        <p:nvSpPr>
          <p:cNvPr id="115" name="TextBox 114">
            <a:extLst>
              <a:ext uri="{FF2B5EF4-FFF2-40B4-BE49-F238E27FC236}">
                <a16:creationId xmlns:a16="http://schemas.microsoft.com/office/drawing/2014/main" id="{4D421035-FF33-06B1-09EA-61B007FE9530}"/>
              </a:ext>
            </a:extLst>
          </p:cNvPr>
          <p:cNvSpPr txBox="1"/>
          <p:nvPr/>
        </p:nvSpPr>
        <p:spPr>
          <a:xfrm>
            <a:off x="8932682" y="2112169"/>
            <a:ext cx="751053" cy="400110"/>
          </a:xfrm>
          <a:prstGeom prst="rect">
            <a:avLst/>
          </a:prstGeom>
          <a:noFill/>
        </p:spPr>
        <p:txBody>
          <a:bodyPr wrap="square" rtlCol="0">
            <a:spAutoFit/>
          </a:bodyPr>
          <a:lstStyle/>
          <a:p>
            <a:pPr algn="ctr"/>
            <a:r>
              <a:rPr lang="en-US" sz="1000" dirty="0">
                <a:solidFill>
                  <a:srgbClr val="E1E1E1"/>
                </a:solidFill>
              </a:rPr>
              <a:t>Messages Read</a:t>
            </a:r>
          </a:p>
        </p:txBody>
      </p:sp>
      <p:pic>
        <p:nvPicPr>
          <p:cNvPr id="117" name="Graphic 116" descr="Chat with solid fill">
            <a:extLst>
              <a:ext uri="{FF2B5EF4-FFF2-40B4-BE49-F238E27FC236}">
                <a16:creationId xmlns:a16="http://schemas.microsoft.com/office/drawing/2014/main" id="{437EF08E-7917-927C-1197-79EBE149CC4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305301" y="2637658"/>
            <a:ext cx="261610" cy="261610"/>
          </a:xfrm>
          <a:prstGeom prst="rect">
            <a:avLst/>
          </a:prstGeom>
        </p:spPr>
      </p:pic>
      <p:pic>
        <p:nvPicPr>
          <p:cNvPr id="118" name="Graphic 117" descr="Chat with solid fill">
            <a:extLst>
              <a:ext uri="{FF2B5EF4-FFF2-40B4-BE49-F238E27FC236}">
                <a16:creationId xmlns:a16="http://schemas.microsoft.com/office/drawing/2014/main" id="{C6832B39-69AD-B9A1-CF83-4ABEF69062C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297189" y="3068000"/>
            <a:ext cx="261610" cy="261610"/>
          </a:xfrm>
          <a:prstGeom prst="rect">
            <a:avLst/>
          </a:prstGeom>
        </p:spPr>
      </p:pic>
      <p:pic>
        <p:nvPicPr>
          <p:cNvPr id="119" name="Graphic 118" descr="Chat with solid fill">
            <a:extLst>
              <a:ext uri="{FF2B5EF4-FFF2-40B4-BE49-F238E27FC236}">
                <a16:creationId xmlns:a16="http://schemas.microsoft.com/office/drawing/2014/main" id="{7970331D-90B7-FC63-4474-43D2879592B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297189" y="3527404"/>
            <a:ext cx="261610" cy="261610"/>
          </a:xfrm>
          <a:prstGeom prst="rect">
            <a:avLst/>
          </a:prstGeom>
        </p:spPr>
      </p:pic>
      <p:pic>
        <p:nvPicPr>
          <p:cNvPr id="120" name="Graphic 119" descr="Chat with solid fill">
            <a:extLst>
              <a:ext uri="{FF2B5EF4-FFF2-40B4-BE49-F238E27FC236}">
                <a16:creationId xmlns:a16="http://schemas.microsoft.com/office/drawing/2014/main" id="{41EFAC4D-9F36-7595-43B7-642A5CB657D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310562" y="3991625"/>
            <a:ext cx="261610" cy="261610"/>
          </a:xfrm>
          <a:prstGeom prst="rect">
            <a:avLst/>
          </a:prstGeom>
        </p:spPr>
      </p:pic>
      <p:sp>
        <p:nvSpPr>
          <p:cNvPr id="136" name="TextBox 135">
            <a:extLst>
              <a:ext uri="{FF2B5EF4-FFF2-40B4-BE49-F238E27FC236}">
                <a16:creationId xmlns:a16="http://schemas.microsoft.com/office/drawing/2014/main" id="{3C488644-4F31-6E54-BD00-66788DCFE257}"/>
              </a:ext>
            </a:extLst>
          </p:cNvPr>
          <p:cNvSpPr txBox="1"/>
          <p:nvPr/>
        </p:nvSpPr>
        <p:spPr>
          <a:xfrm>
            <a:off x="4253814" y="3982173"/>
            <a:ext cx="683200" cy="261610"/>
          </a:xfrm>
          <a:prstGeom prst="rect">
            <a:avLst/>
          </a:prstGeom>
          <a:noFill/>
        </p:spPr>
        <p:txBody>
          <a:bodyPr wrap="none" rtlCol="0">
            <a:spAutoFit/>
          </a:bodyPr>
          <a:lstStyle/>
          <a:p>
            <a:r>
              <a:rPr lang="en-US" sz="1100" i="1" dirty="0">
                <a:solidFill>
                  <a:srgbClr val="FFC000"/>
                </a:solidFill>
              </a:rPr>
              <a:t>Waiting.</a:t>
            </a:r>
          </a:p>
        </p:txBody>
      </p:sp>
      <p:pic>
        <p:nvPicPr>
          <p:cNvPr id="137" name="Graphic 136" descr="Play with solid fill">
            <a:extLst>
              <a:ext uri="{FF2B5EF4-FFF2-40B4-BE49-F238E27FC236}">
                <a16:creationId xmlns:a16="http://schemas.microsoft.com/office/drawing/2014/main" id="{085B8838-BDB6-FB8C-2860-74CF8A31BE8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00374" y="3545730"/>
            <a:ext cx="193474" cy="193474"/>
          </a:xfrm>
          <a:prstGeom prst="rect">
            <a:avLst/>
          </a:prstGeom>
        </p:spPr>
      </p:pic>
      <p:pic>
        <p:nvPicPr>
          <p:cNvPr id="138" name="Graphic 137" descr="Play with solid fill">
            <a:extLst>
              <a:ext uri="{FF2B5EF4-FFF2-40B4-BE49-F238E27FC236}">
                <a16:creationId xmlns:a16="http://schemas.microsoft.com/office/drawing/2014/main" id="{2BE5F4E3-89A0-EBE8-D2C3-11006A0ADD6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02983" y="4004988"/>
            <a:ext cx="193474" cy="193474"/>
          </a:xfrm>
          <a:prstGeom prst="rect">
            <a:avLst/>
          </a:prstGeom>
        </p:spPr>
      </p:pic>
      <p:sp>
        <p:nvSpPr>
          <p:cNvPr id="14" name="TextBox 13">
            <a:extLst>
              <a:ext uri="{FF2B5EF4-FFF2-40B4-BE49-F238E27FC236}">
                <a16:creationId xmlns:a16="http://schemas.microsoft.com/office/drawing/2014/main" id="{285114C5-3820-2485-1F72-2314A06AC361}"/>
              </a:ext>
            </a:extLst>
          </p:cNvPr>
          <p:cNvSpPr txBox="1"/>
          <p:nvPr/>
        </p:nvSpPr>
        <p:spPr>
          <a:xfrm>
            <a:off x="8152537" y="2627083"/>
            <a:ext cx="260008" cy="261610"/>
          </a:xfrm>
          <a:prstGeom prst="rect">
            <a:avLst/>
          </a:prstGeom>
          <a:noFill/>
        </p:spPr>
        <p:txBody>
          <a:bodyPr wrap="square" rtlCol="0">
            <a:spAutoFit/>
          </a:bodyPr>
          <a:lstStyle/>
          <a:p>
            <a:r>
              <a:rPr lang="en-US" sz="1100" dirty="0">
                <a:solidFill>
                  <a:srgbClr val="E1E1E1"/>
                </a:solidFill>
              </a:rPr>
              <a:t>1</a:t>
            </a:r>
          </a:p>
        </p:txBody>
      </p:sp>
      <p:sp>
        <p:nvSpPr>
          <p:cNvPr id="19" name="TextBox 18">
            <a:extLst>
              <a:ext uri="{FF2B5EF4-FFF2-40B4-BE49-F238E27FC236}">
                <a16:creationId xmlns:a16="http://schemas.microsoft.com/office/drawing/2014/main" id="{8DDF37DF-F56E-1080-7B28-B2338306F447}"/>
              </a:ext>
            </a:extLst>
          </p:cNvPr>
          <p:cNvSpPr txBox="1"/>
          <p:nvPr/>
        </p:nvSpPr>
        <p:spPr>
          <a:xfrm>
            <a:off x="8155156" y="3980155"/>
            <a:ext cx="260008" cy="261610"/>
          </a:xfrm>
          <a:prstGeom prst="rect">
            <a:avLst/>
          </a:prstGeom>
          <a:noFill/>
        </p:spPr>
        <p:txBody>
          <a:bodyPr wrap="square" rtlCol="0">
            <a:spAutoFit/>
          </a:bodyPr>
          <a:lstStyle/>
          <a:p>
            <a:r>
              <a:rPr lang="en-US" sz="1100" dirty="0">
                <a:solidFill>
                  <a:srgbClr val="E1E1E1"/>
                </a:solidFill>
              </a:rPr>
              <a:t>1</a:t>
            </a:r>
          </a:p>
        </p:txBody>
      </p:sp>
      <p:sp>
        <p:nvSpPr>
          <p:cNvPr id="20" name="TextBox 19">
            <a:extLst>
              <a:ext uri="{FF2B5EF4-FFF2-40B4-BE49-F238E27FC236}">
                <a16:creationId xmlns:a16="http://schemas.microsoft.com/office/drawing/2014/main" id="{409B3C06-E51B-6D36-7ADE-D2E4D615D991}"/>
              </a:ext>
            </a:extLst>
          </p:cNvPr>
          <p:cNvSpPr txBox="1"/>
          <p:nvPr/>
        </p:nvSpPr>
        <p:spPr>
          <a:xfrm>
            <a:off x="8155156" y="3496213"/>
            <a:ext cx="260008" cy="261610"/>
          </a:xfrm>
          <a:prstGeom prst="rect">
            <a:avLst/>
          </a:prstGeom>
          <a:noFill/>
        </p:spPr>
        <p:txBody>
          <a:bodyPr wrap="square" rtlCol="0">
            <a:spAutoFit/>
          </a:bodyPr>
          <a:lstStyle/>
          <a:p>
            <a:r>
              <a:rPr lang="en-US" sz="1100" dirty="0">
                <a:solidFill>
                  <a:srgbClr val="E1E1E1"/>
                </a:solidFill>
              </a:rPr>
              <a:t>1</a:t>
            </a:r>
          </a:p>
        </p:txBody>
      </p:sp>
      <p:sp>
        <p:nvSpPr>
          <p:cNvPr id="23" name="TextBox 22">
            <a:extLst>
              <a:ext uri="{FF2B5EF4-FFF2-40B4-BE49-F238E27FC236}">
                <a16:creationId xmlns:a16="http://schemas.microsoft.com/office/drawing/2014/main" id="{42A1379E-79D4-C46C-3503-2BE0867B3838}"/>
              </a:ext>
            </a:extLst>
          </p:cNvPr>
          <p:cNvSpPr txBox="1"/>
          <p:nvPr/>
        </p:nvSpPr>
        <p:spPr>
          <a:xfrm>
            <a:off x="2947872" y="2209718"/>
            <a:ext cx="649537" cy="246221"/>
          </a:xfrm>
          <a:prstGeom prst="rect">
            <a:avLst/>
          </a:prstGeom>
          <a:noFill/>
        </p:spPr>
        <p:txBody>
          <a:bodyPr wrap="none" rtlCol="0">
            <a:spAutoFit/>
          </a:bodyPr>
          <a:lstStyle/>
          <a:p>
            <a:pPr algn="ctr"/>
            <a:r>
              <a:rPr lang="en-US" sz="1000" dirty="0">
                <a:solidFill>
                  <a:srgbClr val="E1E1E1"/>
                </a:solidFill>
              </a:rPr>
              <a:t>Agent ID</a:t>
            </a:r>
          </a:p>
        </p:txBody>
      </p:sp>
      <p:sp>
        <p:nvSpPr>
          <p:cNvPr id="28" name="TextBox 27">
            <a:extLst>
              <a:ext uri="{FF2B5EF4-FFF2-40B4-BE49-F238E27FC236}">
                <a16:creationId xmlns:a16="http://schemas.microsoft.com/office/drawing/2014/main" id="{C4F1283A-3161-87B4-D79D-6549CC44487B}"/>
              </a:ext>
            </a:extLst>
          </p:cNvPr>
          <p:cNvSpPr txBox="1"/>
          <p:nvPr/>
        </p:nvSpPr>
        <p:spPr>
          <a:xfrm>
            <a:off x="2647311" y="2620646"/>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0" name="TextBox 29">
            <a:extLst>
              <a:ext uri="{FF2B5EF4-FFF2-40B4-BE49-F238E27FC236}">
                <a16:creationId xmlns:a16="http://schemas.microsoft.com/office/drawing/2014/main" id="{73E2186C-D503-BD41-7AA8-1B82F92CCF70}"/>
              </a:ext>
            </a:extLst>
          </p:cNvPr>
          <p:cNvSpPr txBox="1"/>
          <p:nvPr/>
        </p:nvSpPr>
        <p:spPr>
          <a:xfrm>
            <a:off x="2647311" y="3086580"/>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1" name="TextBox 30">
            <a:extLst>
              <a:ext uri="{FF2B5EF4-FFF2-40B4-BE49-F238E27FC236}">
                <a16:creationId xmlns:a16="http://schemas.microsoft.com/office/drawing/2014/main" id="{4663B378-4D69-2B06-467A-4FDDA1285651}"/>
              </a:ext>
            </a:extLst>
          </p:cNvPr>
          <p:cNvSpPr txBox="1"/>
          <p:nvPr/>
        </p:nvSpPr>
        <p:spPr>
          <a:xfrm>
            <a:off x="2647311" y="3545730"/>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2" name="TextBox 31">
            <a:extLst>
              <a:ext uri="{FF2B5EF4-FFF2-40B4-BE49-F238E27FC236}">
                <a16:creationId xmlns:a16="http://schemas.microsoft.com/office/drawing/2014/main" id="{1F1C8ADA-F188-B894-43C6-090E8CD066D8}"/>
              </a:ext>
            </a:extLst>
          </p:cNvPr>
          <p:cNvSpPr txBox="1"/>
          <p:nvPr/>
        </p:nvSpPr>
        <p:spPr>
          <a:xfrm>
            <a:off x="2636441" y="4004880"/>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3" name="TextBox 32">
            <a:extLst>
              <a:ext uri="{FF2B5EF4-FFF2-40B4-BE49-F238E27FC236}">
                <a16:creationId xmlns:a16="http://schemas.microsoft.com/office/drawing/2014/main" id="{0E924F2C-FF41-0F06-41EC-FA09E269EEE0}"/>
              </a:ext>
            </a:extLst>
          </p:cNvPr>
          <p:cNvSpPr txBox="1"/>
          <p:nvPr/>
        </p:nvSpPr>
        <p:spPr>
          <a:xfrm>
            <a:off x="5445208" y="2092323"/>
            <a:ext cx="772505" cy="400110"/>
          </a:xfrm>
          <a:prstGeom prst="rect">
            <a:avLst/>
          </a:prstGeom>
          <a:noFill/>
        </p:spPr>
        <p:txBody>
          <a:bodyPr wrap="square" rtlCol="0">
            <a:spAutoFit/>
          </a:bodyPr>
          <a:lstStyle/>
          <a:p>
            <a:pPr algn="ctr"/>
            <a:r>
              <a:rPr lang="en-US" sz="1000" dirty="0">
                <a:solidFill>
                  <a:srgbClr val="E1E1E1"/>
                </a:solidFill>
              </a:rPr>
              <a:t>Job </a:t>
            </a:r>
          </a:p>
          <a:p>
            <a:pPr algn="ctr"/>
            <a:r>
              <a:rPr lang="en-US" sz="1000" dirty="0">
                <a:solidFill>
                  <a:srgbClr val="E1E1E1"/>
                </a:solidFill>
              </a:rPr>
              <a:t>Read</a:t>
            </a:r>
          </a:p>
        </p:txBody>
      </p:sp>
      <p:sp>
        <p:nvSpPr>
          <p:cNvPr id="34" name="TextBox 33">
            <a:extLst>
              <a:ext uri="{FF2B5EF4-FFF2-40B4-BE49-F238E27FC236}">
                <a16:creationId xmlns:a16="http://schemas.microsoft.com/office/drawing/2014/main" id="{6C3845E0-4004-4F43-95A3-D4333F9AD2F0}"/>
              </a:ext>
            </a:extLst>
          </p:cNvPr>
          <p:cNvSpPr txBox="1"/>
          <p:nvPr/>
        </p:nvSpPr>
        <p:spPr>
          <a:xfrm>
            <a:off x="6129630" y="2105765"/>
            <a:ext cx="1037054" cy="400110"/>
          </a:xfrm>
          <a:prstGeom prst="rect">
            <a:avLst/>
          </a:prstGeom>
          <a:noFill/>
        </p:spPr>
        <p:txBody>
          <a:bodyPr wrap="square" rtlCol="0">
            <a:spAutoFit/>
          </a:bodyPr>
          <a:lstStyle/>
          <a:p>
            <a:pPr algn="ctr"/>
            <a:r>
              <a:rPr lang="en-US" sz="1000" dirty="0">
                <a:solidFill>
                  <a:srgbClr val="E1E1E1"/>
                </a:solidFill>
              </a:rPr>
              <a:t>Job Acknowledged</a:t>
            </a:r>
          </a:p>
        </p:txBody>
      </p:sp>
      <p:cxnSp>
        <p:nvCxnSpPr>
          <p:cNvPr id="41" name="Straight Connector 40">
            <a:extLst>
              <a:ext uri="{FF2B5EF4-FFF2-40B4-BE49-F238E27FC236}">
                <a16:creationId xmlns:a16="http://schemas.microsoft.com/office/drawing/2014/main" id="{57BC7904-969F-063B-832B-D2C2DD1F1213}"/>
              </a:ext>
            </a:extLst>
          </p:cNvPr>
          <p:cNvCxnSpPr>
            <a:cxnSpLocks/>
          </p:cNvCxnSpPr>
          <p:nvPr/>
        </p:nvCxnSpPr>
        <p:spPr>
          <a:xfrm>
            <a:off x="11391357" y="2585825"/>
            <a:ext cx="0" cy="2327883"/>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BB43238C-4A5F-36E1-BEAE-550823E9E8DF}"/>
              </a:ext>
            </a:extLst>
          </p:cNvPr>
          <p:cNvCxnSpPr>
            <a:cxnSpLocks/>
          </p:cNvCxnSpPr>
          <p:nvPr/>
        </p:nvCxnSpPr>
        <p:spPr>
          <a:xfrm>
            <a:off x="11391357" y="2585825"/>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09AAFECC-3BB4-EA0F-9F5C-5ACDE3A1F9F2}"/>
              </a:ext>
            </a:extLst>
          </p:cNvPr>
          <p:cNvCxnSpPr>
            <a:cxnSpLocks/>
          </p:cNvCxnSpPr>
          <p:nvPr/>
        </p:nvCxnSpPr>
        <p:spPr>
          <a:xfrm>
            <a:off x="11391357" y="2625072"/>
            <a:ext cx="0" cy="2327883"/>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03485F5B-E273-6A9A-2F2A-6F600907B7BD}"/>
              </a:ext>
            </a:extLst>
          </p:cNvPr>
          <p:cNvCxnSpPr>
            <a:cxnSpLocks/>
          </p:cNvCxnSpPr>
          <p:nvPr/>
        </p:nvCxnSpPr>
        <p:spPr>
          <a:xfrm>
            <a:off x="11391357" y="2625072"/>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sp>
        <p:nvSpPr>
          <p:cNvPr id="45" name="Rectangle: Rounded Corners 44">
            <a:extLst>
              <a:ext uri="{FF2B5EF4-FFF2-40B4-BE49-F238E27FC236}">
                <a16:creationId xmlns:a16="http://schemas.microsoft.com/office/drawing/2014/main" id="{AF2CE706-697B-3F6D-1EC2-D3D723D59986}"/>
              </a:ext>
            </a:extLst>
          </p:cNvPr>
          <p:cNvSpPr/>
          <p:nvPr/>
        </p:nvSpPr>
        <p:spPr>
          <a:xfrm>
            <a:off x="3031449" y="5377380"/>
            <a:ext cx="5904873" cy="421811"/>
          </a:xfrm>
          <a:prstGeom prst="roundRect">
            <a:avLst>
              <a:gd name="adj" fmla="val 27474"/>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a:t>
            </a:r>
          </a:p>
        </p:txBody>
      </p:sp>
      <p:sp>
        <p:nvSpPr>
          <p:cNvPr id="46" name="Rectangle: Rounded Corners 45">
            <a:extLst>
              <a:ext uri="{FF2B5EF4-FFF2-40B4-BE49-F238E27FC236}">
                <a16:creationId xmlns:a16="http://schemas.microsoft.com/office/drawing/2014/main" id="{A222C90D-0283-3CF9-EBF9-F94E200CE8C1}"/>
              </a:ext>
            </a:extLst>
          </p:cNvPr>
          <p:cNvSpPr/>
          <p:nvPr/>
        </p:nvSpPr>
        <p:spPr>
          <a:xfrm>
            <a:off x="522553" y="5375748"/>
            <a:ext cx="1132255" cy="421811"/>
          </a:xfrm>
          <a:prstGeom prst="roundRect">
            <a:avLst>
              <a:gd name="adj" fmla="val 27474"/>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1E3147"/>
                </a:solidFill>
              </a:rPr>
              <a:t>Message Orchestrator</a:t>
            </a:r>
          </a:p>
        </p:txBody>
      </p:sp>
      <p:sp>
        <p:nvSpPr>
          <p:cNvPr id="47" name="Rectangle: Rounded Corners 46">
            <a:extLst>
              <a:ext uri="{FF2B5EF4-FFF2-40B4-BE49-F238E27FC236}">
                <a16:creationId xmlns:a16="http://schemas.microsoft.com/office/drawing/2014/main" id="{2A04F2B8-9B25-144E-BE9E-8BC3817CF282}"/>
              </a:ext>
            </a:extLst>
          </p:cNvPr>
          <p:cNvSpPr/>
          <p:nvPr/>
        </p:nvSpPr>
        <p:spPr>
          <a:xfrm>
            <a:off x="1753756" y="5378268"/>
            <a:ext cx="1178745" cy="421811"/>
          </a:xfrm>
          <a:prstGeom prst="roundRect">
            <a:avLst>
              <a:gd name="adj" fmla="val 27474"/>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1E1E1"/>
                </a:solidFill>
              </a:rPr>
              <a:t>Broadcast</a:t>
            </a:r>
          </a:p>
        </p:txBody>
      </p:sp>
      <p:sp>
        <p:nvSpPr>
          <p:cNvPr id="50" name="Oval 49">
            <a:extLst>
              <a:ext uri="{FF2B5EF4-FFF2-40B4-BE49-F238E27FC236}">
                <a16:creationId xmlns:a16="http://schemas.microsoft.com/office/drawing/2014/main" id="{883C11F9-B25B-4598-7462-5FFF31F2A489}"/>
              </a:ext>
            </a:extLst>
          </p:cNvPr>
          <p:cNvSpPr/>
          <p:nvPr/>
        </p:nvSpPr>
        <p:spPr>
          <a:xfrm>
            <a:off x="8997072" y="5441706"/>
            <a:ext cx="293929" cy="306770"/>
          </a:xfrm>
          <a:prstGeom prst="ellipse">
            <a:avLst/>
          </a:prstGeom>
          <a:solidFill>
            <a:srgbClr val="FFC3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 name="Graphic 48" descr="Play with solid fill">
            <a:extLst>
              <a:ext uri="{FF2B5EF4-FFF2-40B4-BE49-F238E27FC236}">
                <a16:creationId xmlns:a16="http://schemas.microsoft.com/office/drawing/2014/main" id="{BF55785A-A7CC-17A2-D8BB-DDCF00A6A60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073173" y="5507713"/>
            <a:ext cx="174755" cy="174755"/>
          </a:xfrm>
          <a:prstGeom prst="rect">
            <a:avLst/>
          </a:prstGeom>
        </p:spPr>
      </p:pic>
      <p:sp>
        <p:nvSpPr>
          <p:cNvPr id="52" name="TextBox 51">
            <a:extLst>
              <a:ext uri="{FF2B5EF4-FFF2-40B4-BE49-F238E27FC236}">
                <a16:creationId xmlns:a16="http://schemas.microsoft.com/office/drawing/2014/main" id="{E84EC063-A6CF-D00E-72B1-98634A15B4B2}"/>
              </a:ext>
            </a:extLst>
          </p:cNvPr>
          <p:cNvSpPr txBox="1"/>
          <p:nvPr/>
        </p:nvSpPr>
        <p:spPr>
          <a:xfrm>
            <a:off x="5390293" y="210991"/>
            <a:ext cx="4610081" cy="1077218"/>
          </a:xfrm>
          <a:prstGeom prst="rect">
            <a:avLst/>
          </a:prstGeom>
          <a:noFill/>
        </p:spPr>
        <p:txBody>
          <a:bodyPr wrap="square" rtlCol="0">
            <a:spAutoFit/>
          </a:bodyPr>
          <a:lstStyle/>
          <a:p>
            <a:pPr algn="ctr"/>
            <a:r>
              <a:rPr lang="en-US" sz="3200" dirty="0">
                <a:solidFill>
                  <a:schemeClr val="accent5">
                    <a:lumMod val="60000"/>
                    <a:lumOff val="40000"/>
                  </a:schemeClr>
                </a:solidFill>
              </a:rPr>
              <a:t>STATUS BOARD Variant MVP</a:t>
            </a:r>
          </a:p>
        </p:txBody>
      </p:sp>
      <p:sp>
        <p:nvSpPr>
          <p:cNvPr id="53" name="TextBox 52">
            <a:extLst>
              <a:ext uri="{FF2B5EF4-FFF2-40B4-BE49-F238E27FC236}">
                <a16:creationId xmlns:a16="http://schemas.microsoft.com/office/drawing/2014/main" id="{8172E889-8184-26C6-F2FB-34074617E27C}"/>
              </a:ext>
            </a:extLst>
          </p:cNvPr>
          <p:cNvSpPr txBox="1"/>
          <p:nvPr/>
        </p:nvSpPr>
        <p:spPr>
          <a:xfrm>
            <a:off x="39778" y="47732"/>
            <a:ext cx="3312061" cy="369332"/>
          </a:xfrm>
          <a:prstGeom prst="rect">
            <a:avLst/>
          </a:prstGeom>
          <a:noFill/>
        </p:spPr>
        <p:txBody>
          <a:bodyPr wrap="none" rtlCol="0">
            <a:spAutoFit/>
          </a:bodyPr>
          <a:lstStyle/>
          <a:p>
            <a:r>
              <a:rPr lang="en-US" dirty="0">
                <a:solidFill>
                  <a:schemeClr val="accent5">
                    <a:lumMod val="60000"/>
                    <a:lumOff val="40000"/>
                  </a:schemeClr>
                </a:solidFill>
              </a:rPr>
              <a:t>SLIDE 3d – Implementation Tab.</a:t>
            </a:r>
          </a:p>
        </p:txBody>
      </p:sp>
      <p:pic>
        <p:nvPicPr>
          <p:cNvPr id="54" name="Graphic 53" descr="Play with solid fill">
            <a:extLst>
              <a:ext uri="{FF2B5EF4-FFF2-40B4-BE49-F238E27FC236}">
                <a16:creationId xmlns:a16="http://schemas.microsoft.com/office/drawing/2014/main" id="{8A7A1331-D501-B199-5458-92E4FAC22CE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979845" y="2671726"/>
            <a:ext cx="193474" cy="193474"/>
          </a:xfrm>
          <a:prstGeom prst="rect">
            <a:avLst/>
          </a:prstGeom>
        </p:spPr>
      </p:pic>
      <p:pic>
        <p:nvPicPr>
          <p:cNvPr id="59" name="Graphic 58" descr="Play with solid fill">
            <a:extLst>
              <a:ext uri="{FF2B5EF4-FFF2-40B4-BE49-F238E27FC236}">
                <a16:creationId xmlns:a16="http://schemas.microsoft.com/office/drawing/2014/main" id="{49CC09A1-59C0-03A8-AD95-3A29763F95F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955195" y="3096151"/>
            <a:ext cx="193474" cy="193474"/>
          </a:xfrm>
          <a:prstGeom prst="rect">
            <a:avLst/>
          </a:prstGeom>
        </p:spPr>
      </p:pic>
      <p:sp>
        <p:nvSpPr>
          <p:cNvPr id="61" name="TextBox 60">
            <a:extLst>
              <a:ext uri="{FF2B5EF4-FFF2-40B4-BE49-F238E27FC236}">
                <a16:creationId xmlns:a16="http://schemas.microsoft.com/office/drawing/2014/main" id="{0E179AF0-ADDB-F181-DF38-727463D9C012}"/>
              </a:ext>
            </a:extLst>
          </p:cNvPr>
          <p:cNvSpPr txBox="1"/>
          <p:nvPr/>
        </p:nvSpPr>
        <p:spPr>
          <a:xfrm>
            <a:off x="4250868" y="3548989"/>
            <a:ext cx="683200" cy="261610"/>
          </a:xfrm>
          <a:prstGeom prst="rect">
            <a:avLst/>
          </a:prstGeom>
          <a:noFill/>
        </p:spPr>
        <p:txBody>
          <a:bodyPr wrap="none" rtlCol="0">
            <a:spAutoFit/>
          </a:bodyPr>
          <a:lstStyle/>
          <a:p>
            <a:r>
              <a:rPr lang="en-US" sz="1100" i="1" dirty="0">
                <a:solidFill>
                  <a:srgbClr val="FFC000"/>
                </a:solidFill>
              </a:rPr>
              <a:t>Waiting.</a:t>
            </a:r>
          </a:p>
        </p:txBody>
      </p:sp>
      <p:sp>
        <p:nvSpPr>
          <p:cNvPr id="62" name="TextBox 61">
            <a:extLst>
              <a:ext uri="{FF2B5EF4-FFF2-40B4-BE49-F238E27FC236}">
                <a16:creationId xmlns:a16="http://schemas.microsoft.com/office/drawing/2014/main" id="{35B9349F-22A1-C141-DA8D-5DE66172EEC2}"/>
              </a:ext>
            </a:extLst>
          </p:cNvPr>
          <p:cNvSpPr txBox="1"/>
          <p:nvPr/>
        </p:nvSpPr>
        <p:spPr>
          <a:xfrm>
            <a:off x="4253599" y="3080702"/>
            <a:ext cx="683200" cy="261610"/>
          </a:xfrm>
          <a:prstGeom prst="rect">
            <a:avLst/>
          </a:prstGeom>
          <a:noFill/>
        </p:spPr>
        <p:txBody>
          <a:bodyPr wrap="none" rtlCol="0">
            <a:spAutoFit/>
          </a:bodyPr>
          <a:lstStyle/>
          <a:p>
            <a:r>
              <a:rPr lang="en-US" sz="1100" i="1" dirty="0">
                <a:solidFill>
                  <a:srgbClr val="FFC000"/>
                </a:solidFill>
              </a:rPr>
              <a:t>Waiting.</a:t>
            </a:r>
          </a:p>
        </p:txBody>
      </p:sp>
      <p:sp>
        <p:nvSpPr>
          <p:cNvPr id="7" name="TextBox 6">
            <a:extLst>
              <a:ext uri="{FF2B5EF4-FFF2-40B4-BE49-F238E27FC236}">
                <a16:creationId xmlns:a16="http://schemas.microsoft.com/office/drawing/2014/main" id="{4DCF25ED-1BCC-D4FA-4178-65828166AE1E}"/>
              </a:ext>
            </a:extLst>
          </p:cNvPr>
          <p:cNvSpPr txBox="1"/>
          <p:nvPr/>
        </p:nvSpPr>
        <p:spPr>
          <a:xfrm>
            <a:off x="7260027" y="2637913"/>
            <a:ext cx="260008" cy="261610"/>
          </a:xfrm>
          <a:prstGeom prst="rect">
            <a:avLst/>
          </a:prstGeom>
          <a:noFill/>
        </p:spPr>
        <p:txBody>
          <a:bodyPr wrap="square" rtlCol="0">
            <a:spAutoFit/>
          </a:bodyPr>
          <a:lstStyle/>
          <a:p>
            <a:r>
              <a:rPr lang="en-US" sz="1100" dirty="0">
                <a:solidFill>
                  <a:srgbClr val="E1E1E1"/>
                </a:solidFill>
              </a:rPr>
              <a:t>4</a:t>
            </a:r>
          </a:p>
        </p:txBody>
      </p:sp>
      <p:sp>
        <p:nvSpPr>
          <p:cNvPr id="8" name="TextBox 7">
            <a:extLst>
              <a:ext uri="{FF2B5EF4-FFF2-40B4-BE49-F238E27FC236}">
                <a16:creationId xmlns:a16="http://schemas.microsoft.com/office/drawing/2014/main" id="{048DB1A4-BEC1-CC33-3540-1A8549CF15A1}"/>
              </a:ext>
            </a:extLst>
          </p:cNvPr>
          <p:cNvSpPr txBox="1"/>
          <p:nvPr/>
        </p:nvSpPr>
        <p:spPr>
          <a:xfrm>
            <a:off x="8152537" y="3076054"/>
            <a:ext cx="260008" cy="261610"/>
          </a:xfrm>
          <a:prstGeom prst="rect">
            <a:avLst/>
          </a:prstGeom>
          <a:noFill/>
        </p:spPr>
        <p:txBody>
          <a:bodyPr wrap="square" rtlCol="0">
            <a:spAutoFit/>
          </a:bodyPr>
          <a:lstStyle/>
          <a:p>
            <a:r>
              <a:rPr lang="en-US" sz="1100" dirty="0">
                <a:solidFill>
                  <a:srgbClr val="E1E1E1"/>
                </a:solidFill>
              </a:rPr>
              <a:t>1</a:t>
            </a:r>
          </a:p>
        </p:txBody>
      </p:sp>
      <p:sp>
        <p:nvSpPr>
          <p:cNvPr id="12" name="TextBox 11">
            <a:extLst>
              <a:ext uri="{FF2B5EF4-FFF2-40B4-BE49-F238E27FC236}">
                <a16:creationId xmlns:a16="http://schemas.microsoft.com/office/drawing/2014/main" id="{73B846AF-8E1D-FD8C-A352-A11728D57BAF}"/>
              </a:ext>
            </a:extLst>
          </p:cNvPr>
          <p:cNvSpPr txBox="1"/>
          <p:nvPr/>
        </p:nvSpPr>
        <p:spPr>
          <a:xfrm>
            <a:off x="390686" y="6097720"/>
            <a:ext cx="3493631" cy="369332"/>
          </a:xfrm>
          <a:prstGeom prst="rect">
            <a:avLst/>
          </a:prstGeom>
          <a:solidFill>
            <a:srgbClr val="FF0000"/>
          </a:solidFill>
          <a:ln>
            <a:solidFill>
              <a:schemeClr val="accent5">
                <a:lumMod val="60000"/>
                <a:lumOff val="40000"/>
              </a:schemeClr>
            </a:solidFill>
          </a:ln>
        </p:spPr>
        <p:txBody>
          <a:bodyPr wrap="square" rtlCol="0">
            <a:spAutoFit/>
          </a:bodyPr>
          <a:lstStyle/>
          <a:p>
            <a:r>
              <a:rPr lang="en-US" dirty="0">
                <a:solidFill>
                  <a:schemeClr val="bg1"/>
                </a:solidFill>
              </a:rPr>
              <a:t>CLAUDE CODE CLI MODE</a:t>
            </a:r>
          </a:p>
        </p:txBody>
      </p:sp>
      <p:sp>
        <p:nvSpPr>
          <p:cNvPr id="72" name="TextBox 71">
            <a:extLst>
              <a:ext uri="{FF2B5EF4-FFF2-40B4-BE49-F238E27FC236}">
                <a16:creationId xmlns:a16="http://schemas.microsoft.com/office/drawing/2014/main" id="{F232E73A-6958-D40E-C008-05D90A738BE7}"/>
              </a:ext>
            </a:extLst>
          </p:cNvPr>
          <p:cNvSpPr txBox="1"/>
          <p:nvPr/>
        </p:nvSpPr>
        <p:spPr>
          <a:xfrm>
            <a:off x="4361892" y="5870559"/>
            <a:ext cx="5585167" cy="923330"/>
          </a:xfrm>
          <a:prstGeom prst="rect">
            <a:avLst/>
          </a:prstGeom>
          <a:noFill/>
          <a:ln>
            <a:solidFill>
              <a:schemeClr val="accent5">
                <a:lumMod val="60000"/>
                <a:lumOff val="40000"/>
              </a:schemeClr>
            </a:solidFill>
          </a:ln>
        </p:spPr>
        <p:txBody>
          <a:bodyPr wrap="square" rtlCol="0">
            <a:spAutoFit/>
          </a:bodyPr>
          <a:lstStyle/>
          <a:p>
            <a:r>
              <a:rPr lang="en-US" dirty="0">
                <a:solidFill>
                  <a:schemeClr val="accent5">
                    <a:lumMod val="60000"/>
                    <a:lumOff val="40000"/>
                  </a:schemeClr>
                </a:solidFill>
              </a:rPr>
              <a:t>From staging orchestrator has sent missions to the message system for all agents, they are now waiting.  (including orchestrator sending one to itself)</a:t>
            </a:r>
          </a:p>
        </p:txBody>
      </p:sp>
      <p:cxnSp>
        <p:nvCxnSpPr>
          <p:cNvPr id="74" name="Connector: Elbow 73">
            <a:extLst>
              <a:ext uri="{FF2B5EF4-FFF2-40B4-BE49-F238E27FC236}">
                <a16:creationId xmlns:a16="http://schemas.microsoft.com/office/drawing/2014/main" id="{2EAEFC43-D476-D2B1-1CF0-77117EDDDE9C}"/>
              </a:ext>
            </a:extLst>
          </p:cNvPr>
          <p:cNvCxnSpPr/>
          <p:nvPr/>
        </p:nvCxnSpPr>
        <p:spPr>
          <a:xfrm rot="5400000" flipH="1" flipV="1">
            <a:off x="5916794" y="4397322"/>
            <a:ext cx="2946474" cy="12700"/>
          </a:xfrm>
          <a:prstGeom prst="bentConnector3">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79" name="Connector: Elbow 78">
            <a:extLst>
              <a:ext uri="{FF2B5EF4-FFF2-40B4-BE49-F238E27FC236}">
                <a16:creationId xmlns:a16="http://schemas.microsoft.com/office/drawing/2014/main" id="{3DC86A1C-F275-71F1-AEF1-AE1A7D08DD09}"/>
              </a:ext>
            </a:extLst>
          </p:cNvPr>
          <p:cNvCxnSpPr>
            <a:endCxn id="19" idx="1"/>
          </p:cNvCxnSpPr>
          <p:nvPr/>
        </p:nvCxnSpPr>
        <p:spPr>
          <a:xfrm rot="5400000" flipH="1" flipV="1">
            <a:off x="7104572" y="4819976"/>
            <a:ext cx="1759599" cy="341569"/>
          </a:xfrm>
          <a:prstGeom prst="bentConnector2">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82" name="Connector: Elbow 81">
            <a:extLst>
              <a:ext uri="{FF2B5EF4-FFF2-40B4-BE49-F238E27FC236}">
                <a16:creationId xmlns:a16="http://schemas.microsoft.com/office/drawing/2014/main" id="{D68234E1-23B9-BACD-1E6E-ACC797FEAF3A}"/>
              </a:ext>
            </a:extLst>
          </p:cNvPr>
          <p:cNvCxnSpPr>
            <a:cxnSpLocks/>
          </p:cNvCxnSpPr>
          <p:nvPr/>
        </p:nvCxnSpPr>
        <p:spPr>
          <a:xfrm rot="5400000" flipH="1" flipV="1">
            <a:off x="6884408" y="4534341"/>
            <a:ext cx="2192185" cy="334252"/>
          </a:xfrm>
          <a:prstGeom prst="bentConnector3">
            <a:avLst>
              <a:gd name="adj1" fmla="val 99672"/>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92" name="Connector: Elbow 91">
            <a:extLst>
              <a:ext uri="{FF2B5EF4-FFF2-40B4-BE49-F238E27FC236}">
                <a16:creationId xmlns:a16="http://schemas.microsoft.com/office/drawing/2014/main" id="{B78A1601-F86C-8787-9E9E-64E2CD6B2B49}"/>
              </a:ext>
            </a:extLst>
          </p:cNvPr>
          <p:cNvCxnSpPr>
            <a:endCxn id="8" idx="1"/>
          </p:cNvCxnSpPr>
          <p:nvPr/>
        </p:nvCxnSpPr>
        <p:spPr>
          <a:xfrm rot="5400000" flipH="1" flipV="1">
            <a:off x="6687712" y="4332734"/>
            <a:ext cx="2590700" cy="338950"/>
          </a:xfrm>
          <a:prstGeom prst="bentConnector2">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02" name="Connector: Elbow 101">
            <a:extLst>
              <a:ext uri="{FF2B5EF4-FFF2-40B4-BE49-F238E27FC236}">
                <a16:creationId xmlns:a16="http://schemas.microsoft.com/office/drawing/2014/main" id="{34491EFB-EBDB-1AD4-D672-A37C5A985703}"/>
              </a:ext>
            </a:extLst>
          </p:cNvPr>
          <p:cNvCxnSpPr>
            <a:endCxn id="14" idx="1"/>
          </p:cNvCxnSpPr>
          <p:nvPr/>
        </p:nvCxnSpPr>
        <p:spPr>
          <a:xfrm rot="5400000" flipH="1" flipV="1">
            <a:off x="6463227" y="4108249"/>
            <a:ext cx="3039671" cy="338950"/>
          </a:xfrm>
          <a:prstGeom prst="bentConnector2">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04" name="Connector: Elbow 103">
            <a:extLst>
              <a:ext uri="{FF2B5EF4-FFF2-40B4-BE49-F238E27FC236}">
                <a16:creationId xmlns:a16="http://schemas.microsoft.com/office/drawing/2014/main" id="{C1DC72BA-59D1-B4DB-D45C-630F37B72C5D}"/>
              </a:ext>
            </a:extLst>
          </p:cNvPr>
          <p:cNvCxnSpPr>
            <a:stCxn id="72" idx="0"/>
            <a:endCxn id="91" idx="3"/>
          </p:cNvCxnSpPr>
          <p:nvPr/>
        </p:nvCxnSpPr>
        <p:spPr>
          <a:xfrm rot="16200000" flipV="1">
            <a:off x="4484957" y="3201040"/>
            <a:ext cx="3128699" cy="2210340"/>
          </a:xfrm>
          <a:prstGeom prst="bentConnector2">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06" name="Connector: Elbow 105">
            <a:extLst>
              <a:ext uri="{FF2B5EF4-FFF2-40B4-BE49-F238E27FC236}">
                <a16:creationId xmlns:a16="http://schemas.microsoft.com/office/drawing/2014/main" id="{2BACEC99-90DB-D830-D36A-2D9020410835}"/>
              </a:ext>
            </a:extLst>
          </p:cNvPr>
          <p:cNvCxnSpPr>
            <a:stCxn id="72" idx="0"/>
            <a:endCxn id="62" idx="3"/>
          </p:cNvCxnSpPr>
          <p:nvPr/>
        </p:nvCxnSpPr>
        <p:spPr>
          <a:xfrm rot="16200000" flipV="1">
            <a:off x="4716112" y="3432194"/>
            <a:ext cx="2659052" cy="2217677"/>
          </a:xfrm>
          <a:prstGeom prst="bentConnector2">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08" name="Connector: Elbow 107">
            <a:extLst>
              <a:ext uri="{FF2B5EF4-FFF2-40B4-BE49-F238E27FC236}">
                <a16:creationId xmlns:a16="http://schemas.microsoft.com/office/drawing/2014/main" id="{BC218E06-C9DB-F392-74DC-380466D45D4B}"/>
              </a:ext>
            </a:extLst>
          </p:cNvPr>
          <p:cNvCxnSpPr>
            <a:stCxn id="72" idx="0"/>
            <a:endCxn id="61" idx="3"/>
          </p:cNvCxnSpPr>
          <p:nvPr/>
        </p:nvCxnSpPr>
        <p:spPr>
          <a:xfrm rot="16200000" flipV="1">
            <a:off x="4948890" y="3664973"/>
            <a:ext cx="2190765" cy="2220408"/>
          </a:xfrm>
          <a:prstGeom prst="bentConnector2">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10" name="Connector: Elbow 109">
            <a:extLst>
              <a:ext uri="{FF2B5EF4-FFF2-40B4-BE49-F238E27FC236}">
                <a16:creationId xmlns:a16="http://schemas.microsoft.com/office/drawing/2014/main" id="{8A66B277-1DD7-E812-8C28-85255EA93093}"/>
              </a:ext>
            </a:extLst>
          </p:cNvPr>
          <p:cNvCxnSpPr>
            <a:stCxn id="72" idx="0"/>
            <a:endCxn id="136" idx="3"/>
          </p:cNvCxnSpPr>
          <p:nvPr/>
        </p:nvCxnSpPr>
        <p:spPr>
          <a:xfrm rot="16200000" flipV="1">
            <a:off x="5166955" y="3883038"/>
            <a:ext cx="1757581" cy="2217462"/>
          </a:xfrm>
          <a:prstGeom prst="bentConnector2">
            <a:avLst/>
          </a:prstGeom>
          <a:ln>
            <a:tailEnd type="triangle"/>
          </a:ln>
        </p:spPr>
        <p:style>
          <a:lnRef idx="2">
            <a:schemeClr val="accent5"/>
          </a:lnRef>
          <a:fillRef idx="0">
            <a:schemeClr val="accent5"/>
          </a:fillRef>
          <a:effectRef idx="1">
            <a:schemeClr val="accent5"/>
          </a:effectRef>
          <a:fontRef idx="minor">
            <a:schemeClr val="tx1"/>
          </a:fontRef>
        </p:style>
      </p:cxnSp>
    </p:spTree>
    <p:extLst>
      <p:ext uri="{BB962C8B-B14F-4D97-AF65-F5344CB8AC3E}">
        <p14:creationId xmlns:p14="http://schemas.microsoft.com/office/powerpoint/2010/main" val="17024317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E1C2D"/>
        </a:solidFill>
        <a:effectLst/>
      </p:bgPr>
    </p:bg>
    <p:spTree>
      <p:nvGrpSpPr>
        <p:cNvPr id="1" name="">
          <a:extLst>
            <a:ext uri="{FF2B5EF4-FFF2-40B4-BE49-F238E27FC236}">
              <a16:creationId xmlns:a16="http://schemas.microsoft.com/office/drawing/2014/main" id="{175A1668-A4FF-57D3-091E-02F0C0E2F479}"/>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D9C9FD51-016F-BA19-BA62-835DB7DBA1D6}"/>
              </a:ext>
            </a:extLst>
          </p:cNvPr>
          <p:cNvSpPr/>
          <p:nvPr/>
        </p:nvSpPr>
        <p:spPr>
          <a:xfrm>
            <a:off x="503403" y="1334840"/>
            <a:ext cx="2218513" cy="1071163"/>
          </a:xfrm>
          <a:prstGeom prst="roundRect">
            <a:avLst>
              <a:gd name="adj" fmla="val 15806"/>
            </a:avLst>
          </a:prstGeom>
          <a:no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BE49A744-C642-33E4-ABC2-5894C37EBFE8}"/>
              </a:ext>
            </a:extLst>
          </p:cNvPr>
          <p:cNvSpPr txBox="1"/>
          <p:nvPr/>
        </p:nvSpPr>
        <p:spPr>
          <a:xfrm>
            <a:off x="516531" y="677075"/>
            <a:ext cx="2514919" cy="553998"/>
          </a:xfrm>
          <a:prstGeom prst="rect">
            <a:avLst/>
          </a:prstGeom>
          <a:noFill/>
        </p:spPr>
        <p:txBody>
          <a:bodyPr wrap="none" rtlCol="0">
            <a:spAutoFit/>
          </a:bodyPr>
          <a:lstStyle/>
          <a:p>
            <a:r>
              <a:rPr lang="en-US" dirty="0">
                <a:solidFill>
                  <a:srgbClr val="E1E1E1"/>
                </a:solidFill>
              </a:rPr>
              <a:t>Project: </a:t>
            </a:r>
            <a:r>
              <a:rPr lang="en-US" dirty="0">
                <a:solidFill>
                  <a:srgbClr val="FFC300"/>
                </a:solidFill>
              </a:rPr>
              <a:t>{</a:t>
            </a:r>
            <a:r>
              <a:rPr lang="en-US" dirty="0" err="1">
                <a:solidFill>
                  <a:srgbClr val="FFC300"/>
                </a:solidFill>
              </a:rPr>
              <a:t>project_name</a:t>
            </a:r>
            <a:r>
              <a:rPr lang="en-US" dirty="0">
                <a:solidFill>
                  <a:srgbClr val="FFC300"/>
                </a:solidFill>
              </a:rPr>
              <a:t>}</a:t>
            </a:r>
          </a:p>
          <a:p>
            <a:r>
              <a:rPr lang="en-US" sz="1200" dirty="0">
                <a:solidFill>
                  <a:srgbClr val="8F97B7"/>
                </a:solidFill>
              </a:rPr>
              <a:t>Project ID: {</a:t>
            </a:r>
            <a:r>
              <a:rPr lang="en-US" sz="1200" dirty="0" err="1">
                <a:solidFill>
                  <a:srgbClr val="8F97B7"/>
                </a:solidFill>
              </a:rPr>
              <a:t>full_UUID</a:t>
            </a:r>
            <a:r>
              <a:rPr lang="en-US" sz="1200" dirty="0">
                <a:solidFill>
                  <a:srgbClr val="8F97B7"/>
                </a:solidFill>
              </a:rPr>
              <a:t>}</a:t>
            </a:r>
          </a:p>
        </p:txBody>
      </p:sp>
      <p:sp>
        <p:nvSpPr>
          <p:cNvPr id="3" name="Rectangle: Rounded Corners 2">
            <a:extLst>
              <a:ext uri="{FF2B5EF4-FFF2-40B4-BE49-F238E27FC236}">
                <a16:creationId xmlns:a16="http://schemas.microsoft.com/office/drawing/2014/main" id="{D9411311-162D-FC36-42EE-65A6E6C20DDF}"/>
              </a:ext>
            </a:extLst>
          </p:cNvPr>
          <p:cNvSpPr/>
          <p:nvPr/>
        </p:nvSpPr>
        <p:spPr>
          <a:xfrm>
            <a:off x="1643382" y="1342292"/>
            <a:ext cx="1805578" cy="969932"/>
          </a:xfrm>
          <a:prstGeom prst="roundRect">
            <a:avLst>
              <a:gd name="adj" fmla="val 17766"/>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EAC0146-DB01-4F7B-3100-2BA5A7049C66}"/>
              </a:ext>
            </a:extLst>
          </p:cNvPr>
          <p:cNvSpPr txBox="1"/>
          <p:nvPr/>
        </p:nvSpPr>
        <p:spPr>
          <a:xfrm>
            <a:off x="682981" y="1327205"/>
            <a:ext cx="929678" cy="369332"/>
          </a:xfrm>
          <a:prstGeom prst="rect">
            <a:avLst/>
          </a:prstGeom>
          <a:noFill/>
        </p:spPr>
        <p:txBody>
          <a:bodyPr wrap="none" rtlCol="0">
            <a:spAutoFit/>
          </a:bodyPr>
          <a:lstStyle/>
          <a:p>
            <a:r>
              <a:rPr lang="en-US" dirty="0">
                <a:solidFill>
                  <a:srgbClr val="1E3147"/>
                </a:solidFill>
              </a:rPr>
              <a:t>Launch</a:t>
            </a:r>
          </a:p>
        </p:txBody>
      </p:sp>
      <p:sp>
        <p:nvSpPr>
          <p:cNvPr id="6" name="Rectangle: Rounded Corners 5">
            <a:extLst>
              <a:ext uri="{FF2B5EF4-FFF2-40B4-BE49-F238E27FC236}">
                <a16:creationId xmlns:a16="http://schemas.microsoft.com/office/drawing/2014/main" id="{3FDB4BE4-BF68-87E1-6367-E2AA25DA89B8}"/>
              </a:ext>
            </a:extLst>
          </p:cNvPr>
          <p:cNvSpPr/>
          <p:nvPr/>
        </p:nvSpPr>
        <p:spPr>
          <a:xfrm>
            <a:off x="503403" y="1668256"/>
            <a:ext cx="11185191" cy="3476117"/>
          </a:xfrm>
          <a:prstGeom prst="roundRect">
            <a:avLst>
              <a:gd name="adj" fmla="val 5962"/>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1D970568-AAE9-AA0F-2AB2-42B0ACE77CAC}"/>
              </a:ext>
            </a:extLst>
          </p:cNvPr>
          <p:cNvSpPr/>
          <p:nvPr/>
        </p:nvSpPr>
        <p:spPr>
          <a:xfrm>
            <a:off x="1654808" y="1622562"/>
            <a:ext cx="1787171" cy="287650"/>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0FDCFC0A-0154-2FA9-D91A-B3B98284125C}"/>
              </a:ext>
            </a:extLst>
          </p:cNvPr>
          <p:cNvSpPr/>
          <p:nvPr/>
        </p:nvSpPr>
        <p:spPr>
          <a:xfrm>
            <a:off x="758606" y="2617315"/>
            <a:ext cx="293929" cy="306770"/>
          </a:xfrm>
          <a:prstGeom prst="ellipse">
            <a:avLst/>
          </a:prstGeom>
          <a:solidFill>
            <a:srgbClr val="A9866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575BB359-7215-FB82-8304-00B5D962C006}"/>
              </a:ext>
            </a:extLst>
          </p:cNvPr>
          <p:cNvSpPr txBox="1"/>
          <p:nvPr/>
        </p:nvSpPr>
        <p:spPr>
          <a:xfrm>
            <a:off x="1899316" y="1330953"/>
            <a:ext cx="1444177" cy="369332"/>
          </a:xfrm>
          <a:prstGeom prst="rect">
            <a:avLst/>
          </a:prstGeom>
          <a:noFill/>
        </p:spPr>
        <p:txBody>
          <a:bodyPr wrap="square" rtlCol="0">
            <a:spAutoFit/>
          </a:bodyPr>
          <a:lstStyle/>
          <a:p>
            <a:r>
              <a:rPr lang="en-US" dirty="0">
                <a:solidFill>
                  <a:srgbClr val="8F97B7"/>
                </a:solidFill>
              </a:rPr>
              <a:t>Implement</a:t>
            </a:r>
          </a:p>
        </p:txBody>
      </p:sp>
      <p:sp>
        <p:nvSpPr>
          <p:cNvPr id="24" name="TextBox 23">
            <a:extLst>
              <a:ext uri="{FF2B5EF4-FFF2-40B4-BE49-F238E27FC236}">
                <a16:creationId xmlns:a16="http://schemas.microsoft.com/office/drawing/2014/main" id="{997F8401-856B-BACC-3E53-50753B22F3A4}"/>
              </a:ext>
            </a:extLst>
          </p:cNvPr>
          <p:cNvSpPr txBox="1"/>
          <p:nvPr/>
        </p:nvSpPr>
        <p:spPr>
          <a:xfrm>
            <a:off x="738137" y="2624295"/>
            <a:ext cx="460382" cy="282316"/>
          </a:xfrm>
          <a:prstGeom prst="rect">
            <a:avLst/>
          </a:prstGeom>
          <a:noFill/>
        </p:spPr>
        <p:txBody>
          <a:bodyPr wrap="square" rtlCol="0">
            <a:spAutoFit/>
          </a:bodyPr>
          <a:lstStyle/>
          <a:p>
            <a:r>
              <a:rPr lang="en-US" sz="1200" b="1" dirty="0">
                <a:solidFill>
                  <a:srgbClr val="0E1C2D"/>
                </a:solidFill>
              </a:rPr>
              <a:t>Or</a:t>
            </a:r>
          </a:p>
        </p:txBody>
      </p:sp>
      <p:sp>
        <p:nvSpPr>
          <p:cNvPr id="27" name="TextBox 26">
            <a:extLst>
              <a:ext uri="{FF2B5EF4-FFF2-40B4-BE49-F238E27FC236}">
                <a16:creationId xmlns:a16="http://schemas.microsoft.com/office/drawing/2014/main" id="{5158D256-EA24-DE10-4FCA-E6006F6821C7}"/>
              </a:ext>
            </a:extLst>
          </p:cNvPr>
          <p:cNvSpPr txBox="1"/>
          <p:nvPr/>
        </p:nvSpPr>
        <p:spPr>
          <a:xfrm>
            <a:off x="1184559" y="2638386"/>
            <a:ext cx="965329" cy="261610"/>
          </a:xfrm>
          <a:prstGeom prst="rect">
            <a:avLst/>
          </a:prstGeom>
          <a:noFill/>
        </p:spPr>
        <p:txBody>
          <a:bodyPr wrap="none" rtlCol="0">
            <a:spAutoFit/>
          </a:bodyPr>
          <a:lstStyle/>
          <a:p>
            <a:r>
              <a:rPr lang="en-US" sz="1100" dirty="0">
                <a:solidFill>
                  <a:srgbClr val="E1E1E1"/>
                </a:solidFill>
              </a:rPr>
              <a:t>Orchestrator</a:t>
            </a:r>
          </a:p>
        </p:txBody>
      </p:sp>
      <p:pic>
        <p:nvPicPr>
          <p:cNvPr id="29" name="Graphic 28" descr="Information with solid fill">
            <a:extLst>
              <a:ext uri="{FF2B5EF4-FFF2-40B4-BE49-F238E27FC236}">
                <a16:creationId xmlns:a16="http://schemas.microsoft.com/office/drawing/2014/main" id="{1415E5C5-07D6-4FB0-65DF-FF7991E70A8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3975" y="2661152"/>
            <a:ext cx="193473" cy="193473"/>
          </a:xfrm>
          <a:prstGeom prst="rect">
            <a:avLst/>
          </a:prstGeom>
        </p:spPr>
      </p:pic>
      <p:sp>
        <p:nvSpPr>
          <p:cNvPr id="16" name="TextBox 15">
            <a:extLst>
              <a:ext uri="{FF2B5EF4-FFF2-40B4-BE49-F238E27FC236}">
                <a16:creationId xmlns:a16="http://schemas.microsoft.com/office/drawing/2014/main" id="{B12E720D-D10C-CFE3-C3F3-456781E7D10D}"/>
              </a:ext>
            </a:extLst>
          </p:cNvPr>
          <p:cNvSpPr txBox="1"/>
          <p:nvPr/>
        </p:nvSpPr>
        <p:spPr>
          <a:xfrm>
            <a:off x="1226477" y="3087372"/>
            <a:ext cx="705642" cy="261610"/>
          </a:xfrm>
          <a:prstGeom prst="rect">
            <a:avLst/>
          </a:prstGeom>
          <a:noFill/>
        </p:spPr>
        <p:txBody>
          <a:bodyPr wrap="none" rtlCol="0">
            <a:spAutoFit/>
          </a:bodyPr>
          <a:lstStyle>
            <a:defPPr>
              <a:defRPr lang="en-US"/>
            </a:defPPr>
            <a:lvl1pPr>
              <a:defRPr sz="1100">
                <a:solidFill>
                  <a:srgbClr val="E1E1E1"/>
                </a:solidFill>
              </a:defRPr>
            </a:lvl1pPr>
          </a:lstStyle>
          <a:p>
            <a:r>
              <a:rPr lang="en-US" dirty="0"/>
              <a:t>Analyzer</a:t>
            </a:r>
          </a:p>
        </p:txBody>
      </p:sp>
      <p:cxnSp>
        <p:nvCxnSpPr>
          <p:cNvPr id="75" name="Straight Connector 74">
            <a:extLst>
              <a:ext uri="{FF2B5EF4-FFF2-40B4-BE49-F238E27FC236}">
                <a16:creationId xmlns:a16="http://schemas.microsoft.com/office/drawing/2014/main" id="{338999FD-6710-B2D3-F115-4054A913B79D}"/>
              </a:ext>
            </a:extLst>
          </p:cNvPr>
          <p:cNvCxnSpPr>
            <a:cxnSpLocks/>
          </p:cNvCxnSpPr>
          <p:nvPr/>
        </p:nvCxnSpPr>
        <p:spPr>
          <a:xfrm>
            <a:off x="652293" y="2505875"/>
            <a:ext cx="10203544" cy="6404"/>
          </a:xfrm>
          <a:prstGeom prst="line">
            <a:avLst/>
          </a:prstGeom>
          <a:ln>
            <a:solidFill>
              <a:srgbClr val="1E3147"/>
            </a:solidFill>
          </a:ln>
        </p:spPr>
        <p:style>
          <a:lnRef idx="2">
            <a:schemeClr val="accent1"/>
          </a:lnRef>
          <a:fillRef idx="0">
            <a:schemeClr val="accent1"/>
          </a:fillRef>
          <a:effectRef idx="1">
            <a:schemeClr val="accent1"/>
          </a:effectRef>
          <a:fontRef idx="minor">
            <a:schemeClr val="tx1"/>
          </a:fontRef>
        </p:style>
      </p:cxnSp>
      <p:sp>
        <p:nvSpPr>
          <p:cNvPr id="77" name="TextBox 76">
            <a:extLst>
              <a:ext uri="{FF2B5EF4-FFF2-40B4-BE49-F238E27FC236}">
                <a16:creationId xmlns:a16="http://schemas.microsoft.com/office/drawing/2014/main" id="{F8989FF2-543F-2C85-3279-44E3FB8C1375}"/>
              </a:ext>
            </a:extLst>
          </p:cNvPr>
          <p:cNvSpPr txBox="1"/>
          <p:nvPr/>
        </p:nvSpPr>
        <p:spPr>
          <a:xfrm>
            <a:off x="1274326" y="2217384"/>
            <a:ext cx="785793" cy="246221"/>
          </a:xfrm>
          <a:prstGeom prst="rect">
            <a:avLst/>
          </a:prstGeom>
          <a:noFill/>
        </p:spPr>
        <p:txBody>
          <a:bodyPr wrap="none" rtlCol="0">
            <a:spAutoFit/>
          </a:bodyPr>
          <a:lstStyle/>
          <a:p>
            <a:pPr algn="ctr"/>
            <a:r>
              <a:rPr lang="en-US" sz="1000" dirty="0">
                <a:solidFill>
                  <a:srgbClr val="E1E1E1"/>
                </a:solidFill>
              </a:rPr>
              <a:t>Agent Type</a:t>
            </a:r>
          </a:p>
        </p:txBody>
      </p:sp>
      <p:sp>
        <p:nvSpPr>
          <p:cNvPr id="78" name="TextBox 77">
            <a:extLst>
              <a:ext uri="{FF2B5EF4-FFF2-40B4-BE49-F238E27FC236}">
                <a16:creationId xmlns:a16="http://schemas.microsoft.com/office/drawing/2014/main" id="{F7202D01-A9C8-897F-8E0D-95E109BCBA90}"/>
              </a:ext>
            </a:extLst>
          </p:cNvPr>
          <p:cNvSpPr txBox="1"/>
          <p:nvPr/>
        </p:nvSpPr>
        <p:spPr>
          <a:xfrm>
            <a:off x="662149" y="1838089"/>
            <a:ext cx="1202573" cy="246221"/>
          </a:xfrm>
          <a:prstGeom prst="rect">
            <a:avLst/>
          </a:prstGeom>
          <a:noFill/>
        </p:spPr>
        <p:txBody>
          <a:bodyPr wrap="none" rtlCol="0">
            <a:spAutoFit/>
          </a:bodyPr>
          <a:lstStyle/>
          <a:p>
            <a:r>
              <a:rPr lang="en-US" sz="1000" dirty="0">
                <a:solidFill>
                  <a:srgbClr val="E1E1E1"/>
                </a:solidFill>
              </a:rPr>
              <a:t>Claude Subagents</a:t>
            </a:r>
          </a:p>
        </p:txBody>
      </p:sp>
      <p:sp>
        <p:nvSpPr>
          <p:cNvPr id="80" name="Rectangle: Rounded Corners 79">
            <a:extLst>
              <a:ext uri="{FF2B5EF4-FFF2-40B4-BE49-F238E27FC236}">
                <a16:creationId xmlns:a16="http://schemas.microsoft.com/office/drawing/2014/main" id="{4BBE5962-883C-73BC-E868-982FF8CE66C4}"/>
              </a:ext>
            </a:extLst>
          </p:cNvPr>
          <p:cNvSpPr/>
          <p:nvPr/>
        </p:nvSpPr>
        <p:spPr>
          <a:xfrm>
            <a:off x="1813390" y="1884175"/>
            <a:ext cx="336498" cy="182696"/>
          </a:xfrm>
          <a:prstGeom prst="roundRect">
            <a:avLst>
              <a:gd name="adj" fmla="val 50000"/>
            </a:avLst>
          </a:prstGeom>
          <a:solidFill>
            <a:srgbClr val="0E1C2D"/>
          </a:solid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a:extLst>
              <a:ext uri="{FF2B5EF4-FFF2-40B4-BE49-F238E27FC236}">
                <a16:creationId xmlns:a16="http://schemas.microsoft.com/office/drawing/2014/main" id="{7BB268E6-491C-F7A0-0D09-F759FF566FF2}"/>
              </a:ext>
            </a:extLst>
          </p:cNvPr>
          <p:cNvSpPr/>
          <p:nvPr/>
        </p:nvSpPr>
        <p:spPr>
          <a:xfrm>
            <a:off x="1962999" y="1883047"/>
            <a:ext cx="174503" cy="184050"/>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a:extLst>
              <a:ext uri="{FF2B5EF4-FFF2-40B4-BE49-F238E27FC236}">
                <a16:creationId xmlns:a16="http://schemas.microsoft.com/office/drawing/2014/main" id="{BF74D5D3-5BB5-047F-48C3-0FAF3996CAB4}"/>
              </a:ext>
            </a:extLst>
          </p:cNvPr>
          <p:cNvSpPr/>
          <p:nvPr/>
        </p:nvSpPr>
        <p:spPr>
          <a:xfrm>
            <a:off x="758606" y="3066408"/>
            <a:ext cx="293929" cy="306770"/>
          </a:xfrm>
          <a:prstGeom prst="ellipse">
            <a:avLst/>
          </a:prstGeom>
          <a:solidFill>
            <a:srgbClr val="A32A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00076E6C-CEDD-E1DB-AE59-7811B77FB6B6}"/>
              </a:ext>
            </a:extLst>
          </p:cNvPr>
          <p:cNvSpPr/>
          <p:nvPr/>
        </p:nvSpPr>
        <p:spPr>
          <a:xfrm>
            <a:off x="758606" y="3513494"/>
            <a:ext cx="293929" cy="306770"/>
          </a:xfrm>
          <a:prstGeom prst="ellipse">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6A642CB3-4FB5-859E-2B53-2B14CBA80C91}"/>
              </a:ext>
            </a:extLst>
          </p:cNvPr>
          <p:cNvSpPr/>
          <p:nvPr/>
        </p:nvSpPr>
        <p:spPr>
          <a:xfrm>
            <a:off x="758606" y="3970226"/>
            <a:ext cx="293929" cy="306770"/>
          </a:xfrm>
          <a:prstGeom prst="ellipse">
            <a:avLst/>
          </a:prstGeom>
          <a:solidFill>
            <a:srgbClr val="FFC3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TextBox 88">
            <a:extLst>
              <a:ext uri="{FF2B5EF4-FFF2-40B4-BE49-F238E27FC236}">
                <a16:creationId xmlns:a16="http://schemas.microsoft.com/office/drawing/2014/main" id="{35D019D0-D285-7039-777C-078C5787F15C}"/>
              </a:ext>
            </a:extLst>
          </p:cNvPr>
          <p:cNvSpPr txBox="1"/>
          <p:nvPr/>
        </p:nvSpPr>
        <p:spPr>
          <a:xfrm>
            <a:off x="1226477" y="3532367"/>
            <a:ext cx="970137" cy="261610"/>
          </a:xfrm>
          <a:prstGeom prst="rect">
            <a:avLst/>
          </a:prstGeom>
          <a:noFill/>
        </p:spPr>
        <p:txBody>
          <a:bodyPr wrap="none" rtlCol="0">
            <a:spAutoFit/>
          </a:bodyPr>
          <a:lstStyle>
            <a:defPPr>
              <a:defRPr lang="en-US"/>
            </a:defPPr>
            <a:lvl1pPr>
              <a:defRPr sz="1100">
                <a:solidFill>
                  <a:srgbClr val="E1E1E1"/>
                </a:solidFill>
              </a:defRPr>
            </a:lvl1pPr>
          </a:lstStyle>
          <a:p>
            <a:r>
              <a:rPr lang="en-US" dirty="0"/>
              <a:t>Implementor</a:t>
            </a:r>
          </a:p>
        </p:txBody>
      </p:sp>
      <p:sp>
        <p:nvSpPr>
          <p:cNvPr id="90" name="TextBox 89">
            <a:extLst>
              <a:ext uri="{FF2B5EF4-FFF2-40B4-BE49-F238E27FC236}">
                <a16:creationId xmlns:a16="http://schemas.microsoft.com/office/drawing/2014/main" id="{B0FB2750-0BFE-5B25-B1F1-4F0E72890429}"/>
              </a:ext>
            </a:extLst>
          </p:cNvPr>
          <p:cNvSpPr txBox="1"/>
          <p:nvPr/>
        </p:nvSpPr>
        <p:spPr>
          <a:xfrm>
            <a:off x="1245503" y="3998201"/>
            <a:ext cx="559769" cy="261610"/>
          </a:xfrm>
          <a:prstGeom prst="rect">
            <a:avLst/>
          </a:prstGeom>
          <a:noFill/>
        </p:spPr>
        <p:txBody>
          <a:bodyPr wrap="none" rtlCol="0">
            <a:spAutoFit/>
          </a:bodyPr>
          <a:lstStyle>
            <a:defPPr>
              <a:defRPr lang="en-US"/>
            </a:defPPr>
            <a:lvl1pPr>
              <a:defRPr sz="1100">
                <a:solidFill>
                  <a:srgbClr val="E1E1E1"/>
                </a:solidFill>
              </a:defRPr>
            </a:lvl1pPr>
          </a:lstStyle>
          <a:p>
            <a:r>
              <a:rPr lang="en-US" dirty="0"/>
              <a:t>Tester</a:t>
            </a:r>
          </a:p>
        </p:txBody>
      </p:sp>
      <p:sp>
        <p:nvSpPr>
          <p:cNvPr id="91" name="TextBox 90">
            <a:extLst>
              <a:ext uri="{FF2B5EF4-FFF2-40B4-BE49-F238E27FC236}">
                <a16:creationId xmlns:a16="http://schemas.microsoft.com/office/drawing/2014/main" id="{EB6025CC-C3BB-A832-47AB-675ED4461B68}"/>
              </a:ext>
            </a:extLst>
          </p:cNvPr>
          <p:cNvSpPr txBox="1"/>
          <p:nvPr/>
        </p:nvSpPr>
        <p:spPr>
          <a:xfrm>
            <a:off x="4260936" y="2611055"/>
            <a:ext cx="683200" cy="261610"/>
          </a:xfrm>
          <a:prstGeom prst="rect">
            <a:avLst/>
          </a:prstGeom>
          <a:noFill/>
        </p:spPr>
        <p:txBody>
          <a:bodyPr wrap="none" rtlCol="0">
            <a:spAutoFit/>
          </a:bodyPr>
          <a:lstStyle/>
          <a:p>
            <a:r>
              <a:rPr lang="en-US" sz="1100" i="1" dirty="0">
                <a:solidFill>
                  <a:srgbClr val="FFC000"/>
                </a:solidFill>
              </a:rPr>
              <a:t>Waiting.</a:t>
            </a:r>
          </a:p>
        </p:txBody>
      </p:sp>
      <p:pic>
        <p:nvPicPr>
          <p:cNvPr id="93" name="Graphic 92" descr="Information with solid fill">
            <a:extLst>
              <a:ext uri="{FF2B5EF4-FFF2-40B4-BE49-F238E27FC236}">
                <a16:creationId xmlns:a16="http://schemas.microsoft.com/office/drawing/2014/main" id="{B7E770A9-31FE-05FC-275D-F20E7F34793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2365" y="3102069"/>
            <a:ext cx="193473" cy="193473"/>
          </a:xfrm>
          <a:prstGeom prst="rect">
            <a:avLst/>
          </a:prstGeom>
        </p:spPr>
      </p:pic>
      <p:pic>
        <p:nvPicPr>
          <p:cNvPr id="94" name="Graphic 93" descr="Information with solid fill">
            <a:extLst>
              <a:ext uri="{FF2B5EF4-FFF2-40B4-BE49-F238E27FC236}">
                <a16:creationId xmlns:a16="http://schemas.microsoft.com/office/drawing/2014/main" id="{91901FAF-5161-D3E9-ED3E-B323C3B2D5B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2365" y="3553624"/>
            <a:ext cx="193473" cy="193473"/>
          </a:xfrm>
          <a:prstGeom prst="rect">
            <a:avLst/>
          </a:prstGeom>
        </p:spPr>
      </p:pic>
      <p:pic>
        <p:nvPicPr>
          <p:cNvPr id="95" name="Graphic 94" descr="Information with solid fill">
            <a:extLst>
              <a:ext uri="{FF2B5EF4-FFF2-40B4-BE49-F238E27FC236}">
                <a16:creationId xmlns:a16="http://schemas.microsoft.com/office/drawing/2014/main" id="{184F4ABD-3152-DADA-269A-FCC2814796E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2364" y="4014063"/>
            <a:ext cx="193473" cy="193473"/>
          </a:xfrm>
          <a:prstGeom prst="rect">
            <a:avLst/>
          </a:prstGeom>
        </p:spPr>
      </p:pic>
      <p:sp>
        <p:nvSpPr>
          <p:cNvPr id="96" name="TextBox 95">
            <a:extLst>
              <a:ext uri="{FF2B5EF4-FFF2-40B4-BE49-F238E27FC236}">
                <a16:creationId xmlns:a16="http://schemas.microsoft.com/office/drawing/2014/main" id="{48950412-5FF5-42AD-455D-7105D9A8FE0C}"/>
              </a:ext>
            </a:extLst>
          </p:cNvPr>
          <p:cNvSpPr txBox="1"/>
          <p:nvPr/>
        </p:nvSpPr>
        <p:spPr>
          <a:xfrm>
            <a:off x="729726" y="3076054"/>
            <a:ext cx="460382" cy="282316"/>
          </a:xfrm>
          <a:prstGeom prst="rect">
            <a:avLst/>
          </a:prstGeom>
          <a:noFill/>
        </p:spPr>
        <p:txBody>
          <a:bodyPr wrap="square" rtlCol="0">
            <a:spAutoFit/>
          </a:bodyPr>
          <a:lstStyle/>
          <a:p>
            <a:r>
              <a:rPr lang="en-US" sz="1200" b="1" dirty="0">
                <a:solidFill>
                  <a:srgbClr val="0E1C2D"/>
                </a:solidFill>
              </a:rPr>
              <a:t>An</a:t>
            </a:r>
          </a:p>
        </p:txBody>
      </p:sp>
      <p:sp>
        <p:nvSpPr>
          <p:cNvPr id="97" name="TextBox 96">
            <a:extLst>
              <a:ext uri="{FF2B5EF4-FFF2-40B4-BE49-F238E27FC236}">
                <a16:creationId xmlns:a16="http://schemas.microsoft.com/office/drawing/2014/main" id="{C9877FF5-070B-643F-BF94-99D49502D811}"/>
              </a:ext>
            </a:extLst>
          </p:cNvPr>
          <p:cNvSpPr txBox="1"/>
          <p:nvPr/>
        </p:nvSpPr>
        <p:spPr>
          <a:xfrm>
            <a:off x="736070" y="3523140"/>
            <a:ext cx="460382" cy="282316"/>
          </a:xfrm>
          <a:prstGeom prst="rect">
            <a:avLst/>
          </a:prstGeom>
          <a:noFill/>
        </p:spPr>
        <p:txBody>
          <a:bodyPr wrap="square" rtlCol="0">
            <a:spAutoFit/>
          </a:bodyPr>
          <a:lstStyle/>
          <a:p>
            <a:r>
              <a:rPr lang="en-US" sz="1200" b="1" dirty="0" err="1">
                <a:solidFill>
                  <a:srgbClr val="0E1C2D"/>
                </a:solidFill>
              </a:rPr>
              <a:t>Im</a:t>
            </a:r>
            <a:endParaRPr lang="en-US" sz="1200" b="1" dirty="0">
              <a:solidFill>
                <a:srgbClr val="0E1C2D"/>
              </a:solidFill>
            </a:endParaRPr>
          </a:p>
        </p:txBody>
      </p:sp>
      <p:sp>
        <p:nvSpPr>
          <p:cNvPr id="98" name="TextBox 97">
            <a:extLst>
              <a:ext uri="{FF2B5EF4-FFF2-40B4-BE49-F238E27FC236}">
                <a16:creationId xmlns:a16="http://schemas.microsoft.com/office/drawing/2014/main" id="{D2DD87FF-2458-8720-7140-D3D523DB681F}"/>
              </a:ext>
            </a:extLst>
          </p:cNvPr>
          <p:cNvSpPr txBox="1"/>
          <p:nvPr/>
        </p:nvSpPr>
        <p:spPr>
          <a:xfrm>
            <a:off x="736070" y="3989707"/>
            <a:ext cx="460382" cy="282316"/>
          </a:xfrm>
          <a:prstGeom prst="rect">
            <a:avLst/>
          </a:prstGeom>
          <a:noFill/>
        </p:spPr>
        <p:txBody>
          <a:bodyPr wrap="square" rtlCol="0">
            <a:spAutoFit/>
          </a:bodyPr>
          <a:lstStyle/>
          <a:p>
            <a:r>
              <a:rPr lang="en-US" sz="1200" b="1" dirty="0" err="1">
                <a:solidFill>
                  <a:srgbClr val="0E1C2D"/>
                </a:solidFill>
              </a:rPr>
              <a:t>Te</a:t>
            </a:r>
            <a:endParaRPr lang="en-US" sz="1200" b="1" dirty="0">
              <a:solidFill>
                <a:srgbClr val="0E1C2D"/>
              </a:solidFill>
            </a:endParaRPr>
          </a:p>
        </p:txBody>
      </p:sp>
      <p:sp>
        <p:nvSpPr>
          <p:cNvPr id="99" name="TextBox 98">
            <a:extLst>
              <a:ext uri="{FF2B5EF4-FFF2-40B4-BE49-F238E27FC236}">
                <a16:creationId xmlns:a16="http://schemas.microsoft.com/office/drawing/2014/main" id="{54430F8A-20C3-E597-E013-72B698ACCC32}"/>
              </a:ext>
            </a:extLst>
          </p:cNvPr>
          <p:cNvSpPr txBox="1"/>
          <p:nvPr/>
        </p:nvSpPr>
        <p:spPr>
          <a:xfrm>
            <a:off x="4193614" y="2214394"/>
            <a:ext cx="886781" cy="246221"/>
          </a:xfrm>
          <a:prstGeom prst="rect">
            <a:avLst/>
          </a:prstGeom>
          <a:noFill/>
        </p:spPr>
        <p:txBody>
          <a:bodyPr wrap="none" rtlCol="0">
            <a:spAutoFit/>
          </a:bodyPr>
          <a:lstStyle/>
          <a:p>
            <a:pPr algn="ctr"/>
            <a:r>
              <a:rPr lang="en-US" sz="1000" dirty="0">
                <a:solidFill>
                  <a:srgbClr val="E1E1E1"/>
                </a:solidFill>
              </a:rPr>
              <a:t>Agent Status</a:t>
            </a:r>
          </a:p>
        </p:txBody>
      </p:sp>
      <p:sp>
        <p:nvSpPr>
          <p:cNvPr id="100" name="TextBox 99">
            <a:extLst>
              <a:ext uri="{FF2B5EF4-FFF2-40B4-BE49-F238E27FC236}">
                <a16:creationId xmlns:a16="http://schemas.microsoft.com/office/drawing/2014/main" id="{58D5A100-59CB-8505-05C0-6270406B0B5F}"/>
              </a:ext>
            </a:extLst>
          </p:cNvPr>
          <p:cNvSpPr txBox="1"/>
          <p:nvPr/>
        </p:nvSpPr>
        <p:spPr>
          <a:xfrm>
            <a:off x="7929117" y="2092323"/>
            <a:ext cx="772505" cy="400110"/>
          </a:xfrm>
          <a:prstGeom prst="rect">
            <a:avLst/>
          </a:prstGeom>
          <a:noFill/>
        </p:spPr>
        <p:txBody>
          <a:bodyPr wrap="square" rtlCol="0">
            <a:spAutoFit/>
          </a:bodyPr>
          <a:lstStyle/>
          <a:p>
            <a:pPr algn="ctr"/>
            <a:r>
              <a:rPr lang="en-US" sz="1000" dirty="0">
                <a:solidFill>
                  <a:srgbClr val="E1E1E1"/>
                </a:solidFill>
              </a:rPr>
              <a:t>Messages waiting</a:t>
            </a:r>
          </a:p>
        </p:txBody>
      </p:sp>
      <p:sp>
        <p:nvSpPr>
          <p:cNvPr id="114" name="TextBox 113">
            <a:extLst>
              <a:ext uri="{FF2B5EF4-FFF2-40B4-BE49-F238E27FC236}">
                <a16:creationId xmlns:a16="http://schemas.microsoft.com/office/drawing/2014/main" id="{6D1E274D-CF32-1A8E-70E4-071F3D08955C}"/>
              </a:ext>
            </a:extLst>
          </p:cNvPr>
          <p:cNvSpPr txBox="1"/>
          <p:nvPr/>
        </p:nvSpPr>
        <p:spPr>
          <a:xfrm>
            <a:off x="7041082" y="2099303"/>
            <a:ext cx="772505" cy="400110"/>
          </a:xfrm>
          <a:prstGeom prst="rect">
            <a:avLst/>
          </a:prstGeom>
          <a:noFill/>
        </p:spPr>
        <p:txBody>
          <a:bodyPr wrap="square" rtlCol="0">
            <a:spAutoFit/>
          </a:bodyPr>
          <a:lstStyle/>
          <a:p>
            <a:pPr algn="ctr"/>
            <a:r>
              <a:rPr lang="en-US" sz="1000" dirty="0">
                <a:solidFill>
                  <a:srgbClr val="E1E1E1"/>
                </a:solidFill>
              </a:rPr>
              <a:t>Messages</a:t>
            </a:r>
          </a:p>
          <a:p>
            <a:pPr algn="ctr"/>
            <a:r>
              <a:rPr lang="en-US" sz="1000" dirty="0">
                <a:solidFill>
                  <a:srgbClr val="E1E1E1"/>
                </a:solidFill>
              </a:rPr>
              <a:t>Sent</a:t>
            </a:r>
          </a:p>
        </p:txBody>
      </p:sp>
      <p:sp>
        <p:nvSpPr>
          <p:cNvPr id="115" name="TextBox 114">
            <a:extLst>
              <a:ext uri="{FF2B5EF4-FFF2-40B4-BE49-F238E27FC236}">
                <a16:creationId xmlns:a16="http://schemas.microsoft.com/office/drawing/2014/main" id="{DC91F5EC-06DF-055A-E365-881793E6B34E}"/>
              </a:ext>
            </a:extLst>
          </p:cNvPr>
          <p:cNvSpPr txBox="1"/>
          <p:nvPr/>
        </p:nvSpPr>
        <p:spPr>
          <a:xfrm>
            <a:off x="8932682" y="2112169"/>
            <a:ext cx="751053" cy="400110"/>
          </a:xfrm>
          <a:prstGeom prst="rect">
            <a:avLst/>
          </a:prstGeom>
          <a:noFill/>
        </p:spPr>
        <p:txBody>
          <a:bodyPr wrap="square" rtlCol="0">
            <a:spAutoFit/>
          </a:bodyPr>
          <a:lstStyle/>
          <a:p>
            <a:pPr algn="ctr"/>
            <a:r>
              <a:rPr lang="en-US" sz="1000" dirty="0">
                <a:solidFill>
                  <a:srgbClr val="E1E1E1"/>
                </a:solidFill>
              </a:rPr>
              <a:t>Messages Read</a:t>
            </a:r>
          </a:p>
        </p:txBody>
      </p:sp>
      <p:pic>
        <p:nvPicPr>
          <p:cNvPr id="117" name="Graphic 116" descr="Chat with solid fill">
            <a:extLst>
              <a:ext uri="{FF2B5EF4-FFF2-40B4-BE49-F238E27FC236}">
                <a16:creationId xmlns:a16="http://schemas.microsoft.com/office/drawing/2014/main" id="{B95B7DDA-3E8A-0A43-A316-6A73EE904EA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305301" y="2637658"/>
            <a:ext cx="261610" cy="261610"/>
          </a:xfrm>
          <a:prstGeom prst="rect">
            <a:avLst/>
          </a:prstGeom>
        </p:spPr>
      </p:pic>
      <p:pic>
        <p:nvPicPr>
          <p:cNvPr id="118" name="Graphic 117" descr="Chat with solid fill">
            <a:extLst>
              <a:ext uri="{FF2B5EF4-FFF2-40B4-BE49-F238E27FC236}">
                <a16:creationId xmlns:a16="http://schemas.microsoft.com/office/drawing/2014/main" id="{8EDC4D3C-033C-5ECE-B9DC-C8C35A1E793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297189" y="3068000"/>
            <a:ext cx="261610" cy="261610"/>
          </a:xfrm>
          <a:prstGeom prst="rect">
            <a:avLst/>
          </a:prstGeom>
        </p:spPr>
      </p:pic>
      <p:pic>
        <p:nvPicPr>
          <p:cNvPr id="119" name="Graphic 118" descr="Chat with solid fill">
            <a:extLst>
              <a:ext uri="{FF2B5EF4-FFF2-40B4-BE49-F238E27FC236}">
                <a16:creationId xmlns:a16="http://schemas.microsoft.com/office/drawing/2014/main" id="{C5515CA1-6F51-AD8F-F2BB-DB497E183C8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297189" y="3527404"/>
            <a:ext cx="261610" cy="261610"/>
          </a:xfrm>
          <a:prstGeom prst="rect">
            <a:avLst/>
          </a:prstGeom>
        </p:spPr>
      </p:pic>
      <p:pic>
        <p:nvPicPr>
          <p:cNvPr id="120" name="Graphic 119" descr="Chat with solid fill">
            <a:extLst>
              <a:ext uri="{FF2B5EF4-FFF2-40B4-BE49-F238E27FC236}">
                <a16:creationId xmlns:a16="http://schemas.microsoft.com/office/drawing/2014/main" id="{29AA1D27-A99A-6B39-A502-FD62574AABE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310562" y="3991625"/>
            <a:ext cx="261610" cy="261610"/>
          </a:xfrm>
          <a:prstGeom prst="rect">
            <a:avLst/>
          </a:prstGeom>
        </p:spPr>
      </p:pic>
      <p:sp>
        <p:nvSpPr>
          <p:cNvPr id="136" name="TextBox 135">
            <a:extLst>
              <a:ext uri="{FF2B5EF4-FFF2-40B4-BE49-F238E27FC236}">
                <a16:creationId xmlns:a16="http://schemas.microsoft.com/office/drawing/2014/main" id="{A90F5A3F-910B-D5A3-3750-295766984960}"/>
              </a:ext>
            </a:extLst>
          </p:cNvPr>
          <p:cNvSpPr txBox="1"/>
          <p:nvPr/>
        </p:nvSpPr>
        <p:spPr>
          <a:xfrm>
            <a:off x="4253814" y="3982173"/>
            <a:ext cx="683200" cy="261610"/>
          </a:xfrm>
          <a:prstGeom prst="rect">
            <a:avLst/>
          </a:prstGeom>
          <a:noFill/>
        </p:spPr>
        <p:txBody>
          <a:bodyPr wrap="none" rtlCol="0">
            <a:spAutoFit/>
          </a:bodyPr>
          <a:lstStyle/>
          <a:p>
            <a:r>
              <a:rPr lang="en-US" sz="1100" i="1" dirty="0">
                <a:solidFill>
                  <a:srgbClr val="FFC000"/>
                </a:solidFill>
              </a:rPr>
              <a:t>Waiting.</a:t>
            </a:r>
          </a:p>
        </p:txBody>
      </p:sp>
      <p:pic>
        <p:nvPicPr>
          <p:cNvPr id="137" name="Graphic 136" descr="Play with solid fill">
            <a:extLst>
              <a:ext uri="{FF2B5EF4-FFF2-40B4-BE49-F238E27FC236}">
                <a16:creationId xmlns:a16="http://schemas.microsoft.com/office/drawing/2014/main" id="{E4831D9A-CCA1-7B0E-E0DC-8B310888D50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00374" y="3545730"/>
            <a:ext cx="193474" cy="193474"/>
          </a:xfrm>
          <a:prstGeom prst="rect">
            <a:avLst/>
          </a:prstGeom>
        </p:spPr>
      </p:pic>
      <p:pic>
        <p:nvPicPr>
          <p:cNvPr id="138" name="Graphic 137" descr="Play with solid fill">
            <a:extLst>
              <a:ext uri="{FF2B5EF4-FFF2-40B4-BE49-F238E27FC236}">
                <a16:creationId xmlns:a16="http://schemas.microsoft.com/office/drawing/2014/main" id="{2D0114E3-9527-8835-044B-3A1A9A0E08D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02983" y="4004988"/>
            <a:ext cx="193474" cy="193474"/>
          </a:xfrm>
          <a:prstGeom prst="rect">
            <a:avLst/>
          </a:prstGeom>
        </p:spPr>
      </p:pic>
      <p:sp>
        <p:nvSpPr>
          <p:cNvPr id="14" name="TextBox 13">
            <a:extLst>
              <a:ext uri="{FF2B5EF4-FFF2-40B4-BE49-F238E27FC236}">
                <a16:creationId xmlns:a16="http://schemas.microsoft.com/office/drawing/2014/main" id="{025DEB70-CF3F-763B-32B5-264837F4C0CF}"/>
              </a:ext>
            </a:extLst>
          </p:cNvPr>
          <p:cNvSpPr txBox="1"/>
          <p:nvPr/>
        </p:nvSpPr>
        <p:spPr>
          <a:xfrm>
            <a:off x="8152537" y="2627083"/>
            <a:ext cx="260008" cy="261610"/>
          </a:xfrm>
          <a:prstGeom prst="rect">
            <a:avLst/>
          </a:prstGeom>
          <a:noFill/>
        </p:spPr>
        <p:txBody>
          <a:bodyPr wrap="square" rtlCol="0">
            <a:spAutoFit/>
          </a:bodyPr>
          <a:lstStyle/>
          <a:p>
            <a:r>
              <a:rPr lang="en-US" sz="1100" dirty="0">
                <a:solidFill>
                  <a:srgbClr val="E1E1E1"/>
                </a:solidFill>
              </a:rPr>
              <a:t>1</a:t>
            </a:r>
          </a:p>
        </p:txBody>
      </p:sp>
      <p:sp>
        <p:nvSpPr>
          <p:cNvPr id="19" name="TextBox 18">
            <a:extLst>
              <a:ext uri="{FF2B5EF4-FFF2-40B4-BE49-F238E27FC236}">
                <a16:creationId xmlns:a16="http://schemas.microsoft.com/office/drawing/2014/main" id="{18C14B4C-5D1C-EFE9-9B97-1BC274B55362}"/>
              </a:ext>
            </a:extLst>
          </p:cNvPr>
          <p:cNvSpPr txBox="1"/>
          <p:nvPr/>
        </p:nvSpPr>
        <p:spPr>
          <a:xfrm>
            <a:off x="8155156" y="3980155"/>
            <a:ext cx="260008" cy="261610"/>
          </a:xfrm>
          <a:prstGeom prst="rect">
            <a:avLst/>
          </a:prstGeom>
          <a:noFill/>
        </p:spPr>
        <p:txBody>
          <a:bodyPr wrap="square" rtlCol="0">
            <a:spAutoFit/>
          </a:bodyPr>
          <a:lstStyle/>
          <a:p>
            <a:r>
              <a:rPr lang="en-US" sz="1100" dirty="0">
                <a:solidFill>
                  <a:srgbClr val="E1E1E1"/>
                </a:solidFill>
              </a:rPr>
              <a:t>1</a:t>
            </a:r>
          </a:p>
        </p:txBody>
      </p:sp>
      <p:sp>
        <p:nvSpPr>
          <p:cNvPr id="20" name="TextBox 19">
            <a:extLst>
              <a:ext uri="{FF2B5EF4-FFF2-40B4-BE49-F238E27FC236}">
                <a16:creationId xmlns:a16="http://schemas.microsoft.com/office/drawing/2014/main" id="{9EEEECCC-E155-BC4D-2FC6-498B4C4FE7BB}"/>
              </a:ext>
            </a:extLst>
          </p:cNvPr>
          <p:cNvSpPr txBox="1"/>
          <p:nvPr/>
        </p:nvSpPr>
        <p:spPr>
          <a:xfrm>
            <a:off x="8155156" y="3496213"/>
            <a:ext cx="260008" cy="261610"/>
          </a:xfrm>
          <a:prstGeom prst="rect">
            <a:avLst/>
          </a:prstGeom>
          <a:noFill/>
        </p:spPr>
        <p:txBody>
          <a:bodyPr wrap="square" rtlCol="0">
            <a:spAutoFit/>
          </a:bodyPr>
          <a:lstStyle/>
          <a:p>
            <a:r>
              <a:rPr lang="en-US" sz="1100" dirty="0">
                <a:solidFill>
                  <a:srgbClr val="E1E1E1"/>
                </a:solidFill>
              </a:rPr>
              <a:t>1</a:t>
            </a:r>
          </a:p>
        </p:txBody>
      </p:sp>
      <p:sp>
        <p:nvSpPr>
          <p:cNvPr id="23" name="TextBox 22">
            <a:extLst>
              <a:ext uri="{FF2B5EF4-FFF2-40B4-BE49-F238E27FC236}">
                <a16:creationId xmlns:a16="http://schemas.microsoft.com/office/drawing/2014/main" id="{E2FF6A01-2E8C-4735-A5A9-268B6ABCFADC}"/>
              </a:ext>
            </a:extLst>
          </p:cNvPr>
          <p:cNvSpPr txBox="1"/>
          <p:nvPr/>
        </p:nvSpPr>
        <p:spPr>
          <a:xfrm>
            <a:off x="2947872" y="2209718"/>
            <a:ext cx="649537" cy="246221"/>
          </a:xfrm>
          <a:prstGeom prst="rect">
            <a:avLst/>
          </a:prstGeom>
          <a:noFill/>
        </p:spPr>
        <p:txBody>
          <a:bodyPr wrap="none" rtlCol="0">
            <a:spAutoFit/>
          </a:bodyPr>
          <a:lstStyle/>
          <a:p>
            <a:pPr algn="ctr"/>
            <a:r>
              <a:rPr lang="en-US" sz="1000" dirty="0">
                <a:solidFill>
                  <a:srgbClr val="E1E1E1"/>
                </a:solidFill>
              </a:rPr>
              <a:t>Agent ID</a:t>
            </a:r>
          </a:p>
        </p:txBody>
      </p:sp>
      <p:sp>
        <p:nvSpPr>
          <p:cNvPr id="28" name="TextBox 27">
            <a:extLst>
              <a:ext uri="{FF2B5EF4-FFF2-40B4-BE49-F238E27FC236}">
                <a16:creationId xmlns:a16="http://schemas.microsoft.com/office/drawing/2014/main" id="{D8D4F21D-46E7-78D8-7238-AF589E47BE5D}"/>
              </a:ext>
            </a:extLst>
          </p:cNvPr>
          <p:cNvSpPr txBox="1"/>
          <p:nvPr/>
        </p:nvSpPr>
        <p:spPr>
          <a:xfrm>
            <a:off x="2647311" y="2620646"/>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0" name="TextBox 29">
            <a:extLst>
              <a:ext uri="{FF2B5EF4-FFF2-40B4-BE49-F238E27FC236}">
                <a16:creationId xmlns:a16="http://schemas.microsoft.com/office/drawing/2014/main" id="{B3019008-133E-C60F-C78B-2C7FE3CEDE6F}"/>
              </a:ext>
            </a:extLst>
          </p:cNvPr>
          <p:cNvSpPr txBox="1"/>
          <p:nvPr/>
        </p:nvSpPr>
        <p:spPr>
          <a:xfrm>
            <a:off x="2647311" y="3086580"/>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1" name="TextBox 30">
            <a:extLst>
              <a:ext uri="{FF2B5EF4-FFF2-40B4-BE49-F238E27FC236}">
                <a16:creationId xmlns:a16="http://schemas.microsoft.com/office/drawing/2014/main" id="{827B2E6C-5484-1597-51E4-57107C28E35E}"/>
              </a:ext>
            </a:extLst>
          </p:cNvPr>
          <p:cNvSpPr txBox="1"/>
          <p:nvPr/>
        </p:nvSpPr>
        <p:spPr>
          <a:xfrm>
            <a:off x="2647311" y="3545730"/>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2" name="TextBox 31">
            <a:extLst>
              <a:ext uri="{FF2B5EF4-FFF2-40B4-BE49-F238E27FC236}">
                <a16:creationId xmlns:a16="http://schemas.microsoft.com/office/drawing/2014/main" id="{654D43C3-853F-F885-205D-6E886B45F69F}"/>
              </a:ext>
            </a:extLst>
          </p:cNvPr>
          <p:cNvSpPr txBox="1"/>
          <p:nvPr/>
        </p:nvSpPr>
        <p:spPr>
          <a:xfrm>
            <a:off x="2636441" y="4004880"/>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3" name="TextBox 32">
            <a:extLst>
              <a:ext uri="{FF2B5EF4-FFF2-40B4-BE49-F238E27FC236}">
                <a16:creationId xmlns:a16="http://schemas.microsoft.com/office/drawing/2014/main" id="{E13CF18B-3994-7BA7-9F2A-375DAD428103}"/>
              </a:ext>
            </a:extLst>
          </p:cNvPr>
          <p:cNvSpPr txBox="1"/>
          <p:nvPr/>
        </p:nvSpPr>
        <p:spPr>
          <a:xfrm>
            <a:off x="5445208" y="2092323"/>
            <a:ext cx="772505" cy="400110"/>
          </a:xfrm>
          <a:prstGeom prst="rect">
            <a:avLst/>
          </a:prstGeom>
          <a:noFill/>
        </p:spPr>
        <p:txBody>
          <a:bodyPr wrap="square" rtlCol="0">
            <a:spAutoFit/>
          </a:bodyPr>
          <a:lstStyle/>
          <a:p>
            <a:pPr algn="ctr"/>
            <a:r>
              <a:rPr lang="en-US" sz="1000" dirty="0">
                <a:solidFill>
                  <a:srgbClr val="E1E1E1"/>
                </a:solidFill>
              </a:rPr>
              <a:t>Job </a:t>
            </a:r>
          </a:p>
          <a:p>
            <a:pPr algn="ctr"/>
            <a:r>
              <a:rPr lang="en-US" sz="1000" dirty="0">
                <a:solidFill>
                  <a:srgbClr val="E1E1E1"/>
                </a:solidFill>
              </a:rPr>
              <a:t>Read</a:t>
            </a:r>
          </a:p>
        </p:txBody>
      </p:sp>
      <p:sp>
        <p:nvSpPr>
          <p:cNvPr id="34" name="TextBox 33">
            <a:extLst>
              <a:ext uri="{FF2B5EF4-FFF2-40B4-BE49-F238E27FC236}">
                <a16:creationId xmlns:a16="http://schemas.microsoft.com/office/drawing/2014/main" id="{AA0FB1D9-8C71-EF66-7A99-A82DA57883AD}"/>
              </a:ext>
            </a:extLst>
          </p:cNvPr>
          <p:cNvSpPr txBox="1"/>
          <p:nvPr/>
        </p:nvSpPr>
        <p:spPr>
          <a:xfrm>
            <a:off x="6129630" y="2105765"/>
            <a:ext cx="1037054" cy="400110"/>
          </a:xfrm>
          <a:prstGeom prst="rect">
            <a:avLst/>
          </a:prstGeom>
          <a:noFill/>
        </p:spPr>
        <p:txBody>
          <a:bodyPr wrap="square" rtlCol="0">
            <a:spAutoFit/>
          </a:bodyPr>
          <a:lstStyle/>
          <a:p>
            <a:pPr algn="ctr"/>
            <a:r>
              <a:rPr lang="en-US" sz="1000" dirty="0">
                <a:solidFill>
                  <a:srgbClr val="E1E1E1"/>
                </a:solidFill>
              </a:rPr>
              <a:t>Job Acknowledged</a:t>
            </a:r>
          </a:p>
        </p:txBody>
      </p:sp>
      <p:cxnSp>
        <p:nvCxnSpPr>
          <p:cNvPr id="41" name="Straight Connector 40">
            <a:extLst>
              <a:ext uri="{FF2B5EF4-FFF2-40B4-BE49-F238E27FC236}">
                <a16:creationId xmlns:a16="http://schemas.microsoft.com/office/drawing/2014/main" id="{8B26D929-C0AA-A712-DFB6-93424B6AC5DA}"/>
              </a:ext>
            </a:extLst>
          </p:cNvPr>
          <p:cNvCxnSpPr>
            <a:cxnSpLocks/>
          </p:cNvCxnSpPr>
          <p:nvPr/>
        </p:nvCxnSpPr>
        <p:spPr>
          <a:xfrm>
            <a:off x="11391357" y="2585825"/>
            <a:ext cx="0" cy="2327883"/>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28FB610A-8782-119B-2604-3A7043F5468C}"/>
              </a:ext>
            </a:extLst>
          </p:cNvPr>
          <p:cNvCxnSpPr>
            <a:cxnSpLocks/>
          </p:cNvCxnSpPr>
          <p:nvPr/>
        </p:nvCxnSpPr>
        <p:spPr>
          <a:xfrm>
            <a:off x="11391357" y="2585825"/>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1B40ACFD-32C9-9F1F-E16B-93712AEC0FE1}"/>
              </a:ext>
            </a:extLst>
          </p:cNvPr>
          <p:cNvCxnSpPr>
            <a:cxnSpLocks/>
          </p:cNvCxnSpPr>
          <p:nvPr/>
        </p:nvCxnSpPr>
        <p:spPr>
          <a:xfrm>
            <a:off x="11391357" y="2625072"/>
            <a:ext cx="0" cy="2327883"/>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6D2E961A-0C05-00E7-E779-FDEFE1462C27}"/>
              </a:ext>
            </a:extLst>
          </p:cNvPr>
          <p:cNvCxnSpPr>
            <a:cxnSpLocks/>
          </p:cNvCxnSpPr>
          <p:nvPr/>
        </p:nvCxnSpPr>
        <p:spPr>
          <a:xfrm>
            <a:off x="11391357" y="2625072"/>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sp>
        <p:nvSpPr>
          <p:cNvPr id="45" name="Rectangle: Rounded Corners 44">
            <a:extLst>
              <a:ext uri="{FF2B5EF4-FFF2-40B4-BE49-F238E27FC236}">
                <a16:creationId xmlns:a16="http://schemas.microsoft.com/office/drawing/2014/main" id="{EAB442E9-DD1F-87FE-351D-E085CEF00439}"/>
              </a:ext>
            </a:extLst>
          </p:cNvPr>
          <p:cNvSpPr/>
          <p:nvPr/>
        </p:nvSpPr>
        <p:spPr>
          <a:xfrm>
            <a:off x="3031449" y="5377380"/>
            <a:ext cx="5904873" cy="421811"/>
          </a:xfrm>
          <a:prstGeom prst="roundRect">
            <a:avLst>
              <a:gd name="adj" fmla="val 27474"/>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a:t>
            </a:r>
          </a:p>
        </p:txBody>
      </p:sp>
      <p:sp>
        <p:nvSpPr>
          <p:cNvPr id="46" name="Rectangle: Rounded Corners 45">
            <a:extLst>
              <a:ext uri="{FF2B5EF4-FFF2-40B4-BE49-F238E27FC236}">
                <a16:creationId xmlns:a16="http://schemas.microsoft.com/office/drawing/2014/main" id="{1F01B79C-E26E-DAA1-4623-F4DC2FC516B4}"/>
              </a:ext>
            </a:extLst>
          </p:cNvPr>
          <p:cNvSpPr/>
          <p:nvPr/>
        </p:nvSpPr>
        <p:spPr>
          <a:xfrm>
            <a:off x="522553" y="5375748"/>
            <a:ext cx="1132255" cy="421811"/>
          </a:xfrm>
          <a:prstGeom prst="roundRect">
            <a:avLst>
              <a:gd name="adj" fmla="val 27474"/>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1E3147"/>
                </a:solidFill>
              </a:rPr>
              <a:t>Message Orchestrator</a:t>
            </a:r>
          </a:p>
        </p:txBody>
      </p:sp>
      <p:sp>
        <p:nvSpPr>
          <p:cNvPr id="47" name="Rectangle: Rounded Corners 46">
            <a:extLst>
              <a:ext uri="{FF2B5EF4-FFF2-40B4-BE49-F238E27FC236}">
                <a16:creationId xmlns:a16="http://schemas.microsoft.com/office/drawing/2014/main" id="{8EE3644C-D505-0FAB-28FA-76C99B66CB8C}"/>
              </a:ext>
            </a:extLst>
          </p:cNvPr>
          <p:cNvSpPr/>
          <p:nvPr/>
        </p:nvSpPr>
        <p:spPr>
          <a:xfrm>
            <a:off x="1753756" y="5378268"/>
            <a:ext cx="1178745" cy="421811"/>
          </a:xfrm>
          <a:prstGeom prst="roundRect">
            <a:avLst>
              <a:gd name="adj" fmla="val 27474"/>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1E1E1"/>
                </a:solidFill>
              </a:rPr>
              <a:t>Broadcast</a:t>
            </a:r>
          </a:p>
        </p:txBody>
      </p:sp>
      <p:sp>
        <p:nvSpPr>
          <p:cNvPr id="50" name="Oval 49">
            <a:extLst>
              <a:ext uri="{FF2B5EF4-FFF2-40B4-BE49-F238E27FC236}">
                <a16:creationId xmlns:a16="http://schemas.microsoft.com/office/drawing/2014/main" id="{238F4458-40D8-8558-5CFC-D85BA6EF58D3}"/>
              </a:ext>
            </a:extLst>
          </p:cNvPr>
          <p:cNvSpPr/>
          <p:nvPr/>
        </p:nvSpPr>
        <p:spPr>
          <a:xfrm>
            <a:off x="8997072" y="5441706"/>
            <a:ext cx="293929" cy="306770"/>
          </a:xfrm>
          <a:prstGeom prst="ellipse">
            <a:avLst/>
          </a:prstGeom>
          <a:solidFill>
            <a:srgbClr val="FFC3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 name="Graphic 48" descr="Play with solid fill">
            <a:extLst>
              <a:ext uri="{FF2B5EF4-FFF2-40B4-BE49-F238E27FC236}">
                <a16:creationId xmlns:a16="http://schemas.microsoft.com/office/drawing/2014/main" id="{4ED62BF5-FB88-6A5E-A72D-634AA19B4DC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073173" y="5507713"/>
            <a:ext cx="174755" cy="174755"/>
          </a:xfrm>
          <a:prstGeom prst="rect">
            <a:avLst/>
          </a:prstGeom>
        </p:spPr>
      </p:pic>
      <p:sp>
        <p:nvSpPr>
          <p:cNvPr id="52" name="TextBox 51">
            <a:extLst>
              <a:ext uri="{FF2B5EF4-FFF2-40B4-BE49-F238E27FC236}">
                <a16:creationId xmlns:a16="http://schemas.microsoft.com/office/drawing/2014/main" id="{F2E41DF9-D638-825A-EE77-90E4ADFD5B90}"/>
              </a:ext>
            </a:extLst>
          </p:cNvPr>
          <p:cNvSpPr txBox="1"/>
          <p:nvPr/>
        </p:nvSpPr>
        <p:spPr>
          <a:xfrm>
            <a:off x="4029163" y="198362"/>
            <a:ext cx="4610081" cy="1077218"/>
          </a:xfrm>
          <a:prstGeom prst="rect">
            <a:avLst/>
          </a:prstGeom>
          <a:noFill/>
        </p:spPr>
        <p:txBody>
          <a:bodyPr wrap="square" rtlCol="0">
            <a:spAutoFit/>
          </a:bodyPr>
          <a:lstStyle/>
          <a:p>
            <a:pPr algn="ctr"/>
            <a:r>
              <a:rPr lang="en-US" sz="3200" dirty="0">
                <a:solidFill>
                  <a:schemeClr val="accent5">
                    <a:lumMod val="60000"/>
                    <a:lumOff val="40000"/>
                  </a:schemeClr>
                </a:solidFill>
              </a:rPr>
              <a:t>STATUS BOARD Variant MVP</a:t>
            </a:r>
          </a:p>
        </p:txBody>
      </p:sp>
      <p:sp>
        <p:nvSpPr>
          <p:cNvPr id="53" name="TextBox 52">
            <a:extLst>
              <a:ext uri="{FF2B5EF4-FFF2-40B4-BE49-F238E27FC236}">
                <a16:creationId xmlns:a16="http://schemas.microsoft.com/office/drawing/2014/main" id="{3888F116-5FC8-F4E1-E138-A318685F4827}"/>
              </a:ext>
            </a:extLst>
          </p:cNvPr>
          <p:cNvSpPr txBox="1"/>
          <p:nvPr/>
        </p:nvSpPr>
        <p:spPr>
          <a:xfrm>
            <a:off x="39778" y="47732"/>
            <a:ext cx="3312061" cy="369332"/>
          </a:xfrm>
          <a:prstGeom prst="rect">
            <a:avLst/>
          </a:prstGeom>
          <a:noFill/>
        </p:spPr>
        <p:txBody>
          <a:bodyPr wrap="none" rtlCol="0">
            <a:spAutoFit/>
          </a:bodyPr>
          <a:lstStyle/>
          <a:p>
            <a:r>
              <a:rPr lang="en-US" dirty="0">
                <a:solidFill>
                  <a:schemeClr val="accent5">
                    <a:lumMod val="60000"/>
                    <a:lumOff val="40000"/>
                  </a:schemeClr>
                </a:solidFill>
              </a:rPr>
              <a:t>SLIDE 3e – Implementation Tab.</a:t>
            </a:r>
          </a:p>
        </p:txBody>
      </p:sp>
      <p:pic>
        <p:nvPicPr>
          <p:cNvPr id="54" name="Graphic 53" descr="Play with solid fill">
            <a:extLst>
              <a:ext uri="{FF2B5EF4-FFF2-40B4-BE49-F238E27FC236}">
                <a16:creationId xmlns:a16="http://schemas.microsoft.com/office/drawing/2014/main" id="{A0670957-4617-B12D-37B8-0DD4FB2EEB9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979845" y="2671726"/>
            <a:ext cx="193474" cy="193474"/>
          </a:xfrm>
          <a:prstGeom prst="rect">
            <a:avLst/>
          </a:prstGeom>
        </p:spPr>
      </p:pic>
      <p:pic>
        <p:nvPicPr>
          <p:cNvPr id="59" name="Graphic 58" descr="Play with solid fill">
            <a:extLst>
              <a:ext uri="{FF2B5EF4-FFF2-40B4-BE49-F238E27FC236}">
                <a16:creationId xmlns:a16="http://schemas.microsoft.com/office/drawing/2014/main" id="{936DE5DF-5986-6937-B512-EC41A60C091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955195" y="3096151"/>
            <a:ext cx="193474" cy="193474"/>
          </a:xfrm>
          <a:prstGeom prst="rect">
            <a:avLst/>
          </a:prstGeom>
        </p:spPr>
      </p:pic>
      <p:sp>
        <p:nvSpPr>
          <p:cNvPr id="61" name="TextBox 60">
            <a:extLst>
              <a:ext uri="{FF2B5EF4-FFF2-40B4-BE49-F238E27FC236}">
                <a16:creationId xmlns:a16="http://schemas.microsoft.com/office/drawing/2014/main" id="{668410A0-D4F0-9C91-447F-DAFF2A6C640F}"/>
              </a:ext>
            </a:extLst>
          </p:cNvPr>
          <p:cNvSpPr txBox="1"/>
          <p:nvPr/>
        </p:nvSpPr>
        <p:spPr>
          <a:xfrm>
            <a:off x="4250868" y="3548989"/>
            <a:ext cx="683200" cy="261610"/>
          </a:xfrm>
          <a:prstGeom prst="rect">
            <a:avLst/>
          </a:prstGeom>
          <a:noFill/>
        </p:spPr>
        <p:txBody>
          <a:bodyPr wrap="none" rtlCol="0">
            <a:spAutoFit/>
          </a:bodyPr>
          <a:lstStyle/>
          <a:p>
            <a:r>
              <a:rPr lang="en-US" sz="1100" i="1" dirty="0">
                <a:solidFill>
                  <a:srgbClr val="FFC000"/>
                </a:solidFill>
              </a:rPr>
              <a:t>Waiting.</a:t>
            </a:r>
          </a:p>
        </p:txBody>
      </p:sp>
      <p:sp>
        <p:nvSpPr>
          <p:cNvPr id="62" name="TextBox 61">
            <a:extLst>
              <a:ext uri="{FF2B5EF4-FFF2-40B4-BE49-F238E27FC236}">
                <a16:creationId xmlns:a16="http://schemas.microsoft.com/office/drawing/2014/main" id="{9C331223-23BA-B18E-2909-43D93EF5A1B6}"/>
              </a:ext>
            </a:extLst>
          </p:cNvPr>
          <p:cNvSpPr txBox="1"/>
          <p:nvPr/>
        </p:nvSpPr>
        <p:spPr>
          <a:xfrm>
            <a:off x="4253599" y="3080702"/>
            <a:ext cx="683200" cy="261610"/>
          </a:xfrm>
          <a:prstGeom prst="rect">
            <a:avLst/>
          </a:prstGeom>
          <a:noFill/>
        </p:spPr>
        <p:txBody>
          <a:bodyPr wrap="none" rtlCol="0">
            <a:spAutoFit/>
          </a:bodyPr>
          <a:lstStyle/>
          <a:p>
            <a:r>
              <a:rPr lang="en-US" sz="1100" i="1" dirty="0">
                <a:solidFill>
                  <a:srgbClr val="FFC000"/>
                </a:solidFill>
              </a:rPr>
              <a:t>Waiting.</a:t>
            </a:r>
          </a:p>
        </p:txBody>
      </p:sp>
      <p:sp>
        <p:nvSpPr>
          <p:cNvPr id="7" name="TextBox 6">
            <a:extLst>
              <a:ext uri="{FF2B5EF4-FFF2-40B4-BE49-F238E27FC236}">
                <a16:creationId xmlns:a16="http://schemas.microsoft.com/office/drawing/2014/main" id="{814D1277-BCE0-1D52-3D14-A80CA960DEB7}"/>
              </a:ext>
            </a:extLst>
          </p:cNvPr>
          <p:cNvSpPr txBox="1"/>
          <p:nvPr/>
        </p:nvSpPr>
        <p:spPr>
          <a:xfrm>
            <a:off x="7260027" y="2637913"/>
            <a:ext cx="260008" cy="261610"/>
          </a:xfrm>
          <a:prstGeom prst="rect">
            <a:avLst/>
          </a:prstGeom>
          <a:noFill/>
        </p:spPr>
        <p:txBody>
          <a:bodyPr wrap="square" rtlCol="0">
            <a:spAutoFit/>
          </a:bodyPr>
          <a:lstStyle/>
          <a:p>
            <a:r>
              <a:rPr lang="en-US" sz="1100" dirty="0">
                <a:solidFill>
                  <a:srgbClr val="E1E1E1"/>
                </a:solidFill>
              </a:rPr>
              <a:t>4</a:t>
            </a:r>
          </a:p>
        </p:txBody>
      </p:sp>
      <p:sp>
        <p:nvSpPr>
          <p:cNvPr id="8" name="TextBox 7">
            <a:extLst>
              <a:ext uri="{FF2B5EF4-FFF2-40B4-BE49-F238E27FC236}">
                <a16:creationId xmlns:a16="http://schemas.microsoft.com/office/drawing/2014/main" id="{9909B4EA-2918-6F91-589E-1C9B73B8685A}"/>
              </a:ext>
            </a:extLst>
          </p:cNvPr>
          <p:cNvSpPr txBox="1"/>
          <p:nvPr/>
        </p:nvSpPr>
        <p:spPr>
          <a:xfrm>
            <a:off x="8152537" y="3076054"/>
            <a:ext cx="260008" cy="261610"/>
          </a:xfrm>
          <a:prstGeom prst="rect">
            <a:avLst/>
          </a:prstGeom>
          <a:noFill/>
        </p:spPr>
        <p:txBody>
          <a:bodyPr wrap="square" rtlCol="0">
            <a:spAutoFit/>
          </a:bodyPr>
          <a:lstStyle/>
          <a:p>
            <a:r>
              <a:rPr lang="en-US" sz="1100" dirty="0">
                <a:solidFill>
                  <a:srgbClr val="E1E1E1"/>
                </a:solidFill>
              </a:rPr>
              <a:t>1</a:t>
            </a:r>
          </a:p>
        </p:txBody>
      </p:sp>
      <p:sp>
        <p:nvSpPr>
          <p:cNvPr id="12" name="TextBox 11">
            <a:extLst>
              <a:ext uri="{FF2B5EF4-FFF2-40B4-BE49-F238E27FC236}">
                <a16:creationId xmlns:a16="http://schemas.microsoft.com/office/drawing/2014/main" id="{F8A646BA-F460-3AC9-D68E-53409364CB1B}"/>
              </a:ext>
            </a:extLst>
          </p:cNvPr>
          <p:cNvSpPr txBox="1"/>
          <p:nvPr/>
        </p:nvSpPr>
        <p:spPr>
          <a:xfrm>
            <a:off x="390686" y="6097720"/>
            <a:ext cx="3493631" cy="369332"/>
          </a:xfrm>
          <a:prstGeom prst="rect">
            <a:avLst/>
          </a:prstGeom>
          <a:solidFill>
            <a:srgbClr val="FF0000"/>
          </a:solidFill>
          <a:ln>
            <a:solidFill>
              <a:schemeClr val="accent5">
                <a:lumMod val="60000"/>
                <a:lumOff val="40000"/>
              </a:schemeClr>
            </a:solidFill>
          </a:ln>
        </p:spPr>
        <p:txBody>
          <a:bodyPr wrap="square" rtlCol="0">
            <a:spAutoFit/>
          </a:bodyPr>
          <a:lstStyle/>
          <a:p>
            <a:r>
              <a:rPr lang="en-US" dirty="0">
                <a:solidFill>
                  <a:schemeClr val="bg1"/>
                </a:solidFill>
              </a:rPr>
              <a:t>CLAUDE CODE CLI MODE</a:t>
            </a:r>
          </a:p>
        </p:txBody>
      </p:sp>
      <p:sp>
        <p:nvSpPr>
          <p:cNvPr id="10" name="TextBox 9">
            <a:extLst>
              <a:ext uri="{FF2B5EF4-FFF2-40B4-BE49-F238E27FC236}">
                <a16:creationId xmlns:a16="http://schemas.microsoft.com/office/drawing/2014/main" id="{4416A19E-9045-4744-003C-0EEFABF38DC3}"/>
              </a:ext>
            </a:extLst>
          </p:cNvPr>
          <p:cNvSpPr txBox="1"/>
          <p:nvPr/>
        </p:nvSpPr>
        <p:spPr>
          <a:xfrm>
            <a:off x="8777110" y="290986"/>
            <a:ext cx="3317992" cy="1200329"/>
          </a:xfrm>
          <a:prstGeom prst="rect">
            <a:avLst/>
          </a:prstGeom>
          <a:noFill/>
          <a:ln>
            <a:solidFill>
              <a:schemeClr val="accent5">
                <a:lumMod val="60000"/>
                <a:lumOff val="40000"/>
              </a:schemeClr>
            </a:solidFill>
          </a:ln>
        </p:spPr>
        <p:txBody>
          <a:bodyPr wrap="square" rtlCol="0">
            <a:spAutoFit/>
          </a:bodyPr>
          <a:lstStyle/>
          <a:p>
            <a:r>
              <a:rPr lang="en-US" dirty="0">
                <a:solidFill>
                  <a:schemeClr val="accent5">
                    <a:lumMod val="60000"/>
                    <a:lumOff val="40000"/>
                  </a:schemeClr>
                </a:solidFill>
              </a:rPr>
              <a:t>User Copies start prompt for orchestrator to clip board for user to paste into terminal to start</a:t>
            </a:r>
          </a:p>
        </p:txBody>
      </p:sp>
      <p:cxnSp>
        <p:nvCxnSpPr>
          <p:cNvPr id="13" name="Connector: Elbow 12">
            <a:extLst>
              <a:ext uri="{FF2B5EF4-FFF2-40B4-BE49-F238E27FC236}">
                <a16:creationId xmlns:a16="http://schemas.microsoft.com/office/drawing/2014/main" id="{9E242197-3FD2-6D4F-5E6F-57F7FF40B98E}"/>
              </a:ext>
            </a:extLst>
          </p:cNvPr>
          <p:cNvCxnSpPr>
            <a:cxnSpLocks/>
            <a:stCxn id="10" idx="2"/>
          </p:cNvCxnSpPr>
          <p:nvPr/>
        </p:nvCxnSpPr>
        <p:spPr>
          <a:xfrm rot="5400000">
            <a:off x="9641039" y="1892390"/>
            <a:ext cx="1196143" cy="393992"/>
          </a:xfrm>
          <a:prstGeom prst="bentConnector3">
            <a:avLst/>
          </a:prstGeom>
          <a:ln>
            <a:tailEnd type="triangle"/>
          </a:ln>
        </p:spPr>
        <p:style>
          <a:lnRef idx="2">
            <a:schemeClr val="accent5"/>
          </a:lnRef>
          <a:fillRef idx="0">
            <a:schemeClr val="accent5"/>
          </a:fillRef>
          <a:effectRef idx="1">
            <a:schemeClr val="accent5"/>
          </a:effectRef>
          <a:fontRef idx="minor">
            <a:schemeClr val="tx1"/>
          </a:fontRef>
        </p:style>
      </p:cxnSp>
    </p:spTree>
    <p:extLst>
      <p:ext uri="{BB962C8B-B14F-4D97-AF65-F5344CB8AC3E}">
        <p14:creationId xmlns:p14="http://schemas.microsoft.com/office/powerpoint/2010/main" val="29501998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434A1-BCF9-B4F6-8823-20971B04502F}"/>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6EB7121A-83E3-33A4-5FA2-F91D19E68DC3}"/>
              </a:ext>
            </a:extLst>
          </p:cNvPr>
          <p:cNvSpPr/>
          <p:nvPr/>
        </p:nvSpPr>
        <p:spPr>
          <a:xfrm>
            <a:off x="503403" y="1334840"/>
            <a:ext cx="2218513" cy="1071163"/>
          </a:xfrm>
          <a:prstGeom prst="roundRect">
            <a:avLst>
              <a:gd name="adj" fmla="val 15806"/>
            </a:avLst>
          </a:prstGeom>
          <a:no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48C3A56C-19B4-0FF5-C877-C4B9D8A12521}"/>
              </a:ext>
            </a:extLst>
          </p:cNvPr>
          <p:cNvSpPr txBox="1"/>
          <p:nvPr/>
        </p:nvSpPr>
        <p:spPr>
          <a:xfrm>
            <a:off x="516531" y="677075"/>
            <a:ext cx="2514919" cy="553998"/>
          </a:xfrm>
          <a:prstGeom prst="rect">
            <a:avLst/>
          </a:prstGeom>
          <a:noFill/>
        </p:spPr>
        <p:txBody>
          <a:bodyPr wrap="none" rtlCol="0">
            <a:spAutoFit/>
          </a:bodyPr>
          <a:lstStyle/>
          <a:p>
            <a:r>
              <a:rPr lang="en-US" dirty="0">
                <a:solidFill>
                  <a:srgbClr val="E1E1E1"/>
                </a:solidFill>
              </a:rPr>
              <a:t>Project: </a:t>
            </a:r>
            <a:r>
              <a:rPr lang="en-US" dirty="0">
                <a:solidFill>
                  <a:srgbClr val="FFC300"/>
                </a:solidFill>
              </a:rPr>
              <a:t>{</a:t>
            </a:r>
            <a:r>
              <a:rPr lang="en-US" dirty="0" err="1">
                <a:solidFill>
                  <a:srgbClr val="FFC300"/>
                </a:solidFill>
              </a:rPr>
              <a:t>project_name</a:t>
            </a:r>
            <a:r>
              <a:rPr lang="en-US" dirty="0">
                <a:solidFill>
                  <a:srgbClr val="FFC300"/>
                </a:solidFill>
              </a:rPr>
              <a:t>}</a:t>
            </a:r>
          </a:p>
          <a:p>
            <a:r>
              <a:rPr lang="en-US" sz="1200" dirty="0">
                <a:solidFill>
                  <a:srgbClr val="8F97B7"/>
                </a:solidFill>
              </a:rPr>
              <a:t>Project ID: {</a:t>
            </a:r>
            <a:r>
              <a:rPr lang="en-US" sz="1200" dirty="0" err="1">
                <a:solidFill>
                  <a:srgbClr val="8F97B7"/>
                </a:solidFill>
              </a:rPr>
              <a:t>full_UUID</a:t>
            </a:r>
            <a:r>
              <a:rPr lang="en-US" sz="1200" dirty="0">
                <a:solidFill>
                  <a:srgbClr val="8F97B7"/>
                </a:solidFill>
              </a:rPr>
              <a:t>}</a:t>
            </a:r>
          </a:p>
        </p:txBody>
      </p:sp>
      <p:sp>
        <p:nvSpPr>
          <p:cNvPr id="3" name="Rectangle: Rounded Corners 2">
            <a:extLst>
              <a:ext uri="{FF2B5EF4-FFF2-40B4-BE49-F238E27FC236}">
                <a16:creationId xmlns:a16="http://schemas.microsoft.com/office/drawing/2014/main" id="{D8118BB2-AA80-FE62-F158-6B4E9AEA6AB5}"/>
              </a:ext>
            </a:extLst>
          </p:cNvPr>
          <p:cNvSpPr/>
          <p:nvPr/>
        </p:nvSpPr>
        <p:spPr>
          <a:xfrm>
            <a:off x="1643382" y="1342292"/>
            <a:ext cx="1805578" cy="969932"/>
          </a:xfrm>
          <a:prstGeom prst="roundRect">
            <a:avLst>
              <a:gd name="adj" fmla="val 17766"/>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4DAA82B-6977-18A2-7776-FE4C7A3A1DA5}"/>
              </a:ext>
            </a:extLst>
          </p:cNvPr>
          <p:cNvSpPr txBox="1"/>
          <p:nvPr/>
        </p:nvSpPr>
        <p:spPr>
          <a:xfrm>
            <a:off x="682981" y="1327205"/>
            <a:ext cx="929678" cy="369332"/>
          </a:xfrm>
          <a:prstGeom prst="rect">
            <a:avLst/>
          </a:prstGeom>
          <a:noFill/>
        </p:spPr>
        <p:txBody>
          <a:bodyPr wrap="none" rtlCol="0">
            <a:spAutoFit/>
          </a:bodyPr>
          <a:lstStyle/>
          <a:p>
            <a:r>
              <a:rPr lang="en-US" dirty="0">
                <a:solidFill>
                  <a:srgbClr val="1E3147"/>
                </a:solidFill>
              </a:rPr>
              <a:t>Launch</a:t>
            </a:r>
          </a:p>
        </p:txBody>
      </p:sp>
      <p:sp>
        <p:nvSpPr>
          <p:cNvPr id="6" name="Rectangle: Rounded Corners 5">
            <a:extLst>
              <a:ext uri="{FF2B5EF4-FFF2-40B4-BE49-F238E27FC236}">
                <a16:creationId xmlns:a16="http://schemas.microsoft.com/office/drawing/2014/main" id="{53D0D103-C693-6D70-FC37-ED3BE3CDEFE2}"/>
              </a:ext>
            </a:extLst>
          </p:cNvPr>
          <p:cNvSpPr/>
          <p:nvPr/>
        </p:nvSpPr>
        <p:spPr>
          <a:xfrm>
            <a:off x="503403" y="1668256"/>
            <a:ext cx="11185191" cy="3476117"/>
          </a:xfrm>
          <a:prstGeom prst="roundRect">
            <a:avLst>
              <a:gd name="adj" fmla="val 5962"/>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32203860-EC52-1E8C-A705-6A4F0633170C}"/>
              </a:ext>
            </a:extLst>
          </p:cNvPr>
          <p:cNvSpPr/>
          <p:nvPr/>
        </p:nvSpPr>
        <p:spPr>
          <a:xfrm>
            <a:off x="1654808" y="1622562"/>
            <a:ext cx="1787171" cy="287650"/>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D7C4FE18-8E15-EDE0-58F2-8B6EB7CB4A12}"/>
              </a:ext>
            </a:extLst>
          </p:cNvPr>
          <p:cNvSpPr/>
          <p:nvPr/>
        </p:nvSpPr>
        <p:spPr>
          <a:xfrm>
            <a:off x="758606" y="2617315"/>
            <a:ext cx="293929" cy="306770"/>
          </a:xfrm>
          <a:prstGeom prst="ellipse">
            <a:avLst/>
          </a:prstGeom>
          <a:solidFill>
            <a:srgbClr val="A9866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98ED7F1C-7AFD-5C5A-FD79-E6C427C6FCCD}"/>
              </a:ext>
            </a:extLst>
          </p:cNvPr>
          <p:cNvSpPr txBox="1"/>
          <p:nvPr/>
        </p:nvSpPr>
        <p:spPr>
          <a:xfrm>
            <a:off x="1899316" y="1330953"/>
            <a:ext cx="1444177" cy="369332"/>
          </a:xfrm>
          <a:prstGeom prst="rect">
            <a:avLst/>
          </a:prstGeom>
          <a:noFill/>
        </p:spPr>
        <p:txBody>
          <a:bodyPr wrap="square" rtlCol="0">
            <a:spAutoFit/>
          </a:bodyPr>
          <a:lstStyle/>
          <a:p>
            <a:r>
              <a:rPr lang="en-US" dirty="0">
                <a:solidFill>
                  <a:srgbClr val="8F97B7"/>
                </a:solidFill>
              </a:rPr>
              <a:t>Implement</a:t>
            </a:r>
          </a:p>
        </p:txBody>
      </p:sp>
      <p:sp>
        <p:nvSpPr>
          <p:cNvPr id="24" name="TextBox 23">
            <a:extLst>
              <a:ext uri="{FF2B5EF4-FFF2-40B4-BE49-F238E27FC236}">
                <a16:creationId xmlns:a16="http://schemas.microsoft.com/office/drawing/2014/main" id="{D34645B7-AF5A-0EFA-2AAC-BBB2A87C07DC}"/>
              </a:ext>
            </a:extLst>
          </p:cNvPr>
          <p:cNvSpPr txBox="1"/>
          <p:nvPr/>
        </p:nvSpPr>
        <p:spPr>
          <a:xfrm>
            <a:off x="738137" y="2624295"/>
            <a:ext cx="460382" cy="282316"/>
          </a:xfrm>
          <a:prstGeom prst="rect">
            <a:avLst/>
          </a:prstGeom>
          <a:noFill/>
        </p:spPr>
        <p:txBody>
          <a:bodyPr wrap="square" rtlCol="0">
            <a:spAutoFit/>
          </a:bodyPr>
          <a:lstStyle/>
          <a:p>
            <a:r>
              <a:rPr lang="en-US" sz="1200" b="1" dirty="0">
                <a:solidFill>
                  <a:srgbClr val="0E1C2D"/>
                </a:solidFill>
              </a:rPr>
              <a:t>Or</a:t>
            </a:r>
          </a:p>
        </p:txBody>
      </p:sp>
      <p:sp>
        <p:nvSpPr>
          <p:cNvPr id="27" name="TextBox 26">
            <a:extLst>
              <a:ext uri="{FF2B5EF4-FFF2-40B4-BE49-F238E27FC236}">
                <a16:creationId xmlns:a16="http://schemas.microsoft.com/office/drawing/2014/main" id="{7D865ACC-43C2-4C95-42F6-516C2B3F9DE8}"/>
              </a:ext>
            </a:extLst>
          </p:cNvPr>
          <p:cNvSpPr txBox="1"/>
          <p:nvPr/>
        </p:nvSpPr>
        <p:spPr>
          <a:xfrm>
            <a:off x="1184559" y="2638386"/>
            <a:ext cx="965329" cy="261610"/>
          </a:xfrm>
          <a:prstGeom prst="rect">
            <a:avLst/>
          </a:prstGeom>
          <a:noFill/>
        </p:spPr>
        <p:txBody>
          <a:bodyPr wrap="none" rtlCol="0">
            <a:spAutoFit/>
          </a:bodyPr>
          <a:lstStyle/>
          <a:p>
            <a:r>
              <a:rPr lang="en-US" sz="1100" dirty="0">
                <a:solidFill>
                  <a:srgbClr val="E1E1E1"/>
                </a:solidFill>
              </a:rPr>
              <a:t>Orchestrator</a:t>
            </a:r>
          </a:p>
        </p:txBody>
      </p:sp>
      <p:pic>
        <p:nvPicPr>
          <p:cNvPr id="29" name="Graphic 28" descr="Information with solid fill">
            <a:extLst>
              <a:ext uri="{FF2B5EF4-FFF2-40B4-BE49-F238E27FC236}">
                <a16:creationId xmlns:a16="http://schemas.microsoft.com/office/drawing/2014/main" id="{A4E49916-22AD-BF80-8E93-CB6A31EA73C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3975" y="2661152"/>
            <a:ext cx="193473" cy="193473"/>
          </a:xfrm>
          <a:prstGeom prst="rect">
            <a:avLst/>
          </a:prstGeom>
        </p:spPr>
      </p:pic>
      <p:sp>
        <p:nvSpPr>
          <p:cNvPr id="16" name="TextBox 15">
            <a:extLst>
              <a:ext uri="{FF2B5EF4-FFF2-40B4-BE49-F238E27FC236}">
                <a16:creationId xmlns:a16="http://schemas.microsoft.com/office/drawing/2014/main" id="{FA133D6D-DFFE-5523-8CE1-D7F04F3DF167}"/>
              </a:ext>
            </a:extLst>
          </p:cNvPr>
          <p:cNvSpPr txBox="1"/>
          <p:nvPr/>
        </p:nvSpPr>
        <p:spPr>
          <a:xfrm>
            <a:off x="1226477" y="3087372"/>
            <a:ext cx="705642" cy="261610"/>
          </a:xfrm>
          <a:prstGeom prst="rect">
            <a:avLst/>
          </a:prstGeom>
          <a:noFill/>
        </p:spPr>
        <p:txBody>
          <a:bodyPr wrap="none" rtlCol="0">
            <a:spAutoFit/>
          </a:bodyPr>
          <a:lstStyle>
            <a:defPPr>
              <a:defRPr lang="en-US"/>
            </a:defPPr>
            <a:lvl1pPr>
              <a:defRPr sz="1100">
                <a:solidFill>
                  <a:srgbClr val="E1E1E1"/>
                </a:solidFill>
              </a:defRPr>
            </a:lvl1pPr>
          </a:lstStyle>
          <a:p>
            <a:r>
              <a:rPr lang="en-US" dirty="0"/>
              <a:t>Analyzer</a:t>
            </a:r>
          </a:p>
        </p:txBody>
      </p:sp>
      <p:cxnSp>
        <p:nvCxnSpPr>
          <p:cNvPr id="75" name="Straight Connector 74">
            <a:extLst>
              <a:ext uri="{FF2B5EF4-FFF2-40B4-BE49-F238E27FC236}">
                <a16:creationId xmlns:a16="http://schemas.microsoft.com/office/drawing/2014/main" id="{160D9635-56F5-3FC4-08F0-835D06CA604C}"/>
              </a:ext>
            </a:extLst>
          </p:cNvPr>
          <p:cNvCxnSpPr>
            <a:cxnSpLocks/>
          </p:cNvCxnSpPr>
          <p:nvPr/>
        </p:nvCxnSpPr>
        <p:spPr>
          <a:xfrm>
            <a:off x="652293" y="2505875"/>
            <a:ext cx="10203544" cy="6404"/>
          </a:xfrm>
          <a:prstGeom prst="line">
            <a:avLst/>
          </a:prstGeom>
          <a:ln>
            <a:solidFill>
              <a:srgbClr val="1E3147"/>
            </a:solidFill>
          </a:ln>
        </p:spPr>
        <p:style>
          <a:lnRef idx="2">
            <a:schemeClr val="accent1"/>
          </a:lnRef>
          <a:fillRef idx="0">
            <a:schemeClr val="accent1"/>
          </a:fillRef>
          <a:effectRef idx="1">
            <a:schemeClr val="accent1"/>
          </a:effectRef>
          <a:fontRef idx="minor">
            <a:schemeClr val="tx1"/>
          </a:fontRef>
        </p:style>
      </p:cxnSp>
      <p:sp>
        <p:nvSpPr>
          <p:cNvPr id="77" name="TextBox 76">
            <a:extLst>
              <a:ext uri="{FF2B5EF4-FFF2-40B4-BE49-F238E27FC236}">
                <a16:creationId xmlns:a16="http://schemas.microsoft.com/office/drawing/2014/main" id="{A87A3731-CBFC-6210-404C-1EFCC0693748}"/>
              </a:ext>
            </a:extLst>
          </p:cNvPr>
          <p:cNvSpPr txBox="1"/>
          <p:nvPr/>
        </p:nvSpPr>
        <p:spPr>
          <a:xfrm>
            <a:off x="1274326" y="2217384"/>
            <a:ext cx="785793" cy="246221"/>
          </a:xfrm>
          <a:prstGeom prst="rect">
            <a:avLst/>
          </a:prstGeom>
          <a:noFill/>
        </p:spPr>
        <p:txBody>
          <a:bodyPr wrap="none" rtlCol="0">
            <a:spAutoFit/>
          </a:bodyPr>
          <a:lstStyle/>
          <a:p>
            <a:pPr algn="ctr"/>
            <a:r>
              <a:rPr lang="en-US" sz="1000" dirty="0">
                <a:solidFill>
                  <a:srgbClr val="E1E1E1"/>
                </a:solidFill>
              </a:rPr>
              <a:t>Agent Type</a:t>
            </a:r>
          </a:p>
        </p:txBody>
      </p:sp>
      <p:sp>
        <p:nvSpPr>
          <p:cNvPr id="78" name="TextBox 77">
            <a:extLst>
              <a:ext uri="{FF2B5EF4-FFF2-40B4-BE49-F238E27FC236}">
                <a16:creationId xmlns:a16="http://schemas.microsoft.com/office/drawing/2014/main" id="{1AE91925-9106-FF33-60A9-60465ED3BA91}"/>
              </a:ext>
            </a:extLst>
          </p:cNvPr>
          <p:cNvSpPr txBox="1"/>
          <p:nvPr/>
        </p:nvSpPr>
        <p:spPr>
          <a:xfrm>
            <a:off x="662149" y="1838089"/>
            <a:ext cx="1202573" cy="246221"/>
          </a:xfrm>
          <a:prstGeom prst="rect">
            <a:avLst/>
          </a:prstGeom>
          <a:noFill/>
        </p:spPr>
        <p:txBody>
          <a:bodyPr wrap="none" rtlCol="0">
            <a:spAutoFit/>
          </a:bodyPr>
          <a:lstStyle/>
          <a:p>
            <a:r>
              <a:rPr lang="en-US" sz="1000" dirty="0">
                <a:solidFill>
                  <a:srgbClr val="E1E1E1"/>
                </a:solidFill>
              </a:rPr>
              <a:t>Claude Subagents</a:t>
            </a:r>
          </a:p>
        </p:txBody>
      </p:sp>
      <p:sp>
        <p:nvSpPr>
          <p:cNvPr id="80" name="Rectangle: Rounded Corners 79">
            <a:extLst>
              <a:ext uri="{FF2B5EF4-FFF2-40B4-BE49-F238E27FC236}">
                <a16:creationId xmlns:a16="http://schemas.microsoft.com/office/drawing/2014/main" id="{E22E7C6F-3F89-22D6-7031-DFBD50AD9599}"/>
              </a:ext>
            </a:extLst>
          </p:cNvPr>
          <p:cNvSpPr/>
          <p:nvPr/>
        </p:nvSpPr>
        <p:spPr>
          <a:xfrm>
            <a:off x="1813390" y="1884175"/>
            <a:ext cx="336498" cy="182696"/>
          </a:xfrm>
          <a:prstGeom prst="roundRect">
            <a:avLst>
              <a:gd name="adj" fmla="val 50000"/>
            </a:avLst>
          </a:prstGeom>
          <a:solidFill>
            <a:srgbClr val="0E1C2D"/>
          </a:solid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a:extLst>
              <a:ext uri="{FF2B5EF4-FFF2-40B4-BE49-F238E27FC236}">
                <a16:creationId xmlns:a16="http://schemas.microsoft.com/office/drawing/2014/main" id="{5715DE86-7938-2C46-5EA8-9F73599C8080}"/>
              </a:ext>
            </a:extLst>
          </p:cNvPr>
          <p:cNvSpPr/>
          <p:nvPr/>
        </p:nvSpPr>
        <p:spPr>
          <a:xfrm>
            <a:off x="1962999" y="1883047"/>
            <a:ext cx="174503" cy="184050"/>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TextBox 81">
            <a:extLst>
              <a:ext uri="{FF2B5EF4-FFF2-40B4-BE49-F238E27FC236}">
                <a16:creationId xmlns:a16="http://schemas.microsoft.com/office/drawing/2014/main" id="{B76C2B59-13A3-EB0E-CB77-9D1B184BA9D0}"/>
              </a:ext>
            </a:extLst>
          </p:cNvPr>
          <p:cNvSpPr txBox="1"/>
          <p:nvPr/>
        </p:nvSpPr>
        <p:spPr>
          <a:xfrm>
            <a:off x="4275366" y="3048418"/>
            <a:ext cx="683200" cy="261610"/>
          </a:xfrm>
          <a:prstGeom prst="rect">
            <a:avLst/>
          </a:prstGeom>
          <a:noFill/>
        </p:spPr>
        <p:txBody>
          <a:bodyPr wrap="none" rtlCol="0">
            <a:spAutoFit/>
          </a:bodyPr>
          <a:lstStyle/>
          <a:p>
            <a:r>
              <a:rPr lang="en-US" sz="1100" i="1" dirty="0">
                <a:solidFill>
                  <a:srgbClr val="FFC000"/>
                </a:solidFill>
              </a:rPr>
              <a:t>Waiting.</a:t>
            </a:r>
          </a:p>
        </p:txBody>
      </p:sp>
      <p:sp>
        <p:nvSpPr>
          <p:cNvPr id="83" name="Oval 82">
            <a:extLst>
              <a:ext uri="{FF2B5EF4-FFF2-40B4-BE49-F238E27FC236}">
                <a16:creationId xmlns:a16="http://schemas.microsoft.com/office/drawing/2014/main" id="{3EB33CAF-060B-8AB9-9A14-912A8DD9D5CE}"/>
              </a:ext>
            </a:extLst>
          </p:cNvPr>
          <p:cNvSpPr/>
          <p:nvPr/>
        </p:nvSpPr>
        <p:spPr>
          <a:xfrm>
            <a:off x="758606" y="3066408"/>
            <a:ext cx="293929" cy="306770"/>
          </a:xfrm>
          <a:prstGeom prst="ellipse">
            <a:avLst/>
          </a:prstGeom>
          <a:solidFill>
            <a:srgbClr val="A32A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1E6A835C-140F-9F8D-814E-4325815831BF}"/>
              </a:ext>
            </a:extLst>
          </p:cNvPr>
          <p:cNvSpPr/>
          <p:nvPr/>
        </p:nvSpPr>
        <p:spPr>
          <a:xfrm>
            <a:off x="758606" y="3513494"/>
            <a:ext cx="293929" cy="306770"/>
          </a:xfrm>
          <a:prstGeom prst="ellipse">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7C252F13-6951-951A-C696-0FFDFF8C27D8}"/>
              </a:ext>
            </a:extLst>
          </p:cNvPr>
          <p:cNvSpPr/>
          <p:nvPr/>
        </p:nvSpPr>
        <p:spPr>
          <a:xfrm>
            <a:off x="758606" y="3970226"/>
            <a:ext cx="293929" cy="306770"/>
          </a:xfrm>
          <a:prstGeom prst="ellipse">
            <a:avLst/>
          </a:prstGeom>
          <a:solidFill>
            <a:srgbClr val="FFC3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TextBox 88">
            <a:extLst>
              <a:ext uri="{FF2B5EF4-FFF2-40B4-BE49-F238E27FC236}">
                <a16:creationId xmlns:a16="http://schemas.microsoft.com/office/drawing/2014/main" id="{14084FA4-BA1A-1422-0E9B-D73A02023C2E}"/>
              </a:ext>
            </a:extLst>
          </p:cNvPr>
          <p:cNvSpPr txBox="1"/>
          <p:nvPr/>
        </p:nvSpPr>
        <p:spPr>
          <a:xfrm>
            <a:off x="1226477" y="3532367"/>
            <a:ext cx="970137" cy="261610"/>
          </a:xfrm>
          <a:prstGeom prst="rect">
            <a:avLst/>
          </a:prstGeom>
          <a:noFill/>
        </p:spPr>
        <p:txBody>
          <a:bodyPr wrap="none" rtlCol="0">
            <a:spAutoFit/>
          </a:bodyPr>
          <a:lstStyle>
            <a:defPPr>
              <a:defRPr lang="en-US"/>
            </a:defPPr>
            <a:lvl1pPr>
              <a:defRPr sz="1100">
                <a:solidFill>
                  <a:srgbClr val="E1E1E1"/>
                </a:solidFill>
              </a:defRPr>
            </a:lvl1pPr>
          </a:lstStyle>
          <a:p>
            <a:r>
              <a:rPr lang="en-US" dirty="0"/>
              <a:t>Implementor</a:t>
            </a:r>
          </a:p>
        </p:txBody>
      </p:sp>
      <p:sp>
        <p:nvSpPr>
          <p:cNvPr id="90" name="TextBox 89">
            <a:extLst>
              <a:ext uri="{FF2B5EF4-FFF2-40B4-BE49-F238E27FC236}">
                <a16:creationId xmlns:a16="http://schemas.microsoft.com/office/drawing/2014/main" id="{9380972B-4130-F272-7D64-D55A8580EE52}"/>
              </a:ext>
            </a:extLst>
          </p:cNvPr>
          <p:cNvSpPr txBox="1"/>
          <p:nvPr/>
        </p:nvSpPr>
        <p:spPr>
          <a:xfrm>
            <a:off x="1245503" y="3998201"/>
            <a:ext cx="559769" cy="261610"/>
          </a:xfrm>
          <a:prstGeom prst="rect">
            <a:avLst/>
          </a:prstGeom>
          <a:noFill/>
        </p:spPr>
        <p:txBody>
          <a:bodyPr wrap="none" rtlCol="0">
            <a:spAutoFit/>
          </a:bodyPr>
          <a:lstStyle>
            <a:defPPr>
              <a:defRPr lang="en-US"/>
            </a:defPPr>
            <a:lvl1pPr>
              <a:defRPr sz="1100">
                <a:solidFill>
                  <a:srgbClr val="E1E1E1"/>
                </a:solidFill>
              </a:defRPr>
            </a:lvl1pPr>
          </a:lstStyle>
          <a:p>
            <a:r>
              <a:rPr lang="en-US" dirty="0"/>
              <a:t>Tester</a:t>
            </a:r>
          </a:p>
        </p:txBody>
      </p:sp>
      <p:sp>
        <p:nvSpPr>
          <p:cNvPr id="91" name="TextBox 90">
            <a:extLst>
              <a:ext uri="{FF2B5EF4-FFF2-40B4-BE49-F238E27FC236}">
                <a16:creationId xmlns:a16="http://schemas.microsoft.com/office/drawing/2014/main" id="{6CAD21C1-5396-0D6A-FAB5-A3F2932A7D31}"/>
              </a:ext>
            </a:extLst>
          </p:cNvPr>
          <p:cNvSpPr txBox="1"/>
          <p:nvPr/>
        </p:nvSpPr>
        <p:spPr>
          <a:xfrm>
            <a:off x="4260936" y="2611055"/>
            <a:ext cx="724878" cy="261610"/>
          </a:xfrm>
          <a:prstGeom prst="rect">
            <a:avLst/>
          </a:prstGeom>
          <a:noFill/>
        </p:spPr>
        <p:txBody>
          <a:bodyPr wrap="none" rtlCol="0">
            <a:spAutoFit/>
          </a:bodyPr>
          <a:lstStyle/>
          <a:p>
            <a:r>
              <a:rPr lang="en-US" sz="1100" i="1" dirty="0">
                <a:solidFill>
                  <a:srgbClr val="FFC000"/>
                </a:solidFill>
              </a:rPr>
              <a:t>Working.</a:t>
            </a:r>
          </a:p>
        </p:txBody>
      </p:sp>
      <p:pic>
        <p:nvPicPr>
          <p:cNvPr id="93" name="Graphic 92" descr="Information with solid fill">
            <a:extLst>
              <a:ext uri="{FF2B5EF4-FFF2-40B4-BE49-F238E27FC236}">
                <a16:creationId xmlns:a16="http://schemas.microsoft.com/office/drawing/2014/main" id="{408B5E9C-85AB-2B83-E9C5-2FA8B400BED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2365" y="3102069"/>
            <a:ext cx="193473" cy="193473"/>
          </a:xfrm>
          <a:prstGeom prst="rect">
            <a:avLst/>
          </a:prstGeom>
        </p:spPr>
      </p:pic>
      <p:pic>
        <p:nvPicPr>
          <p:cNvPr id="94" name="Graphic 93" descr="Information with solid fill">
            <a:extLst>
              <a:ext uri="{FF2B5EF4-FFF2-40B4-BE49-F238E27FC236}">
                <a16:creationId xmlns:a16="http://schemas.microsoft.com/office/drawing/2014/main" id="{D9716471-1AD0-3C7A-8DCF-203FA150551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2365" y="3553624"/>
            <a:ext cx="193473" cy="193473"/>
          </a:xfrm>
          <a:prstGeom prst="rect">
            <a:avLst/>
          </a:prstGeom>
        </p:spPr>
      </p:pic>
      <p:pic>
        <p:nvPicPr>
          <p:cNvPr id="95" name="Graphic 94" descr="Information with solid fill">
            <a:extLst>
              <a:ext uri="{FF2B5EF4-FFF2-40B4-BE49-F238E27FC236}">
                <a16:creationId xmlns:a16="http://schemas.microsoft.com/office/drawing/2014/main" id="{9F91458F-18D2-364C-B81E-8AD68985361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2364" y="4014063"/>
            <a:ext cx="193473" cy="193473"/>
          </a:xfrm>
          <a:prstGeom prst="rect">
            <a:avLst/>
          </a:prstGeom>
        </p:spPr>
      </p:pic>
      <p:sp>
        <p:nvSpPr>
          <p:cNvPr id="96" name="TextBox 95">
            <a:extLst>
              <a:ext uri="{FF2B5EF4-FFF2-40B4-BE49-F238E27FC236}">
                <a16:creationId xmlns:a16="http://schemas.microsoft.com/office/drawing/2014/main" id="{6D85A377-E4B9-6429-BBD5-CE35BDD9E1C5}"/>
              </a:ext>
            </a:extLst>
          </p:cNvPr>
          <p:cNvSpPr txBox="1"/>
          <p:nvPr/>
        </p:nvSpPr>
        <p:spPr>
          <a:xfrm>
            <a:off x="729726" y="3076054"/>
            <a:ext cx="460382" cy="282316"/>
          </a:xfrm>
          <a:prstGeom prst="rect">
            <a:avLst/>
          </a:prstGeom>
          <a:noFill/>
        </p:spPr>
        <p:txBody>
          <a:bodyPr wrap="square" rtlCol="0">
            <a:spAutoFit/>
          </a:bodyPr>
          <a:lstStyle/>
          <a:p>
            <a:r>
              <a:rPr lang="en-US" sz="1200" b="1" dirty="0">
                <a:solidFill>
                  <a:srgbClr val="0E1C2D"/>
                </a:solidFill>
              </a:rPr>
              <a:t>An</a:t>
            </a:r>
          </a:p>
        </p:txBody>
      </p:sp>
      <p:sp>
        <p:nvSpPr>
          <p:cNvPr id="97" name="TextBox 96">
            <a:extLst>
              <a:ext uri="{FF2B5EF4-FFF2-40B4-BE49-F238E27FC236}">
                <a16:creationId xmlns:a16="http://schemas.microsoft.com/office/drawing/2014/main" id="{D1618385-2866-8654-94F0-288A571F6642}"/>
              </a:ext>
            </a:extLst>
          </p:cNvPr>
          <p:cNvSpPr txBox="1"/>
          <p:nvPr/>
        </p:nvSpPr>
        <p:spPr>
          <a:xfrm>
            <a:off x="736070" y="3523140"/>
            <a:ext cx="460382" cy="282316"/>
          </a:xfrm>
          <a:prstGeom prst="rect">
            <a:avLst/>
          </a:prstGeom>
          <a:noFill/>
        </p:spPr>
        <p:txBody>
          <a:bodyPr wrap="square" rtlCol="0">
            <a:spAutoFit/>
          </a:bodyPr>
          <a:lstStyle/>
          <a:p>
            <a:r>
              <a:rPr lang="en-US" sz="1200" b="1" dirty="0" err="1">
                <a:solidFill>
                  <a:srgbClr val="0E1C2D"/>
                </a:solidFill>
              </a:rPr>
              <a:t>Im</a:t>
            </a:r>
            <a:endParaRPr lang="en-US" sz="1200" b="1" dirty="0">
              <a:solidFill>
                <a:srgbClr val="0E1C2D"/>
              </a:solidFill>
            </a:endParaRPr>
          </a:p>
        </p:txBody>
      </p:sp>
      <p:sp>
        <p:nvSpPr>
          <p:cNvPr id="98" name="TextBox 97">
            <a:extLst>
              <a:ext uri="{FF2B5EF4-FFF2-40B4-BE49-F238E27FC236}">
                <a16:creationId xmlns:a16="http://schemas.microsoft.com/office/drawing/2014/main" id="{F9365896-7D32-D6D9-1181-E43418912F5C}"/>
              </a:ext>
            </a:extLst>
          </p:cNvPr>
          <p:cNvSpPr txBox="1"/>
          <p:nvPr/>
        </p:nvSpPr>
        <p:spPr>
          <a:xfrm>
            <a:off x="736070" y="3989707"/>
            <a:ext cx="460382" cy="282316"/>
          </a:xfrm>
          <a:prstGeom prst="rect">
            <a:avLst/>
          </a:prstGeom>
          <a:noFill/>
        </p:spPr>
        <p:txBody>
          <a:bodyPr wrap="square" rtlCol="0">
            <a:spAutoFit/>
          </a:bodyPr>
          <a:lstStyle/>
          <a:p>
            <a:r>
              <a:rPr lang="en-US" sz="1200" b="1" dirty="0" err="1">
                <a:solidFill>
                  <a:srgbClr val="0E1C2D"/>
                </a:solidFill>
              </a:rPr>
              <a:t>Te</a:t>
            </a:r>
            <a:endParaRPr lang="en-US" sz="1200" b="1" dirty="0">
              <a:solidFill>
                <a:srgbClr val="0E1C2D"/>
              </a:solidFill>
            </a:endParaRPr>
          </a:p>
        </p:txBody>
      </p:sp>
      <p:sp>
        <p:nvSpPr>
          <p:cNvPr id="99" name="TextBox 98">
            <a:extLst>
              <a:ext uri="{FF2B5EF4-FFF2-40B4-BE49-F238E27FC236}">
                <a16:creationId xmlns:a16="http://schemas.microsoft.com/office/drawing/2014/main" id="{2B7915A4-7564-BB6A-3876-AE112E03D2F4}"/>
              </a:ext>
            </a:extLst>
          </p:cNvPr>
          <p:cNvSpPr txBox="1"/>
          <p:nvPr/>
        </p:nvSpPr>
        <p:spPr>
          <a:xfrm>
            <a:off x="4193614" y="2214394"/>
            <a:ext cx="886781" cy="246221"/>
          </a:xfrm>
          <a:prstGeom prst="rect">
            <a:avLst/>
          </a:prstGeom>
          <a:noFill/>
        </p:spPr>
        <p:txBody>
          <a:bodyPr wrap="none" rtlCol="0">
            <a:spAutoFit/>
          </a:bodyPr>
          <a:lstStyle/>
          <a:p>
            <a:pPr algn="ctr"/>
            <a:r>
              <a:rPr lang="en-US" sz="1000" dirty="0">
                <a:solidFill>
                  <a:srgbClr val="E1E1E1"/>
                </a:solidFill>
              </a:rPr>
              <a:t>Agent Status</a:t>
            </a:r>
          </a:p>
        </p:txBody>
      </p:sp>
      <p:sp>
        <p:nvSpPr>
          <p:cNvPr id="100" name="TextBox 99">
            <a:extLst>
              <a:ext uri="{FF2B5EF4-FFF2-40B4-BE49-F238E27FC236}">
                <a16:creationId xmlns:a16="http://schemas.microsoft.com/office/drawing/2014/main" id="{194B8820-C90B-3B50-345B-4834713B199E}"/>
              </a:ext>
            </a:extLst>
          </p:cNvPr>
          <p:cNvSpPr txBox="1"/>
          <p:nvPr/>
        </p:nvSpPr>
        <p:spPr>
          <a:xfrm>
            <a:off x="7929117" y="2092323"/>
            <a:ext cx="772505" cy="400110"/>
          </a:xfrm>
          <a:prstGeom prst="rect">
            <a:avLst/>
          </a:prstGeom>
          <a:noFill/>
        </p:spPr>
        <p:txBody>
          <a:bodyPr wrap="square" rtlCol="0">
            <a:spAutoFit/>
          </a:bodyPr>
          <a:lstStyle/>
          <a:p>
            <a:pPr algn="ctr"/>
            <a:r>
              <a:rPr lang="en-US" sz="1000" dirty="0">
                <a:solidFill>
                  <a:srgbClr val="E1E1E1"/>
                </a:solidFill>
              </a:rPr>
              <a:t>Messages waiting</a:t>
            </a:r>
          </a:p>
        </p:txBody>
      </p:sp>
      <p:sp>
        <p:nvSpPr>
          <p:cNvPr id="114" name="TextBox 113">
            <a:extLst>
              <a:ext uri="{FF2B5EF4-FFF2-40B4-BE49-F238E27FC236}">
                <a16:creationId xmlns:a16="http://schemas.microsoft.com/office/drawing/2014/main" id="{4FC381CF-4DED-87E0-36B5-8D94D24FE542}"/>
              </a:ext>
            </a:extLst>
          </p:cNvPr>
          <p:cNvSpPr txBox="1"/>
          <p:nvPr/>
        </p:nvSpPr>
        <p:spPr>
          <a:xfrm>
            <a:off x="7041082" y="2099303"/>
            <a:ext cx="772505" cy="400110"/>
          </a:xfrm>
          <a:prstGeom prst="rect">
            <a:avLst/>
          </a:prstGeom>
          <a:noFill/>
        </p:spPr>
        <p:txBody>
          <a:bodyPr wrap="square" rtlCol="0">
            <a:spAutoFit/>
          </a:bodyPr>
          <a:lstStyle/>
          <a:p>
            <a:pPr algn="ctr"/>
            <a:r>
              <a:rPr lang="en-US" sz="1000" dirty="0">
                <a:solidFill>
                  <a:srgbClr val="E1E1E1"/>
                </a:solidFill>
              </a:rPr>
              <a:t>Messages</a:t>
            </a:r>
          </a:p>
          <a:p>
            <a:pPr algn="ctr"/>
            <a:r>
              <a:rPr lang="en-US" sz="1000" dirty="0">
                <a:solidFill>
                  <a:srgbClr val="E1E1E1"/>
                </a:solidFill>
              </a:rPr>
              <a:t>Sent</a:t>
            </a:r>
          </a:p>
        </p:txBody>
      </p:sp>
      <p:sp>
        <p:nvSpPr>
          <p:cNvPr id="115" name="TextBox 114">
            <a:extLst>
              <a:ext uri="{FF2B5EF4-FFF2-40B4-BE49-F238E27FC236}">
                <a16:creationId xmlns:a16="http://schemas.microsoft.com/office/drawing/2014/main" id="{AECFBACC-58C6-0804-E771-4915565F38B4}"/>
              </a:ext>
            </a:extLst>
          </p:cNvPr>
          <p:cNvSpPr txBox="1"/>
          <p:nvPr/>
        </p:nvSpPr>
        <p:spPr>
          <a:xfrm>
            <a:off x="8932682" y="2112169"/>
            <a:ext cx="751053" cy="400110"/>
          </a:xfrm>
          <a:prstGeom prst="rect">
            <a:avLst/>
          </a:prstGeom>
          <a:noFill/>
        </p:spPr>
        <p:txBody>
          <a:bodyPr wrap="square" rtlCol="0">
            <a:spAutoFit/>
          </a:bodyPr>
          <a:lstStyle/>
          <a:p>
            <a:pPr algn="ctr"/>
            <a:r>
              <a:rPr lang="en-US" sz="1000" dirty="0">
                <a:solidFill>
                  <a:srgbClr val="E1E1E1"/>
                </a:solidFill>
              </a:rPr>
              <a:t>Messages Read</a:t>
            </a:r>
          </a:p>
        </p:txBody>
      </p:sp>
      <p:pic>
        <p:nvPicPr>
          <p:cNvPr id="117" name="Graphic 116" descr="Chat with solid fill">
            <a:extLst>
              <a:ext uri="{FF2B5EF4-FFF2-40B4-BE49-F238E27FC236}">
                <a16:creationId xmlns:a16="http://schemas.microsoft.com/office/drawing/2014/main" id="{C33C0194-1D71-91ED-C3DB-89BCC278F3D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305301" y="2637658"/>
            <a:ext cx="261610" cy="261610"/>
          </a:xfrm>
          <a:prstGeom prst="rect">
            <a:avLst/>
          </a:prstGeom>
        </p:spPr>
      </p:pic>
      <p:pic>
        <p:nvPicPr>
          <p:cNvPr id="118" name="Graphic 117" descr="Chat with solid fill">
            <a:extLst>
              <a:ext uri="{FF2B5EF4-FFF2-40B4-BE49-F238E27FC236}">
                <a16:creationId xmlns:a16="http://schemas.microsoft.com/office/drawing/2014/main" id="{C966D0F4-57B6-BF37-0114-7E79403807D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297189" y="3068000"/>
            <a:ext cx="261610" cy="261610"/>
          </a:xfrm>
          <a:prstGeom prst="rect">
            <a:avLst/>
          </a:prstGeom>
        </p:spPr>
      </p:pic>
      <p:pic>
        <p:nvPicPr>
          <p:cNvPr id="119" name="Graphic 118" descr="Chat with solid fill">
            <a:extLst>
              <a:ext uri="{FF2B5EF4-FFF2-40B4-BE49-F238E27FC236}">
                <a16:creationId xmlns:a16="http://schemas.microsoft.com/office/drawing/2014/main" id="{241BB4E4-E9E8-3833-4CA1-6C134BA1B4C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297189" y="3527404"/>
            <a:ext cx="261610" cy="261610"/>
          </a:xfrm>
          <a:prstGeom prst="rect">
            <a:avLst/>
          </a:prstGeom>
        </p:spPr>
      </p:pic>
      <p:pic>
        <p:nvPicPr>
          <p:cNvPr id="120" name="Graphic 119" descr="Chat with solid fill">
            <a:extLst>
              <a:ext uri="{FF2B5EF4-FFF2-40B4-BE49-F238E27FC236}">
                <a16:creationId xmlns:a16="http://schemas.microsoft.com/office/drawing/2014/main" id="{75D7974A-7D13-480C-822C-3962F350265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310562" y="3991625"/>
            <a:ext cx="261610" cy="261610"/>
          </a:xfrm>
          <a:prstGeom prst="rect">
            <a:avLst/>
          </a:prstGeom>
        </p:spPr>
      </p:pic>
      <p:sp>
        <p:nvSpPr>
          <p:cNvPr id="135" name="TextBox 134">
            <a:extLst>
              <a:ext uri="{FF2B5EF4-FFF2-40B4-BE49-F238E27FC236}">
                <a16:creationId xmlns:a16="http://schemas.microsoft.com/office/drawing/2014/main" id="{831B0283-98E2-F6D8-192F-4F2CCC8C36C5}"/>
              </a:ext>
            </a:extLst>
          </p:cNvPr>
          <p:cNvSpPr txBox="1"/>
          <p:nvPr/>
        </p:nvSpPr>
        <p:spPr>
          <a:xfrm>
            <a:off x="4273058" y="3530126"/>
            <a:ext cx="683200" cy="261610"/>
          </a:xfrm>
          <a:prstGeom prst="rect">
            <a:avLst/>
          </a:prstGeom>
          <a:noFill/>
        </p:spPr>
        <p:txBody>
          <a:bodyPr wrap="none" rtlCol="0">
            <a:spAutoFit/>
          </a:bodyPr>
          <a:lstStyle/>
          <a:p>
            <a:r>
              <a:rPr lang="en-US" sz="1100" i="1" dirty="0">
                <a:solidFill>
                  <a:srgbClr val="FFC000"/>
                </a:solidFill>
              </a:rPr>
              <a:t>Waiting.</a:t>
            </a:r>
          </a:p>
        </p:txBody>
      </p:sp>
      <p:sp>
        <p:nvSpPr>
          <p:cNvPr id="136" name="TextBox 135">
            <a:extLst>
              <a:ext uri="{FF2B5EF4-FFF2-40B4-BE49-F238E27FC236}">
                <a16:creationId xmlns:a16="http://schemas.microsoft.com/office/drawing/2014/main" id="{7C6C3790-25F1-8955-1841-7EB10DFFEBE9}"/>
              </a:ext>
            </a:extLst>
          </p:cNvPr>
          <p:cNvSpPr txBox="1"/>
          <p:nvPr/>
        </p:nvSpPr>
        <p:spPr>
          <a:xfrm>
            <a:off x="4253814" y="3982173"/>
            <a:ext cx="683200" cy="261610"/>
          </a:xfrm>
          <a:prstGeom prst="rect">
            <a:avLst/>
          </a:prstGeom>
          <a:noFill/>
        </p:spPr>
        <p:txBody>
          <a:bodyPr wrap="none" rtlCol="0">
            <a:spAutoFit/>
          </a:bodyPr>
          <a:lstStyle/>
          <a:p>
            <a:r>
              <a:rPr lang="en-US" sz="1100" i="1" dirty="0">
                <a:solidFill>
                  <a:srgbClr val="FFC000"/>
                </a:solidFill>
              </a:rPr>
              <a:t>Waiting.</a:t>
            </a:r>
          </a:p>
        </p:txBody>
      </p:sp>
      <p:pic>
        <p:nvPicPr>
          <p:cNvPr id="137" name="Graphic 136" descr="Play with solid fill">
            <a:extLst>
              <a:ext uri="{FF2B5EF4-FFF2-40B4-BE49-F238E27FC236}">
                <a16:creationId xmlns:a16="http://schemas.microsoft.com/office/drawing/2014/main" id="{8644B154-78BF-C3F2-D0AA-8456D41A20F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00374" y="3545730"/>
            <a:ext cx="193474" cy="193474"/>
          </a:xfrm>
          <a:prstGeom prst="rect">
            <a:avLst/>
          </a:prstGeom>
        </p:spPr>
      </p:pic>
      <p:pic>
        <p:nvPicPr>
          <p:cNvPr id="138" name="Graphic 137" descr="Play with solid fill">
            <a:extLst>
              <a:ext uri="{FF2B5EF4-FFF2-40B4-BE49-F238E27FC236}">
                <a16:creationId xmlns:a16="http://schemas.microsoft.com/office/drawing/2014/main" id="{19D9722A-0E72-C828-CF13-B0847A23036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02983" y="4004988"/>
            <a:ext cx="193474" cy="193474"/>
          </a:xfrm>
          <a:prstGeom prst="rect">
            <a:avLst/>
          </a:prstGeom>
        </p:spPr>
      </p:pic>
      <p:sp>
        <p:nvSpPr>
          <p:cNvPr id="139" name="TextBox 138">
            <a:extLst>
              <a:ext uri="{FF2B5EF4-FFF2-40B4-BE49-F238E27FC236}">
                <a16:creationId xmlns:a16="http://schemas.microsoft.com/office/drawing/2014/main" id="{05CB85C2-826E-3423-1B18-2CA6F967A586}"/>
              </a:ext>
            </a:extLst>
          </p:cNvPr>
          <p:cNvSpPr txBox="1"/>
          <p:nvPr/>
        </p:nvSpPr>
        <p:spPr>
          <a:xfrm>
            <a:off x="7282334" y="2637658"/>
            <a:ext cx="260008" cy="261610"/>
          </a:xfrm>
          <a:prstGeom prst="rect">
            <a:avLst/>
          </a:prstGeom>
          <a:noFill/>
        </p:spPr>
        <p:txBody>
          <a:bodyPr wrap="square" rtlCol="0">
            <a:spAutoFit/>
          </a:bodyPr>
          <a:lstStyle/>
          <a:p>
            <a:r>
              <a:rPr lang="en-US" sz="1100" dirty="0">
                <a:solidFill>
                  <a:srgbClr val="E1E1E1"/>
                </a:solidFill>
              </a:rPr>
              <a:t>7</a:t>
            </a:r>
          </a:p>
        </p:txBody>
      </p:sp>
      <p:sp>
        <p:nvSpPr>
          <p:cNvPr id="13" name="TextBox 12">
            <a:extLst>
              <a:ext uri="{FF2B5EF4-FFF2-40B4-BE49-F238E27FC236}">
                <a16:creationId xmlns:a16="http://schemas.microsoft.com/office/drawing/2014/main" id="{E54CA493-D839-F9DB-93A5-B11663070B72}"/>
              </a:ext>
            </a:extLst>
          </p:cNvPr>
          <p:cNvSpPr txBox="1"/>
          <p:nvPr/>
        </p:nvSpPr>
        <p:spPr>
          <a:xfrm>
            <a:off x="8155156" y="3033932"/>
            <a:ext cx="260008" cy="261610"/>
          </a:xfrm>
          <a:prstGeom prst="rect">
            <a:avLst/>
          </a:prstGeom>
          <a:noFill/>
        </p:spPr>
        <p:txBody>
          <a:bodyPr wrap="square" rtlCol="0">
            <a:spAutoFit/>
          </a:bodyPr>
          <a:lstStyle/>
          <a:p>
            <a:r>
              <a:rPr lang="en-US" sz="1100" dirty="0">
                <a:solidFill>
                  <a:srgbClr val="E1E1E1"/>
                </a:solidFill>
              </a:rPr>
              <a:t>2</a:t>
            </a:r>
          </a:p>
        </p:txBody>
      </p:sp>
      <p:sp>
        <p:nvSpPr>
          <p:cNvPr id="19" name="TextBox 18">
            <a:extLst>
              <a:ext uri="{FF2B5EF4-FFF2-40B4-BE49-F238E27FC236}">
                <a16:creationId xmlns:a16="http://schemas.microsoft.com/office/drawing/2014/main" id="{F667A98F-45C2-B636-CE0F-C120C3D55753}"/>
              </a:ext>
            </a:extLst>
          </p:cNvPr>
          <p:cNvSpPr txBox="1"/>
          <p:nvPr/>
        </p:nvSpPr>
        <p:spPr>
          <a:xfrm>
            <a:off x="8155156" y="3980155"/>
            <a:ext cx="260008" cy="261610"/>
          </a:xfrm>
          <a:prstGeom prst="rect">
            <a:avLst/>
          </a:prstGeom>
          <a:noFill/>
        </p:spPr>
        <p:txBody>
          <a:bodyPr wrap="square" rtlCol="0">
            <a:spAutoFit/>
          </a:bodyPr>
          <a:lstStyle/>
          <a:p>
            <a:r>
              <a:rPr lang="en-US" sz="1100" dirty="0">
                <a:solidFill>
                  <a:srgbClr val="E1E1E1"/>
                </a:solidFill>
              </a:rPr>
              <a:t>3</a:t>
            </a:r>
          </a:p>
        </p:txBody>
      </p:sp>
      <p:sp>
        <p:nvSpPr>
          <p:cNvPr id="20" name="TextBox 19">
            <a:extLst>
              <a:ext uri="{FF2B5EF4-FFF2-40B4-BE49-F238E27FC236}">
                <a16:creationId xmlns:a16="http://schemas.microsoft.com/office/drawing/2014/main" id="{7A4841F9-7822-E301-476A-416D13147A06}"/>
              </a:ext>
            </a:extLst>
          </p:cNvPr>
          <p:cNvSpPr txBox="1"/>
          <p:nvPr/>
        </p:nvSpPr>
        <p:spPr>
          <a:xfrm>
            <a:off x="8155156" y="3496213"/>
            <a:ext cx="260008" cy="261610"/>
          </a:xfrm>
          <a:prstGeom prst="rect">
            <a:avLst/>
          </a:prstGeom>
          <a:noFill/>
        </p:spPr>
        <p:txBody>
          <a:bodyPr wrap="square" rtlCol="0">
            <a:spAutoFit/>
          </a:bodyPr>
          <a:lstStyle/>
          <a:p>
            <a:r>
              <a:rPr lang="en-US" sz="1100" dirty="0">
                <a:solidFill>
                  <a:srgbClr val="E1E1E1"/>
                </a:solidFill>
              </a:rPr>
              <a:t>2</a:t>
            </a:r>
          </a:p>
        </p:txBody>
      </p:sp>
      <p:sp>
        <p:nvSpPr>
          <p:cNvPr id="23" name="TextBox 22">
            <a:extLst>
              <a:ext uri="{FF2B5EF4-FFF2-40B4-BE49-F238E27FC236}">
                <a16:creationId xmlns:a16="http://schemas.microsoft.com/office/drawing/2014/main" id="{DFE72850-3AC6-DF91-6230-4E0E27751141}"/>
              </a:ext>
            </a:extLst>
          </p:cNvPr>
          <p:cNvSpPr txBox="1"/>
          <p:nvPr/>
        </p:nvSpPr>
        <p:spPr>
          <a:xfrm>
            <a:off x="2947872" y="2209718"/>
            <a:ext cx="649537" cy="246221"/>
          </a:xfrm>
          <a:prstGeom prst="rect">
            <a:avLst/>
          </a:prstGeom>
          <a:noFill/>
        </p:spPr>
        <p:txBody>
          <a:bodyPr wrap="none" rtlCol="0">
            <a:spAutoFit/>
          </a:bodyPr>
          <a:lstStyle/>
          <a:p>
            <a:pPr algn="ctr"/>
            <a:r>
              <a:rPr lang="en-US" sz="1000" dirty="0">
                <a:solidFill>
                  <a:srgbClr val="E1E1E1"/>
                </a:solidFill>
              </a:rPr>
              <a:t>Agent ID</a:t>
            </a:r>
          </a:p>
        </p:txBody>
      </p:sp>
      <p:sp>
        <p:nvSpPr>
          <p:cNvPr id="28" name="TextBox 27">
            <a:extLst>
              <a:ext uri="{FF2B5EF4-FFF2-40B4-BE49-F238E27FC236}">
                <a16:creationId xmlns:a16="http://schemas.microsoft.com/office/drawing/2014/main" id="{03F5D498-3F6C-2E80-1FC1-92B5F811E1EC}"/>
              </a:ext>
            </a:extLst>
          </p:cNvPr>
          <p:cNvSpPr txBox="1"/>
          <p:nvPr/>
        </p:nvSpPr>
        <p:spPr>
          <a:xfrm>
            <a:off x="2647311" y="2620646"/>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0" name="TextBox 29">
            <a:extLst>
              <a:ext uri="{FF2B5EF4-FFF2-40B4-BE49-F238E27FC236}">
                <a16:creationId xmlns:a16="http://schemas.microsoft.com/office/drawing/2014/main" id="{A995470B-60A9-363A-CDD6-E5E38951D429}"/>
              </a:ext>
            </a:extLst>
          </p:cNvPr>
          <p:cNvSpPr txBox="1"/>
          <p:nvPr/>
        </p:nvSpPr>
        <p:spPr>
          <a:xfrm>
            <a:off x="2647311" y="3086580"/>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1" name="TextBox 30">
            <a:extLst>
              <a:ext uri="{FF2B5EF4-FFF2-40B4-BE49-F238E27FC236}">
                <a16:creationId xmlns:a16="http://schemas.microsoft.com/office/drawing/2014/main" id="{916C07B5-C3B8-B6AB-A732-F000456EBC90}"/>
              </a:ext>
            </a:extLst>
          </p:cNvPr>
          <p:cNvSpPr txBox="1"/>
          <p:nvPr/>
        </p:nvSpPr>
        <p:spPr>
          <a:xfrm>
            <a:off x="2647311" y="3545730"/>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2" name="TextBox 31">
            <a:extLst>
              <a:ext uri="{FF2B5EF4-FFF2-40B4-BE49-F238E27FC236}">
                <a16:creationId xmlns:a16="http://schemas.microsoft.com/office/drawing/2014/main" id="{9F6A2BB6-7726-BA5B-4627-994BA5F741FD}"/>
              </a:ext>
            </a:extLst>
          </p:cNvPr>
          <p:cNvSpPr txBox="1"/>
          <p:nvPr/>
        </p:nvSpPr>
        <p:spPr>
          <a:xfrm>
            <a:off x="2636441" y="4004880"/>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3" name="TextBox 32">
            <a:extLst>
              <a:ext uri="{FF2B5EF4-FFF2-40B4-BE49-F238E27FC236}">
                <a16:creationId xmlns:a16="http://schemas.microsoft.com/office/drawing/2014/main" id="{6DCD6AD2-661A-AE90-F6BE-58CD0C9A02B8}"/>
              </a:ext>
            </a:extLst>
          </p:cNvPr>
          <p:cNvSpPr txBox="1"/>
          <p:nvPr/>
        </p:nvSpPr>
        <p:spPr>
          <a:xfrm>
            <a:off x="5445208" y="2092323"/>
            <a:ext cx="772505" cy="400110"/>
          </a:xfrm>
          <a:prstGeom prst="rect">
            <a:avLst/>
          </a:prstGeom>
          <a:noFill/>
        </p:spPr>
        <p:txBody>
          <a:bodyPr wrap="square" rtlCol="0">
            <a:spAutoFit/>
          </a:bodyPr>
          <a:lstStyle/>
          <a:p>
            <a:pPr algn="ctr"/>
            <a:r>
              <a:rPr lang="en-US" sz="1000" dirty="0">
                <a:solidFill>
                  <a:srgbClr val="E1E1E1"/>
                </a:solidFill>
              </a:rPr>
              <a:t>Job </a:t>
            </a:r>
          </a:p>
          <a:p>
            <a:pPr algn="ctr"/>
            <a:r>
              <a:rPr lang="en-US" sz="1000" dirty="0">
                <a:solidFill>
                  <a:srgbClr val="E1E1E1"/>
                </a:solidFill>
              </a:rPr>
              <a:t>Read</a:t>
            </a:r>
          </a:p>
        </p:txBody>
      </p:sp>
      <p:sp>
        <p:nvSpPr>
          <p:cNvPr id="34" name="TextBox 33">
            <a:extLst>
              <a:ext uri="{FF2B5EF4-FFF2-40B4-BE49-F238E27FC236}">
                <a16:creationId xmlns:a16="http://schemas.microsoft.com/office/drawing/2014/main" id="{A3D903EA-6E1C-981F-214A-794CF0F17AB1}"/>
              </a:ext>
            </a:extLst>
          </p:cNvPr>
          <p:cNvSpPr txBox="1"/>
          <p:nvPr/>
        </p:nvSpPr>
        <p:spPr>
          <a:xfrm>
            <a:off x="6129630" y="2105765"/>
            <a:ext cx="1037054" cy="400110"/>
          </a:xfrm>
          <a:prstGeom prst="rect">
            <a:avLst/>
          </a:prstGeom>
          <a:noFill/>
        </p:spPr>
        <p:txBody>
          <a:bodyPr wrap="square" rtlCol="0">
            <a:spAutoFit/>
          </a:bodyPr>
          <a:lstStyle/>
          <a:p>
            <a:pPr algn="ctr"/>
            <a:r>
              <a:rPr lang="en-US" sz="1000" dirty="0">
                <a:solidFill>
                  <a:srgbClr val="E1E1E1"/>
                </a:solidFill>
              </a:rPr>
              <a:t>Job Acknowledged</a:t>
            </a:r>
          </a:p>
        </p:txBody>
      </p:sp>
      <p:pic>
        <p:nvPicPr>
          <p:cNvPr id="36" name="Graphic 35" descr="Badge Tick1 with solid fill">
            <a:extLst>
              <a:ext uri="{FF2B5EF4-FFF2-40B4-BE49-F238E27FC236}">
                <a16:creationId xmlns:a16="http://schemas.microsoft.com/office/drawing/2014/main" id="{3F45C6AE-2154-E8A9-790E-7C50805C7F0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720452" y="2644852"/>
            <a:ext cx="222015" cy="222015"/>
          </a:xfrm>
          <a:prstGeom prst="rect">
            <a:avLst/>
          </a:prstGeom>
        </p:spPr>
      </p:pic>
      <p:pic>
        <p:nvPicPr>
          <p:cNvPr id="37" name="Graphic 36" descr="Badge Tick1 with solid fill">
            <a:extLst>
              <a:ext uri="{FF2B5EF4-FFF2-40B4-BE49-F238E27FC236}">
                <a16:creationId xmlns:a16="http://schemas.microsoft.com/office/drawing/2014/main" id="{330D85C5-51A3-D535-18BB-5D010DE5850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554184" y="2644851"/>
            <a:ext cx="222015" cy="222015"/>
          </a:xfrm>
          <a:prstGeom prst="rect">
            <a:avLst/>
          </a:prstGeom>
        </p:spPr>
      </p:pic>
      <p:cxnSp>
        <p:nvCxnSpPr>
          <p:cNvPr id="41" name="Straight Connector 40">
            <a:extLst>
              <a:ext uri="{FF2B5EF4-FFF2-40B4-BE49-F238E27FC236}">
                <a16:creationId xmlns:a16="http://schemas.microsoft.com/office/drawing/2014/main" id="{A1271CCE-1F2C-4346-BFF2-87628CA0EF5A}"/>
              </a:ext>
            </a:extLst>
          </p:cNvPr>
          <p:cNvCxnSpPr>
            <a:cxnSpLocks/>
          </p:cNvCxnSpPr>
          <p:nvPr/>
        </p:nvCxnSpPr>
        <p:spPr>
          <a:xfrm>
            <a:off x="11391357" y="2585825"/>
            <a:ext cx="0" cy="2327883"/>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E38F9A9F-B6CC-E5DE-F266-058DA4495C2B}"/>
              </a:ext>
            </a:extLst>
          </p:cNvPr>
          <p:cNvCxnSpPr>
            <a:cxnSpLocks/>
          </p:cNvCxnSpPr>
          <p:nvPr/>
        </p:nvCxnSpPr>
        <p:spPr>
          <a:xfrm>
            <a:off x="11391357" y="2585825"/>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136267EC-701B-415C-1D81-E5D7E76AC72B}"/>
              </a:ext>
            </a:extLst>
          </p:cNvPr>
          <p:cNvCxnSpPr>
            <a:cxnSpLocks/>
          </p:cNvCxnSpPr>
          <p:nvPr/>
        </p:nvCxnSpPr>
        <p:spPr>
          <a:xfrm>
            <a:off x="11391357" y="2625072"/>
            <a:ext cx="0" cy="2327883"/>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A9DAF00F-F677-A376-A907-30286C3FD1FF}"/>
              </a:ext>
            </a:extLst>
          </p:cNvPr>
          <p:cNvCxnSpPr>
            <a:cxnSpLocks/>
          </p:cNvCxnSpPr>
          <p:nvPr/>
        </p:nvCxnSpPr>
        <p:spPr>
          <a:xfrm>
            <a:off x="11391357" y="2625072"/>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sp>
        <p:nvSpPr>
          <p:cNvPr id="45" name="Rectangle: Rounded Corners 44">
            <a:extLst>
              <a:ext uri="{FF2B5EF4-FFF2-40B4-BE49-F238E27FC236}">
                <a16:creationId xmlns:a16="http://schemas.microsoft.com/office/drawing/2014/main" id="{5D1B57D6-9F75-D7CA-438C-39079BEB4756}"/>
              </a:ext>
            </a:extLst>
          </p:cNvPr>
          <p:cNvSpPr/>
          <p:nvPr/>
        </p:nvSpPr>
        <p:spPr>
          <a:xfrm>
            <a:off x="3031449" y="5377380"/>
            <a:ext cx="5904873" cy="421811"/>
          </a:xfrm>
          <a:prstGeom prst="roundRect">
            <a:avLst>
              <a:gd name="adj" fmla="val 27474"/>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a:t>
            </a:r>
          </a:p>
        </p:txBody>
      </p:sp>
      <p:sp>
        <p:nvSpPr>
          <p:cNvPr id="46" name="Rectangle: Rounded Corners 45">
            <a:extLst>
              <a:ext uri="{FF2B5EF4-FFF2-40B4-BE49-F238E27FC236}">
                <a16:creationId xmlns:a16="http://schemas.microsoft.com/office/drawing/2014/main" id="{0EF4106A-2FBB-5CE4-5A3C-E4794F4BDA4A}"/>
              </a:ext>
            </a:extLst>
          </p:cNvPr>
          <p:cNvSpPr/>
          <p:nvPr/>
        </p:nvSpPr>
        <p:spPr>
          <a:xfrm>
            <a:off x="522553" y="5375748"/>
            <a:ext cx="1132255" cy="421811"/>
          </a:xfrm>
          <a:prstGeom prst="roundRect">
            <a:avLst>
              <a:gd name="adj" fmla="val 27474"/>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1E3147"/>
                </a:solidFill>
              </a:rPr>
              <a:t>Message Orchestrator</a:t>
            </a:r>
          </a:p>
        </p:txBody>
      </p:sp>
      <p:sp>
        <p:nvSpPr>
          <p:cNvPr id="47" name="Rectangle: Rounded Corners 46">
            <a:extLst>
              <a:ext uri="{FF2B5EF4-FFF2-40B4-BE49-F238E27FC236}">
                <a16:creationId xmlns:a16="http://schemas.microsoft.com/office/drawing/2014/main" id="{0158DF9C-1319-C6F5-7192-5CD376EEB37B}"/>
              </a:ext>
            </a:extLst>
          </p:cNvPr>
          <p:cNvSpPr/>
          <p:nvPr/>
        </p:nvSpPr>
        <p:spPr>
          <a:xfrm>
            <a:off x="1753756" y="5378268"/>
            <a:ext cx="1178745" cy="421811"/>
          </a:xfrm>
          <a:prstGeom prst="roundRect">
            <a:avLst>
              <a:gd name="adj" fmla="val 27474"/>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1E1E1"/>
                </a:solidFill>
              </a:rPr>
              <a:t>Broadcast</a:t>
            </a:r>
          </a:p>
        </p:txBody>
      </p:sp>
      <p:sp>
        <p:nvSpPr>
          <p:cNvPr id="50" name="Oval 49">
            <a:extLst>
              <a:ext uri="{FF2B5EF4-FFF2-40B4-BE49-F238E27FC236}">
                <a16:creationId xmlns:a16="http://schemas.microsoft.com/office/drawing/2014/main" id="{4694CD13-E9FC-1EC7-8E47-E59A8733217F}"/>
              </a:ext>
            </a:extLst>
          </p:cNvPr>
          <p:cNvSpPr/>
          <p:nvPr/>
        </p:nvSpPr>
        <p:spPr>
          <a:xfrm>
            <a:off x="8997072" y="5441706"/>
            <a:ext cx="293929" cy="306770"/>
          </a:xfrm>
          <a:prstGeom prst="ellipse">
            <a:avLst/>
          </a:prstGeom>
          <a:solidFill>
            <a:srgbClr val="FFC3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 name="Graphic 48" descr="Play with solid fill">
            <a:extLst>
              <a:ext uri="{FF2B5EF4-FFF2-40B4-BE49-F238E27FC236}">
                <a16:creationId xmlns:a16="http://schemas.microsoft.com/office/drawing/2014/main" id="{CC229AB1-DE98-F7FC-4F73-10D1521B0AF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073173" y="5507713"/>
            <a:ext cx="174755" cy="174755"/>
          </a:xfrm>
          <a:prstGeom prst="rect">
            <a:avLst/>
          </a:prstGeom>
        </p:spPr>
      </p:pic>
      <p:sp>
        <p:nvSpPr>
          <p:cNvPr id="53" name="TextBox 52">
            <a:extLst>
              <a:ext uri="{FF2B5EF4-FFF2-40B4-BE49-F238E27FC236}">
                <a16:creationId xmlns:a16="http://schemas.microsoft.com/office/drawing/2014/main" id="{F82340D8-0760-72BD-4BC2-36D94BD5D86C}"/>
              </a:ext>
            </a:extLst>
          </p:cNvPr>
          <p:cNvSpPr txBox="1"/>
          <p:nvPr/>
        </p:nvSpPr>
        <p:spPr>
          <a:xfrm>
            <a:off x="39778" y="47732"/>
            <a:ext cx="4306628" cy="369332"/>
          </a:xfrm>
          <a:prstGeom prst="rect">
            <a:avLst/>
          </a:prstGeom>
          <a:noFill/>
        </p:spPr>
        <p:txBody>
          <a:bodyPr wrap="none" rtlCol="0">
            <a:spAutoFit/>
          </a:bodyPr>
          <a:lstStyle/>
          <a:p>
            <a:r>
              <a:rPr lang="en-US" dirty="0">
                <a:solidFill>
                  <a:schemeClr val="accent5">
                    <a:lumMod val="60000"/>
                    <a:lumOff val="40000"/>
                  </a:schemeClr>
                </a:solidFill>
              </a:rPr>
              <a:t>SLIDE 3f – Implementation Tab. Elements</a:t>
            </a:r>
          </a:p>
        </p:txBody>
      </p:sp>
      <p:sp>
        <p:nvSpPr>
          <p:cNvPr id="51" name="TextBox 50">
            <a:extLst>
              <a:ext uri="{FF2B5EF4-FFF2-40B4-BE49-F238E27FC236}">
                <a16:creationId xmlns:a16="http://schemas.microsoft.com/office/drawing/2014/main" id="{28A6A9F8-0D08-F266-2FB9-234773166D02}"/>
              </a:ext>
            </a:extLst>
          </p:cNvPr>
          <p:cNvSpPr txBox="1"/>
          <p:nvPr/>
        </p:nvSpPr>
        <p:spPr>
          <a:xfrm>
            <a:off x="4273058" y="261592"/>
            <a:ext cx="3183013" cy="1200329"/>
          </a:xfrm>
          <a:prstGeom prst="rect">
            <a:avLst/>
          </a:prstGeom>
          <a:noFill/>
          <a:ln>
            <a:solidFill>
              <a:schemeClr val="accent5">
                <a:lumMod val="60000"/>
                <a:lumOff val="40000"/>
              </a:schemeClr>
            </a:solidFill>
          </a:ln>
        </p:spPr>
        <p:txBody>
          <a:bodyPr wrap="square" rtlCol="0">
            <a:spAutoFit/>
          </a:bodyPr>
          <a:lstStyle/>
          <a:p>
            <a:r>
              <a:rPr lang="en-US" dirty="0">
                <a:solidFill>
                  <a:schemeClr val="accent5">
                    <a:lumMod val="60000"/>
                    <a:lumOff val="40000"/>
                  </a:schemeClr>
                </a:solidFill>
              </a:rPr>
              <a:t>Orchestrator starts working, </a:t>
            </a:r>
            <a:r>
              <a:rPr lang="en-US" dirty="0">
                <a:solidFill>
                  <a:srgbClr val="FFC000"/>
                </a:solidFill>
              </a:rPr>
              <a:t>Note!! </a:t>
            </a:r>
            <a:r>
              <a:rPr lang="en-US" dirty="0">
                <a:solidFill>
                  <a:schemeClr val="accent5">
                    <a:lumMod val="60000"/>
                    <a:lumOff val="40000"/>
                  </a:schemeClr>
                </a:solidFill>
              </a:rPr>
              <a:t>Needs new agent reporting status modes, does not exist in code</a:t>
            </a:r>
          </a:p>
        </p:txBody>
      </p:sp>
      <p:cxnSp>
        <p:nvCxnSpPr>
          <p:cNvPr id="55" name="Straight Arrow Connector 54">
            <a:extLst>
              <a:ext uri="{FF2B5EF4-FFF2-40B4-BE49-F238E27FC236}">
                <a16:creationId xmlns:a16="http://schemas.microsoft.com/office/drawing/2014/main" id="{81915AB5-E439-E56B-5F03-8B493D5B5C37}"/>
              </a:ext>
            </a:extLst>
          </p:cNvPr>
          <p:cNvCxnSpPr>
            <a:cxnSpLocks/>
          </p:cNvCxnSpPr>
          <p:nvPr/>
        </p:nvCxnSpPr>
        <p:spPr>
          <a:xfrm>
            <a:off x="4944137" y="1433441"/>
            <a:ext cx="688846" cy="1227711"/>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57" name="Straight Arrow Connector 56">
            <a:extLst>
              <a:ext uri="{FF2B5EF4-FFF2-40B4-BE49-F238E27FC236}">
                <a16:creationId xmlns:a16="http://schemas.microsoft.com/office/drawing/2014/main" id="{C3F6A5D0-114D-F18A-12CA-64DE22D17170}"/>
              </a:ext>
            </a:extLst>
          </p:cNvPr>
          <p:cNvCxnSpPr>
            <a:cxnSpLocks/>
          </p:cNvCxnSpPr>
          <p:nvPr/>
        </p:nvCxnSpPr>
        <p:spPr>
          <a:xfrm>
            <a:off x="5954646" y="1446883"/>
            <a:ext cx="481055" cy="770501"/>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86" name="TextBox 85">
            <a:extLst>
              <a:ext uri="{FF2B5EF4-FFF2-40B4-BE49-F238E27FC236}">
                <a16:creationId xmlns:a16="http://schemas.microsoft.com/office/drawing/2014/main" id="{F07A5D97-B1EA-996D-E9B3-950C27E32FE8}"/>
              </a:ext>
            </a:extLst>
          </p:cNvPr>
          <p:cNvSpPr txBox="1"/>
          <p:nvPr/>
        </p:nvSpPr>
        <p:spPr>
          <a:xfrm>
            <a:off x="4356" y="6139893"/>
            <a:ext cx="2541815" cy="646331"/>
          </a:xfrm>
          <a:prstGeom prst="rect">
            <a:avLst/>
          </a:prstGeom>
          <a:solidFill>
            <a:srgbClr val="FF0000"/>
          </a:solidFill>
          <a:ln>
            <a:solidFill>
              <a:schemeClr val="accent5">
                <a:lumMod val="60000"/>
                <a:lumOff val="40000"/>
              </a:schemeClr>
            </a:solidFill>
          </a:ln>
        </p:spPr>
        <p:txBody>
          <a:bodyPr wrap="square" rtlCol="0">
            <a:spAutoFit/>
          </a:bodyPr>
          <a:lstStyle/>
          <a:p>
            <a:r>
              <a:rPr lang="en-US" dirty="0">
                <a:solidFill>
                  <a:schemeClr val="bg1"/>
                </a:solidFill>
              </a:rPr>
              <a:t>CLAUDE CODE CLI MODE</a:t>
            </a:r>
          </a:p>
        </p:txBody>
      </p:sp>
      <p:sp>
        <p:nvSpPr>
          <p:cNvPr id="10" name="TextBox 9">
            <a:extLst>
              <a:ext uri="{FF2B5EF4-FFF2-40B4-BE49-F238E27FC236}">
                <a16:creationId xmlns:a16="http://schemas.microsoft.com/office/drawing/2014/main" id="{098EBF65-FB83-7A69-5337-1AA4FD1CD5FD}"/>
              </a:ext>
            </a:extLst>
          </p:cNvPr>
          <p:cNvSpPr txBox="1"/>
          <p:nvPr/>
        </p:nvSpPr>
        <p:spPr>
          <a:xfrm>
            <a:off x="9159175" y="2588302"/>
            <a:ext cx="260008" cy="261610"/>
          </a:xfrm>
          <a:prstGeom prst="rect">
            <a:avLst/>
          </a:prstGeom>
          <a:noFill/>
        </p:spPr>
        <p:txBody>
          <a:bodyPr wrap="square" rtlCol="0">
            <a:spAutoFit/>
          </a:bodyPr>
          <a:lstStyle/>
          <a:p>
            <a:r>
              <a:rPr lang="en-US" sz="1100" dirty="0">
                <a:solidFill>
                  <a:srgbClr val="E1E1E1"/>
                </a:solidFill>
              </a:rPr>
              <a:t>1</a:t>
            </a:r>
          </a:p>
        </p:txBody>
      </p:sp>
      <p:sp>
        <p:nvSpPr>
          <p:cNvPr id="11" name="TextBox 10">
            <a:extLst>
              <a:ext uri="{FF2B5EF4-FFF2-40B4-BE49-F238E27FC236}">
                <a16:creationId xmlns:a16="http://schemas.microsoft.com/office/drawing/2014/main" id="{D8829901-B241-061A-BDAF-B74A36B5CF7F}"/>
              </a:ext>
            </a:extLst>
          </p:cNvPr>
          <p:cNvSpPr txBox="1"/>
          <p:nvPr/>
        </p:nvSpPr>
        <p:spPr>
          <a:xfrm>
            <a:off x="9530752" y="5538079"/>
            <a:ext cx="2248418" cy="646331"/>
          </a:xfrm>
          <a:prstGeom prst="rect">
            <a:avLst/>
          </a:prstGeom>
          <a:noFill/>
          <a:ln>
            <a:solidFill>
              <a:schemeClr val="accent5">
                <a:lumMod val="60000"/>
                <a:lumOff val="40000"/>
              </a:schemeClr>
            </a:solidFill>
          </a:ln>
        </p:spPr>
        <p:txBody>
          <a:bodyPr wrap="square" rtlCol="0">
            <a:spAutoFit/>
          </a:bodyPr>
          <a:lstStyle/>
          <a:p>
            <a:r>
              <a:rPr lang="en-US" dirty="0">
                <a:solidFill>
                  <a:schemeClr val="accent5">
                    <a:lumMod val="60000"/>
                    <a:lumOff val="40000"/>
                  </a:schemeClr>
                </a:solidFill>
              </a:rPr>
              <a:t>Orchestrator read its mission message</a:t>
            </a:r>
          </a:p>
        </p:txBody>
      </p:sp>
      <p:cxnSp>
        <p:nvCxnSpPr>
          <p:cNvPr id="22" name="Straight Arrow Connector 21">
            <a:extLst>
              <a:ext uri="{FF2B5EF4-FFF2-40B4-BE49-F238E27FC236}">
                <a16:creationId xmlns:a16="http://schemas.microsoft.com/office/drawing/2014/main" id="{98FDB804-5517-3274-8E08-3BFA4CFEBDE8}"/>
              </a:ext>
            </a:extLst>
          </p:cNvPr>
          <p:cNvCxnSpPr>
            <a:cxnSpLocks/>
            <a:endCxn id="10" idx="3"/>
          </p:cNvCxnSpPr>
          <p:nvPr/>
        </p:nvCxnSpPr>
        <p:spPr>
          <a:xfrm flipH="1" flipV="1">
            <a:off x="9419183" y="2719107"/>
            <a:ext cx="434469" cy="2818972"/>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pic>
        <p:nvPicPr>
          <p:cNvPr id="88" name="Graphic 87" descr="Play with solid fill">
            <a:extLst>
              <a:ext uri="{FF2B5EF4-FFF2-40B4-BE49-F238E27FC236}">
                <a16:creationId xmlns:a16="http://schemas.microsoft.com/office/drawing/2014/main" id="{AC3207A1-8A86-B6E8-CC3F-33A526F2C00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976037" y="3089793"/>
            <a:ext cx="193474" cy="193474"/>
          </a:xfrm>
          <a:prstGeom prst="rect">
            <a:avLst/>
          </a:prstGeom>
        </p:spPr>
      </p:pic>
      <p:pic>
        <p:nvPicPr>
          <p:cNvPr id="113" name="Graphic 112" descr="Repeat outline">
            <a:extLst>
              <a:ext uri="{FF2B5EF4-FFF2-40B4-BE49-F238E27FC236}">
                <a16:creationId xmlns:a16="http://schemas.microsoft.com/office/drawing/2014/main" id="{032C0E0E-9795-C8D2-C5D8-1697BF7CD7A8}"/>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946626" y="2668570"/>
            <a:ext cx="261611" cy="261611"/>
          </a:xfrm>
          <a:prstGeom prst="rect">
            <a:avLst/>
          </a:prstGeom>
        </p:spPr>
      </p:pic>
    </p:spTree>
    <p:extLst>
      <p:ext uri="{BB962C8B-B14F-4D97-AF65-F5344CB8AC3E}">
        <p14:creationId xmlns:p14="http://schemas.microsoft.com/office/powerpoint/2010/main" val="21932778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3ED6A-D73A-58E3-A6D3-A3A0F89C0E50}"/>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7FEBDE21-93B0-0C1E-2B43-09843AD845A7}"/>
              </a:ext>
            </a:extLst>
          </p:cNvPr>
          <p:cNvSpPr/>
          <p:nvPr/>
        </p:nvSpPr>
        <p:spPr>
          <a:xfrm>
            <a:off x="503403" y="1334840"/>
            <a:ext cx="2218513" cy="1071163"/>
          </a:xfrm>
          <a:prstGeom prst="roundRect">
            <a:avLst>
              <a:gd name="adj" fmla="val 15806"/>
            </a:avLst>
          </a:prstGeom>
          <a:no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74E73043-B170-8086-B317-7C2A5F82CE5C}"/>
              </a:ext>
            </a:extLst>
          </p:cNvPr>
          <p:cNvSpPr txBox="1"/>
          <p:nvPr/>
        </p:nvSpPr>
        <p:spPr>
          <a:xfrm>
            <a:off x="516531" y="677075"/>
            <a:ext cx="2514919" cy="553998"/>
          </a:xfrm>
          <a:prstGeom prst="rect">
            <a:avLst/>
          </a:prstGeom>
          <a:noFill/>
        </p:spPr>
        <p:txBody>
          <a:bodyPr wrap="none" rtlCol="0">
            <a:spAutoFit/>
          </a:bodyPr>
          <a:lstStyle/>
          <a:p>
            <a:r>
              <a:rPr lang="en-US" dirty="0">
                <a:solidFill>
                  <a:srgbClr val="E1E1E1"/>
                </a:solidFill>
              </a:rPr>
              <a:t>Project: </a:t>
            </a:r>
            <a:r>
              <a:rPr lang="en-US" dirty="0">
                <a:solidFill>
                  <a:srgbClr val="FFC300"/>
                </a:solidFill>
              </a:rPr>
              <a:t>{</a:t>
            </a:r>
            <a:r>
              <a:rPr lang="en-US" dirty="0" err="1">
                <a:solidFill>
                  <a:srgbClr val="FFC300"/>
                </a:solidFill>
              </a:rPr>
              <a:t>project_name</a:t>
            </a:r>
            <a:r>
              <a:rPr lang="en-US" dirty="0">
                <a:solidFill>
                  <a:srgbClr val="FFC300"/>
                </a:solidFill>
              </a:rPr>
              <a:t>}</a:t>
            </a:r>
          </a:p>
          <a:p>
            <a:r>
              <a:rPr lang="en-US" sz="1200" dirty="0">
                <a:solidFill>
                  <a:srgbClr val="8F97B7"/>
                </a:solidFill>
              </a:rPr>
              <a:t>Project ID: {</a:t>
            </a:r>
            <a:r>
              <a:rPr lang="en-US" sz="1200" dirty="0" err="1">
                <a:solidFill>
                  <a:srgbClr val="8F97B7"/>
                </a:solidFill>
              </a:rPr>
              <a:t>full_UUID</a:t>
            </a:r>
            <a:r>
              <a:rPr lang="en-US" sz="1200" dirty="0">
                <a:solidFill>
                  <a:srgbClr val="8F97B7"/>
                </a:solidFill>
              </a:rPr>
              <a:t>}</a:t>
            </a:r>
          </a:p>
        </p:txBody>
      </p:sp>
      <p:sp>
        <p:nvSpPr>
          <p:cNvPr id="3" name="Rectangle: Rounded Corners 2">
            <a:extLst>
              <a:ext uri="{FF2B5EF4-FFF2-40B4-BE49-F238E27FC236}">
                <a16:creationId xmlns:a16="http://schemas.microsoft.com/office/drawing/2014/main" id="{103B0F2F-2880-A5DC-56CD-F4A99DCC1C02}"/>
              </a:ext>
            </a:extLst>
          </p:cNvPr>
          <p:cNvSpPr/>
          <p:nvPr/>
        </p:nvSpPr>
        <p:spPr>
          <a:xfrm>
            <a:off x="1643382" y="1342292"/>
            <a:ext cx="1805578" cy="969932"/>
          </a:xfrm>
          <a:prstGeom prst="roundRect">
            <a:avLst>
              <a:gd name="adj" fmla="val 17766"/>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0454958-B238-85EC-5366-577201BD9A13}"/>
              </a:ext>
            </a:extLst>
          </p:cNvPr>
          <p:cNvSpPr txBox="1"/>
          <p:nvPr/>
        </p:nvSpPr>
        <p:spPr>
          <a:xfrm>
            <a:off x="682981" y="1327205"/>
            <a:ext cx="929678" cy="369332"/>
          </a:xfrm>
          <a:prstGeom prst="rect">
            <a:avLst/>
          </a:prstGeom>
          <a:noFill/>
        </p:spPr>
        <p:txBody>
          <a:bodyPr wrap="none" rtlCol="0">
            <a:spAutoFit/>
          </a:bodyPr>
          <a:lstStyle/>
          <a:p>
            <a:r>
              <a:rPr lang="en-US" dirty="0">
                <a:solidFill>
                  <a:srgbClr val="1E3147"/>
                </a:solidFill>
              </a:rPr>
              <a:t>Launch</a:t>
            </a:r>
          </a:p>
        </p:txBody>
      </p:sp>
      <p:sp>
        <p:nvSpPr>
          <p:cNvPr id="6" name="Rectangle: Rounded Corners 5">
            <a:extLst>
              <a:ext uri="{FF2B5EF4-FFF2-40B4-BE49-F238E27FC236}">
                <a16:creationId xmlns:a16="http://schemas.microsoft.com/office/drawing/2014/main" id="{80A82525-A505-6471-293A-14F2CAC3FF08}"/>
              </a:ext>
            </a:extLst>
          </p:cNvPr>
          <p:cNvSpPr/>
          <p:nvPr/>
        </p:nvSpPr>
        <p:spPr>
          <a:xfrm>
            <a:off x="503403" y="1668256"/>
            <a:ext cx="11185191" cy="3476117"/>
          </a:xfrm>
          <a:prstGeom prst="roundRect">
            <a:avLst>
              <a:gd name="adj" fmla="val 5962"/>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0FF73094-A65F-D848-70EC-05A759E4B632}"/>
              </a:ext>
            </a:extLst>
          </p:cNvPr>
          <p:cNvSpPr/>
          <p:nvPr/>
        </p:nvSpPr>
        <p:spPr>
          <a:xfrm>
            <a:off x="1654808" y="1622562"/>
            <a:ext cx="1787171" cy="287650"/>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E57FBCD1-519A-38BB-57E1-1ECB36A6545B}"/>
              </a:ext>
            </a:extLst>
          </p:cNvPr>
          <p:cNvSpPr/>
          <p:nvPr/>
        </p:nvSpPr>
        <p:spPr>
          <a:xfrm>
            <a:off x="758606" y="2617315"/>
            <a:ext cx="293929" cy="306770"/>
          </a:xfrm>
          <a:prstGeom prst="ellipse">
            <a:avLst/>
          </a:prstGeom>
          <a:solidFill>
            <a:srgbClr val="A9866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D8FB1D3F-78F9-3707-8ACA-AD7647A6AD4B}"/>
              </a:ext>
            </a:extLst>
          </p:cNvPr>
          <p:cNvSpPr txBox="1"/>
          <p:nvPr/>
        </p:nvSpPr>
        <p:spPr>
          <a:xfrm>
            <a:off x="1899316" y="1330953"/>
            <a:ext cx="1444177" cy="369332"/>
          </a:xfrm>
          <a:prstGeom prst="rect">
            <a:avLst/>
          </a:prstGeom>
          <a:noFill/>
        </p:spPr>
        <p:txBody>
          <a:bodyPr wrap="square" rtlCol="0">
            <a:spAutoFit/>
          </a:bodyPr>
          <a:lstStyle/>
          <a:p>
            <a:r>
              <a:rPr lang="en-US" dirty="0">
                <a:solidFill>
                  <a:srgbClr val="8F97B7"/>
                </a:solidFill>
              </a:rPr>
              <a:t>Implement</a:t>
            </a:r>
          </a:p>
        </p:txBody>
      </p:sp>
      <p:sp>
        <p:nvSpPr>
          <p:cNvPr id="24" name="TextBox 23">
            <a:extLst>
              <a:ext uri="{FF2B5EF4-FFF2-40B4-BE49-F238E27FC236}">
                <a16:creationId xmlns:a16="http://schemas.microsoft.com/office/drawing/2014/main" id="{08DAEEE9-458E-4984-79F3-0BCE3F8112F2}"/>
              </a:ext>
            </a:extLst>
          </p:cNvPr>
          <p:cNvSpPr txBox="1"/>
          <p:nvPr/>
        </p:nvSpPr>
        <p:spPr>
          <a:xfrm>
            <a:off x="738137" y="2624295"/>
            <a:ext cx="460382" cy="282316"/>
          </a:xfrm>
          <a:prstGeom prst="rect">
            <a:avLst/>
          </a:prstGeom>
          <a:noFill/>
        </p:spPr>
        <p:txBody>
          <a:bodyPr wrap="square" rtlCol="0">
            <a:spAutoFit/>
          </a:bodyPr>
          <a:lstStyle/>
          <a:p>
            <a:r>
              <a:rPr lang="en-US" sz="1200" b="1" dirty="0">
                <a:solidFill>
                  <a:srgbClr val="0E1C2D"/>
                </a:solidFill>
              </a:rPr>
              <a:t>Or</a:t>
            </a:r>
          </a:p>
        </p:txBody>
      </p:sp>
      <p:sp>
        <p:nvSpPr>
          <p:cNvPr id="27" name="TextBox 26">
            <a:extLst>
              <a:ext uri="{FF2B5EF4-FFF2-40B4-BE49-F238E27FC236}">
                <a16:creationId xmlns:a16="http://schemas.microsoft.com/office/drawing/2014/main" id="{2E3B535F-A37B-95F5-1E61-F4B182214BDC}"/>
              </a:ext>
            </a:extLst>
          </p:cNvPr>
          <p:cNvSpPr txBox="1"/>
          <p:nvPr/>
        </p:nvSpPr>
        <p:spPr>
          <a:xfrm>
            <a:off x="1184559" y="2638386"/>
            <a:ext cx="965329" cy="261610"/>
          </a:xfrm>
          <a:prstGeom prst="rect">
            <a:avLst/>
          </a:prstGeom>
          <a:noFill/>
        </p:spPr>
        <p:txBody>
          <a:bodyPr wrap="none" rtlCol="0">
            <a:spAutoFit/>
          </a:bodyPr>
          <a:lstStyle/>
          <a:p>
            <a:r>
              <a:rPr lang="en-US" sz="1100" dirty="0">
                <a:solidFill>
                  <a:srgbClr val="E1E1E1"/>
                </a:solidFill>
              </a:rPr>
              <a:t>Orchestrator</a:t>
            </a:r>
          </a:p>
        </p:txBody>
      </p:sp>
      <p:pic>
        <p:nvPicPr>
          <p:cNvPr id="29" name="Graphic 28" descr="Information with solid fill">
            <a:extLst>
              <a:ext uri="{FF2B5EF4-FFF2-40B4-BE49-F238E27FC236}">
                <a16:creationId xmlns:a16="http://schemas.microsoft.com/office/drawing/2014/main" id="{3E6A6342-FB87-BBE3-2F87-AE0D05CF5A8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3975" y="2661152"/>
            <a:ext cx="193473" cy="193473"/>
          </a:xfrm>
          <a:prstGeom prst="rect">
            <a:avLst/>
          </a:prstGeom>
        </p:spPr>
      </p:pic>
      <p:sp>
        <p:nvSpPr>
          <p:cNvPr id="16" name="TextBox 15">
            <a:extLst>
              <a:ext uri="{FF2B5EF4-FFF2-40B4-BE49-F238E27FC236}">
                <a16:creationId xmlns:a16="http://schemas.microsoft.com/office/drawing/2014/main" id="{06CF3A23-B6E8-3B6C-7251-0E7B72184574}"/>
              </a:ext>
            </a:extLst>
          </p:cNvPr>
          <p:cNvSpPr txBox="1"/>
          <p:nvPr/>
        </p:nvSpPr>
        <p:spPr>
          <a:xfrm>
            <a:off x="1226477" y="3087372"/>
            <a:ext cx="705642" cy="261610"/>
          </a:xfrm>
          <a:prstGeom prst="rect">
            <a:avLst/>
          </a:prstGeom>
          <a:noFill/>
        </p:spPr>
        <p:txBody>
          <a:bodyPr wrap="none" rtlCol="0">
            <a:spAutoFit/>
          </a:bodyPr>
          <a:lstStyle>
            <a:defPPr>
              <a:defRPr lang="en-US"/>
            </a:defPPr>
            <a:lvl1pPr>
              <a:defRPr sz="1100">
                <a:solidFill>
                  <a:srgbClr val="E1E1E1"/>
                </a:solidFill>
              </a:defRPr>
            </a:lvl1pPr>
          </a:lstStyle>
          <a:p>
            <a:r>
              <a:rPr lang="en-US" dirty="0"/>
              <a:t>Analyzer</a:t>
            </a:r>
          </a:p>
        </p:txBody>
      </p:sp>
      <p:cxnSp>
        <p:nvCxnSpPr>
          <p:cNvPr id="75" name="Straight Connector 74">
            <a:extLst>
              <a:ext uri="{FF2B5EF4-FFF2-40B4-BE49-F238E27FC236}">
                <a16:creationId xmlns:a16="http://schemas.microsoft.com/office/drawing/2014/main" id="{DD785232-2078-58E4-278C-1B97841BA8D1}"/>
              </a:ext>
            </a:extLst>
          </p:cNvPr>
          <p:cNvCxnSpPr>
            <a:cxnSpLocks/>
          </p:cNvCxnSpPr>
          <p:nvPr/>
        </p:nvCxnSpPr>
        <p:spPr>
          <a:xfrm>
            <a:off x="652293" y="2505875"/>
            <a:ext cx="10203544" cy="6404"/>
          </a:xfrm>
          <a:prstGeom prst="line">
            <a:avLst/>
          </a:prstGeom>
          <a:ln>
            <a:solidFill>
              <a:srgbClr val="1E3147"/>
            </a:solidFill>
          </a:ln>
        </p:spPr>
        <p:style>
          <a:lnRef idx="2">
            <a:schemeClr val="accent1"/>
          </a:lnRef>
          <a:fillRef idx="0">
            <a:schemeClr val="accent1"/>
          </a:fillRef>
          <a:effectRef idx="1">
            <a:schemeClr val="accent1"/>
          </a:effectRef>
          <a:fontRef idx="minor">
            <a:schemeClr val="tx1"/>
          </a:fontRef>
        </p:style>
      </p:cxnSp>
      <p:sp>
        <p:nvSpPr>
          <p:cNvPr id="77" name="TextBox 76">
            <a:extLst>
              <a:ext uri="{FF2B5EF4-FFF2-40B4-BE49-F238E27FC236}">
                <a16:creationId xmlns:a16="http://schemas.microsoft.com/office/drawing/2014/main" id="{CB0CEA2C-B7F4-1931-5BE0-47B9CC35A0AD}"/>
              </a:ext>
            </a:extLst>
          </p:cNvPr>
          <p:cNvSpPr txBox="1"/>
          <p:nvPr/>
        </p:nvSpPr>
        <p:spPr>
          <a:xfrm>
            <a:off x="1274326" y="2217384"/>
            <a:ext cx="785793" cy="246221"/>
          </a:xfrm>
          <a:prstGeom prst="rect">
            <a:avLst/>
          </a:prstGeom>
          <a:noFill/>
        </p:spPr>
        <p:txBody>
          <a:bodyPr wrap="none" rtlCol="0">
            <a:spAutoFit/>
          </a:bodyPr>
          <a:lstStyle/>
          <a:p>
            <a:pPr algn="ctr"/>
            <a:r>
              <a:rPr lang="en-US" sz="1000" dirty="0">
                <a:solidFill>
                  <a:srgbClr val="E1E1E1"/>
                </a:solidFill>
              </a:rPr>
              <a:t>Agent Type</a:t>
            </a:r>
          </a:p>
        </p:txBody>
      </p:sp>
      <p:sp>
        <p:nvSpPr>
          <p:cNvPr id="78" name="TextBox 77">
            <a:extLst>
              <a:ext uri="{FF2B5EF4-FFF2-40B4-BE49-F238E27FC236}">
                <a16:creationId xmlns:a16="http://schemas.microsoft.com/office/drawing/2014/main" id="{E5626AD8-5A92-564E-29C0-926E8C1FC987}"/>
              </a:ext>
            </a:extLst>
          </p:cNvPr>
          <p:cNvSpPr txBox="1"/>
          <p:nvPr/>
        </p:nvSpPr>
        <p:spPr>
          <a:xfrm>
            <a:off x="662149" y="1838089"/>
            <a:ext cx="1202573" cy="246221"/>
          </a:xfrm>
          <a:prstGeom prst="rect">
            <a:avLst/>
          </a:prstGeom>
          <a:noFill/>
        </p:spPr>
        <p:txBody>
          <a:bodyPr wrap="none" rtlCol="0">
            <a:spAutoFit/>
          </a:bodyPr>
          <a:lstStyle/>
          <a:p>
            <a:r>
              <a:rPr lang="en-US" sz="1000" dirty="0">
                <a:solidFill>
                  <a:srgbClr val="E1E1E1"/>
                </a:solidFill>
              </a:rPr>
              <a:t>Claude Subagents</a:t>
            </a:r>
          </a:p>
        </p:txBody>
      </p:sp>
      <p:sp>
        <p:nvSpPr>
          <p:cNvPr id="80" name="Rectangle: Rounded Corners 79">
            <a:extLst>
              <a:ext uri="{FF2B5EF4-FFF2-40B4-BE49-F238E27FC236}">
                <a16:creationId xmlns:a16="http://schemas.microsoft.com/office/drawing/2014/main" id="{24AF852F-6D04-F0D5-FD1D-BF288B42B6A3}"/>
              </a:ext>
            </a:extLst>
          </p:cNvPr>
          <p:cNvSpPr/>
          <p:nvPr/>
        </p:nvSpPr>
        <p:spPr>
          <a:xfrm>
            <a:off x="1813390" y="1884175"/>
            <a:ext cx="336498" cy="182696"/>
          </a:xfrm>
          <a:prstGeom prst="roundRect">
            <a:avLst>
              <a:gd name="adj" fmla="val 50000"/>
            </a:avLst>
          </a:prstGeom>
          <a:solidFill>
            <a:srgbClr val="0E1C2D"/>
          </a:solid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a:extLst>
              <a:ext uri="{FF2B5EF4-FFF2-40B4-BE49-F238E27FC236}">
                <a16:creationId xmlns:a16="http://schemas.microsoft.com/office/drawing/2014/main" id="{913E4848-3844-2E60-07D0-C7044AFAC901}"/>
              </a:ext>
            </a:extLst>
          </p:cNvPr>
          <p:cNvSpPr/>
          <p:nvPr/>
        </p:nvSpPr>
        <p:spPr>
          <a:xfrm>
            <a:off x="1962999" y="1883047"/>
            <a:ext cx="174503" cy="184050"/>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TextBox 81">
            <a:extLst>
              <a:ext uri="{FF2B5EF4-FFF2-40B4-BE49-F238E27FC236}">
                <a16:creationId xmlns:a16="http://schemas.microsoft.com/office/drawing/2014/main" id="{01768BDE-0AC8-2F01-5B1D-63769B4DAFF2}"/>
              </a:ext>
            </a:extLst>
          </p:cNvPr>
          <p:cNvSpPr txBox="1"/>
          <p:nvPr/>
        </p:nvSpPr>
        <p:spPr>
          <a:xfrm>
            <a:off x="4275366" y="3048418"/>
            <a:ext cx="724878" cy="261610"/>
          </a:xfrm>
          <a:prstGeom prst="rect">
            <a:avLst/>
          </a:prstGeom>
          <a:noFill/>
        </p:spPr>
        <p:txBody>
          <a:bodyPr wrap="none" rtlCol="0">
            <a:spAutoFit/>
          </a:bodyPr>
          <a:lstStyle/>
          <a:p>
            <a:r>
              <a:rPr lang="en-US" sz="1100" i="1" dirty="0">
                <a:solidFill>
                  <a:srgbClr val="FFC000"/>
                </a:solidFill>
              </a:rPr>
              <a:t>Working.</a:t>
            </a:r>
          </a:p>
        </p:txBody>
      </p:sp>
      <p:sp>
        <p:nvSpPr>
          <p:cNvPr id="83" name="Oval 82">
            <a:extLst>
              <a:ext uri="{FF2B5EF4-FFF2-40B4-BE49-F238E27FC236}">
                <a16:creationId xmlns:a16="http://schemas.microsoft.com/office/drawing/2014/main" id="{F0ADEA5F-1F67-24E8-96A8-71E05DA5B553}"/>
              </a:ext>
            </a:extLst>
          </p:cNvPr>
          <p:cNvSpPr/>
          <p:nvPr/>
        </p:nvSpPr>
        <p:spPr>
          <a:xfrm>
            <a:off x="758606" y="3066408"/>
            <a:ext cx="293929" cy="306770"/>
          </a:xfrm>
          <a:prstGeom prst="ellipse">
            <a:avLst/>
          </a:prstGeom>
          <a:solidFill>
            <a:srgbClr val="A32A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DC3189FE-95AF-D1AE-5E67-4EC1C4AD8FFB}"/>
              </a:ext>
            </a:extLst>
          </p:cNvPr>
          <p:cNvSpPr/>
          <p:nvPr/>
        </p:nvSpPr>
        <p:spPr>
          <a:xfrm>
            <a:off x="758606" y="3513494"/>
            <a:ext cx="293929" cy="306770"/>
          </a:xfrm>
          <a:prstGeom prst="ellipse">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86FF3EFA-12B0-72EB-767D-DBFFE824C862}"/>
              </a:ext>
            </a:extLst>
          </p:cNvPr>
          <p:cNvSpPr/>
          <p:nvPr/>
        </p:nvSpPr>
        <p:spPr>
          <a:xfrm>
            <a:off x="758606" y="3970226"/>
            <a:ext cx="293929" cy="306770"/>
          </a:xfrm>
          <a:prstGeom prst="ellipse">
            <a:avLst/>
          </a:prstGeom>
          <a:solidFill>
            <a:srgbClr val="FFC3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TextBox 88">
            <a:extLst>
              <a:ext uri="{FF2B5EF4-FFF2-40B4-BE49-F238E27FC236}">
                <a16:creationId xmlns:a16="http://schemas.microsoft.com/office/drawing/2014/main" id="{4342F59A-F9D1-A3D9-2430-2C5039BE49BC}"/>
              </a:ext>
            </a:extLst>
          </p:cNvPr>
          <p:cNvSpPr txBox="1"/>
          <p:nvPr/>
        </p:nvSpPr>
        <p:spPr>
          <a:xfrm>
            <a:off x="1226477" y="3532367"/>
            <a:ext cx="970137" cy="261610"/>
          </a:xfrm>
          <a:prstGeom prst="rect">
            <a:avLst/>
          </a:prstGeom>
          <a:noFill/>
        </p:spPr>
        <p:txBody>
          <a:bodyPr wrap="none" rtlCol="0">
            <a:spAutoFit/>
          </a:bodyPr>
          <a:lstStyle>
            <a:defPPr>
              <a:defRPr lang="en-US"/>
            </a:defPPr>
            <a:lvl1pPr>
              <a:defRPr sz="1100">
                <a:solidFill>
                  <a:srgbClr val="E1E1E1"/>
                </a:solidFill>
              </a:defRPr>
            </a:lvl1pPr>
          </a:lstStyle>
          <a:p>
            <a:r>
              <a:rPr lang="en-US" dirty="0"/>
              <a:t>Implementor</a:t>
            </a:r>
          </a:p>
        </p:txBody>
      </p:sp>
      <p:sp>
        <p:nvSpPr>
          <p:cNvPr id="90" name="TextBox 89">
            <a:extLst>
              <a:ext uri="{FF2B5EF4-FFF2-40B4-BE49-F238E27FC236}">
                <a16:creationId xmlns:a16="http://schemas.microsoft.com/office/drawing/2014/main" id="{DD2BB71C-0019-8E94-2E67-1CC7A51ABC18}"/>
              </a:ext>
            </a:extLst>
          </p:cNvPr>
          <p:cNvSpPr txBox="1"/>
          <p:nvPr/>
        </p:nvSpPr>
        <p:spPr>
          <a:xfrm>
            <a:off x="1245503" y="3998201"/>
            <a:ext cx="559769" cy="261610"/>
          </a:xfrm>
          <a:prstGeom prst="rect">
            <a:avLst/>
          </a:prstGeom>
          <a:noFill/>
        </p:spPr>
        <p:txBody>
          <a:bodyPr wrap="none" rtlCol="0">
            <a:spAutoFit/>
          </a:bodyPr>
          <a:lstStyle>
            <a:defPPr>
              <a:defRPr lang="en-US"/>
            </a:defPPr>
            <a:lvl1pPr>
              <a:defRPr sz="1100">
                <a:solidFill>
                  <a:srgbClr val="E1E1E1"/>
                </a:solidFill>
              </a:defRPr>
            </a:lvl1pPr>
          </a:lstStyle>
          <a:p>
            <a:r>
              <a:rPr lang="en-US" dirty="0"/>
              <a:t>Tester</a:t>
            </a:r>
          </a:p>
        </p:txBody>
      </p:sp>
      <p:sp>
        <p:nvSpPr>
          <p:cNvPr id="91" name="TextBox 90">
            <a:extLst>
              <a:ext uri="{FF2B5EF4-FFF2-40B4-BE49-F238E27FC236}">
                <a16:creationId xmlns:a16="http://schemas.microsoft.com/office/drawing/2014/main" id="{429E01E5-0FEE-9F4C-3182-4D5F16336FD1}"/>
              </a:ext>
            </a:extLst>
          </p:cNvPr>
          <p:cNvSpPr txBox="1"/>
          <p:nvPr/>
        </p:nvSpPr>
        <p:spPr>
          <a:xfrm>
            <a:off x="4260936" y="2611055"/>
            <a:ext cx="724878" cy="261610"/>
          </a:xfrm>
          <a:prstGeom prst="rect">
            <a:avLst/>
          </a:prstGeom>
          <a:noFill/>
        </p:spPr>
        <p:txBody>
          <a:bodyPr wrap="none" rtlCol="0">
            <a:spAutoFit/>
          </a:bodyPr>
          <a:lstStyle/>
          <a:p>
            <a:r>
              <a:rPr lang="en-US" sz="1100" i="1" dirty="0">
                <a:solidFill>
                  <a:srgbClr val="FFC000"/>
                </a:solidFill>
              </a:rPr>
              <a:t>Working.</a:t>
            </a:r>
          </a:p>
        </p:txBody>
      </p:sp>
      <p:pic>
        <p:nvPicPr>
          <p:cNvPr id="93" name="Graphic 92" descr="Information with solid fill">
            <a:extLst>
              <a:ext uri="{FF2B5EF4-FFF2-40B4-BE49-F238E27FC236}">
                <a16:creationId xmlns:a16="http://schemas.microsoft.com/office/drawing/2014/main" id="{AA06C9A8-B621-1CC2-1784-2AE90ACFCC7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2365" y="3102069"/>
            <a:ext cx="193473" cy="193473"/>
          </a:xfrm>
          <a:prstGeom prst="rect">
            <a:avLst/>
          </a:prstGeom>
        </p:spPr>
      </p:pic>
      <p:pic>
        <p:nvPicPr>
          <p:cNvPr id="94" name="Graphic 93" descr="Information with solid fill">
            <a:extLst>
              <a:ext uri="{FF2B5EF4-FFF2-40B4-BE49-F238E27FC236}">
                <a16:creationId xmlns:a16="http://schemas.microsoft.com/office/drawing/2014/main" id="{1DA167D7-1E16-EC5C-9D5F-26E69770511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2365" y="3553624"/>
            <a:ext cx="193473" cy="193473"/>
          </a:xfrm>
          <a:prstGeom prst="rect">
            <a:avLst/>
          </a:prstGeom>
        </p:spPr>
      </p:pic>
      <p:pic>
        <p:nvPicPr>
          <p:cNvPr id="95" name="Graphic 94" descr="Information with solid fill">
            <a:extLst>
              <a:ext uri="{FF2B5EF4-FFF2-40B4-BE49-F238E27FC236}">
                <a16:creationId xmlns:a16="http://schemas.microsoft.com/office/drawing/2014/main" id="{554C76D9-BF81-DE52-27A5-EACA99F704A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2364" y="4014063"/>
            <a:ext cx="193473" cy="193473"/>
          </a:xfrm>
          <a:prstGeom prst="rect">
            <a:avLst/>
          </a:prstGeom>
        </p:spPr>
      </p:pic>
      <p:sp>
        <p:nvSpPr>
          <p:cNvPr id="96" name="TextBox 95">
            <a:extLst>
              <a:ext uri="{FF2B5EF4-FFF2-40B4-BE49-F238E27FC236}">
                <a16:creationId xmlns:a16="http://schemas.microsoft.com/office/drawing/2014/main" id="{AB65D51D-5DAF-4D17-50D7-B045A43BFF3F}"/>
              </a:ext>
            </a:extLst>
          </p:cNvPr>
          <p:cNvSpPr txBox="1"/>
          <p:nvPr/>
        </p:nvSpPr>
        <p:spPr>
          <a:xfrm>
            <a:off x="729726" y="3076054"/>
            <a:ext cx="460382" cy="282316"/>
          </a:xfrm>
          <a:prstGeom prst="rect">
            <a:avLst/>
          </a:prstGeom>
          <a:noFill/>
        </p:spPr>
        <p:txBody>
          <a:bodyPr wrap="square" rtlCol="0">
            <a:spAutoFit/>
          </a:bodyPr>
          <a:lstStyle/>
          <a:p>
            <a:r>
              <a:rPr lang="en-US" sz="1200" b="1" dirty="0">
                <a:solidFill>
                  <a:srgbClr val="0E1C2D"/>
                </a:solidFill>
              </a:rPr>
              <a:t>An</a:t>
            </a:r>
          </a:p>
        </p:txBody>
      </p:sp>
      <p:sp>
        <p:nvSpPr>
          <p:cNvPr id="97" name="TextBox 96">
            <a:extLst>
              <a:ext uri="{FF2B5EF4-FFF2-40B4-BE49-F238E27FC236}">
                <a16:creationId xmlns:a16="http://schemas.microsoft.com/office/drawing/2014/main" id="{2210D949-4746-E849-565F-8AF7779F0333}"/>
              </a:ext>
            </a:extLst>
          </p:cNvPr>
          <p:cNvSpPr txBox="1"/>
          <p:nvPr/>
        </p:nvSpPr>
        <p:spPr>
          <a:xfrm>
            <a:off x="736070" y="3523140"/>
            <a:ext cx="460382" cy="282316"/>
          </a:xfrm>
          <a:prstGeom prst="rect">
            <a:avLst/>
          </a:prstGeom>
          <a:noFill/>
        </p:spPr>
        <p:txBody>
          <a:bodyPr wrap="square" rtlCol="0">
            <a:spAutoFit/>
          </a:bodyPr>
          <a:lstStyle/>
          <a:p>
            <a:r>
              <a:rPr lang="en-US" sz="1200" b="1" dirty="0" err="1">
                <a:solidFill>
                  <a:srgbClr val="0E1C2D"/>
                </a:solidFill>
              </a:rPr>
              <a:t>Im</a:t>
            </a:r>
            <a:endParaRPr lang="en-US" sz="1200" b="1" dirty="0">
              <a:solidFill>
                <a:srgbClr val="0E1C2D"/>
              </a:solidFill>
            </a:endParaRPr>
          </a:p>
        </p:txBody>
      </p:sp>
      <p:sp>
        <p:nvSpPr>
          <p:cNvPr id="98" name="TextBox 97">
            <a:extLst>
              <a:ext uri="{FF2B5EF4-FFF2-40B4-BE49-F238E27FC236}">
                <a16:creationId xmlns:a16="http://schemas.microsoft.com/office/drawing/2014/main" id="{BD2D8D14-B9E6-FAF7-2652-2E56E29591D5}"/>
              </a:ext>
            </a:extLst>
          </p:cNvPr>
          <p:cNvSpPr txBox="1"/>
          <p:nvPr/>
        </p:nvSpPr>
        <p:spPr>
          <a:xfrm>
            <a:off x="736070" y="3989707"/>
            <a:ext cx="460382" cy="282316"/>
          </a:xfrm>
          <a:prstGeom prst="rect">
            <a:avLst/>
          </a:prstGeom>
          <a:noFill/>
        </p:spPr>
        <p:txBody>
          <a:bodyPr wrap="square" rtlCol="0">
            <a:spAutoFit/>
          </a:bodyPr>
          <a:lstStyle/>
          <a:p>
            <a:r>
              <a:rPr lang="en-US" sz="1200" b="1" dirty="0" err="1">
                <a:solidFill>
                  <a:srgbClr val="0E1C2D"/>
                </a:solidFill>
              </a:rPr>
              <a:t>Te</a:t>
            </a:r>
            <a:endParaRPr lang="en-US" sz="1200" b="1" dirty="0">
              <a:solidFill>
                <a:srgbClr val="0E1C2D"/>
              </a:solidFill>
            </a:endParaRPr>
          </a:p>
        </p:txBody>
      </p:sp>
      <p:sp>
        <p:nvSpPr>
          <p:cNvPr id="99" name="TextBox 98">
            <a:extLst>
              <a:ext uri="{FF2B5EF4-FFF2-40B4-BE49-F238E27FC236}">
                <a16:creationId xmlns:a16="http://schemas.microsoft.com/office/drawing/2014/main" id="{4303BA6F-4965-0043-AB84-0BE7D2DC3A71}"/>
              </a:ext>
            </a:extLst>
          </p:cNvPr>
          <p:cNvSpPr txBox="1"/>
          <p:nvPr/>
        </p:nvSpPr>
        <p:spPr>
          <a:xfrm>
            <a:off x="4193614" y="2214394"/>
            <a:ext cx="886781" cy="246221"/>
          </a:xfrm>
          <a:prstGeom prst="rect">
            <a:avLst/>
          </a:prstGeom>
          <a:noFill/>
        </p:spPr>
        <p:txBody>
          <a:bodyPr wrap="none" rtlCol="0">
            <a:spAutoFit/>
          </a:bodyPr>
          <a:lstStyle/>
          <a:p>
            <a:pPr algn="ctr"/>
            <a:r>
              <a:rPr lang="en-US" sz="1000" dirty="0">
                <a:solidFill>
                  <a:srgbClr val="E1E1E1"/>
                </a:solidFill>
              </a:rPr>
              <a:t>Agent Status</a:t>
            </a:r>
          </a:p>
        </p:txBody>
      </p:sp>
      <p:sp>
        <p:nvSpPr>
          <p:cNvPr id="100" name="TextBox 99">
            <a:extLst>
              <a:ext uri="{FF2B5EF4-FFF2-40B4-BE49-F238E27FC236}">
                <a16:creationId xmlns:a16="http://schemas.microsoft.com/office/drawing/2014/main" id="{ED9DCC43-C14F-D466-B249-CDC549282CDF}"/>
              </a:ext>
            </a:extLst>
          </p:cNvPr>
          <p:cNvSpPr txBox="1"/>
          <p:nvPr/>
        </p:nvSpPr>
        <p:spPr>
          <a:xfrm>
            <a:off x="7929117" y="2092323"/>
            <a:ext cx="772505" cy="400110"/>
          </a:xfrm>
          <a:prstGeom prst="rect">
            <a:avLst/>
          </a:prstGeom>
          <a:noFill/>
        </p:spPr>
        <p:txBody>
          <a:bodyPr wrap="square" rtlCol="0">
            <a:spAutoFit/>
          </a:bodyPr>
          <a:lstStyle/>
          <a:p>
            <a:pPr algn="ctr"/>
            <a:r>
              <a:rPr lang="en-US" sz="1000" dirty="0">
                <a:solidFill>
                  <a:srgbClr val="E1E1E1"/>
                </a:solidFill>
              </a:rPr>
              <a:t>Messages waiting</a:t>
            </a:r>
          </a:p>
        </p:txBody>
      </p:sp>
      <p:sp>
        <p:nvSpPr>
          <p:cNvPr id="114" name="TextBox 113">
            <a:extLst>
              <a:ext uri="{FF2B5EF4-FFF2-40B4-BE49-F238E27FC236}">
                <a16:creationId xmlns:a16="http://schemas.microsoft.com/office/drawing/2014/main" id="{727A424B-5954-8294-F037-038DE31EB0E3}"/>
              </a:ext>
            </a:extLst>
          </p:cNvPr>
          <p:cNvSpPr txBox="1"/>
          <p:nvPr/>
        </p:nvSpPr>
        <p:spPr>
          <a:xfrm>
            <a:off x="7041082" y="2099303"/>
            <a:ext cx="772505" cy="400110"/>
          </a:xfrm>
          <a:prstGeom prst="rect">
            <a:avLst/>
          </a:prstGeom>
          <a:noFill/>
        </p:spPr>
        <p:txBody>
          <a:bodyPr wrap="square" rtlCol="0">
            <a:spAutoFit/>
          </a:bodyPr>
          <a:lstStyle/>
          <a:p>
            <a:pPr algn="ctr"/>
            <a:r>
              <a:rPr lang="en-US" sz="1000" dirty="0">
                <a:solidFill>
                  <a:srgbClr val="E1E1E1"/>
                </a:solidFill>
              </a:rPr>
              <a:t>Messages</a:t>
            </a:r>
          </a:p>
          <a:p>
            <a:pPr algn="ctr"/>
            <a:r>
              <a:rPr lang="en-US" sz="1000" dirty="0">
                <a:solidFill>
                  <a:srgbClr val="E1E1E1"/>
                </a:solidFill>
              </a:rPr>
              <a:t>Sent</a:t>
            </a:r>
          </a:p>
        </p:txBody>
      </p:sp>
      <p:sp>
        <p:nvSpPr>
          <p:cNvPr id="115" name="TextBox 114">
            <a:extLst>
              <a:ext uri="{FF2B5EF4-FFF2-40B4-BE49-F238E27FC236}">
                <a16:creationId xmlns:a16="http://schemas.microsoft.com/office/drawing/2014/main" id="{A4A45FDB-14A7-F4E6-F1CD-FDF8653CB229}"/>
              </a:ext>
            </a:extLst>
          </p:cNvPr>
          <p:cNvSpPr txBox="1"/>
          <p:nvPr/>
        </p:nvSpPr>
        <p:spPr>
          <a:xfrm>
            <a:off x="8932682" y="2112169"/>
            <a:ext cx="751053" cy="400110"/>
          </a:xfrm>
          <a:prstGeom prst="rect">
            <a:avLst/>
          </a:prstGeom>
          <a:noFill/>
        </p:spPr>
        <p:txBody>
          <a:bodyPr wrap="square" rtlCol="0">
            <a:spAutoFit/>
          </a:bodyPr>
          <a:lstStyle/>
          <a:p>
            <a:pPr algn="ctr"/>
            <a:r>
              <a:rPr lang="en-US" sz="1000" dirty="0">
                <a:solidFill>
                  <a:srgbClr val="E1E1E1"/>
                </a:solidFill>
              </a:rPr>
              <a:t>Messages Read</a:t>
            </a:r>
          </a:p>
        </p:txBody>
      </p:sp>
      <p:pic>
        <p:nvPicPr>
          <p:cNvPr id="117" name="Graphic 116" descr="Chat with solid fill">
            <a:extLst>
              <a:ext uri="{FF2B5EF4-FFF2-40B4-BE49-F238E27FC236}">
                <a16:creationId xmlns:a16="http://schemas.microsoft.com/office/drawing/2014/main" id="{EB6D0E20-E23D-9EAB-F440-D78DA5BA589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305301" y="2637658"/>
            <a:ext cx="261610" cy="261610"/>
          </a:xfrm>
          <a:prstGeom prst="rect">
            <a:avLst/>
          </a:prstGeom>
        </p:spPr>
      </p:pic>
      <p:pic>
        <p:nvPicPr>
          <p:cNvPr id="118" name="Graphic 117" descr="Chat with solid fill">
            <a:extLst>
              <a:ext uri="{FF2B5EF4-FFF2-40B4-BE49-F238E27FC236}">
                <a16:creationId xmlns:a16="http://schemas.microsoft.com/office/drawing/2014/main" id="{AC3EA3C8-6CDC-CD69-D2C2-AAB47AFFFDD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297189" y="3068000"/>
            <a:ext cx="261610" cy="261610"/>
          </a:xfrm>
          <a:prstGeom prst="rect">
            <a:avLst/>
          </a:prstGeom>
        </p:spPr>
      </p:pic>
      <p:pic>
        <p:nvPicPr>
          <p:cNvPr id="119" name="Graphic 118" descr="Chat with solid fill">
            <a:extLst>
              <a:ext uri="{FF2B5EF4-FFF2-40B4-BE49-F238E27FC236}">
                <a16:creationId xmlns:a16="http://schemas.microsoft.com/office/drawing/2014/main" id="{76556923-7BA8-D626-C6CF-CFF6E6BEC3F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297189" y="3527404"/>
            <a:ext cx="261610" cy="261610"/>
          </a:xfrm>
          <a:prstGeom prst="rect">
            <a:avLst/>
          </a:prstGeom>
        </p:spPr>
      </p:pic>
      <p:pic>
        <p:nvPicPr>
          <p:cNvPr id="120" name="Graphic 119" descr="Chat with solid fill">
            <a:extLst>
              <a:ext uri="{FF2B5EF4-FFF2-40B4-BE49-F238E27FC236}">
                <a16:creationId xmlns:a16="http://schemas.microsoft.com/office/drawing/2014/main" id="{89F22F6E-D674-75DB-393B-625F79A10BD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310562" y="3991625"/>
            <a:ext cx="261610" cy="261610"/>
          </a:xfrm>
          <a:prstGeom prst="rect">
            <a:avLst/>
          </a:prstGeom>
        </p:spPr>
      </p:pic>
      <p:sp>
        <p:nvSpPr>
          <p:cNvPr id="135" name="TextBox 134">
            <a:extLst>
              <a:ext uri="{FF2B5EF4-FFF2-40B4-BE49-F238E27FC236}">
                <a16:creationId xmlns:a16="http://schemas.microsoft.com/office/drawing/2014/main" id="{E11E2698-A4AB-5F39-92DD-EF73AF23A012}"/>
              </a:ext>
            </a:extLst>
          </p:cNvPr>
          <p:cNvSpPr txBox="1"/>
          <p:nvPr/>
        </p:nvSpPr>
        <p:spPr>
          <a:xfrm>
            <a:off x="4273058" y="3530126"/>
            <a:ext cx="724878" cy="261610"/>
          </a:xfrm>
          <a:prstGeom prst="rect">
            <a:avLst/>
          </a:prstGeom>
          <a:noFill/>
        </p:spPr>
        <p:txBody>
          <a:bodyPr wrap="none" rtlCol="0">
            <a:spAutoFit/>
          </a:bodyPr>
          <a:lstStyle/>
          <a:p>
            <a:r>
              <a:rPr lang="en-US" sz="1100" i="1" dirty="0">
                <a:solidFill>
                  <a:srgbClr val="FFC000"/>
                </a:solidFill>
              </a:rPr>
              <a:t>Working.</a:t>
            </a:r>
          </a:p>
        </p:txBody>
      </p:sp>
      <p:sp>
        <p:nvSpPr>
          <p:cNvPr id="136" name="TextBox 135">
            <a:extLst>
              <a:ext uri="{FF2B5EF4-FFF2-40B4-BE49-F238E27FC236}">
                <a16:creationId xmlns:a16="http://schemas.microsoft.com/office/drawing/2014/main" id="{142977EC-F618-8324-DDFE-43FDF208522B}"/>
              </a:ext>
            </a:extLst>
          </p:cNvPr>
          <p:cNvSpPr txBox="1"/>
          <p:nvPr/>
        </p:nvSpPr>
        <p:spPr>
          <a:xfrm>
            <a:off x="4253814" y="3982173"/>
            <a:ext cx="724878" cy="261610"/>
          </a:xfrm>
          <a:prstGeom prst="rect">
            <a:avLst/>
          </a:prstGeom>
          <a:noFill/>
        </p:spPr>
        <p:txBody>
          <a:bodyPr wrap="none" rtlCol="0">
            <a:spAutoFit/>
          </a:bodyPr>
          <a:lstStyle/>
          <a:p>
            <a:r>
              <a:rPr lang="en-US" sz="1100" i="1" dirty="0">
                <a:solidFill>
                  <a:srgbClr val="FFC000"/>
                </a:solidFill>
              </a:rPr>
              <a:t>Working.</a:t>
            </a:r>
          </a:p>
        </p:txBody>
      </p:sp>
      <p:pic>
        <p:nvPicPr>
          <p:cNvPr id="137" name="Graphic 136" descr="Play with solid fill">
            <a:extLst>
              <a:ext uri="{FF2B5EF4-FFF2-40B4-BE49-F238E27FC236}">
                <a16:creationId xmlns:a16="http://schemas.microsoft.com/office/drawing/2014/main" id="{2971AC50-8847-EC83-3007-FF3A81BC39A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00374" y="3545730"/>
            <a:ext cx="193474" cy="193474"/>
          </a:xfrm>
          <a:prstGeom prst="rect">
            <a:avLst/>
          </a:prstGeom>
        </p:spPr>
      </p:pic>
      <p:pic>
        <p:nvPicPr>
          <p:cNvPr id="138" name="Graphic 137" descr="Play with solid fill">
            <a:extLst>
              <a:ext uri="{FF2B5EF4-FFF2-40B4-BE49-F238E27FC236}">
                <a16:creationId xmlns:a16="http://schemas.microsoft.com/office/drawing/2014/main" id="{A7B3FDEB-543A-2F1E-2039-66EF1DF0179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02983" y="4004988"/>
            <a:ext cx="193474" cy="193474"/>
          </a:xfrm>
          <a:prstGeom prst="rect">
            <a:avLst/>
          </a:prstGeom>
        </p:spPr>
      </p:pic>
      <p:sp>
        <p:nvSpPr>
          <p:cNvPr id="139" name="TextBox 138">
            <a:extLst>
              <a:ext uri="{FF2B5EF4-FFF2-40B4-BE49-F238E27FC236}">
                <a16:creationId xmlns:a16="http://schemas.microsoft.com/office/drawing/2014/main" id="{451809D4-34D7-2E15-F385-B829E7DEFFE0}"/>
              </a:ext>
            </a:extLst>
          </p:cNvPr>
          <p:cNvSpPr txBox="1"/>
          <p:nvPr/>
        </p:nvSpPr>
        <p:spPr>
          <a:xfrm>
            <a:off x="7282334" y="2637658"/>
            <a:ext cx="260008" cy="261610"/>
          </a:xfrm>
          <a:prstGeom prst="rect">
            <a:avLst/>
          </a:prstGeom>
          <a:noFill/>
        </p:spPr>
        <p:txBody>
          <a:bodyPr wrap="square" rtlCol="0">
            <a:spAutoFit/>
          </a:bodyPr>
          <a:lstStyle/>
          <a:p>
            <a:r>
              <a:rPr lang="en-US" sz="1100" dirty="0">
                <a:solidFill>
                  <a:srgbClr val="E1E1E1"/>
                </a:solidFill>
              </a:rPr>
              <a:t>7</a:t>
            </a:r>
          </a:p>
        </p:txBody>
      </p:sp>
      <p:sp>
        <p:nvSpPr>
          <p:cNvPr id="13" name="TextBox 12">
            <a:extLst>
              <a:ext uri="{FF2B5EF4-FFF2-40B4-BE49-F238E27FC236}">
                <a16:creationId xmlns:a16="http://schemas.microsoft.com/office/drawing/2014/main" id="{72B12828-A4CB-7AF4-48DE-2BFBEAEF7EEE}"/>
              </a:ext>
            </a:extLst>
          </p:cNvPr>
          <p:cNvSpPr txBox="1"/>
          <p:nvPr/>
        </p:nvSpPr>
        <p:spPr>
          <a:xfrm>
            <a:off x="8155156" y="3033932"/>
            <a:ext cx="260008" cy="261610"/>
          </a:xfrm>
          <a:prstGeom prst="rect">
            <a:avLst/>
          </a:prstGeom>
          <a:noFill/>
        </p:spPr>
        <p:txBody>
          <a:bodyPr wrap="square" rtlCol="0">
            <a:spAutoFit/>
          </a:bodyPr>
          <a:lstStyle/>
          <a:p>
            <a:r>
              <a:rPr lang="en-US" sz="1100" dirty="0">
                <a:solidFill>
                  <a:srgbClr val="E1E1E1"/>
                </a:solidFill>
              </a:rPr>
              <a:t>1</a:t>
            </a:r>
          </a:p>
        </p:txBody>
      </p:sp>
      <p:sp>
        <p:nvSpPr>
          <p:cNvPr id="19" name="TextBox 18">
            <a:extLst>
              <a:ext uri="{FF2B5EF4-FFF2-40B4-BE49-F238E27FC236}">
                <a16:creationId xmlns:a16="http://schemas.microsoft.com/office/drawing/2014/main" id="{F2460B49-58C6-664C-5D8D-4560FE2BD321}"/>
              </a:ext>
            </a:extLst>
          </p:cNvPr>
          <p:cNvSpPr txBox="1"/>
          <p:nvPr/>
        </p:nvSpPr>
        <p:spPr>
          <a:xfrm>
            <a:off x="8155156" y="3980155"/>
            <a:ext cx="260008" cy="261610"/>
          </a:xfrm>
          <a:prstGeom prst="rect">
            <a:avLst/>
          </a:prstGeom>
          <a:noFill/>
        </p:spPr>
        <p:txBody>
          <a:bodyPr wrap="square" rtlCol="0">
            <a:spAutoFit/>
          </a:bodyPr>
          <a:lstStyle/>
          <a:p>
            <a:r>
              <a:rPr lang="en-US" sz="1100" dirty="0">
                <a:solidFill>
                  <a:srgbClr val="E1E1E1"/>
                </a:solidFill>
              </a:rPr>
              <a:t>1</a:t>
            </a:r>
          </a:p>
        </p:txBody>
      </p:sp>
      <p:sp>
        <p:nvSpPr>
          <p:cNvPr id="20" name="TextBox 19">
            <a:extLst>
              <a:ext uri="{FF2B5EF4-FFF2-40B4-BE49-F238E27FC236}">
                <a16:creationId xmlns:a16="http://schemas.microsoft.com/office/drawing/2014/main" id="{B4B9FCA1-4662-BEA1-39EB-BED797619D6E}"/>
              </a:ext>
            </a:extLst>
          </p:cNvPr>
          <p:cNvSpPr txBox="1"/>
          <p:nvPr/>
        </p:nvSpPr>
        <p:spPr>
          <a:xfrm>
            <a:off x="8155156" y="3496213"/>
            <a:ext cx="260008" cy="261610"/>
          </a:xfrm>
          <a:prstGeom prst="rect">
            <a:avLst/>
          </a:prstGeom>
          <a:noFill/>
        </p:spPr>
        <p:txBody>
          <a:bodyPr wrap="square" rtlCol="0">
            <a:spAutoFit/>
          </a:bodyPr>
          <a:lstStyle/>
          <a:p>
            <a:r>
              <a:rPr lang="en-US" sz="1100" dirty="0">
                <a:solidFill>
                  <a:srgbClr val="E1E1E1"/>
                </a:solidFill>
              </a:rPr>
              <a:t>1</a:t>
            </a:r>
          </a:p>
        </p:txBody>
      </p:sp>
      <p:sp>
        <p:nvSpPr>
          <p:cNvPr id="23" name="TextBox 22">
            <a:extLst>
              <a:ext uri="{FF2B5EF4-FFF2-40B4-BE49-F238E27FC236}">
                <a16:creationId xmlns:a16="http://schemas.microsoft.com/office/drawing/2014/main" id="{0460C0AC-CD55-FE3B-8120-9A9C273EC750}"/>
              </a:ext>
            </a:extLst>
          </p:cNvPr>
          <p:cNvSpPr txBox="1"/>
          <p:nvPr/>
        </p:nvSpPr>
        <p:spPr>
          <a:xfrm>
            <a:off x="2947872" y="2209718"/>
            <a:ext cx="649537" cy="246221"/>
          </a:xfrm>
          <a:prstGeom prst="rect">
            <a:avLst/>
          </a:prstGeom>
          <a:noFill/>
        </p:spPr>
        <p:txBody>
          <a:bodyPr wrap="none" rtlCol="0">
            <a:spAutoFit/>
          </a:bodyPr>
          <a:lstStyle/>
          <a:p>
            <a:pPr algn="ctr"/>
            <a:r>
              <a:rPr lang="en-US" sz="1000" dirty="0">
                <a:solidFill>
                  <a:srgbClr val="E1E1E1"/>
                </a:solidFill>
              </a:rPr>
              <a:t>Agent ID</a:t>
            </a:r>
          </a:p>
        </p:txBody>
      </p:sp>
      <p:sp>
        <p:nvSpPr>
          <p:cNvPr id="28" name="TextBox 27">
            <a:extLst>
              <a:ext uri="{FF2B5EF4-FFF2-40B4-BE49-F238E27FC236}">
                <a16:creationId xmlns:a16="http://schemas.microsoft.com/office/drawing/2014/main" id="{09F1FD20-D3A4-B8D4-6514-C274061C9387}"/>
              </a:ext>
            </a:extLst>
          </p:cNvPr>
          <p:cNvSpPr txBox="1"/>
          <p:nvPr/>
        </p:nvSpPr>
        <p:spPr>
          <a:xfrm>
            <a:off x="2647311" y="2620646"/>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0" name="TextBox 29">
            <a:extLst>
              <a:ext uri="{FF2B5EF4-FFF2-40B4-BE49-F238E27FC236}">
                <a16:creationId xmlns:a16="http://schemas.microsoft.com/office/drawing/2014/main" id="{94D95166-DAEB-1725-DCC5-EC68B20D6752}"/>
              </a:ext>
            </a:extLst>
          </p:cNvPr>
          <p:cNvSpPr txBox="1"/>
          <p:nvPr/>
        </p:nvSpPr>
        <p:spPr>
          <a:xfrm>
            <a:off x="2647311" y="3086580"/>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1" name="TextBox 30">
            <a:extLst>
              <a:ext uri="{FF2B5EF4-FFF2-40B4-BE49-F238E27FC236}">
                <a16:creationId xmlns:a16="http://schemas.microsoft.com/office/drawing/2014/main" id="{C3161B2C-661C-8638-5C7A-1C3D07B45ED6}"/>
              </a:ext>
            </a:extLst>
          </p:cNvPr>
          <p:cNvSpPr txBox="1"/>
          <p:nvPr/>
        </p:nvSpPr>
        <p:spPr>
          <a:xfrm>
            <a:off x="2647311" y="3545730"/>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2" name="TextBox 31">
            <a:extLst>
              <a:ext uri="{FF2B5EF4-FFF2-40B4-BE49-F238E27FC236}">
                <a16:creationId xmlns:a16="http://schemas.microsoft.com/office/drawing/2014/main" id="{4767F386-D83D-BE51-9132-8F8FB384131C}"/>
              </a:ext>
            </a:extLst>
          </p:cNvPr>
          <p:cNvSpPr txBox="1"/>
          <p:nvPr/>
        </p:nvSpPr>
        <p:spPr>
          <a:xfrm>
            <a:off x="2636441" y="4004880"/>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3" name="TextBox 32">
            <a:extLst>
              <a:ext uri="{FF2B5EF4-FFF2-40B4-BE49-F238E27FC236}">
                <a16:creationId xmlns:a16="http://schemas.microsoft.com/office/drawing/2014/main" id="{916C6092-5318-99F2-1068-1AA25399E30E}"/>
              </a:ext>
            </a:extLst>
          </p:cNvPr>
          <p:cNvSpPr txBox="1"/>
          <p:nvPr/>
        </p:nvSpPr>
        <p:spPr>
          <a:xfrm>
            <a:off x="5445208" y="2092323"/>
            <a:ext cx="772505" cy="400110"/>
          </a:xfrm>
          <a:prstGeom prst="rect">
            <a:avLst/>
          </a:prstGeom>
          <a:noFill/>
        </p:spPr>
        <p:txBody>
          <a:bodyPr wrap="square" rtlCol="0">
            <a:spAutoFit/>
          </a:bodyPr>
          <a:lstStyle/>
          <a:p>
            <a:pPr algn="ctr"/>
            <a:r>
              <a:rPr lang="en-US" sz="1000" dirty="0">
                <a:solidFill>
                  <a:srgbClr val="E1E1E1"/>
                </a:solidFill>
              </a:rPr>
              <a:t>Job </a:t>
            </a:r>
          </a:p>
          <a:p>
            <a:pPr algn="ctr"/>
            <a:r>
              <a:rPr lang="en-US" sz="1000" dirty="0">
                <a:solidFill>
                  <a:srgbClr val="E1E1E1"/>
                </a:solidFill>
              </a:rPr>
              <a:t>Read</a:t>
            </a:r>
          </a:p>
        </p:txBody>
      </p:sp>
      <p:sp>
        <p:nvSpPr>
          <p:cNvPr id="34" name="TextBox 33">
            <a:extLst>
              <a:ext uri="{FF2B5EF4-FFF2-40B4-BE49-F238E27FC236}">
                <a16:creationId xmlns:a16="http://schemas.microsoft.com/office/drawing/2014/main" id="{B529A190-C711-C9A2-A4AB-DD8E7C18F118}"/>
              </a:ext>
            </a:extLst>
          </p:cNvPr>
          <p:cNvSpPr txBox="1"/>
          <p:nvPr/>
        </p:nvSpPr>
        <p:spPr>
          <a:xfrm>
            <a:off x="6129630" y="2105765"/>
            <a:ext cx="1037054" cy="400110"/>
          </a:xfrm>
          <a:prstGeom prst="rect">
            <a:avLst/>
          </a:prstGeom>
          <a:noFill/>
        </p:spPr>
        <p:txBody>
          <a:bodyPr wrap="square" rtlCol="0">
            <a:spAutoFit/>
          </a:bodyPr>
          <a:lstStyle/>
          <a:p>
            <a:pPr algn="ctr"/>
            <a:r>
              <a:rPr lang="en-US" sz="1000" dirty="0">
                <a:solidFill>
                  <a:srgbClr val="E1E1E1"/>
                </a:solidFill>
              </a:rPr>
              <a:t>Job Acknowledged</a:t>
            </a:r>
          </a:p>
        </p:txBody>
      </p:sp>
      <p:pic>
        <p:nvPicPr>
          <p:cNvPr id="36" name="Graphic 35" descr="Badge Tick1 with solid fill">
            <a:extLst>
              <a:ext uri="{FF2B5EF4-FFF2-40B4-BE49-F238E27FC236}">
                <a16:creationId xmlns:a16="http://schemas.microsoft.com/office/drawing/2014/main" id="{1ACA4DF8-2173-1E22-F0DF-BB80D35155F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720452" y="2644852"/>
            <a:ext cx="222015" cy="222015"/>
          </a:xfrm>
          <a:prstGeom prst="rect">
            <a:avLst/>
          </a:prstGeom>
        </p:spPr>
      </p:pic>
      <p:pic>
        <p:nvPicPr>
          <p:cNvPr id="37" name="Graphic 36" descr="Badge Tick1 with solid fill">
            <a:extLst>
              <a:ext uri="{FF2B5EF4-FFF2-40B4-BE49-F238E27FC236}">
                <a16:creationId xmlns:a16="http://schemas.microsoft.com/office/drawing/2014/main" id="{093AC044-BD23-AB51-288A-6DEF06DA9DE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554184" y="2644851"/>
            <a:ext cx="222015" cy="222015"/>
          </a:xfrm>
          <a:prstGeom prst="rect">
            <a:avLst/>
          </a:prstGeom>
        </p:spPr>
      </p:pic>
      <p:cxnSp>
        <p:nvCxnSpPr>
          <p:cNvPr id="41" name="Straight Connector 40">
            <a:extLst>
              <a:ext uri="{FF2B5EF4-FFF2-40B4-BE49-F238E27FC236}">
                <a16:creationId xmlns:a16="http://schemas.microsoft.com/office/drawing/2014/main" id="{5E3A44BB-B872-BDCE-F4D5-E545196E437E}"/>
              </a:ext>
            </a:extLst>
          </p:cNvPr>
          <p:cNvCxnSpPr>
            <a:cxnSpLocks/>
          </p:cNvCxnSpPr>
          <p:nvPr/>
        </p:nvCxnSpPr>
        <p:spPr>
          <a:xfrm>
            <a:off x="11391357" y="2585825"/>
            <a:ext cx="0" cy="2327883"/>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96D24B57-5711-2F9B-B3ED-8EA095A560F4}"/>
              </a:ext>
            </a:extLst>
          </p:cNvPr>
          <p:cNvCxnSpPr>
            <a:cxnSpLocks/>
          </p:cNvCxnSpPr>
          <p:nvPr/>
        </p:nvCxnSpPr>
        <p:spPr>
          <a:xfrm>
            <a:off x="11391357" y="2585825"/>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95F4D93F-812F-C9AA-A26B-746E10B19D36}"/>
              </a:ext>
            </a:extLst>
          </p:cNvPr>
          <p:cNvCxnSpPr>
            <a:cxnSpLocks/>
          </p:cNvCxnSpPr>
          <p:nvPr/>
        </p:nvCxnSpPr>
        <p:spPr>
          <a:xfrm>
            <a:off x="11391357" y="2625072"/>
            <a:ext cx="0" cy="2327883"/>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73F6DDDA-ABFE-5FA2-72C5-6FF0241FC1C4}"/>
              </a:ext>
            </a:extLst>
          </p:cNvPr>
          <p:cNvCxnSpPr>
            <a:cxnSpLocks/>
          </p:cNvCxnSpPr>
          <p:nvPr/>
        </p:nvCxnSpPr>
        <p:spPr>
          <a:xfrm>
            <a:off x="11391357" y="2625072"/>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sp>
        <p:nvSpPr>
          <p:cNvPr id="45" name="Rectangle: Rounded Corners 44">
            <a:extLst>
              <a:ext uri="{FF2B5EF4-FFF2-40B4-BE49-F238E27FC236}">
                <a16:creationId xmlns:a16="http://schemas.microsoft.com/office/drawing/2014/main" id="{0E7CC538-CBE2-457B-59CE-92657B414C41}"/>
              </a:ext>
            </a:extLst>
          </p:cNvPr>
          <p:cNvSpPr/>
          <p:nvPr/>
        </p:nvSpPr>
        <p:spPr>
          <a:xfrm>
            <a:off x="3031449" y="5377380"/>
            <a:ext cx="5904873" cy="421811"/>
          </a:xfrm>
          <a:prstGeom prst="roundRect">
            <a:avLst>
              <a:gd name="adj" fmla="val 27474"/>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a:t>
            </a:r>
          </a:p>
        </p:txBody>
      </p:sp>
      <p:sp>
        <p:nvSpPr>
          <p:cNvPr id="46" name="Rectangle: Rounded Corners 45">
            <a:extLst>
              <a:ext uri="{FF2B5EF4-FFF2-40B4-BE49-F238E27FC236}">
                <a16:creationId xmlns:a16="http://schemas.microsoft.com/office/drawing/2014/main" id="{9C7E220D-978B-EA01-3115-8D55F7535E7E}"/>
              </a:ext>
            </a:extLst>
          </p:cNvPr>
          <p:cNvSpPr/>
          <p:nvPr/>
        </p:nvSpPr>
        <p:spPr>
          <a:xfrm>
            <a:off x="522553" y="5375748"/>
            <a:ext cx="1132255" cy="421811"/>
          </a:xfrm>
          <a:prstGeom prst="roundRect">
            <a:avLst>
              <a:gd name="adj" fmla="val 27474"/>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1E3147"/>
                </a:solidFill>
              </a:rPr>
              <a:t>Message Orchestrator</a:t>
            </a:r>
          </a:p>
        </p:txBody>
      </p:sp>
      <p:sp>
        <p:nvSpPr>
          <p:cNvPr id="47" name="Rectangle: Rounded Corners 46">
            <a:extLst>
              <a:ext uri="{FF2B5EF4-FFF2-40B4-BE49-F238E27FC236}">
                <a16:creationId xmlns:a16="http://schemas.microsoft.com/office/drawing/2014/main" id="{6802358A-73A3-668B-0B43-A3294FA34814}"/>
              </a:ext>
            </a:extLst>
          </p:cNvPr>
          <p:cNvSpPr/>
          <p:nvPr/>
        </p:nvSpPr>
        <p:spPr>
          <a:xfrm>
            <a:off x="1753756" y="5378268"/>
            <a:ext cx="1178745" cy="421811"/>
          </a:xfrm>
          <a:prstGeom prst="roundRect">
            <a:avLst>
              <a:gd name="adj" fmla="val 27474"/>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1E1E1"/>
                </a:solidFill>
              </a:rPr>
              <a:t>Broadcast</a:t>
            </a:r>
          </a:p>
        </p:txBody>
      </p:sp>
      <p:sp>
        <p:nvSpPr>
          <p:cNvPr id="50" name="Oval 49">
            <a:extLst>
              <a:ext uri="{FF2B5EF4-FFF2-40B4-BE49-F238E27FC236}">
                <a16:creationId xmlns:a16="http://schemas.microsoft.com/office/drawing/2014/main" id="{C8DC5716-EE71-1B37-631D-4ACC30D1B2C3}"/>
              </a:ext>
            </a:extLst>
          </p:cNvPr>
          <p:cNvSpPr/>
          <p:nvPr/>
        </p:nvSpPr>
        <p:spPr>
          <a:xfrm>
            <a:off x="8997072" y="5441706"/>
            <a:ext cx="293929" cy="306770"/>
          </a:xfrm>
          <a:prstGeom prst="ellipse">
            <a:avLst/>
          </a:prstGeom>
          <a:solidFill>
            <a:srgbClr val="FFC3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 name="Graphic 48" descr="Play with solid fill">
            <a:extLst>
              <a:ext uri="{FF2B5EF4-FFF2-40B4-BE49-F238E27FC236}">
                <a16:creationId xmlns:a16="http://schemas.microsoft.com/office/drawing/2014/main" id="{4BBBD5B1-A709-F072-2B53-999233AB488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073173" y="5507713"/>
            <a:ext cx="174755" cy="174755"/>
          </a:xfrm>
          <a:prstGeom prst="rect">
            <a:avLst/>
          </a:prstGeom>
        </p:spPr>
      </p:pic>
      <p:sp>
        <p:nvSpPr>
          <p:cNvPr id="53" name="TextBox 52">
            <a:extLst>
              <a:ext uri="{FF2B5EF4-FFF2-40B4-BE49-F238E27FC236}">
                <a16:creationId xmlns:a16="http://schemas.microsoft.com/office/drawing/2014/main" id="{1EBCE102-705E-BF66-47E7-9D67B82071B1}"/>
              </a:ext>
            </a:extLst>
          </p:cNvPr>
          <p:cNvSpPr txBox="1"/>
          <p:nvPr/>
        </p:nvSpPr>
        <p:spPr>
          <a:xfrm>
            <a:off x="39778" y="47732"/>
            <a:ext cx="4306628" cy="369332"/>
          </a:xfrm>
          <a:prstGeom prst="rect">
            <a:avLst/>
          </a:prstGeom>
          <a:noFill/>
        </p:spPr>
        <p:txBody>
          <a:bodyPr wrap="none" rtlCol="0">
            <a:spAutoFit/>
          </a:bodyPr>
          <a:lstStyle/>
          <a:p>
            <a:r>
              <a:rPr lang="en-US" dirty="0">
                <a:solidFill>
                  <a:schemeClr val="accent5">
                    <a:lumMod val="60000"/>
                    <a:lumOff val="40000"/>
                  </a:schemeClr>
                </a:solidFill>
              </a:rPr>
              <a:t>SLIDE 3g – Implementation Tab. Elements</a:t>
            </a:r>
          </a:p>
        </p:txBody>
      </p:sp>
      <p:sp>
        <p:nvSpPr>
          <p:cNvPr id="86" name="TextBox 85">
            <a:extLst>
              <a:ext uri="{FF2B5EF4-FFF2-40B4-BE49-F238E27FC236}">
                <a16:creationId xmlns:a16="http://schemas.microsoft.com/office/drawing/2014/main" id="{6E8D6CEF-F2AA-A65B-9DAC-A054C0DC231D}"/>
              </a:ext>
            </a:extLst>
          </p:cNvPr>
          <p:cNvSpPr txBox="1"/>
          <p:nvPr/>
        </p:nvSpPr>
        <p:spPr>
          <a:xfrm>
            <a:off x="4356" y="6139893"/>
            <a:ext cx="2541815" cy="646331"/>
          </a:xfrm>
          <a:prstGeom prst="rect">
            <a:avLst/>
          </a:prstGeom>
          <a:solidFill>
            <a:srgbClr val="FF0000"/>
          </a:solidFill>
          <a:ln>
            <a:solidFill>
              <a:schemeClr val="accent5">
                <a:lumMod val="60000"/>
                <a:lumOff val="40000"/>
              </a:schemeClr>
            </a:solidFill>
          </a:ln>
        </p:spPr>
        <p:txBody>
          <a:bodyPr wrap="square" rtlCol="0">
            <a:spAutoFit/>
          </a:bodyPr>
          <a:lstStyle/>
          <a:p>
            <a:r>
              <a:rPr lang="en-US" dirty="0">
                <a:solidFill>
                  <a:schemeClr val="bg1"/>
                </a:solidFill>
              </a:rPr>
              <a:t>CLAUDE CODE CLI MODE</a:t>
            </a:r>
          </a:p>
        </p:txBody>
      </p:sp>
      <p:sp>
        <p:nvSpPr>
          <p:cNvPr id="10" name="TextBox 9">
            <a:extLst>
              <a:ext uri="{FF2B5EF4-FFF2-40B4-BE49-F238E27FC236}">
                <a16:creationId xmlns:a16="http://schemas.microsoft.com/office/drawing/2014/main" id="{25A920E6-7AB0-DC70-B54B-D843472C101E}"/>
              </a:ext>
            </a:extLst>
          </p:cNvPr>
          <p:cNvSpPr txBox="1"/>
          <p:nvPr/>
        </p:nvSpPr>
        <p:spPr>
          <a:xfrm>
            <a:off x="9159175" y="2588302"/>
            <a:ext cx="260008" cy="261610"/>
          </a:xfrm>
          <a:prstGeom prst="rect">
            <a:avLst/>
          </a:prstGeom>
          <a:noFill/>
        </p:spPr>
        <p:txBody>
          <a:bodyPr wrap="square" rtlCol="0">
            <a:spAutoFit/>
          </a:bodyPr>
          <a:lstStyle/>
          <a:p>
            <a:r>
              <a:rPr lang="en-US" sz="1100" dirty="0">
                <a:solidFill>
                  <a:srgbClr val="E1E1E1"/>
                </a:solidFill>
              </a:rPr>
              <a:t>1</a:t>
            </a:r>
          </a:p>
        </p:txBody>
      </p:sp>
      <p:sp>
        <p:nvSpPr>
          <p:cNvPr id="61" name="TextBox 60">
            <a:extLst>
              <a:ext uri="{FF2B5EF4-FFF2-40B4-BE49-F238E27FC236}">
                <a16:creationId xmlns:a16="http://schemas.microsoft.com/office/drawing/2014/main" id="{6ECEC8D6-9B0D-7057-79B6-98588C216AA2}"/>
              </a:ext>
            </a:extLst>
          </p:cNvPr>
          <p:cNvSpPr txBox="1"/>
          <p:nvPr/>
        </p:nvSpPr>
        <p:spPr>
          <a:xfrm>
            <a:off x="5391856" y="141963"/>
            <a:ext cx="2248418" cy="1200329"/>
          </a:xfrm>
          <a:prstGeom prst="rect">
            <a:avLst/>
          </a:prstGeom>
          <a:noFill/>
          <a:ln>
            <a:solidFill>
              <a:schemeClr val="accent5">
                <a:lumMod val="60000"/>
                <a:lumOff val="40000"/>
              </a:schemeClr>
            </a:solidFill>
          </a:ln>
        </p:spPr>
        <p:txBody>
          <a:bodyPr wrap="square" rtlCol="0">
            <a:spAutoFit/>
          </a:bodyPr>
          <a:lstStyle/>
          <a:p>
            <a:r>
              <a:rPr lang="en-US" dirty="0">
                <a:solidFill>
                  <a:schemeClr val="accent5">
                    <a:lumMod val="60000"/>
                    <a:lumOff val="40000"/>
                  </a:schemeClr>
                </a:solidFill>
              </a:rPr>
              <a:t>Orchestrator may have sent messages, (speculative as an example)</a:t>
            </a:r>
          </a:p>
        </p:txBody>
      </p:sp>
      <p:cxnSp>
        <p:nvCxnSpPr>
          <p:cNvPr id="65" name="Straight Arrow Connector 64">
            <a:extLst>
              <a:ext uri="{FF2B5EF4-FFF2-40B4-BE49-F238E27FC236}">
                <a16:creationId xmlns:a16="http://schemas.microsoft.com/office/drawing/2014/main" id="{525F7E96-AA75-7D27-FB6A-A8F55009B91D}"/>
              </a:ext>
            </a:extLst>
          </p:cNvPr>
          <p:cNvCxnSpPr>
            <a:cxnSpLocks/>
            <a:stCxn id="61" idx="2"/>
          </p:cNvCxnSpPr>
          <p:nvPr/>
        </p:nvCxnSpPr>
        <p:spPr>
          <a:xfrm>
            <a:off x="6516065" y="1342292"/>
            <a:ext cx="744160" cy="1251192"/>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67" name="Straight Arrow Connector 66">
            <a:extLst>
              <a:ext uri="{FF2B5EF4-FFF2-40B4-BE49-F238E27FC236}">
                <a16:creationId xmlns:a16="http://schemas.microsoft.com/office/drawing/2014/main" id="{88481A4F-D50B-4336-D3DC-6463E7CA720A}"/>
              </a:ext>
            </a:extLst>
          </p:cNvPr>
          <p:cNvCxnSpPr>
            <a:cxnSpLocks/>
            <a:endCxn id="13" idx="1"/>
          </p:cNvCxnSpPr>
          <p:nvPr/>
        </p:nvCxnSpPr>
        <p:spPr>
          <a:xfrm>
            <a:off x="7564875" y="1387986"/>
            <a:ext cx="590281" cy="1776751"/>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71" name="Straight Arrow Connector 70">
            <a:extLst>
              <a:ext uri="{FF2B5EF4-FFF2-40B4-BE49-F238E27FC236}">
                <a16:creationId xmlns:a16="http://schemas.microsoft.com/office/drawing/2014/main" id="{B81C984F-2F27-8F90-DEBD-52915AE0EA4A}"/>
              </a:ext>
            </a:extLst>
          </p:cNvPr>
          <p:cNvCxnSpPr>
            <a:cxnSpLocks/>
            <a:endCxn id="19" idx="1"/>
          </p:cNvCxnSpPr>
          <p:nvPr/>
        </p:nvCxnSpPr>
        <p:spPr>
          <a:xfrm>
            <a:off x="7530926" y="1342292"/>
            <a:ext cx="624230" cy="2768668"/>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76" name="Straight Arrow Connector 75">
            <a:extLst>
              <a:ext uri="{FF2B5EF4-FFF2-40B4-BE49-F238E27FC236}">
                <a16:creationId xmlns:a16="http://schemas.microsoft.com/office/drawing/2014/main" id="{85722AD6-B05F-45A8-78DF-EA7FD24B6F95}"/>
              </a:ext>
            </a:extLst>
          </p:cNvPr>
          <p:cNvCxnSpPr>
            <a:cxnSpLocks/>
            <a:endCxn id="20" idx="1"/>
          </p:cNvCxnSpPr>
          <p:nvPr/>
        </p:nvCxnSpPr>
        <p:spPr>
          <a:xfrm>
            <a:off x="7514253" y="1342292"/>
            <a:ext cx="640903" cy="2284726"/>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pic>
        <p:nvPicPr>
          <p:cNvPr id="88" name="Graphic 87" descr="Play with solid fill">
            <a:extLst>
              <a:ext uri="{FF2B5EF4-FFF2-40B4-BE49-F238E27FC236}">
                <a16:creationId xmlns:a16="http://schemas.microsoft.com/office/drawing/2014/main" id="{E514B268-818D-A1C2-178D-BBB16506D8E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976037" y="3089793"/>
            <a:ext cx="193474" cy="193474"/>
          </a:xfrm>
          <a:prstGeom prst="rect">
            <a:avLst/>
          </a:prstGeom>
        </p:spPr>
      </p:pic>
      <p:sp>
        <p:nvSpPr>
          <p:cNvPr id="105" name="TextBox 104">
            <a:extLst>
              <a:ext uri="{FF2B5EF4-FFF2-40B4-BE49-F238E27FC236}">
                <a16:creationId xmlns:a16="http://schemas.microsoft.com/office/drawing/2014/main" id="{E3702388-3FDF-FE73-A100-ADD3132E3C1B}"/>
              </a:ext>
            </a:extLst>
          </p:cNvPr>
          <p:cNvSpPr txBox="1"/>
          <p:nvPr/>
        </p:nvSpPr>
        <p:spPr>
          <a:xfrm>
            <a:off x="9843164" y="384547"/>
            <a:ext cx="2025008" cy="830997"/>
          </a:xfrm>
          <a:prstGeom prst="rect">
            <a:avLst/>
          </a:prstGeom>
          <a:noFill/>
          <a:ln>
            <a:solidFill>
              <a:schemeClr val="accent5">
                <a:lumMod val="60000"/>
                <a:lumOff val="40000"/>
              </a:schemeClr>
            </a:solidFill>
          </a:ln>
        </p:spPr>
        <p:txBody>
          <a:bodyPr wrap="square" rtlCol="0">
            <a:spAutoFit/>
          </a:bodyPr>
          <a:lstStyle/>
          <a:p>
            <a:r>
              <a:rPr lang="en-US" sz="1200" dirty="0">
                <a:solidFill>
                  <a:schemeClr val="accent5">
                    <a:lumMod val="60000"/>
                    <a:lumOff val="40000"/>
                  </a:schemeClr>
                </a:solidFill>
              </a:rPr>
              <a:t>reuse here means prompt has been copied and thus ‘used’ but can be copied again</a:t>
            </a:r>
          </a:p>
        </p:txBody>
      </p:sp>
      <p:cxnSp>
        <p:nvCxnSpPr>
          <p:cNvPr id="107" name="Straight Arrow Connector 106">
            <a:extLst>
              <a:ext uri="{FF2B5EF4-FFF2-40B4-BE49-F238E27FC236}">
                <a16:creationId xmlns:a16="http://schemas.microsoft.com/office/drawing/2014/main" id="{8EA892A4-0ED4-F994-1A8F-46A40B876684}"/>
              </a:ext>
            </a:extLst>
          </p:cNvPr>
          <p:cNvCxnSpPr>
            <a:cxnSpLocks/>
          </p:cNvCxnSpPr>
          <p:nvPr/>
        </p:nvCxnSpPr>
        <p:spPr>
          <a:xfrm flipH="1" flipV="1">
            <a:off x="9428548" y="3192644"/>
            <a:ext cx="508246" cy="2489824"/>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pic>
        <p:nvPicPr>
          <p:cNvPr id="113" name="Graphic 112" descr="Repeat outline">
            <a:extLst>
              <a:ext uri="{FF2B5EF4-FFF2-40B4-BE49-F238E27FC236}">
                <a16:creationId xmlns:a16="http://schemas.microsoft.com/office/drawing/2014/main" id="{71ACDBEB-D8A0-C653-DD52-1786AF471385}"/>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946626" y="2668570"/>
            <a:ext cx="261611" cy="261611"/>
          </a:xfrm>
          <a:prstGeom prst="rect">
            <a:avLst/>
          </a:prstGeom>
        </p:spPr>
      </p:pic>
      <p:sp>
        <p:nvSpPr>
          <p:cNvPr id="40" name="TextBox 39">
            <a:extLst>
              <a:ext uri="{FF2B5EF4-FFF2-40B4-BE49-F238E27FC236}">
                <a16:creationId xmlns:a16="http://schemas.microsoft.com/office/drawing/2014/main" id="{81389114-219F-2A7E-A30F-1CB4EFCA55F6}"/>
              </a:ext>
            </a:extLst>
          </p:cNvPr>
          <p:cNvSpPr txBox="1"/>
          <p:nvPr/>
        </p:nvSpPr>
        <p:spPr>
          <a:xfrm>
            <a:off x="9143479" y="3056617"/>
            <a:ext cx="260008" cy="261610"/>
          </a:xfrm>
          <a:prstGeom prst="rect">
            <a:avLst/>
          </a:prstGeom>
          <a:noFill/>
        </p:spPr>
        <p:txBody>
          <a:bodyPr wrap="square" rtlCol="0">
            <a:spAutoFit/>
          </a:bodyPr>
          <a:lstStyle/>
          <a:p>
            <a:r>
              <a:rPr lang="en-US" sz="1100" dirty="0">
                <a:solidFill>
                  <a:srgbClr val="E1E1E1"/>
                </a:solidFill>
              </a:rPr>
              <a:t>1</a:t>
            </a:r>
          </a:p>
        </p:txBody>
      </p:sp>
      <p:sp>
        <p:nvSpPr>
          <p:cNvPr id="48" name="TextBox 47">
            <a:extLst>
              <a:ext uri="{FF2B5EF4-FFF2-40B4-BE49-F238E27FC236}">
                <a16:creationId xmlns:a16="http://schemas.microsoft.com/office/drawing/2014/main" id="{84A567AE-4043-5579-D29D-12E562413690}"/>
              </a:ext>
            </a:extLst>
          </p:cNvPr>
          <p:cNvSpPr txBox="1"/>
          <p:nvPr/>
        </p:nvSpPr>
        <p:spPr>
          <a:xfrm>
            <a:off x="9168540" y="3530126"/>
            <a:ext cx="260008" cy="261610"/>
          </a:xfrm>
          <a:prstGeom prst="rect">
            <a:avLst/>
          </a:prstGeom>
          <a:noFill/>
        </p:spPr>
        <p:txBody>
          <a:bodyPr wrap="square" rtlCol="0">
            <a:spAutoFit/>
          </a:bodyPr>
          <a:lstStyle/>
          <a:p>
            <a:r>
              <a:rPr lang="en-US" sz="1100" dirty="0">
                <a:solidFill>
                  <a:srgbClr val="E1E1E1"/>
                </a:solidFill>
              </a:rPr>
              <a:t>1</a:t>
            </a:r>
          </a:p>
        </p:txBody>
      </p:sp>
      <p:sp>
        <p:nvSpPr>
          <p:cNvPr id="52" name="TextBox 51">
            <a:extLst>
              <a:ext uri="{FF2B5EF4-FFF2-40B4-BE49-F238E27FC236}">
                <a16:creationId xmlns:a16="http://schemas.microsoft.com/office/drawing/2014/main" id="{0F8615C3-66DE-84B8-1B47-800149AE454F}"/>
              </a:ext>
            </a:extLst>
          </p:cNvPr>
          <p:cNvSpPr txBox="1"/>
          <p:nvPr/>
        </p:nvSpPr>
        <p:spPr>
          <a:xfrm>
            <a:off x="9159175" y="3980155"/>
            <a:ext cx="260008" cy="261610"/>
          </a:xfrm>
          <a:prstGeom prst="rect">
            <a:avLst/>
          </a:prstGeom>
          <a:noFill/>
        </p:spPr>
        <p:txBody>
          <a:bodyPr wrap="square" rtlCol="0">
            <a:spAutoFit/>
          </a:bodyPr>
          <a:lstStyle/>
          <a:p>
            <a:r>
              <a:rPr lang="en-US" sz="1100" dirty="0">
                <a:solidFill>
                  <a:srgbClr val="E1E1E1"/>
                </a:solidFill>
              </a:rPr>
              <a:t>1</a:t>
            </a:r>
          </a:p>
        </p:txBody>
      </p:sp>
      <p:sp>
        <p:nvSpPr>
          <p:cNvPr id="54" name="TextBox 53">
            <a:extLst>
              <a:ext uri="{FF2B5EF4-FFF2-40B4-BE49-F238E27FC236}">
                <a16:creationId xmlns:a16="http://schemas.microsoft.com/office/drawing/2014/main" id="{F7F83F4B-DACE-9F4E-0F88-3E8ABE3E402C}"/>
              </a:ext>
            </a:extLst>
          </p:cNvPr>
          <p:cNvSpPr txBox="1"/>
          <p:nvPr/>
        </p:nvSpPr>
        <p:spPr>
          <a:xfrm>
            <a:off x="9843164" y="5659427"/>
            <a:ext cx="2025008" cy="461665"/>
          </a:xfrm>
          <a:prstGeom prst="rect">
            <a:avLst/>
          </a:prstGeom>
          <a:noFill/>
          <a:ln>
            <a:solidFill>
              <a:schemeClr val="accent5">
                <a:lumMod val="60000"/>
                <a:lumOff val="40000"/>
              </a:schemeClr>
            </a:solidFill>
          </a:ln>
        </p:spPr>
        <p:txBody>
          <a:bodyPr wrap="square" rtlCol="0">
            <a:spAutoFit/>
          </a:bodyPr>
          <a:lstStyle/>
          <a:p>
            <a:r>
              <a:rPr lang="en-US" sz="1200" dirty="0">
                <a:solidFill>
                  <a:schemeClr val="accent5">
                    <a:lumMod val="60000"/>
                    <a:lumOff val="40000"/>
                  </a:schemeClr>
                </a:solidFill>
              </a:rPr>
              <a:t>All agents have read their mission messages</a:t>
            </a:r>
          </a:p>
        </p:txBody>
      </p:sp>
      <p:cxnSp>
        <p:nvCxnSpPr>
          <p:cNvPr id="59" name="Straight Arrow Connector 58">
            <a:extLst>
              <a:ext uri="{FF2B5EF4-FFF2-40B4-BE49-F238E27FC236}">
                <a16:creationId xmlns:a16="http://schemas.microsoft.com/office/drawing/2014/main" id="{1A30CF3A-E3B8-A233-1C3F-C0310A020708}"/>
              </a:ext>
            </a:extLst>
          </p:cNvPr>
          <p:cNvCxnSpPr>
            <a:cxnSpLocks/>
          </p:cNvCxnSpPr>
          <p:nvPr/>
        </p:nvCxnSpPr>
        <p:spPr>
          <a:xfrm flipH="1" flipV="1">
            <a:off x="9428548" y="3789013"/>
            <a:ext cx="474407" cy="1806077"/>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63" name="Straight Arrow Connector 62">
            <a:extLst>
              <a:ext uri="{FF2B5EF4-FFF2-40B4-BE49-F238E27FC236}">
                <a16:creationId xmlns:a16="http://schemas.microsoft.com/office/drawing/2014/main" id="{64AAD497-2419-5536-E10B-D4BF3586CF58}"/>
              </a:ext>
            </a:extLst>
          </p:cNvPr>
          <p:cNvCxnSpPr>
            <a:cxnSpLocks/>
          </p:cNvCxnSpPr>
          <p:nvPr/>
        </p:nvCxnSpPr>
        <p:spPr>
          <a:xfrm flipH="1" flipV="1">
            <a:off x="9439418" y="4272023"/>
            <a:ext cx="497376" cy="1314630"/>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pic>
        <p:nvPicPr>
          <p:cNvPr id="72" name="Graphic 71" descr="Badge Tick1 with solid fill">
            <a:extLst>
              <a:ext uri="{FF2B5EF4-FFF2-40B4-BE49-F238E27FC236}">
                <a16:creationId xmlns:a16="http://schemas.microsoft.com/office/drawing/2014/main" id="{8674B462-8056-5E83-7E55-A637CFFF052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754694" y="3089275"/>
            <a:ext cx="222015" cy="222015"/>
          </a:xfrm>
          <a:prstGeom prst="rect">
            <a:avLst/>
          </a:prstGeom>
        </p:spPr>
      </p:pic>
      <p:pic>
        <p:nvPicPr>
          <p:cNvPr id="73" name="Graphic 72" descr="Badge Tick1 with solid fill">
            <a:extLst>
              <a:ext uri="{FF2B5EF4-FFF2-40B4-BE49-F238E27FC236}">
                <a16:creationId xmlns:a16="http://schemas.microsoft.com/office/drawing/2014/main" id="{483CB15F-8EFF-A42F-F749-2623E46B389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588426" y="3089274"/>
            <a:ext cx="222015" cy="222015"/>
          </a:xfrm>
          <a:prstGeom prst="rect">
            <a:avLst/>
          </a:prstGeom>
        </p:spPr>
      </p:pic>
      <p:pic>
        <p:nvPicPr>
          <p:cNvPr id="74" name="Graphic 73" descr="Badge Tick1 with solid fill">
            <a:extLst>
              <a:ext uri="{FF2B5EF4-FFF2-40B4-BE49-F238E27FC236}">
                <a16:creationId xmlns:a16="http://schemas.microsoft.com/office/drawing/2014/main" id="{F998F002-0100-73D2-B3F3-D9CC724920B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753628" y="3573792"/>
            <a:ext cx="222015" cy="222015"/>
          </a:xfrm>
          <a:prstGeom prst="rect">
            <a:avLst/>
          </a:prstGeom>
        </p:spPr>
      </p:pic>
      <p:pic>
        <p:nvPicPr>
          <p:cNvPr id="79" name="Graphic 78" descr="Badge Tick1 with solid fill">
            <a:extLst>
              <a:ext uri="{FF2B5EF4-FFF2-40B4-BE49-F238E27FC236}">
                <a16:creationId xmlns:a16="http://schemas.microsoft.com/office/drawing/2014/main" id="{D50B931A-03A1-9435-ADB4-7EEB7A6B839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587360" y="3573791"/>
            <a:ext cx="222015" cy="222015"/>
          </a:xfrm>
          <a:prstGeom prst="rect">
            <a:avLst/>
          </a:prstGeom>
        </p:spPr>
      </p:pic>
      <p:pic>
        <p:nvPicPr>
          <p:cNvPr id="84" name="Graphic 83" descr="Badge Tick1 with solid fill">
            <a:extLst>
              <a:ext uri="{FF2B5EF4-FFF2-40B4-BE49-F238E27FC236}">
                <a16:creationId xmlns:a16="http://schemas.microsoft.com/office/drawing/2014/main" id="{A4A60183-812B-CC39-F0E1-0D5808E93B2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746198" y="4004881"/>
            <a:ext cx="222015" cy="222015"/>
          </a:xfrm>
          <a:prstGeom prst="rect">
            <a:avLst/>
          </a:prstGeom>
        </p:spPr>
      </p:pic>
      <p:pic>
        <p:nvPicPr>
          <p:cNvPr id="92" name="Graphic 91" descr="Badge Tick1 with solid fill">
            <a:extLst>
              <a:ext uri="{FF2B5EF4-FFF2-40B4-BE49-F238E27FC236}">
                <a16:creationId xmlns:a16="http://schemas.microsoft.com/office/drawing/2014/main" id="{0A72F204-BED4-3F01-E98B-267B9F24F41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579930" y="4004880"/>
            <a:ext cx="222015" cy="222015"/>
          </a:xfrm>
          <a:prstGeom prst="rect">
            <a:avLst/>
          </a:prstGeom>
        </p:spPr>
      </p:pic>
    </p:spTree>
    <p:extLst>
      <p:ext uri="{BB962C8B-B14F-4D97-AF65-F5344CB8AC3E}">
        <p14:creationId xmlns:p14="http://schemas.microsoft.com/office/powerpoint/2010/main" val="35624558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FF530-72AF-0D53-5526-77D1ACAE1F52}"/>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37E2F416-25F6-5EBD-0BC8-EFCF23F4ECE9}"/>
              </a:ext>
            </a:extLst>
          </p:cNvPr>
          <p:cNvSpPr/>
          <p:nvPr/>
        </p:nvSpPr>
        <p:spPr>
          <a:xfrm>
            <a:off x="503403" y="1334840"/>
            <a:ext cx="2218513" cy="1071163"/>
          </a:xfrm>
          <a:prstGeom prst="roundRect">
            <a:avLst>
              <a:gd name="adj" fmla="val 15806"/>
            </a:avLst>
          </a:prstGeom>
          <a:no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62DF5F4D-A3CE-6B19-D96A-3AE5A8BF39E1}"/>
              </a:ext>
            </a:extLst>
          </p:cNvPr>
          <p:cNvSpPr txBox="1"/>
          <p:nvPr/>
        </p:nvSpPr>
        <p:spPr>
          <a:xfrm>
            <a:off x="516531" y="677075"/>
            <a:ext cx="2514919" cy="553998"/>
          </a:xfrm>
          <a:prstGeom prst="rect">
            <a:avLst/>
          </a:prstGeom>
          <a:noFill/>
        </p:spPr>
        <p:txBody>
          <a:bodyPr wrap="none" rtlCol="0">
            <a:spAutoFit/>
          </a:bodyPr>
          <a:lstStyle/>
          <a:p>
            <a:r>
              <a:rPr lang="en-US" dirty="0">
                <a:solidFill>
                  <a:srgbClr val="E1E1E1"/>
                </a:solidFill>
              </a:rPr>
              <a:t>Project: </a:t>
            </a:r>
            <a:r>
              <a:rPr lang="en-US" dirty="0">
                <a:solidFill>
                  <a:srgbClr val="FFC300"/>
                </a:solidFill>
              </a:rPr>
              <a:t>{</a:t>
            </a:r>
            <a:r>
              <a:rPr lang="en-US" dirty="0" err="1">
                <a:solidFill>
                  <a:srgbClr val="FFC300"/>
                </a:solidFill>
              </a:rPr>
              <a:t>project_name</a:t>
            </a:r>
            <a:r>
              <a:rPr lang="en-US" dirty="0">
                <a:solidFill>
                  <a:srgbClr val="FFC300"/>
                </a:solidFill>
              </a:rPr>
              <a:t>}</a:t>
            </a:r>
          </a:p>
          <a:p>
            <a:r>
              <a:rPr lang="en-US" sz="1200" dirty="0">
                <a:solidFill>
                  <a:srgbClr val="8F97B7"/>
                </a:solidFill>
              </a:rPr>
              <a:t>Project ID: {</a:t>
            </a:r>
            <a:r>
              <a:rPr lang="en-US" sz="1200" dirty="0" err="1">
                <a:solidFill>
                  <a:srgbClr val="8F97B7"/>
                </a:solidFill>
              </a:rPr>
              <a:t>full_UUID</a:t>
            </a:r>
            <a:r>
              <a:rPr lang="en-US" sz="1200" dirty="0">
                <a:solidFill>
                  <a:srgbClr val="8F97B7"/>
                </a:solidFill>
              </a:rPr>
              <a:t>}</a:t>
            </a:r>
          </a:p>
        </p:txBody>
      </p:sp>
      <p:sp>
        <p:nvSpPr>
          <p:cNvPr id="3" name="Rectangle: Rounded Corners 2">
            <a:extLst>
              <a:ext uri="{FF2B5EF4-FFF2-40B4-BE49-F238E27FC236}">
                <a16:creationId xmlns:a16="http://schemas.microsoft.com/office/drawing/2014/main" id="{E4F93BA5-BE3C-BE96-BEFD-1D793B3F8A9E}"/>
              </a:ext>
            </a:extLst>
          </p:cNvPr>
          <p:cNvSpPr/>
          <p:nvPr/>
        </p:nvSpPr>
        <p:spPr>
          <a:xfrm>
            <a:off x="1643382" y="1342292"/>
            <a:ext cx="1805578" cy="969932"/>
          </a:xfrm>
          <a:prstGeom prst="roundRect">
            <a:avLst>
              <a:gd name="adj" fmla="val 17766"/>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6474EC5-6CA9-FFD6-A35B-C54D1ACB3657}"/>
              </a:ext>
            </a:extLst>
          </p:cNvPr>
          <p:cNvSpPr txBox="1"/>
          <p:nvPr/>
        </p:nvSpPr>
        <p:spPr>
          <a:xfrm>
            <a:off x="682981" y="1327205"/>
            <a:ext cx="929678" cy="369332"/>
          </a:xfrm>
          <a:prstGeom prst="rect">
            <a:avLst/>
          </a:prstGeom>
          <a:noFill/>
        </p:spPr>
        <p:txBody>
          <a:bodyPr wrap="none" rtlCol="0">
            <a:spAutoFit/>
          </a:bodyPr>
          <a:lstStyle/>
          <a:p>
            <a:r>
              <a:rPr lang="en-US" dirty="0">
                <a:solidFill>
                  <a:srgbClr val="1E3147"/>
                </a:solidFill>
              </a:rPr>
              <a:t>Launch</a:t>
            </a:r>
          </a:p>
        </p:txBody>
      </p:sp>
      <p:sp>
        <p:nvSpPr>
          <p:cNvPr id="6" name="Rectangle: Rounded Corners 5">
            <a:extLst>
              <a:ext uri="{FF2B5EF4-FFF2-40B4-BE49-F238E27FC236}">
                <a16:creationId xmlns:a16="http://schemas.microsoft.com/office/drawing/2014/main" id="{89432F06-AAF7-82F0-5248-33625A58D29F}"/>
              </a:ext>
            </a:extLst>
          </p:cNvPr>
          <p:cNvSpPr/>
          <p:nvPr/>
        </p:nvSpPr>
        <p:spPr>
          <a:xfrm>
            <a:off x="503403" y="1668256"/>
            <a:ext cx="11185191" cy="3476117"/>
          </a:xfrm>
          <a:prstGeom prst="roundRect">
            <a:avLst>
              <a:gd name="adj" fmla="val 5962"/>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1E95828D-F82A-055F-A852-D5539E1BB0F8}"/>
              </a:ext>
            </a:extLst>
          </p:cNvPr>
          <p:cNvSpPr/>
          <p:nvPr/>
        </p:nvSpPr>
        <p:spPr>
          <a:xfrm>
            <a:off x="1654808" y="1622562"/>
            <a:ext cx="1787171" cy="287650"/>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56E7C846-2BFB-EA4A-BCAF-1CF4657B5EA8}"/>
              </a:ext>
            </a:extLst>
          </p:cNvPr>
          <p:cNvSpPr/>
          <p:nvPr/>
        </p:nvSpPr>
        <p:spPr>
          <a:xfrm>
            <a:off x="758606" y="2617315"/>
            <a:ext cx="293929" cy="306770"/>
          </a:xfrm>
          <a:prstGeom prst="ellipse">
            <a:avLst/>
          </a:prstGeom>
          <a:solidFill>
            <a:srgbClr val="A9866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67B98203-F1A8-5E4B-D1D1-2E078AE53387}"/>
              </a:ext>
            </a:extLst>
          </p:cNvPr>
          <p:cNvSpPr txBox="1"/>
          <p:nvPr/>
        </p:nvSpPr>
        <p:spPr>
          <a:xfrm>
            <a:off x="1899316" y="1330953"/>
            <a:ext cx="1444177" cy="369332"/>
          </a:xfrm>
          <a:prstGeom prst="rect">
            <a:avLst/>
          </a:prstGeom>
          <a:noFill/>
        </p:spPr>
        <p:txBody>
          <a:bodyPr wrap="square" rtlCol="0">
            <a:spAutoFit/>
          </a:bodyPr>
          <a:lstStyle/>
          <a:p>
            <a:r>
              <a:rPr lang="en-US" dirty="0">
                <a:solidFill>
                  <a:srgbClr val="8F97B7"/>
                </a:solidFill>
              </a:rPr>
              <a:t>Implement</a:t>
            </a:r>
          </a:p>
        </p:txBody>
      </p:sp>
      <p:sp>
        <p:nvSpPr>
          <p:cNvPr id="24" name="TextBox 23">
            <a:extLst>
              <a:ext uri="{FF2B5EF4-FFF2-40B4-BE49-F238E27FC236}">
                <a16:creationId xmlns:a16="http://schemas.microsoft.com/office/drawing/2014/main" id="{AFF33185-6BB2-CCB7-C1D4-DB6E8C4BCED9}"/>
              </a:ext>
            </a:extLst>
          </p:cNvPr>
          <p:cNvSpPr txBox="1"/>
          <p:nvPr/>
        </p:nvSpPr>
        <p:spPr>
          <a:xfrm>
            <a:off x="738137" y="2624295"/>
            <a:ext cx="460382" cy="282316"/>
          </a:xfrm>
          <a:prstGeom prst="rect">
            <a:avLst/>
          </a:prstGeom>
          <a:noFill/>
        </p:spPr>
        <p:txBody>
          <a:bodyPr wrap="square" rtlCol="0">
            <a:spAutoFit/>
          </a:bodyPr>
          <a:lstStyle/>
          <a:p>
            <a:r>
              <a:rPr lang="en-US" sz="1200" b="1" dirty="0">
                <a:solidFill>
                  <a:srgbClr val="0E1C2D"/>
                </a:solidFill>
              </a:rPr>
              <a:t>Or</a:t>
            </a:r>
          </a:p>
        </p:txBody>
      </p:sp>
      <p:sp>
        <p:nvSpPr>
          <p:cNvPr id="27" name="TextBox 26">
            <a:extLst>
              <a:ext uri="{FF2B5EF4-FFF2-40B4-BE49-F238E27FC236}">
                <a16:creationId xmlns:a16="http://schemas.microsoft.com/office/drawing/2014/main" id="{5C007B2B-AE7D-A164-B427-1CF591CDD17E}"/>
              </a:ext>
            </a:extLst>
          </p:cNvPr>
          <p:cNvSpPr txBox="1"/>
          <p:nvPr/>
        </p:nvSpPr>
        <p:spPr>
          <a:xfrm>
            <a:off x="1184559" y="2638386"/>
            <a:ext cx="965329" cy="261610"/>
          </a:xfrm>
          <a:prstGeom prst="rect">
            <a:avLst/>
          </a:prstGeom>
          <a:noFill/>
        </p:spPr>
        <p:txBody>
          <a:bodyPr wrap="none" rtlCol="0">
            <a:spAutoFit/>
          </a:bodyPr>
          <a:lstStyle/>
          <a:p>
            <a:r>
              <a:rPr lang="en-US" sz="1100" dirty="0">
                <a:solidFill>
                  <a:srgbClr val="E1E1E1"/>
                </a:solidFill>
              </a:rPr>
              <a:t>Orchestrator</a:t>
            </a:r>
          </a:p>
        </p:txBody>
      </p:sp>
      <p:pic>
        <p:nvPicPr>
          <p:cNvPr id="29" name="Graphic 28" descr="Information with solid fill">
            <a:extLst>
              <a:ext uri="{FF2B5EF4-FFF2-40B4-BE49-F238E27FC236}">
                <a16:creationId xmlns:a16="http://schemas.microsoft.com/office/drawing/2014/main" id="{9C5CAC78-FAE0-EC7B-9C2C-BC26F0D01A8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3975" y="2661152"/>
            <a:ext cx="193473" cy="193473"/>
          </a:xfrm>
          <a:prstGeom prst="rect">
            <a:avLst/>
          </a:prstGeom>
        </p:spPr>
      </p:pic>
      <p:sp>
        <p:nvSpPr>
          <p:cNvPr id="16" name="TextBox 15">
            <a:extLst>
              <a:ext uri="{FF2B5EF4-FFF2-40B4-BE49-F238E27FC236}">
                <a16:creationId xmlns:a16="http://schemas.microsoft.com/office/drawing/2014/main" id="{60CE2DDA-2A01-56C7-B4C7-6C473F684282}"/>
              </a:ext>
            </a:extLst>
          </p:cNvPr>
          <p:cNvSpPr txBox="1"/>
          <p:nvPr/>
        </p:nvSpPr>
        <p:spPr>
          <a:xfrm>
            <a:off x="1226477" y="3087372"/>
            <a:ext cx="705642" cy="261610"/>
          </a:xfrm>
          <a:prstGeom prst="rect">
            <a:avLst/>
          </a:prstGeom>
          <a:noFill/>
        </p:spPr>
        <p:txBody>
          <a:bodyPr wrap="none" rtlCol="0">
            <a:spAutoFit/>
          </a:bodyPr>
          <a:lstStyle>
            <a:defPPr>
              <a:defRPr lang="en-US"/>
            </a:defPPr>
            <a:lvl1pPr>
              <a:defRPr sz="1100">
                <a:solidFill>
                  <a:srgbClr val="E1E1E1"/>
                </a:solidFill>
              </a:defRPr>
            </a:lvl1pPr>
          </a:lstStyle>
          <a:p>
            <a:r>
              <a:rPr lang="en-US" dirty="0"/>
              <a:t>Analyzer</a:t>
            </a:r>
          </a:p>
        </p:txBody>
      </p:sp>
      <p:cxnSp>
        <p:nvCxnSpPr>
          <p:cNvPr id="75" name="Straight Connector 74">
            <a:extLst>
              <a:ext uri="{FF2B5EF4-FFF2-40B4-BE49-F238E27FC236}">
                <a16:creationId xmlns:a16="http://schemas.microsoft.com/office/drawing/2014/main" id="{A69E3F3E-F9BB-7C14-E6B4-DA0009455079}"/>
              </a:ext>
            </a:extLst>
          </p:cNvPr>
          <p:cNvCxnSpPr>
            <a:cxnSpLocks/>
          </p:cNvCxnSpPr>
          <p:nvPr/>
        </p:nvCxnSpPr>
        <p:spPr>
          <a:xfrm>
            <a:off x="652293" y="2505875"/>
            <a:ext cx="10203544" cy="6404"/>
          </a:xfrm>
          <a:prstGeom prst="line">
            <a:avLst/>
          </a:prstGeom>
          <a:ln>
            <a:solidFill>
              <a:srgbClr val="1E3147"/>
            </a:solidFill>
          </a:ln>
        </p:spPr>
        <p:style>
          <a:lnRef idx="2">
            <a:schemeClr val="accent1"/>
          </a:lnRef>
          <a:fillRef idx="0">
            <a:schemeClr val="accent1"/>
          </a:fillRef>
          <a:effectRef idx="1">
            <a:schemeClr val="accent1"/>
          </a:effectRef>
          <a:fontRef idx="minor">
            <a:schemeClr val="tx1"/>
          </a:fontRef>
        </p:style>
      </p:cxnSp>
      <p:sp>
        <p:nvSpPr>
          <p:cNvPr id="77" name="TextBox 76">
            <a:extLst>
              <a:ext uri="{FF2B5EF4-FFF2-40B4-BE49-F238E27FC236}">
                <a16:creationId xmlns:a16="http://schemas.microsoft.com/office/drawing/2014/main" id="{199D6E83-B13E-D136-C9D2-C35A71E8C65F}"/>
              </a:ext>
            </a:extLst>
          </p:cNvPr>
          <p:cNvSpPr txBox="1"/>
          <p:nvPr/>
        </p:nvSpPr>
        <p:spPr>
          <a:xfrm>
            <a:off x="1274326" y="2217384"/>
            <a:ext cx="785793" cy="246221"/>
          </a:xfrm>
          <a:prstGeom prst="rect">
            <a:avLst/>
          </a:prstGeom>
          <a:noFill/>
        </p:spPr>
        <p:txBody>
          <a:bodyPr wrap="none" rtlCol="0">
            <a:spAutoFit/>
          </a:bodyPr>
          <a:lstStyle/>
          <a:p>
            <a:pPr algn="ctr"/>
            <a:r>
              <a:rPr lang="en-US" sz="1000" dirty="0">
                <a:solidFill>
                  <a:srgbClr val="E1E1E1"/>
                </a:solidFill>
              </a:rPr>
              <a:t>Agent Type</a:t>
            </a:r>
          </a:p>
        </p:txBody>
      </p:sp>
      <p:sp>
        <p:nvSpPr>
          <p:cNvPr id="78" name="TextBox 77">
            <a:extLst>
              <a:ext uri="{FF2B5EF4-FFF2-40B4-BE49-F238E27FC236}">
                <a16:creationId xmlns:a16="http://schemas.microsoft.com/office/drawing/2014/main" id="{3F67D0C3-D679-FAD0-11DA-99AB6BD5B5F3}"/>
              </a:ext>
            </a:extLst>
          </p:cNvPr>
          <p:cNvSpPr txBox="1"/>
          <p:nvPr/>
        </p:nvSpPr>
        <p:spPr>
          <a:xfrm>
            <a:off x="662149" y="1838089"/>
            <a:ext cx="1202573" cy="246221"/>
          </a:xfrm>
          <a:prstGeom prst="rect">
            <a:avLst/>
          </a:prstGeom>
          <a:noFill/>
        </p:spPr>
        <p:txBody>
          <a:bodyPr wrap="none" rtlCol="0">
            <a:spAutoFit/>
          </a:bodyPr>
          <a:lstStyle/>
          <a:p>
            <a:r>
              <a:rPr lang="en-US" sz="1000" dirty="0">
                <a:solidFill>
                  <a:srgbClr val="E1E1E1"/>
                </a:solidFill>
              </a:rPr>
              <a:t>Claude Subagents</a:t>
            </a:r>
          </a:p>
        </p:txBody>
      </p:sp>
      <p:sp>
        <p:nvSpPr>
          <p:cNvPr id="80" name="Rectangle: Rounded Corners 79">
            <a:extLst>
              <a:ext uri="{FF2B5EF4-FFF2-40B4-BE49-F238E27FC236}">
                <a16:creationId xmlns:a16="http://schemas.microsoft.com/office/drawing/2014/main" id="{632AEDBB-1A02-B8CD-EB44-453992ADC9CD}"/>
              </a:ext>
            </a:extLst>
          </p:cNvPr>
          <p:cNvSpPr/>
          <p:nvPr/>
        </p:nvSpPr>
        <p:spPr>
          <a:xfrm>
            <a:off x="1813390" y="1884175"/>
            <a:ext cx="336498" cy="182696"/>
          </a:xfrm>
          <a:prstGeom prst="roundRect">
            <a:avLst>
              <a:gd name="adj" fmla="val 50000"/>
            </a:avLst>
          </a:prstGeom>
          <a:solidFill>
            <a:srgbClr val="0E1C2D"/>
          </a:solid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a:extLst>
              <a:ext uri="{FF2B5EF4-FFF2-40B4-BE49-F238E27FC236}">
                <a16:creationId xmlns:a16="http://schemas.microsoft.com/office/drawing/2014/main" id="{F1033E62-0376-8B26-A4C7-4B1B48EB82A1}"/>
              </a:ext>
            </a:extLst>
          </p:cNvPr>
          <p:cNvSpPr/>
          <p:nvPr/>
        </p:nvSpPr>
        <p:spPr>
          <a:xfrm>
            <a:off x="1962999" y="1883047"/>
            <a:ext cx="174503" cy="184050"/>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a:extLst>
              <a:ext uri="{FF2B5EF4-FFF2-40B4-BE49-F238E27FC236}">
                <a16:creationId xmlns:a16="http://schemas.microsoft.com/office/drawing/2014/main" id="{100AF8A1-A299-72F3-95C9-345FF4548799}"/>
              </a:ext>
            </a:extLst>
          </p:cNvPr>
          <p:cNvSpPr/>
          <p:nvPr/>
        </p:nvSpPr>
        <p:spPr>
          <a:xfrm>
            <a:off x="758606" y="3066408"/>
            <a:ext cx="293929" cy="306770"/>
          </a:xfrm>
          <a:prstGeom prst="ellipse">
            <a:avLst/>
          </a:prstGeom>
          <a:solidFill>
            <a:srgbClr val="A32A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8034BA9F-D48D-4F3F-BAC8-ED8712920B1D}"/>
              </a:ext>
            </a:extLst>
          </p:cNvPr>
          <p:cNvSpPr/>
          <p:nvPr/>
        </p:nvSpPr>
        <p:spPr>
          <a:xfrm>
            <a:off x="758606" y="3513494"/>
            <a:ext cx="293929" cy="306770"/>
          </a:xfrm>
          <a:prstGeom prst="ellipse">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D7C8521B-259B-514E-F128-56EB886EF586}"/>
              </a:ext>
            </a:extLst>
          </p:cNvPr>
          <p:cNvSpPr/>
          <p:nvPr/>
        </p:nvSpPr>
        <p:spPr>
          <a:xfrm>
            <a:off x="758606" y="3970226"/>
            <a:ext cx="293929" cy="306770"/>
          </a:xfrm>
          <a:prstGeom prst="ellipse">
            <a:avLst/>
          </a:prstGeom>
          <a:solidFill>
            <a:srgbClr val="FFC3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TextBox 88">
            <a:extLst>
              <a:ext uri="{FF2B5EF4-FFF2-40B4-BE49-F238E27FC236}">
                <a16:creationId xmlns:a16="http://schemas.microsoft.com/office/drawing/2014/main" id="{97658BF3-688A-238C-968D-0C9CECD81B23}"/>
              </a:ext>
            </a:extLst>
          </p:cNvPr>
          <p:cNvSpPr txBox="1"/>
          <p:nvPr/>
        </p:nvSpPr>
        <p:spPr>
          <a:xfrm>
            <a:off x="1226477" y="3532367"/>
            <a:ext cx="970137" cy="261610"/>
          </a:xfrm>
          <a:prstGeom prst="rect">
            <a:avLst/>
          </a:prstGeom>
          <a:noFill/>
        </p:spPr>
        <p:txBody>
          <a:bodyPr wrap="none" rtlCol="0">
            <a:spAutoFit/>
          </a:bodyPr>
          <a:lstStyle>
            <a:defPPr>
              <a:defRPr lang="en-US"/>
            </a:defPPr>
            <a:lvl1pPr>
              <a:defRPr sz="1100">
                <a:solidFill>
                  <a:srgbClr val="E1E1E1"/>
                </a:solidFill>
              </a:defRPr>
            </a:lvl1pPr>
          </a:lstStyle>
          <a:p>
            <a:r>
              <a:rPr lang="en-US" dirty="0"/>
              <a:t>Implementor</a:t>
            </a:r>
          </a:p>
        </p:txBody>
      </p:sp>
      <p:sp>
        <p:nvSpPr>
          <p:cNvPr id="90" name="TextBox 89">
            <a:extLst>
              <a:ext uri="{FF2B5EF4-FFF2-40B4-BE49-F238E27FC236}">
                <a16:creationId xmlns:a16="http://schemas.microsoft.com/office/drawing/2014/main" id="{FB7BC5FA-0350-16E6-14DE-CA2DCB6D0B73}"/>
              </a:ext>
            </a:extLst>
          </p:cNvPr>
          <p:cNvSpPr txBox="1"/>
          <p:nvPr/>
        </p:nvSpPr>
        <p:spPr>
          <a:xfrm>
            <a:off x="1245503" y="3998201"/>
            <a:ext cx="559769" cy="261610"/>
          </a:xfrm>
          <a:prstGeom prst="rect">
            <a:avLst/>
          </a:prstGeom>
          <a:noFill/>
        </p:spPr>
        <p:txBody>
          <a:bodyPr wrap="none" rtlCol="0">
            <a:spAutoFit/>
          </a:bodyPr>
          <a:lstStyle>
            <a:defPPr>
              <a:defRPr lang="en-US"/>
            </a:defPPr>
            <a:lvl1pPr>
              <a:defRPr sz="1100">
                <a:solidFill>
                  <a:srgbClr val="E1E1E1"/>
                </a:solidFill>
              </a:defRPr>
            </a:lvl1pPr>
          </a:lstStyle>
          <a:p>
            <a:r>
              <a:rPr lang="en-US" dirty="0"/>
              <a:t>Tester</a:t>
            </a:r>
          </a:p>
        </p:txBody>
      </p:sp>
      <p:sp>
        <p:nvSpPr>
          <p:cNvPr id="91" name="TextBox 90">
            <a:extLst>
              <a:ext uri="{FF2B5EF4-FFF2-40B4-BE49-F238E27FC236}">
                <a16:creationId xmlns:a16="http://schemas.microsoft.com/office/drawing/2014/main" id="{F4EC1B16-639A-EAC5-6689-C73F20E00B6E}"/>
              </a:ext>
            </a:extLst>
          </p:cNvPr>
          <p:cNvSpPr txBox="1"/>
          <p:nvPr/>
        </p:nvSpPr>
        <p:spPr>
          <a:xfrm>
            <a:off x="4260936" y="2611055"/>
            <a:ext cx="724878" cy="261610"/>
          </a:xfrm>
          <a:prstGeom prst="rect">
            <a:avLst/>
          </a:prstGeom>
          <a:noFill/>
        </p:spPr>
        <p:txBody>
          <a:bodyPr wrap="none" rtlCol="0">
            <a:spAutoFit/>
          </a:bodyPr>
          <a:lstStyle/>
          <a:p>
            <a:r>
              <a:rPr lang="en-US" sz="1100" i="1" dirty="0">
                <a:solidFill>
                  <a:srgbClr val="FFC000"/>
                </a:solidFill>
              </a:rPr>
              <a:t>Working.</a:t>
            </a:r>
          </a:p>
        </p:txBody>
      </p:sp>
      <p:pic>
        <p:nvPicPr>
          <p:cNvPr id="93" name="Graphic 92" descr="Information with solid fill">
            <a:extLst>
              <a:ext uri="{FF2B5EF4-FFF2-40B4-BE49-F238E27FC236}">
                <a16:creationId xmlns:a16="http://schemas.microsoft.com/office/drawing/2014/main" id="{6C1D3BF4-7121-2B32-682E-90AFCF1EA96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2365" y="3102069"/>
            <a:ext cx="193473" cy="193473"/>
          </a:xfrm>
          <a:prstGeom prst="rect">
            <a:avLst/>
          </a:prstGeom>
        </p:spPr>
      </p:pic>
      <p:pic>
        <p:nvPicPr>
          <p:cNvPr id="94" name="Graphic 93" descr="Information with solid fill">
            <a:extLst>
              <a:ext uri="{FF2B5EF4-FFF2-40B4-BE49-F238E27FC236}">
                <a16:creationId xmlns:a16="http://schemas.microsoft.com/office/drawing/2014/main" id="{F08754D7-4BB8-38CE-14B8-EBF1737A143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2365" y="3553624"/>
            <a:ext cx="193473" cy="193473"/>
          </a:xfrm>
          <a:prstGeom prst="rect">
            <a:avLst/>
          </a:prstGeom>
        </p:spPr>
      </p:pic>
      <p:pic>
        <p:nvPicPr>
          <p:cNvPr id="95" name="Graphic 94" descr="Information with solid fill">
            <a:extLst>
              <a:ext uri="{FF2B5EF4-FFF2-40B4-BE49-F238E27FC236}">
                <a16:creationId xmlns:a16="http://schemas.microsoft.com/office/drawing/2014/main" id="{62368E39-E7E1-493F-550D-0ABBBF8DCEE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2364" y="4014063"/>
            <a:ext cx="193473" cy="193473"/>
          </a:xfrm>
          <a:prstGeom prst="rect">
            <a:avLst/>
          </a:prstGeom>
        </p:spPr>
      </p:pic>
      <p:sp>
        <p:nvSpPr>
          <p:cNvPr id="96" name="TextBox 95">
            <a:extLst>
              <a:ext uri="{FF2B5EF4-FFF2-40B4-BE49-F238E27FC236}">
                <a16:creationId xmlns:a16="http://schemas.microsoft.com/office/drawing/2014/main" id="{8F1DA9CD-3609-2022-4B06-428F2DD84D55}"/>
              </a:ext>
            </a:extLst>
          </p:cNvPr>
          <p:cNvSpPr txBox="1"/>
          <p:nvPr/>
        </p:nvSpPr>
        <p:spPr>
          <a:xfrm>
            <a:off x="729726" y="3076054"/>
            <a:ext cx="460382" cy="282316"/>
          </a:xfrm>
          <a:prstGeom prst="rect">
            <a:avLst/>
          </a:prstGeom>
          <a:noFill/>
        </p:spPr>
        <p:txBody>
          <a:bodyPr wrap="square" rtlCol="0">
            <a:spAutoFit/>
          </a:bodyPr>
          <a:lstStyle/>
          <a:p>
            <a:r>
              <a:rPr lang="en-US" sz="1200" b="1" dirty="0">
                <a:solidFill>
                  <a:srgbClr val="0E1C2D"/>
                </a:solidFill>
              </a:rPr>
              <a:t>An</a:t>
            </a:r>
          </a:p>
        </p:txBody>
      </p:sp>
      <p:sp>
        <p:nvSpPr>
          <p:cNvPr id="97" name="TextBox 96">
            <a:extLst>
              <a:ext uri="{FF2B5EF4-FFF2-40B4-BE49-F238E27FC236}">
                <a16:creationId xmlns:a16="http://schemas.microsoft.com/office/drawing/2014/main" id="{63187B33-A72D-E096-FDC5-CFD94117544F}"/>
              </a:ext>
            </a:extLst>
          </p:cNvPr>
          <p:cNvSpPr txBox="1"/>
          <p:nvPr/>
        </p:nvSpPr>
        <p:spPr>
          <a:xfrm>
            <a:off x="736070" y="3523140"/>
            <a:ext cx="460382" cy="282316"/>
          </a:xfrm>
          <a:prstGeom prst="rect">
            <a:avLst/>
          </a:prstGeom>
          <a:noFill/>
        </p:spPr>
        <p:txBody>
          <a:bodyPr wrap="square" rtlCol="0">
            <a:spAutoFit/>
          </a:bodyPr>
          <a:lstStyle/>
          <a:p>
            <a:r>
              <a:rPr lang="en-US" sz="1200" b="1" dirty="0" err="1">
                <a:solidFill>
                  <a:srgbClr val="0E1C2D"/>
                </a:solidFill>
              </a:rPr>
              <a:t>Im</a:t>
            </a:r>
            <a:endParaRPr lang="en-US" sz="1200" b="1" dirty="0">
              <a:solidFill>
                <a:srgbClr val="0E1C2D"/>
              </a:solidFill>
            </a:endParaRPr>
          </a:p>
        </p:txBody>
      </p:sp>
      <p:sp>
        <p:nvSpPr>
          <p:cNvPr id="98" name="TextBox 97">
            <a:extLst>
              <a:ext uri="{FF2B5EF4-FFF2-40B4-BE49-F238E27FC236}">
                <a16:creationId xmlns:a16="http://schemas.microsoft.com/office/drawing/2014/main" id="{A0663D05-C996-2422-DEFA-602486164E8E}"/>
              </a:ext>
            </a:extLst>
          </p:cNvPr>
          <p:cNvSpPr txBox="1"/>
          <p:nvPr/>
        </p:nvSpPr>
        <p:spPr>
          <a:xfrm>
            <a:off x="736070" y="3989707"/>
            <a:ext cx="460382" cy="282316"/>
          </a:xfrm>
          <a:prstGeom prst="rect">
            <a:avLst/>
          </a:prstGeom>
          <a:noFill/>
        </p:spPr>
        <p:txBody>
          <a:bodyPr wrap="square" rtlCol="0">
            <a:spAutoFit/>
          </a:bodyPr>
          <a:lstStyle/>
          <a:p>
            <a:r>
              <a:rPr lang="en-US" sz="1200" b="1" dirty="0" err="1">
                <a:solidFill>
                  <a:srgbClr val="0E1C2D"/>
                </a:solidFill>
              </a:rPr>
              <a:t>Te</a:t>
            </a:r>
            <a:endParaRPr lang="en-US" sz="1200" b="1" dirty="0">
              <a:solidFill>
                <a:srgbClr val="0E1C2D"/>
              </a:solidFill>
            </a:endParaRPr>
          </a:p>
        </p:txBody>
      </p:sp>
      <p:sp>
        <p:nvSpPr>
          <p:cNvPr id="99" name="TextBox 98">
            <a:extLst>
              <a:ext uri="{FF2B5EF4-FFF2-40B4-BE49-F238E27FC236}">
                <a16:creationId xmlns:a16="http://schemas.microsoft.com/office/drawing/2014/main" id="{762BCFFB-7C37-987B-20C5-5EBCDCDE0FD0}"/>
              </a:ext>
            </a:extLst>
          </p:cNvPr>
          <p:cNvSpPr txBox="1"/>
          <p:nvPr/>
        </p:nvSpPr>
        <p:spPr>
          <a:xfrm>
            <a:off x="4193614" y="2214394"/>
            <a:ext cx="886781" cy="246221"/>
          </a:xfrm>
          <a:prstGeom prst="rect">
            <a:avLst/>
          </a:prstGeom>
          <a:noFill/>
        </p:spPr>
        <p:txBody>
          <a:bodyPr wrap="none" rtlCol="0">
            <a:spAutoFit/>
          </a:bodyPr>
          <a:lstStyle/>
          <a:p>
            <a:pPr algn="ctr"/>
            <a:r>
              <a:rPr lang="en-US" sz="1000" dirty="0">
                <a:solidFill>
                  <a:srgbClr val="E1E1E1"/>
                </a:solidFill>
              </a:rPr>
              <a:t>Agent Status</a:t>
            </a:r>
          </a:p>
        </p:txBody>
      </p:sp>
      <p:sp>
        <p:nvSpPr>
          <p:cNvPr id="100" name="TextBox 99">
            <a:extLst>
              <a:ext uri="{FF2B5EF4-FFF2-40B4-BE49-F238E27FC236}">
                <a16:creationId xmlns:a16="http://schemas.microsoft.com/office/drawing/2014/main" id="{6A2B8A59-AC39-7600-2085-4ABB470307BC}"/>
              </a:ext>
            </a:extLst>
          </p:cNvPr>
          <p:cNvSpPr txBox="1"/>
          <p:nvPr/>
        </p:nvSpPr>
        <p:spPr>
          <a:xfrm>
            <a:off x="7929117" y="2092323"/>
            <a:ext cx="772505" cy="400110"/>
          </a:xfrm>
          <a:prstGeom prst="rect">
            <a:avLst/>
          </a:prstGeom>
          <a:noFill/>
        </p:spPr>
        <p:txBody>
          <a:bodyPr wrap="square" rtlCol="0">
            <a:spAutoFit/>
          </a:bodyPr>
          <a:lstStyle/>
          <a:p>
            <a:pPr algn="ctr"/>
            <a:r>
              <a:rPr lang="en-US" sz="1000" dirty="0">
                <a:solidFill>
                  <a:srgbClr val="E1E1E1"/>
                </a:solidFill>
              </a:rPr>
              <a:t>Messages waiting</a:t>
            </a:r>
          </a:p>
        </p:txBody>
      </p:sp>
      <p:sp>
        <p:nvSpPr>
          <p:cNvPr id="114" name="TextBox 113">
            <a:extLst>
              <a:ext uri="{FF2B5EF4-FFF2-40B4-BE49-F238E27FC236}">
                <a16:creationId xmlns:a16="http://schemas.microsoft.com/office/drawing/2014/main" id="{A45704EE-5CD9-B262-B23A-7481E133614F}"/>
              </a:ext>
            </a:extLst>
          </p:cNvPr>
          <p:cNvSpPr txBox="1"/>
          <p:nvPr/>
        </p:nvSpPr>
        <p:spPr>
          <a:xfrm>
            <a:off x="7041082" y="2099303"/>
            <a:ext cx="772505" cy="400110"/>
          </a:xfrm>
          <a:prstGeom prst="rect">
            <a:avLst/>
          </a:prstGeom>
          <a:noFill/>
        </p:spPr>
        <p:txBody>
          <a:bodyPr wrap="square" rtlCol="0">
            <a:spAutoFit/>
          </a:bodyPr>
          <a:lstStyle/>
          <a:p>
            <a:pPr algn="ctr"/>
            <a:r>
              <a:rPr lang="en-US" sz="1000" dirty="0">
                <a:solidFill>
                  <a:srgbClr val="E1E1E1"/>
                </a:solidFill>
              </a:rPr>
              <a:t>Messages</a:t>
            </a:r>
          </a:p>
          <a:p>
            <a:pPr algn="ctr"/>
            <a:r>
              <a:rPr lang="en-US" sz="1000" dirty="0">
                <a:solidFill>
                  <a:srgbClr val="E1E1E1"/>
                </a:solidFill>
              </a:rPr>
              <a:t>Sent</a:t>
            </a:r>
          </a:p>
        </p:txBody>
      </p:sp>
      <p:sp>
        <p:nvSpPr>
          <p:cNvPr id="115" name="TextBox 114">
            <a:extLst>
              <a:ext uri="{FF2B5EF4-FFF2-40B4-BE49-F238E27FC236}">
                <a16:creationId xmlns:a16="http://schemas.microsoft.com/office/drawing/2014/main" id="{D122782E-5F82-DA79-00E8-C19D0EAC31E9}"/>
              </a:ext>
            </a:extLst>
          </p:cNvPr>
          <p:cNvSpPr txBox="1"/>
          <p:nvPr/>
        </p:nvSpPr>
        <p:spPr>
          <a:xfrm>
            <a:off x="8932682" y="2112169"/>
            <a:ext cx="751053" cy="400110"/>
          </a:xfrm>
          <a:prstGeom prst="rect">
            <a:avLst/>
          </a:prstGeom>
          <a:noFill/>
        </p:spPr>
        <p:txBody>
          <a:bodyPr wrap="square" rtlCol="0">
            <a:spAutoFit/>
          </a:bodyPr>
          <a:lstStyle/>
          <a:p>
            <a:pPr algn="ctr"/>
            <a:r>
              <a:rPr lang="en-US" sz="1000" dirty="0">
                <a:solidFill>
                  <a:srgbClr val="E1E1E1"/>
                </a:solidFill>
              </a:rPr>
              <a:t>Messages Read</a:t>
            </a:r>
          </a:p>
        </p:txBody>
      </p:sp>
      <p:pic>
        <p:nvPicPr>
          <p:cNvPr id="117" name="Graphic 116" descr="Chat with solid fill">
            <a:extLst>
              <a:ext uri="{FF2B5EF4-FFF2-40B4-BE49-F238E27FC236}">
                <a16:creationId xmlns:a16="http://schemas.microsoft.com/office/drawing/2014/main" id="{7C41E18D-D840-D935-DEEE-1918E0DA4EF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305301" y="2637658"/>
            <a:ext cx="261610" cy="261610"/>
          </a:xfrm>
          <a:prstGeom prst="rect">
            <a:avLst/>
          </a:prstGeom>
        </p:spPr>
      </p:pic>
      <p:pic>
        <p:nvPicPr>
          <p:cNvPr id="118" name="Graphic 117" descr="Chat with solid fill">
            <a:extLst>
              <a:ext uri="{FF2B5EF4-FFF2-40B4-BE49-F238E27FC236}">
                <a16:creationId xmlns:a16="http://schemas.microsoft.com/office/drawing/2014/main" id="{DA0691C2-E436-28CB-72CA-AACA38A5A56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297189" y="3068000"/>
            <a:ext cx="261610" cy="261610"/>
          </a:xfrm>
          <a:prstGeom prst="rect">
            <a:avLst/>
          </a:prstGeom>
        </p:spPr>
      </p:pic>
      <p:pic>
        <p:nvPicPr>
          <p:cNvPr id="119" name="Graphic 118" descr="Chat with solid fill">
            <a:extLst>
              <a:ext uri="{FF2B5EF4-FFF2-40B4-BE49-F238E27FC236}">
                <a16:creationId xmlns:a16="http://schemas.microsoft.com/office/drawing/2014/main" id="{938C0786-A6D8-BB27-034C-CA9854D105B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297189" y="3527404"/>
            <a:ext cx="261610" cy="261610"/>
          </a:xfrm>
          <a:prstGeom prst="rect">
            <a:avLst/>
          </a:prstGeom>
        </p:spPr>
      </p:pic>
      <p:pic>
        <p:nvPicPr>
          <p:cNvPr id="120" name="Graphic 119" descr="Chat with solid fill">
            <a:extLst>
              <a:ext uri="{FF2B5EF4-FFF2-40B4-BE49-F238E27FC236}">
                <a16:creationId xmlns:a16="http://schemas.microsoft.com/office/drawing/2014/main" id="{5C40079C-E44F-E82E-3809-F673258E613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310562" y="3991625"/>
            <a:ext cx="261610" cy="261610"/>
          </a:xfrm>
          <a:prstGeom prst="rect">
            <a:avLst/>
          </a:prstGeom>
        </p:spPr>
      </p:pic>
      <p:pic>
        <p:nvPicPr>
          <p:cNvPr id="137" name="Graphic 136" descr="Play with solid fill">
            <a:extLst>
              <a:ext uri="{FF2B5EF4-FFF2-40B4-BE49-F238E27FC236}">
                <a16:creationId xmlns:a16="http://schemas.microsoft.com/office/drawing/2014/main" id="{1D76E7E4-F9E2-0154-0DB8-ED15D24EA90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00374" y="3545730"/>
            <a:ext cx="193474" cy="193474"/>
          </a:xfrm>
          <a:prstGeom prst="rect">
            <a:avLst/>
          </a:prstGeom>
        </p:spPr>
      </p:pic>
      <p:pic>
        <p:nvPicPr>
          <p:cNvPr id="138" name="Graphic 137" descr="Play with solid fill">
            <a:extLst>
              <a:ext uri="{FF2B5EF4-FFF2-40B4-BE49-F238E27FC236}">
                <a16:creationId xmlns:a16="http://schemas.microsoft.com/office/drawing/2014/main" id="{09ED40BF-03D7-9263-2A66-39189C606FF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02983" y="4004988"/>
            <a:ext cx="193474" cy="193474"/>
          </a:xfrm>
          <a:prstGeom prst="rect">
            <a:avLst/>
          </a:prstGeom>
        </p:spPr>
      </p:pic>
      <p:sp>
        <p:nvSpPr>
          <p:cNvPr id="23" name="TextBox 22">
            <a:extLst>
              <a:ext uri="{FF2B5EF4-FFF2-40B4-BE49-F238E27FC236}">
                <a16:creationId xmlns:a16="http://schemas.microsoft.com/office/drawing/2014/main" id="{B3A8BD09-DB70-7FD6-D530-7203D24F3AD6}"/>
              </a:ext>
            </a:extLst>
          </p:cNvPr>
          <p:cNvSpPr txBox="1"/>
          <p:nvPr/>
        </p:nvSpPr>
        <p:spPr>
          <a:xfrm>
            <a:off x="2947872" y="2209718"/>
            <a:ext cx="649537" cy="246221"/>
          </a:xfrm>
          <a:prstGeom prst="rect">
            <a:avLst/>
          </a:prstGeom>
          <a:noFill/>
        </p:spPr>
        <p:txBody>
          <a:bodyPr wrap="none" rtlCol="0">
            <a:spAutoFit/>
          </a:bodyPr>
          <a:lstStyle/>
          <a:p>
            <a:pPr algn="ctr"/>
            <a:r>
              <a:rPr lang="en-US" sz="1000" dirty="0">
                <a:solidFill>
                  <a:srgbClr val="E1E1E1"/>
                </a:solidFill>
              </a:rPr>
              <a:t>Agent ID</a:t>
            </a:r>
          </a:p>
        </p:txBody>
      </p:sp>
      <p:sp>
        <p:nvSpPr>
          <p:cNvPr id="28" name="TextBox 27">
            <a:extLst>
              <a:ext uri="{FF2B5EF4-FFF2-40B4-BE49-F238E27FC236}">
                <a16:creationId xmlns:a16="http://schemas.microsoft.com/office/drawing/2014/main" id="{51F1FB1A-C15F-BB35-990C-3B37CA7B4F19}"/>
              </a:ext>
            </a:extLst>
          </p:cNvPr>
          <p:cNvSpPr txBox="1"/>
          <p:nvPr/>
        </p:nvSpPr>
        <p:spPr>
          <a:xfrm>
            <a:off x="2647311" y="2620646"/>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0" name="TextBox 29">
            <a:extLst>
              <a:ext uri="{FF2B5EF4-FFF2-40B4-BE49-F238E27FC236}">
                <a16:creationId xmlns:a16="http://schemas.microsoft.com/office/drawing/2014/main" id="{D7199150-A64F-257B-FF97-BFA4D6B91F3E}"/>
              </a:ext>
            </a:extLst>
          </p:cNvPr>
          <p:cNvSpPr txBox="1"/>
          <p:nvPr/>
        </p:nvSpPr>
        <p:spPr>
          <a:xfrm>
            <a:off x="2647311" y="3086580"/>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1" name="TextBox 30">
            <a:extLst>
              <a:ext uri="{FF2B5EF4-FFF2-40B4-BE49-F238E27FC236}">
                <a16:creationId xmlns:a16="http://schemas.microsoft.com/office/drawing/2014/main" id="{D74BDFA7-948E-90F5-4198-17732D6DC031}"/>
              </a:ext>
            </a:extLst>
          </p:cNvPr>
          <p:cNvSpPr txBox="1"/>
          <p:nvPr/>
        </p:nvSpPr>
        <p:spPr>
          <a:xfrm>
            <a:off x="2647311" y="3545730"/>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2" name="TextBox 31">
            <a:extLst>
              <a:ext uri="{FF2B5EF4-FFF2-40B4-BE49-F238E27FC236}">
                <a16:creationId xmlns:a16="http://schemas.microsoft.com/office/drawing/2014/main" id="{469C893F-7593-E698-E8DD-0AD95B8A0012}"/>
              </a:ext>
            </a:extLst>
          </p:cNvPr>
          <p:cNvSpPr txBox="1"/>
          <p:nvPr/>
        </p:nvSpPr>
        <p:spPr>
          <a:xfrm>
            <a:off x="2636441" y="4004880"/>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3" name="TextBox 32">
            <a:extLst>
              <a:ext uri="{FF2B5EF4-FFF2-40B4-BE49-F238E27FC236}">
                <a16:creationId xmlns:a16="http://schemas.microsoft.com/office/drawing/2014/main" id="{0957B039-C8F8-59F2-B753-789CFE8EA478}"/>
              </a:ext>
            </a:extLst>
          </p:cNvPr>
          <p:cNvSpPr txBox="1"/>
          <p:nvPr/>
        </p:nvSpPr>
        <p:spPr>
          <a:xfrm>
            <a:off x="5445208" y="2092323"/>
            <a:ext cx="772505" cy="400110"/>
          </a:xfrm>
          <a:prstGeom prst="rect">
            <a:avLst/>
          </a:prstGeom>
          <a:noFill/>
        </p:spPr>
        <p:txBody>
          <a:bodyPr wrap="square" rtlCol="0">
            <a:spAutoFit/>
          </a:bodyPr>
          <a:lstStyle/>
          <a:p>
            <a:pPr algn="ctr"/>
            <a:r>
              <a:rPr lang="en-US" sz="1000" dirty="0">
                <a:solidFill>
                  <a:srgbClr val="E1E1E1"/>
                </a:solidFill>
              </a:rPr>
              <a:t>Job </a:t>
            </a:r>
          </a:p>
          <a:p>
            <a:pPr algn="ctr"/>
            <a:r>
              <a:rPr lang="en-US" sz="1000" dirty="0">
                <a:solidFill>
                  <a:srgbClr val="E1E1E1"/>
                </a:solidFill>
              </a:rPr>
              <a:t>Read</a:t>
            </a:r>
          </a:p>
        </p:txBody>
      </p:sp>
      <p:sp>
        <p:nvSpPr>
          <p:cNvPr id="34" name="TextBox 33">
            <a:extLst>
              <a:ext uri="{FF2B5EF4-FFF2-40B4-BE49-F238E27FC236}">
                <a16:creationId xmlns:a16="http://schemas.microsoft.com/office/drawing/2014/main" id="{2044B5C3-DAD0-3681-82FC-7228D01E899D}"/>
              </a:ext>
            </a:extLst>
          </p:cNvPr>
          <p:cNvSpPr txBox="1"/>
          <p:nvPr/>
        </p:nvSpPr>
        <p:spPr>
          <a:xfrm>
            <a:off x="6129630" y="2105765"/>
            <a:ext cx="1037054" cy="400110"/>
          </a:xfrm>
          <a:prstGeom prst="rect">
            <a:avLst/>
          </a:prstGeom>
          <a:noFill/>
        </p:spPr>
        <p:txBody>
          <a:bodyPr wrap="square" rtlCol="0">
            <a:spAutoFit/>
          </a:bodyPr>
          <a:lstStyle/>
          <a:p>
            <a:pPr algn="ctr"/>
            <a:r>
              <a:rPr lang="en-US" sz="1000" dirty="0">
                <a:solidFill>
                  <a:srgbClr val="E1E1E1"/>
                </a:solidFill>
              </a:rPr>
              <a:t>Job Acknowledged</a:t>
            </a:r>
          </a:p>
        </p:txBody>
      </p:sp>
      <p:pic>
        <p:nvPicPr>
          <p:cNvPr id="36" name="Graphic 35" descr="Badge Tick1 with solid fill">
            <a:extLst>
              <a:ext uri="{FF2B5EF4-FFF2-40B4-BE49-F238E27FC236}">
                <a16:creationId xmlns:a16="http://schemas.microsoft.com/office/drawing/2014/main" id="{38A82B7C-18BD-9D86-6E8D-B9E7F9F416F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720452" y="2644852"/>
            <a:ext cx="222015" cy="222015"/>
          </a:xfrm>
          <a:prstGeom prst="rect">
            <a:avLst/>
          </a:prstGeom>
        </p:spPr>
      </p:pic>
      <p:pic>
        <p:nvPicPr>
          <p:cNvPr id="37" name="Graphic 36" descr="Badge Tick1 with solid fill">
            <a:extLst>
              <a:ext uri="{FF2B5EF4-FFF2-40B4-BE49-F238E27FC236}">
                <a16:creationId xmlns:a16="http://schemas.microsoft.com/office/drawing/2014/main" id="{9B95496F-9680-3D32-991D-4F98B420543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554184" y="2644851"/>
            <a:ext cx="222015" cy="222015"/>
          </a:xfrm>
          <a:prstGeom prst="rect">
            <a:avLst/>
          </a:prstGeom>
        </p:spPr>
      </p:pic>
      <p:cxnSp>
        <p:nvCxnSpPr>
          <p:cNvPr id="41" name="Straight Connector 40">
            <a:extLst>
              <a:ext uri="{FF2B5EF4-FFF2-40B4-BE49-F238E27FC236}">
                <a16:creationId xmlns:a16="http://schemas.microsoft.com/office/drawing/2014/main" id="{E525B1F4-9C9A-39C8-BC8B-EC6982DD05DE}"/>
              </a:ext>
            </a:extLst>
          </p:cNvPr>
          <p:cNvCxnSpPr>
            <a:cxnSpLocks/>
          </p:cNvCxnSpPr>
          <p:nvPr/>
        </p:nvCxnSpPr>
        <p:spPr>
          <a:xfrm>
            <a:off x="11391357" y="2585825"/>
            <a:ext cx="0" cy="2327883"/>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CB99DF72-27BE-C27D-37AF-ACE650FAEDD1}"/>
              </a:ext>
            </a:extLst>
          </p:cNvPr>
          <p:cNvCxnSpPr>
            <a:cxnSpLocks/>
          </p:cNvCxnSpPr>
          <p:nvPr/>
        </p:nvCxnSpPr>
        <p:spPr>
          <a:xfrm>
            <a:off x="11391357" y="2585825"/>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F0EC9F5D-B2B0-DCF5-2F96-45F7C52A02FB}"/>
              </a:ext>
            </a:extLst>
          </p:cNvPr>
          <p:cNvCxnSpPr>
            <a:cxnSpLocks/>
          </p:cNvCxnSpPr>
          <p:nvPr/>
        </p:nvCxnSpPr>
        <p:spPr>
          <a:xfrm>
            <a:off x="11391357" y="2625072"/>
            <a:ext cx="0" cy="2327883"/>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433AA560-8978-F51F-2940-33B3BFAF4827}"/>
              </a:ext>
            </a:extLst>
          </p:cNvPr>
          <p:cNvCxnSpPr>
            <a:cxnSpLocks/>
          </p:cNvCxnSpPr>
          <p:nvPr/>
        </p:nvCxnSpPr>
        <p:spPr>
          <a:xfrm>
            <a:off x="11391357" y="2625072"/>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sp>
        <p:nvSpPr>
          <p:cNvPr id="45" name="Rectangle: Rounded Corners 44">
            <a:extLst>
              <a:ext uri="{FF2B5EF4-FFF2-40B4-BE49-F238E27FC236}">
                <a16:creationId xmlns:a16="http://schemas.microsoft.com/office/drawing/2014/main" id="{205E1532-995E-FFF9-3E28-E85477966EF2}"/>
              </a:ext>
            </a:extLst>
          </p:cNvPr>
          <p:cNvSpPr/>
          <p:nvPr/>
        </p:nvSpPr>
        <p:spPr>
          <a:xfrm>
            <a:off x="3031449" y="5377380"/>
            <a:ext cx="5904873" cy="421811"/>
          </a:xfrm>
          <a:prstGeom prst="roundRect">
            <a:avLst>
              <a:gd name="adj" fmla="val 27474"/>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a:t>
            </a:r>
          </a:p>
        </p:txBody>
      </p:sp>
      <p:sp>
        <p:nvSpPr>
          <p:cNvPr id="46" name="Rectangle: Rounded Corners 45">
            <a:extLst>
              <a:ext uri="{FF2B5EF4-FFF2-40B4-BE49-F238E27FC236}">
                <a16:creationId xmlns:a16="http://schemas.microsoft.com/office/drawing/2014/main" id="{12BABFFC-0A80-167D-E3D6-8C9466584916}"/>
              </a:ext>
            </a:extLst>
          </p:cNvPr>
          <p:cNvSpPr/>
          <p:nvPr/>
        </p:nvSpPr>
        <p:spPr>
          <a:xfrm>
            <a:off x="522553" y="5375748"/>
            <a:ext cx="1132255" cy="421811"/>
          </a:xfrm>
          <a:prstGeom prst="roundRect">
            <a:avLst>
              <a:gd name="adj" fmla="val 27474"/>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1E3147"/>
                </a:solidFill>
              </a:rPr>
              <a:t>Message Orchestrator</a:t>
            </a:r>
          </a:p>
        </p:txBody>
      </p:sp>
      <p:sp>
        <p:nvSpPr>
          <p:cNvPr id="47" name="Rectangle: Rounded Corners 46">
            <a:extLst>
              <a:ext uri="{FF2B5EF4-FFF2-40B4-BE49-F238E27FC236}">
                <a16:creationId xmlns:a16="http://schemas.microsoft.com/office/drawing/2014/main" id="{6E082433-36DE-D5C5-3A20-636037368FA9}"/>
              </a:ext>
            </a:extLst>
          </p:cNvPr>
          <p:cNvSpPr/>
          <p:nvPr/>
        </p:nvSpPr>
        <p:spPr>
          <a:xfrm>
            <a:off x="1753756" y="5378268"/>
            <a:ext cx="1178745" cy="421811"/>
          </a:xfrm>
          <a:prstGeom prst="roundRect">
            <a:avLst>
              <a:gd name="adj" fmla="val 27474"/>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1E1E1"/>
                </a:solidFill>
              </a:rPr>
              <a:t>Broadcast</a:t>
            </a:r>
          </a:p>
        </p:txBody>
      </p:sp>
      <p:sp>
        <p:nvSpPr>
          <p:cNvPr id="50" name="Oval 49">
            <a:extLst>
              <a:ext uri="{FF2B5EF4-FFF2-40B4-BE49-F238E27FC236}">
                <a16:creationId xmlns:a16="http://schemas.microsoft.com/office/drawing/2014/main" id="{82D0D946-26C5-AFD2-6878-1CD2B319D8DD}"/>
              </a:ext>
            </a:extLst>
          </p:cNvPr>
          <p:cNvSpPr/>
          <p:nvPr/>
        </p:nvSpPr>
        <p:spPr>
          <a:xfrm>
            <a:off x="8997072" y="5441706"/>
            <a:ext cx="293929" cy="306770"/>
          </a:xfrm>
          <a:prstGeom prst="ellipse">
            <a:avLst/>
          </a:prstGeom>
          <a:solidFill>
            <a:srgbClr val="FFC3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 name="Graphic 48" descr="Play with solid fill">
            <a:extLst>
              <a:ext uri="{FF2B5EF4-FFF2-40B4-BE49-F238E27FC236}">
                <a16:creationId xmlns:a16="http://schemas.microsoft.com/office/drawing/2014/main" id="{65C5D499-2C4D-7E90-80DD-7C2BD900930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073173" y="5507713"/>
            <a:ext cx="174755" cy="174755"/>
          </a:xfrm>
          <a:prstGeom prst="rect">
            <a:avLst/>
          </a:prstGeom>
        </p:spPr>
      </p:pic>
      <p:sp>
        <p:nvSpPr>
          <p:cNvPr id="53" name="TextBox 52">
            <a:extLst>
              <a:ext uri="{FF2B5EF4-FFF2-40B4-BE49-F238E27FC236}">
                <a16:creationId xmlns:a16="http://schemas.microsoft.com/office/drawing/2014/main" id="{5BCDBE1F-58D5-FD2B-6961-DBEB81664C6D}"/>
              </a:ext>
            </a:extLst>
          </p:cNvPr>
          <p:cNvSpPr txBox="1"/>
          <p:nvPr/>
        </p:nvSpPr>
        <p:spPr>
          <a:xfrm>
            <a:off x="39778" y="47732"/>
            <a:ext cx="4306628" cy="369332"/>
          </a:xfrm>
          <a:prstGeom prst="rect">
            <a:avLst/>
          </a:prstGeom>
          <a:noFill/>
        </p:spPr>
        <p:txBody>
          <a:bodyPr wrap="none" rtlCol="0">
            <a:spAutoFit/>
          </a:bodyPr>
          <a:lstStyle/>
          <a:p>
            <a:r>
              <a:rPr lang="en-US" dirty="0">
                <a:solidFill>
                  <a:schemeClr val="accent5">
                    <a:lumMod val="60000"/>
                    <a:lumOff val="40000"/>
                  </a:schemeClr>
                </a:solidFill>
              </a:rPr>
              <a:t>SLIDE 3h – Implementation Tab. Elements</a:t>
            </a:r>
          </a:p>
        </p:txBody>
      </p:sp>
      <p:sp>
        <p:nvSpPr>
          <p:cNvPr id="58" name="TextBox 57">
            <a:extLst>
              <a:ext uri="{FF2B5EF4-FFF2-40B4-BE49-F238E27FC236}">
                <a16:creationId xmlns:a16="http://schemas.microsoft.com/office/drawing/2014/main" id="{AA480265-4F89-E0F6-9E1F-4BC0B14EE82F}"/>
              </a:ext>
            </a:extLst>
          </p:cNvPr>
          <p:cNvSpPr txBox="1"/>
          <p:nvPr/>
        </p:nvSpPr>
        <p:spPr>
          <a:xfrm>
            <a:off x="2800872" y="5862894"/>
            <a:ext cx="3183013" cy="646331"/>
          </a:xfrm>
          <a:prstGeom prst="rect">
            <a:avLst/>
          </a:prstGeom>
          <a:noFill/>
          <a:ln>
            <a:solidFill>
              <a:schemeClr val="accent5">
                <a:lumMod val="60000"/>
                <a:lumOff val="40000"/>
              </a:schemeClr>
            </a:solidFill>
          </a:ln>
        </p:spPr>
        <p:txBody>
          <a:bodyPr wrap="square" rtlCol="0">
            <a:spAutoFit/>
          </a:bodyPr>
          <a:lstStyle/>
          <a:p>
            <a:r>
              <a:rPr lang="en-US" dirty="0">
                <a:solidFill>
                  <a:schemeClr val="accent5">
                    <a:lumMod val="60000"/>
                    <a:lumOff val="40000"/>
                  </a:schemeClr>
                </a:solidFill>
              </a:rPr>
              <a:t>Message to orchestrator or broadcast user option</a:t>
            </a:r>
          </a:p>
        </p:txBody>
      </p:sp>
      <p:cxnSp>
        <p:nvCxnSpPr>
          <p:cNvPr id="60" name="Straight Arrow Connector 59">
            <a:extLst>
              <a:ext uri="{FF2B5EF4-FFF2-40B4-BE49-F238E27FC236}">
                <a16:creationId xmlns:a16="http://schemas.microsoft.com/office/drawing/2014/main" id="{566E0446-D732-513E-8D1D-E4393A7A574B}"/>
              </a:ext>
            </a:extLst>
          </p:cNvPr>
          <p:cNvCxnSpPr>
            <a:cxnSpLocks/>
            <a:endCxn id="46" idx="2"/>
          </p:cNvCxnSpPr>
          <p:nvPr/>
        </p:nvCxnSpPr>
        <p:spPr>
          <a:xfrm flipH="1" flipV="1">
            <a:off x="1088681" y="5797559"/>
            <a:ext cx="1633235" cy="231375"/>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62" name="Straight Arrow Connector 61">
            <a:extLst>
              <a:ext uri="{FF2B5EF4-FFF2-40B4-BE49-F238E27FC236}">
                <a16:creationId xmlns:a16="http://schemas.microsoft.com/office/drawing/2014/main" id="{2F7AA529-4380-FD26-4509-B0C4D9DAF02F}"/>
              </a:ext>
            </a:extLst>
          </p:cNvPr>
          <p:cNvCxnSpPr>
            <a:cxnSpLocks/>
          </p:cNvCxnSpPr>
          <p:nvPr/>
        </p:nvCxnSpPr>
        <p:spPr>
          <a:xfrm flipH="1" flipV="1">
            <a:off x="2546171" y="5797559"/>
            <a:ext cx="224950" cy="79730"/>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63" name="TextBox 62">
            <a:extLst>
              <a:ext uri="{FF2B5EF4-FFF2-40B4-BE49-F238E27FC236}">
                <a16:creationId xmlns:a16="http://schemas.microsoft.com/office/drawing/2014/main" id="{4085FFCE-DE56-E5B3-7740-41306BBD1D06}"/>
              </a:ext>
            </a:extLst>
          </p:cNvPr>
          <p:cNvSpPr txBox="1"/>
          <p:nvPr/>
        </p:nvSpPr>
        <p:spPr>
          <a:xfrm>
            <a:off x="5130988" y="4643391"/>
            <a:ext cx="1647316" cy="369332"/>
          </a:xfrm>
          <a:prstGeom prst="rect">
            <a:avLst/>
          </a:prstGeom>
          <a:noFill/>
          <a:ln>
            <a:solidFill>
              <a:schemeClr val="accent5">
                <a:lumMod val="60000"/>
                <a:lumOff val="40000"/>
              </a:schemeClr>
            </a:solidFill>
          </a:ln>
        </p:spPr>
        <p:txBody>
          <a:bodyPr wrap="square" rtlCol="0">
            <a:spAutoFit/>
          </a:bodyPr>
          <a:lstStyle/>
          <a:p>
            <a:r>
              <a:rPr lang="en-US" dirty="0">
                <a:solidFill>
                  <a:schemeClr val="accent5">
                    <a:lumMod val="60000"/>
                    <a:lumOff val="40000"/>
                  </a:schemeClr>
                </a:solidFill>
              </a:rPr>
              <a:t>Message field</a:t>
            </a:r>
          </a:p>
        </p:txBody>
      </p:sp>
      <p:cxnSp>
        <p:nvCxnSpPr>
          <p:cNvPr id="68" name="Straight Arrow Connector 67">
            <a:extLst>
              <a:ext uri="{FF2B5EF4-FFF2-40B4-BE49-F238E27FC236}">
                <a16:creationId xmlns:a16="http://schemas.microsoft.com/office/drawing/2014/main" id="{31A50062-0959-321F-9DCA-CE9DFFCE07D4}"/>
              </a:ext>
            </a:extLst>
          </p:cNvPr>
          <p:cNvCxnSpPr>
            <a:cxnSpLocks/>
            <a:stCxn id="63" idx="2"/>
          </p:cNvCxnSpPr>
          <p:nvPr/>
        </p:nvCxnSpPr>
        <p:spPr>
          <a:xfrm flipH="1">
            <a:off x="5204293" y="5012723"/>
            <a:ext cx="750353" cy="348229"/>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70" name="TextBox 69">
            <a:extLst>
              <a:ext uri="{FF2B5EF4-FFF2-40B4-BE49-F238E27FC236}">
                <a16:creationId xmlns:a16="http://schemas.microsoft.com/office/drawing/2014/main" id="{16CBF859-50B6-B0DA-F66A-4E5060A55185}"/>
              </a:ext>
            </a:extLst>
          </p:cNvPr>
          <p:cNvSpPr txBox="1"/>
          <p:nvPr/>
        </p:nvSpPr>
        <p:spPr>
          <a:xfrm>
            <a:off x="9445192" y="5395625"/>
            <a:ext cx="1647316" cy="369332"/>
          </a:xfrm>
          <a:prstGeom prst="rect">
            <a:avLst/>
          </a:prstGeom>
          <a:noFill/>
          <a:ln>
            <a:solidFill>
              <a:schemeClr val="accent5">
                <a:lumMod val="60000"/>
                <a:lumOff val="40000"/>
              </a:schemeClr>
            </a:solidFill>
          </a:ln>
        </p:spPr>
        <p:txBody>
          <a:bodyPr wrap="square" rtlCol="0">
            <a:spAutoFit/>
          </a:bodyPr>
          <a:lstStyle/>
          <a:p>
            <a:r>
              <a:rPr lang="en-US" dirty="0">
                <a:solidFill>
                  <a:schemeClr val="accent5">
                    <a:lumMod val="60000"/>
                    <a:lumOff val="40000"/>
                  </a:schemeClr>
                </a:solidFill>
              </a:rPr>
              <a:t>Send message</a:t>
            </a:r>
          </a:p>
        </p:txBody>
      </p:sp>
      <p:cxnSp>
        <p:nvCxnSpPr>
          <p:cNvPr id="72" name="Straight Arrow Connector 71">
            <a:extLst>
              <a:ext uri="{FF2B5EF4-FFF2-40B4-BE49-F238E27FC236}">
                <a16:creationId xmlns:a16="http://schemas.microsoft.com/office/drawing/2014/main" id="{CE044FAA-E2F2-71AF-BFAB-FC026A624843}"/>
              </a:ext>
            </a:extLst>
          </p:cNvPr>
          <p:cNvCxnSpPr>
            <a:stCxn id="70" idx="1"/>
            <a:endCxn id="50" idx="6"/>
          </p:cNvCxnSpPr>
          <p:nvPr/>
        </p:nvCxnSpPr>
        <p:spPr>
          <a:xfrm flipH="1">
            <a:off x="9291001" y="5580291"/>
            <a:ext cx="154191" cy="14800"/>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86" name="TextBox 85">
            <a:extLst>
              <a:ext uri="{FF2B5EF4-FFF2-40B4-BE49-F238E27FC236}">
                <a16:creationId xmlns:a16="http://schemas.microsoft.com/office/drawing/2014/main" id="{550E9FCF-6BB0-3B27-83F1-85760ACD3246}"/>
              </a:ext>
            </a:extLst>
          </p:cNvPr>
          <p:cNvSpPr txBox="1"/>
          <p:nvPr/>
        </p:nvSpPr>
        <p:spPr>
          <a:xfrm>
            <a:off x="4356" y="6139893"/>
            <a:ext cx="2541815" cy="646331"/>
          </a:xfrm>
          <a:prstGeom prst="rect">
            <a:avLst/>
          </a:prstGeom>
          <a:solidFill>
            <a:srgbClr val="FF0000"/>
          </a:solidFill>
          <a:ln>
            <a:solidFill>
              <a:schemeClr val="accent5">
                <a:lumMod val="60000"/>
                <a:lumOff val="40000"/>
              </a:schemeClr>
            </a:solidFill>
          </a:ln>
        </p:spPr>
        <p:txBody>
          <a:bodyPr wrap="square" rtlCol="0">
            <a:spAutoFit/>
          </a:bodyPr>
          <a:lstStyle/>
          <a:p>
            <a:r>
              <a:rPr lang="en-US" dirty="0">
                <a:solidFill>
                  <a:schemeClr val="bg1"/>
                </a:solidFill>
              </a:rPr>
              <a:t>CLAUDE CODE CLI MODE</a:t>
            </a:r>
          </a:p>
        </p:txBody>
      </p:sp>
      <p:pic>
        <p:nvPicPr>
          <p:cNvPr id="88" name="Graphic 87" descr="Play with solid fill">
            <a:extLst>
              <a:ext uri="{FF2B5EF4-FFF2-40B4-BE49-F238E27FC236}">
                <a16:creationId xmlns:a16="http://schemas.microsoft.com/office/drawing/2014/main" id="{6209E700-8149-FE0D-6A48-831D9D5B9B0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976037" y="3089793"/>
            <a:ext cx="193474" cy="193474"/>
          </a:xfrm>
          <a:prstGeom prst="rect">
            <a:avLst/>
          </a:prstGeom>
        </p:spPr>
      </p:pic>
      <p:pic>
        <p:nvPicPr>
          <p:cNvPr id="113" name="Graphic 112" descr="Repeat outline">
            <a:extLst>
              <a:ext uri="{FF2B5EF4-FFF2-40B4-BE49-F238E27FC236}">
                <a16:creationId xmlns:a16="http://schemas.microsoft.com/office/drawing/2014/main" id="{F30ABD8C-86A0-E9B7-01C9-D5403CA2E113}"/>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946626" y="2668570"/>
            <a:ext cx="261611" cy="261611"/>
          </a:xfrm>
          <a:prstGeom prst="rect">
            <a:avLst/>
          </a:prstGeom>
        </p:spPr>
      </p:pic>
      <p:sp>
        <p:nvSpPr>
          <p:cNvPr id="38" name="TextBox 37">
            <a:extLst>
              <a:ext uri="{FF2B5EF4-FFF2-40B4-BE49-F238E27FC236}">
                <a16:creationId xmlns:a16="http://schemas.microsoft.com/office/drawing/2014/main" id="{29DC9193-336B-FF84-7760-E7CF9CAFE1D5}"/>
              </a:ext>
            </a:extLst>
          </p:cNvPr>
          <p:cNvSpPr txBox="1"/>
          <p:nvPr/>
        </p:nvSpPr>
        <p:spPr>
          <a:xfrm>
            <a:off x="7282334" y="2637658"/>
            <a:ext cx="260008" cy="261610"/>
          </a:xfrm>
          <a:prstGeom prst="rect">
            <a:avLst/>
          </a:prstGeom>
          <a:noFill/>
        </p:spPr>
        <p:txBody>
          <a:bodyPr wrap="square" rtlCol="0">
            <a:spAutoFit/>
          </a:bodyPr>
          <a:lstStyle/>
          <a:p>
            <a:r>
              <a:rPr lang="en-US" sz="1100" dirty="0">
                <a:solidFill>
                  <a:srgbClr val="E1E1E1"/>
                </a:solidFill>
              </a:rPr>
              <a:t>7</a:t>
            </a:r>
          </a:p>
        </p:txBody>
      </p:sp>
      <p:sp>
        <p:nvSpPr>
          <p:cNvPr id="39" name="TextBox 38">
            <a:extLst>
              <a:ext uri="{FF2B5EF4-FFF2-40B4-BE49-F238E27FC236}">
                <a16:creationId xmlns:a16="http://schemas.microsoft.com/office/drawing/2014/main" id="{225EB49D-7C5A-E516-44CF-08299BB3FF9A}"/>
              </a:ext>
            </a:extLst>
          </p:cNvPr>
          <p:cNvSpPr txBox="1"/>
          <p:nvPr/>
        </p:nvSpPr>
        <p:spPr>
          <a:xfrm>
            <a:off x="8155156" y="3033932"/>
            <a:ext cx="260008" cy="261610"/>
          </a:xfrm>
          <a:prstGeom prst="rect">
            <a:avLst/>
          </a:prstGeom>
          <a:noFill/>
        </p:spPr>
        <p:txBody>
          <a:bodyPr wrap="square" rtlCol="0">
            <a:spAutoFit/>
          </a:bodyPr>
          <a:lstStyle/>
          <a:p>
            <a:r>
              <a:rPr lang="en-US" sz="1100" dirty="0">
                <a:solidFill>
                  <a:srgbClr val="E1E1E1"/>
                </a:solidFill>
              </a:rPr>
              <a:t>1</a:t>
            </a:r>
          </a:p>
        </p:txBody>
      </p:sp>
      <p:sp>
        <p:nvSpPr>
          <p:cNvPr id="40" name="TextBox 39">
            <a:extLst>
              <a:ext uri="{FF2B5EF4-FFF2-40B4-BE49-F238E27FC236}">
                <a16:creationId xmlns:a16="http://schemas.microsoft.com/office/drawing/2014/main" id="{09963150-DEC0-3093-B880-9B1767F6499A}"/>
              </a:ext>
            </a:extLst>
          </p:cNvPr>
          <p:cNvSpPr txBox="1"/>
          <p:nvPr/>
        </p:nvSpPr>
        <p:spPr>
          <a:xfrm>
            <a:off x="8155156" y="3980155"/>
            <a:ext cx="260008" cy="261610"/>
          </a:xfrm>
          <a:prstGeom prst="rect">
            <a:avLst/>
          </a:prstGeom>
          <a:noFill/>
        </p:spPr>
        <p:txBody>
          <a:bodyPr wrap="square" rtlCol="0">
            <a:spAutoFit/>
          </a:bodyPr>
          <a:lstStyle/>
          <a:p>
            <a:r>
              <a:rPr lang="en-US" sz="1100" dirty="0">
                <a:solidFill>
                  <a:srgbClr val="E1E1E1"/>
                </a:solidFill>
              </a:rPr>
              <a:t>1</a:t>
            </a:r>
          </a:p>
        </p:txBody>
      </p:sp>
      <p:sp>
        <p:nvSpPr>
          <p:cNvPr id="52" name="TextBox 51">
            <a:extLst>
              <a:ext uri="{FF2B5EF4-FFF2-40B4-BE49-F238E27FC236}">
                <a16:creationId xmlns:a16="http://schemas.microsoft.com/office/drawing/2014/main" id="{9AE15C9C-4E35-7C51-2C7F-AF9EFBD5EBE5}"/>
              </a:ext>
            </a:extLst>
          </p:cNvPr>
          <p:cNvSpPr txBox="1"/>
          <p:nvPr/>
        </p:nvSpPr>
        <p:spPr>
          <a:xfrm>
            <a:off x="8155156" y="3496213"/>
            <a:ext cx="260008" cy="261610"/>
          </a:xfrm>
          <a:prstGeom prst="rect">
            <a:avLst/>
          </a:prstGeom>
          <a:noFill/>
        </p:spPr>
        <p:txBody>
          <a:bodyPr wrap="square" rtlCol="0">
            <a:spAutoFit/>
          </a:bodyPr>
          <a:lstStyle/>
          <a:p>
            <a:r>
              <a:rPr lang="en-US" sz="1100" dirty="0">
                <a:solidFill>
                  <a:srgbClr val="E1E1E1"/>
                </a:solidFill>
              </a:rPr>
              <a:t>1</a:t>
            </a:r>
          </a:p>
        </p:txBody>
      </p:sp>
      <p:sp>
        <p:nvSpPr>
          <p:cNvPr id="56" name="TextBox 55">
            <a:extLst>
              <a:ext uri="{FF2B5EF4-FFF2-40B4-BE49-F238E27FC236}">
                <a16:creationId xmlns:a16="http://schemas.microsoft.com/office/drawing/2014/main" id="{03F2D271-1B9F-DFD2-141F-85DA98CC3656}"/>
              </a:ext>
            </a:extLst>
          </p:cNvPr>
          <p:cNvSpPr txBox="1"/>
          <p:nvPr/>
        </p:nvSpPr>
        <p:spPr>
          <a:xfrm>
            <a:off x="9159175" y="2588302"/>
            <a:ext cx="260008" cy="261610"/>
          </a:xfrm>
          <a:prstGeom prst="rect">
            <a:avLst/>
          </a:prstGeom>
          <a:noFill/>
        </p:spPr>
        <p:txBody>
          <a:bodyPr wrap="square" rtlCol="0">
            <a:spAutoFit/>
          </a:bodyPr>
          <a:lstStyle/>
          <a:p>
            <a:r>
              <a:rPr lang="en-US" sz="1100" dirty="0">
                <a:solidFill>
                  <a:srgbClr val="E1E1E1"/>
                </a:solidFill>
              </a:rPr>
              <a:t>1</a:t>
            </a:r>
          </a:p>
        </p:txBody>
      </p:sp>
      <p:sp>
        <p:nvSpPr>
          <p:cNvPr id="59" name="TextBox 58">
            <a:extLst>
              <a:ext uri="{FF2B5EF4-FFF2-40B4-BE49-F238E27FC236}">
                <a16:creationId xmlns:a16="http://schemas.microsoft.com/office/drawing/2014/main" id="{D975026C-DA8E-EFAF-426D-33A52E6E3BF5}"/>
              </a:ext>
            </a:extLst>
          </p:cNvPr>
          <p:cNvSpPr txBox="1"/>
          <p:nvPr/>
        </p:nvSpPr>
        <p:spPr>
          <a:xfrm>
            <a:off x="9143479" y="3056617"/>
            <a:ext cx="260008" cy="261610"/>
          </a:xfrm>
          <a:prstGeom prst="rect">
            <a:avLst/>
          </a:prstGeom>
          <a:noFill/>
        </p:spPr>
        <p:txBody>
          <a:bodyPr wrap="square" rtlCol="0">
            <a:spAutoFit/>
          </a:bodyPr>
          <a:lstStyle/>
          <a:p>
            <a:r>
              <a:rPr lang="en-US" sz="1100" dirty="0">
                <a:solidFill>
                  <a:srgbClr val="E1E1E1"/>
                </a:solidFill>
              </a:rPr>
              <a:t>1</a:t>
            </a:r>
          </a:p>
        </p:txBody>
      </p:sp>
      <p:sp>
        <p:nvSpPr>
          <p:cNvPr id="64" name="TextBox 63">
            <a:extLst>
              <a:ext uri="{FF2B5EF4-FFF2-40B4-BE49-F238E27FC236}">
                <a16:creationId xmlns:a16="http://schemas.microsoft.com/office/drawing/2014/main" id="{E8F39B4E-CAFB-43F2-27E9-89FE1654D9AF}"/>
              </a:ext>
            </a:extLst>
          </p:cNvPr>
          <p:cNvSpPr txBox="1"/>
          <p:nvPr/>
        </p:nvSpPr>
        <p:spPr>
          <a:xfrm>
            <a:off x="9168540" y="3530126"/>
            <a:ext cx="260008" cy="261610"/>
          </a:xfrm>
          <a:prstGeom prst="rect">
            <a:avLst/>
          </a:prstGeom>
          <a:noFill/>
        </p:spPr>
        <p:txBody>
          <a:bodyPr wrap="square" rtlCol="0">
            <a:spAutoFit/>
          </a:bodyPr>
          <a:lstStyle/>
          <a:p>
            <a:r>
              <a:rPr lang="en-US" sz="1100" dirty="0">
                <a:solidFill>
                  <a:srgbClr val="E1E1E1"/>
                </a:solidFill>
              </a:rPr>
              <a:t>1</a:t>
            </a:r>
          </a:p>
        </p:txBody>
      </p:sp>
      <p:sp>
        <p:nvSpPr>
          <p:cNvPr id="66" name="TextBox 65">
            <a:extLst>
              <a:ext uri="{FF2B5EF4-FFF2-40B4-BE49-F238E27FC236}">
                <a16:creationId xmlns:a16="http://schemas.microsoft.com/office/drawing/2014/main" id="{1527E7F4-4CDE-2553-1A8B-01035E0D5BE6}"/>
              </a:ext>
            </a:extLst>
          </p:cNvPr>
          <p:cNvSpPr txBox="1"/>
          <p:nvPr/>
        </p:nvSpPr>
        <p:spPr>
          <a:xfrm>
            <a:off x="9159175" y="3980155"/>
            <a:ext cx="260008" cy="261610"/>
          </a:xfrm>
          <a:prstGeom prst="rect">
            <a:avLst/>
          </a:prstGeom>
          <a:noFill/>
        </p:spPr>
        <p:txBody>
          <a:bodyPr wrap="square" rtlCol="0">
            <a:spAutoFit/>
          </a:bodyPr>
          <a:lstStyle/>
          <a:p>
            <a:r>
              <a:rPr lang="en-US" sz="1100" dirty="0">
                <a:solidFill>
                  <a:srgbClr val="E1E1E1"/>
                </a:solidFill>
              </a:rPr>
              <a:t>1</a:t>
            </a:r>
          </a:p>
        </p:txBody>
      </p:sp>
      <p:sp>
        <p:nvSpPr>
          <p:cNvPr id="69" name="TextBox 68">
            <a:extLst>
              <a:ext uri="{FF2B5EF4-FFF2-40B4-BE49-F238E27FC236}">
                <a16:creationId xmlns:a16="http://schemas.microsoft.com/office/drawing/2014/main" id="{A61E35E1-168B-7593-6104-28E418ABFAB2}"/>
              </a:ext>
            </a:extLst>
          </p:cNvPr>
          <p:cNvSpPr txBox="1"/>
          <p:nvPr/>
        </p:nvSpPr>
        <p:spPr>
          <a:xfrm>
            <a:off x="4275366" y="3048418"/>
            <a:ext cx="724878" cy="261610"/>
          </a:xfrm>
          <a:prstGeom prst="rect">
            <a:avLst/>
          </a:prstGeom>
          <a:noFill/>
        </p:spPr>
        <p:txBody>
          <a:bodyPr wrap="none" rtlCol="0">
            <a:spAutoFit/>
          </a:bodyPr>
          <a:lstStyle/>
          <a:p>
            <a:r>
              <a:rPr lang="en-US" sz="1100" i="1" dirty="0">
                <a:solidFill>
                  <a:srgbClr val="FFC000"/>
                </a:solidFill>
              </a:rPr>
              <a:t>Working.</a:t>
            </a:r>
          </a:p>
        </p:txBody>
      </p:sp>
      <p:sp>
        <p:nvSpPr>
          <p:cNvPr id="73" name="TextBox 72">
            <a:extLst>
              <a:ext uri="{FF2B5EF4-FFF2-40B4-BE49-F238E27FC236}">
                <a16:creationId xmlns:a16="http://schemas.microsoft.com/office/drawing/2014/main" id="{9AAC8DBA-53C6-A4EF-2C4C-42739BDAF2C2}"/>
              </a:ext>
            </a:extLst>
          </p:cNvPr>
          <p:cNvSpPr txBox="1"/>
          <p:nvPr/>
        </p:nvSpPr>
        <p:spPr>
          <a:xfrm>
            <a:off x="4273058" y="3530126"/>
            <a:ext cx="724878" cy="261610"/>
          </a:xfrm>
          <a:prstGeom prst="rect">
            <a:avLst/>
          </a:prstGeom>
          <a:noFill/>
        </p:spPr>
        <p:txBody>
          <a:bodyPr wrap="none" rtlCol="0">
            <a:spAutoFit/>
          </a:bodyPr>
          <a:lstStyle/>
          <a:p>
            <a:r>
              <a:rPr lang="en-US" sz="1100" i="1" dirty="0">
                <a:solidFill>
                  <a:srgbClr val="FFC000"/>
                </a:solidFill>
              </a:rPr>
              <a:t>Working.</a:t>
            </a:r>
          </a:p>
        </p:txBody>
      </p:sp>
      <p:sp>
        <p:nvSpPr>
          <p:cNvPr id="74" name="TextBox 73">
            <a:extLst>
              <a:ext uri="{FF2B5EF4-FFF2-40B4-BE49-F238E27FC236}">
                <a16:creationId xmlns:a16="http://schemas.microsoft.com/office/drawing/2014/main" id="{6FC5C517-60AF-9602-552F-5DBB8FBE8F75}"/>
              </a:ext>
            </a:extLst>
          </p:cNvPr>
          <p:cNvSpPr txBox="1"/>
          <p:nvPr/>
        </p:nvSpPr>
        <p:spPr>
          <a:xfrm>
            <a:off x="4253814" y="3982173"/>
            <a:ext cx="724878" cy="261610"/>
          </a:xfrm>
          <a:prstGeom prst="rect">
            <a:avLst/>
          </a:prstGeom>
          <a:noFill/>
        </p:spPr>
        <p:txBody>
          <a:bodyPr wrap="none" rtlCol="0">
            <a:spAutoFit/>
          </a:bodyPr>
          <a:lstStyle/>
          <a:p>
            <a:r>
              <a:rPr lang="en-US" sz="1100" i="1" dirty="0">
                <a:solidFill>
                  <a:srgbClr val="FFC000"/>
                </a:solidFill>
              </a:rPr>
              <a:t>Working.</a:t>
            </a:r>
          </a:p>
        </p:txBody>
      </p:sp>
      <p:pic>
        <p:nvPicPr>
          <p:cNvPr id="79" name="Graphic 78" descr="Badge Tick1 with solid fill">
            <a:extLst>
              <a:ext uri="{FF2B5EF4-FFF2-40B4-BE49-F238E27FC236}">
                <a16:creationId xmlns:a16="http://schemas.microsoft.com/office/drawing/2014/main" id="{4851BCFF-CB8C-8E3F-6752-CC3127C99D3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754694" y="3089275"/>
            <a:ext cx="222015" cy="222015"/>
          </a:xfrm>
          <a:prstGeom prst="rect">
            <a:avLst/>
          </a:prstGeom>
        </p:spPr>
      </p:pic>
      <p:pic>
        <p:nvPicPr>
          <p:cNvPr id="84" name="Graphic 83" descr="Badge Tick1 with solid fill">
            <a:extLst>
              <a:ext uri="{FF2B5EF4-FFF2-40B4-BE49-F238E27FC236}">
                <a16:creationId xmlns:a16="http://schemas.microsoft.com/office/drawing/2014/main" id="{ABFE3B80-E9AA-E074-AA5E-17ED2F572C4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588426" y="3089274"/>
            <a:ext cx="222015" cy="222015"/>
          </a:xfrm>
          <a:prstGeom prst="rect">
            <a:avLst/>
          </a:prstGeom>
        </p:spPr>
      </p:pic>
      <p:pic>
        <p:nvPicPr>
          <p:cNvPr id="92" name="Graphic 91" descr="Badge Tick1 with solid fill">
            <a:extLst>
              <a:ext uri="{FF2B5EF4-FFF2-40B4-BE49-F238E27FC236}">
                <a16:creationId xmlns:a16="http://schemas.microsoft.com/office/drawing/2014/main" id="{40B68547-3C91-0895-35D8-0A47118466F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753628" y="3573792"/>
            <a:ext cx="222015" cy="222015"/>
          </a:xfrm>
          <a:prstGeom prst="rect">
            <a:avLst/>
          </a:prstGeom>
        </p:spPr>
      </p:pic>
      <p:pic>
        <p:nvPicPr>
          <p:cNvPr id="101" name="Graphic 100" descr="Badge Tick1 with solid fill">
            <a:extLst>
              <a:ext uri="{FF2B5EF4-FFF2-40B4-BE49-F238E27FC236}">
                <a16:creationId xmlns:a16="http://schemas.microsoft.com/office/drawing/2014/main" id="{795DF119-0B50-EE18-F90C-E5E0055D9E0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587360" y="3573791"/>
            <a:ext cx="222015" cy="222015"/>
          </a:xfrm>
          <a:prstGeom prst="rect">
            <a:avLst/>
          </a:prstGeom>
        </p:spPr>
      </p:pic>
      <p:pic>
        <p:nvPicPr>
          <p:cNvPr id="102" name="Graphic 101" descr="Badge Tick1 with solid fill">
            <a:extLst>
              <a:ext uri="{FF2B5EF4-FFF2-40B4-BE49-F238E27FC236}">
                <a16:creationId xmlns:a16="http://schemas.microsoft.com/office/drawing/2014/main" id="{FF5ABBB7-3F3F-4736-295D-5C6D5F64E04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746198" y="4004881"/>
            <a:ext cx="222015" cy="222015"/>
          </a:xfrm>
          <a:prstGeom prst="rect">
            <a:avLst/>
          </a:prstGeom>
        </p:spPr>
      </p:pic>
      <p:pic>
        <p:nvPicPr>
          <p:cNvPr id="103" name="Graphic 102" descr="Badge Tick1 with solid fill">
            <a:extLst>
              <a:ext uri="{FF2B5EF4-FFF2-40B4-BE49-F238E27FC236}">
                <a16:creationId xmlns:a16="http://schemas.microsoft.com/office/drawing/2014/main" id="{8FF0A4CB-32EF-3E21-8B39-98E4F734600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579930" y="4004880"/>
            <a:ext cx="222015" cy="222015"/>
          </a:xfrm>
          <a:prstGeom prst="rect">
            <a:avLst/>
          </a:prstGeom>
        </p:spPr>
      </p:pic>
    </p:spTree>
    <p:extLst>
      <p:ext uri="{BB962C8B-B14F-4D97-AF65-F5344CB8AC3E}">
        <p14:creationId xmlns:p14="http://schemas.microsoft.com/office/powerpoint/2010/main" val="23253551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E1C2D"/>
        </a:solidFill>
        <a:effectLst/>
      </p:bgPr>
    </p:bg>
    <p:spTree>
      <p:nvGrpSpPr>
        <p:cNvPr id="1" name="">
          <a:extLst>
            <a:ext uri="{FF2B5EF4-FFF2-40B4-BE49-F238E27FC236}">
              <a16:creationId xmlns:a16="http://schemas.microsoft.com/office/drawing/2014/main" id="{0F94E026-4E29-FBC9-4FA9-ED2507002724}"/>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BD564D89-3AB5-9C4E-7E8B-118C14658F54}"/>
              </a:ext>
            </a:extLst>
          </p:cNvPr>
          <p:cNvSpPr/>
          <p:nvPr/>
        </p:nvSpPr>
        <p:spPr>
          <a:xfrm>
            <a:off x="503403" y="1334840"/>
            <a:ext cx="2218513" cy="1071163"/>
          </a:xfrm>
          <a:prstGeom prst="roundRect">
            <a:avLst>
              <a:gd name="adj" fmla="val 15806"/>
            </a:avLst>
          </a:prstGeom>
          <a:no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70D91F6E-536D-5B69-652A-CB0B7596D8A5}"/>
              </a:ext>
            </a:extLst>
          </p:cNvPr>
          <p:cNvSpPr txBox="1"/>
          <p:nvPr/>
        </p:nvSpPr>
        <p:spPr>
          <a:xfrm>
            <a:off x="516531" y="677075"/>
            <a:ext cx="2514919" cy="553998"/>
          </a:xfrm>
          <a:prstGeom prst="rect">
            <a:avLst/>
          </a:prstGeom>
          <a:noFill/>
        </p:spPr>
        <p:txBody>
          <a:bodyPr wrap="none" rtlCol="0">
            <a:spAutoFit/>
          </a:bodyPr>
          <a:lstStyle/>
          <a:p>
            <a:r>
              <a:rPr lang="en-US" dirty="0">
                <a:solidFill>
                  <a:srgbClr val="E1E1E1"/>
                </a:solidFill>
              </a:rPr>
              <a:t>Project: </a:t>
            </a:r>
            <a:r>
              <a:rPr lang="en-US" dirty="0">
                <a:solidFill>
                  <a:srgbClr val="FFC300"/>
                </a:solidFill>
              </a:rPr>
              <a:t>{</a:t>
            </a:r>
            <a:r>
              <a:rPr lang="en-US" dirty="0" err="1">
                <a:solidFill>
                  <a:srgbClr val="FFC300"/>
                </a:solidFill>
              </a:rPr>
              <a:t>project_name</a:t>
            </a:r>
            <a:r>
              <a:rPr lang="en-US" dirty="0">
                <a:solidFill>
                  <a:srgbClr val="FFC300"/>
                </a:solidFill>
              </a:rPr>
              <a:t>}</a:t>
            </a:r>
          </a:p>
          <a:p>
            <a:r>
              <a:rPr lang="en-US" sz="1200" dirty="0">
                <a:solidFill>
                  <a:srgbClr val="8F97B7"/>
                </a:solidFill>
              </a:rPr>
              <a:t>Project ID: {</a:t>
            </a:r>
            <a:r>
              <a:rPr lang="en-US" sz="1200" dirty="0" err="1">
                <a:solidFill>
                  <a:srgbClr val="8F97B7"/>
                </a:solidFill>
              </a:rPr>
              <a:t>full_UUID</a:t>
            </a:r>
            <a:r>
              <a:rPr lang="en-US" sz="1200" dirty="0">
                <a:solidFill>
                  <a:srgbClr val="8F97B7"/>
                </a:solidFill>
              </a:rPr>
              <a:t>}</a:t>
            </a:r>
          </a:p>
        </p:txBody>
      </p:sp>
      <p:sp>
        <p:nvSpPr>
          <p:cNvPr id="3" name="Rectangle: Rounded Corners 2">
            <a:extLst>
              <a:ext uri="{FF2B5EF4-FFF2-40B4-BE49-F238E27FC236}">
                <a16:creationId xmlns:a16="http://schemas.microsoft.com/office/drawing/2014/main" id="{EFFF6681-450C-59A5-849C-0509736AE246}"/>
              </a:ext>
            </a:extLst>
          </p:cNvPr>
          <p:cNvSpPr/>
          <p:nvPr/>
        </p:nvSpPr>
        <p:spPr>
          <a:xfrm>
            <a:off x="1643382" y="1342292"/>
            <a:ext cx="1805578" cy="969932"/>
          </a:xfrm>
          <a:prstGeom prst="roundRect">
            <a:avLst>
              <a:gd name="adj" fmla="val 17766"/>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D8BF458-6141-1F64-7156-77D71E2AD754}"/>
              </a:ext>
            </a:extLst>
          </p:cNvPr>
          <p:cNvSpPr txBox="1"/>
          <p:nvPr/>
        </p:nvSpPr>
        <p:spPr>
          <a:xfrm>
            <a:off x="682981" y="1327205"/>
            <a:ext cx="929678" cy="369332"/>
          </a:xfrm>
          <a:prstGeom prst="rect">
            <a:avLst/>
          </a:prstGeom>
          <a:noFill/>
        </p:spPr>
        <p:txBody>
          <a:bodyPr wrap="none" rtlCol="0">
            <a:spAutoFit/>
          </a:bodyPr>
          <a:lstStyle/>
          <a:p>
            <a:r>
              <a:rPr lang="en-US" dirty="0">
                <a:solidFill>
                  <a:srgbClr val="1E3147"/>
                </a:solidFill>
              </a:rPr>
              <a:t>Launch</a:t>
            </a:r>
          </a:p>
        </p:txBody>
      </p:sp>
      <p:sp>
        <p:nvSpPr>
          <p:cNvPr id="6" name="Rectangle: Rounded Corners 5">
            <a:extLst>
              <a:ext uri="{FF2B5EF4-FFF2-40B4-BE49-F238E27FC236}">
                <a16:creationId xmlns:a16="http://schemas.microsoft.com/office/drawing/2014/main" id="{E784B7AA-15E5-CFEE-A972-6CCCFD68C7C8}"/>
              </a:ext>
            </a:extLst>
          </p:cNvPr>
          <p:cNvSpPr/>
          <p:nvPr/>
        </p:nvSpPr>
        <p:spPr>
          <a:xfrm>
            <a:off x="503403" y="1668256"/>
            <a:ext cx="11185191" cy="3476117"/>
          </a:xfrm>
          <a:prstGeom prst="roundRect">
            <a:avLst>
              <a:gd name="adj" fmla="val 5962"/>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82788361-AB85-D8AA-864E-D605202B8E71}"/>
              </a:ext>
            </a:extLst>
          </p:cNvPr>
          <p:cNvSpPr/>
          <p:nvPr/>
        </p:nvSpPr>
        <p:spPr>
          <a:xfrm>
            <a:off x="1654808" y="1622562"/>
            <a:ext cx="1787171" cy="287650"/>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96E7A5A8-F34E-BEA4-0676-6B958F69AB67}"/>
              </a:ext>
            </a:extLst>
          </p:cNvPr>
          <p:cNvSpPr/>
          <p:nvPr/>
        </p:nvSpPr>
        <p:spPr>
          <a:xfrm>
            <a:off x="758606" y="2617315"/>
            <a:ext cx="293929" cy="306770"/>
          </a:xfrm>
          <a:prstGeom prst="ellipse">
            <a:avLst/>
          </a:prstGeom>
          <a:solidFill>
            <a:srgbClr val="A9866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3661F2EE-474F-8257-F82C-31F197541FEB}"/>
              </a:ext>
            </a:extLst>
          </p:cNvPr>
          <p:cNvSpPr txBox="1"/>
          <p:nvPr/>
        </p:nvSpPr>
        <p:spPr>
          <a:xfrm>
            <a:off x="1899316" y="1330953"/>
            <a:ext cx="1444177" cy="369332"/>
          </a:xfrm>
          <a:prstGeom prst="rect">
            <a:avLst/>
          </a:prstGeom>
          <a:noFill/>
        </p:spPr>
        <p:txBody>
          <a:bodyPr wrap="square" rtlCol="0">
            <a:spAutoFit/>
          </a:bodyPr>
          <a:lstStyle/>
          <a:p>
            <a:r>
              <a:rPr lang="en-US" dirty="0">
                <a:solidFill>
                  <a:srgbClr val="8F97B7"/>
                </a:solidFill>
              </a:rPr>
              <a:t>Implement</a:t>
            </a:r>
          </a:p>
        </p:txBody>
      </p:sp>
      <p:sp>
        <p:nvSpPr>
          <p:cNvPr id="24" name="TextBox 23">
            <a:extLst>
              <a:ext uri="{FF2B5EF4-FFF2-40B4-BE49-F238E27FC236}">
                <a16:creationId xmlns:a16="http://schemas.microsoft.com/office/drawing/2014/main" id="{B94D8651-03C0-E7EF-0C4F-E52544A3C5B6}"/>
              </a:ext>
            </a:extLst>
          </p:cNvPr>
          <p:cNvSpPr txBox="1"/>
          <p:nvPr/>
        </p:nvSpPr>
        <p:spPr>
          <a:xfrm>
            <a:off x="738137" y="2624295"/>
            <a:ext cx="460382" cy="282316"/>
          </a:xfrm>
          <a:prstGeom prst="rect">
            <a:avLst/>
          </a:prstGeom>
          <a:noFill/>
        </p:spPr>
        <p:txBody>
          <a:bodyPr wrap="square" rtlCol="0">
            <a:spAutoFit/>
          </a:bodyPr>
          <a:lstStyle/>
          <a:p>
            <a:r>
              <a:rPr lang="en-US" sz="1200" b="1" dirty="0">
                <a:solidFill>
                  <a:srgbClr val="0E1C2D"/>
                </a:solidFill>
              </a:rPr>
              <a:t>Or</a:t>
            </a:r>
          </a:p>
        </p:txBody>
      </p:sp>
      <p:sp>
        <p:nvSpPr>
          <p:cNvPr id="27" name="TextBox 26">
            <a:extLst>
              <a:ext uri="{FF2B5EF4-FFF2-40B4-BE49-F238E27FC236}">
                <a16:creationId xmlns:a16="http://schemas.microsoft.com/office/drawing/2014/main" id="{EA951442-E1B1-5F6A-EFED-EF892C5644C5}"/>
              </a:ext>
            </a:extLst>
          </p:cNvPr>
          <p:cNvSpPr txBox="1"/>
          <p:nvPr/>
        </p:nvSpPr>
        <p:spPr>
          <a:xfrm>
            <a:off x="1184559" y="2638386"/>
            <a:ext cx="965329" cy="261610"/>
          </a:xfrm>
          <a:prstGeom prst="rect">
            <a:avLst/>
          </a:prstGeom>
          <a:noFill/>
        </p:spPr>
        <p:txBody>
          <a:bodyPr wrap="none" rtlCol="0">
            <a:spAutoFit/>
          </a:bodyPr>
          <a:lstStyle/>
          <a:p>
            <a:r>
              <a:rPr lang="en-US" sz="1100" dirty="0">
                <a:solidFill>
                  <a:srgbClr val="E1E1E1"/>
                </a:solidFill>
              </a:rPr>
              <a:t>Orchestrator</a:t>
            </a:r>
          </a:p>
        </p:txBody>
      </p:sp>
      <p:pic>
        <p:nvPicPr>
          <p:cNvPr id="29" name="Graphic 28" descr="Information with solid fill">
            <a:extLst>
              <a:ext uri="{FF2B5EF4-FFF2-40B4-BE49-F238E27FC236}">
                <a16:creationId xmlns:a16="http://schemas.microsoft.com/office/drawing/2014/main" id="{AFA0D204-A3E9-7855-EC8F-3A0F760C845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3975" y="2661152"/>
            <a:ext cx="193473" cy="193473"/>
          </a:xfrm>
          <a:prstGeom prst="rect">
            <a:avLst/>
          </a:prstGeom>
        </p:spPr>
      </p:pic>
      <p:sp>
        <p:nvSpPr>
          <p:cNvPr id="16" name="TextBox 15">
            <a:extLst>
              <a:ext uri="{FF2B5EF4-FFF2-40B4-BE49-F238E27FC236}">
                <a16:creationId xmlns:a16="http://schemas.microsoft.com/office/drawing/2014/main" id="{B5C1E444-A4C0-2168-CB0B-97019E85F629}"/>
              </a:ext>
            </a:extLst>
          </p:cNvPr>
          <p:cNvSpPr txBox="1"/>
          <p:nvPr/>
        </p:nvSpPr>
        <p:spPr>
          <a:xfrm>
            <a:off x="1226477" y="3087372"/>
            <a:ext cx="705642" cy="261610"/>
          </a:xfrm>
          <a:prstGeom prst="rect">
            <a:avLst/>
          </a:prstGeom>
          <a:noFill/>
        </p:spPr>
        <p:txBody>
          <a:bodyPr wrap="none" rtlCol="0">
            <a:spAutoFit/>
          </a:bodyPr>
          <a:lstStyle>
            <a:defPPr>
              <a:defRPr lang="en-US"/>
            </a:defPPr>
            <a:lvl1pPr>
              <a:defRPr sz="1100">
                <a:solidFill>
                  <a:srgbClr val="E1E1E1"/>
                </a:solidFill>
              </a:defRPr>
            </a:lvl1pPr>
          </a:lstStyle>
          <a:p>
            <a:r>
              <a:rPr lang="en-US" dirty="0"/>
              <a:t>Analyzer</a:t>
            </a:r>
          </a:p>
        </p:txBody>
      </p:sp>
      <p:cxnSp>
        <p:nvCxnSpPr>
          <p:cNvPr id="75" name="Straight Connector 74">
            <a:extLst>
              <a:ext uri="{FF2B5EF4-FFF2-40B4-BE49-F238E27FC236}">
                <a16:creationId xmlns:a16="http://schemas.microsoft.com/office/drawing/2014/main" id="{F2F7BAF9-6BF3-EB95-344D-CA343207AC57}"/>
              </a:ext>
            </a:extLst>
          </p:cNvPr>
          <p:cNvCxnSpPr>
            <a:cxnSpLocks/>
          </p:cNvCxnSpPr>
          <p:nvPr/>
        </p:nvCxnSpPr>
        <p:spPr>
          <a:xfrm>
            <a:off x="652293" y="2505875"/>
            <a:ext cx="10203544" cy="6404"/>
          </a:xfrm>
          <a:prstGeom prst="line">
            <a:avLst/>
          </a:prstGeom>
          <a:ln>
            <a:solidFill>
              <a:srgbClr val="1E3147"/>
            </a:solidFill>
          </a:ln>
        </p:spPr>
        <p:style>
          <a:lnRef idx="2">
            <a:schemeClr val="accent1"/>
          </a:lnRef>
          <a:fillRef idx="0">
            <a:schemeClr val="accent1"/>
          </a:fillRef>
          <a:effectRef idx="1">
            <a:schemeClr val="accent1"/>
          </a:effectRef>
          <a:fontRef idx="minor">
            <a:schemeClr val="tx1"/>
          </a:fontRef>
        </p:style>
      </p:cxnSp>
      <p:sp>
        <p:nvSpPr>
          <p:cNvPr id="77" name="TextBox 76">
            <a:extLst>
              <a:ext uri="{FF2B5EF4-FFF2-40B4-BE49-F238E27FC236}">
                <a16:creationId xmlns:a16="http://schemas.microsoft.com/office/drawing/2014/main" id="{E27DB6DB-118F-8F88-A06F-B63693AD5428}"/>
              </a:ext>
            </a:extLst>
          </p:cNvPr>
          <p:cNvSpPr txBox="1"/>
          <p:nvPr/>
        </p:nvSpPr>
        <p:spPr>
          <a:xfrm>
            <a:off x="1274326" y="2217384"/>
            <a:ext cx="785793" cy="246221"/>
          </a:xfrm>
          <a:prstGeom prst="rect">
            <a:avLst/>
          </a:prstGeom>
          <a:noFill/>
        </p:spPr>
        <p:txBody>
          <a:bodyPr wrap="none" rtlCol="0">
            <a:spAutoFit/>
          </a:bodyPr>
          <a:lstStyle/>
          <a:p>
            <a:pPr algn="ctr"/>
            <a:r>
              <a:rPr lang="en-US" sz="1000" dirty="0">
                <a:solidFill>
                  <a:srgbClr val="E1E1E1"/>
                </a:solidFill>
              </a:rPr>
              <a:t>Agent Type</a:t>
            </a:r>
          </a:p>
        </p:txBody>
      </p:sp>
      <p:sp>
        <p:nvSpPr>
          <p:cNvPr id="78" name="TextBox 77">
            <a:extLst>
              <a:ext uri="{FF2B5EF4-FFF2-40B4-BE49-F238E27FC236}">
                <a16:creationId xmlns:a16="http://schemas.microsoft.com/office/drawing/2014/main" id="{82B0EAAD-0BC7-1505-79DD-93E81C9B4B33}"/>
              </a:ext>
            </a:extLst>
          </p:cNvPr>
          <p:cNvSpPr txBox="1"/>
          <p:nvPr/>
        </p:nvSpPr>
        <p:spPr>
          <a:xfrm>
            <a:off x="662149" y="1838089"/>
            <a:ext cx="1202573" cy="246221"/>
          </a:xfrm>
          <a:prstGeom prst="rect">
            <a:avLst/>
          </a:prstGeom>
          <a:noFill/>
        </p:spPr>
        <p:txBody>
          <a:bodyPr wrap="none" rtlCol="0">
            <a:spAutoFit/>
          </a:bodyPr>
          <a:lstStyle/>
          <a:p>
            <a:r>
              <a:rPr lang="en-US" sz="1000" dirty="0">
                <a:solidFill>
                  <a:srgbClr val="E1E1E1"/>
                </a:solidFill>
              </a:rPr>
              <a:t>Claude Subagents</a:t>
            </a:r>
          </a:p>
        </p:txBody>
      </p:sp>
      <p:sp>
        <p:nvSpPr>
          <p:cNvPr id="80" name="Rectangle: Rounded Corners 79">
            <a:extLst>
              <a:ext uri="{FF2B5EF4-FFF2-40B4-BE49-F238E27FC236}">
                <a16:creationId xmlns:a16="http://schemas.microsoft.com/office/drawing/2014/main" id="{9A734D1B-A340-1C72-E574-9F6B80344D82}"/>
              </a:ext>
            </a:extLst>
          </p:cNvPr>
          <p:cNvSpPr/>
          <p:nvPr/>
        </p:nvSpPr>
        <p:spPr>
          <a:xfrm>
            <a:off x="1813390" y="1884175"/>
            <a:ext cx="336498" cy="182696"/>
          </a:xfrm>
          <a:prstGeom prst="roundRect">
            <a:avLst>
              <a:gd name="adj" fmla="val 50000"/>
            </a:avLst>
          </a:prstGeom>
          <a:solidFill>
            <a:srgbClr val="0E1C2D"/>
          </a:solid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a:extLst>
              <a:ext uri="{FF2B5EF4-FFF2-40B4-BE49-F238E27FC236}">
                <a16:creationId xmlns:a16="http://schemas.microsoft.com/office/drawing/2014/main" id="{BF5A7AC1-0119-4572-D2EC-4215C4F88F9F}"/>
              </a:ext>
            </a:extLst>
          </p:cNvPr>
          <p:cNvSpPr/>
          <p:nvPr/>
        </p:nvSpPr>
        <p:spPr>
          <a:xfrm>
            <a:off x="1962999" y="1883047"/>
            <a:ext cx="174503" cy="184050"/>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TextBox 81">
            <a:extLst>
              <a:ext uri="{FF2B5EF4-FFF2-40B4-BE49-F238E27FC236}">
                <a16:creationId xmlns:a16="http://schemas.microsoft.com/office/drawing/2014/main" id="{A4685CBE-086F-7809-7E29-EB8F6CBDB91C}"/>
              </a:ext>
            </a:extLst>
          </p:cNvPr>
          <p:cNvSpPr txBox="1"/>
          <p:nvPr/>
        </p:nvSpPr>
        <p:spPr>
          <a:xfrm>
            <a:off x="4275366" y="3048418"/>
            <a:ext cx="805029" cy="261610"/>
          </a:xfrm>
          <a:prstGeom prst="rect">
            <a:avLst/>
          </a:prstGeom>
          <a:noFill/>
        </p:spPr>
        <p:txBody>
          <a:bodyPr wrap="none" rtlCol="0">
            <a:spAutoFit/>
          </a:bodyPr>
          <a:lstStyle/>
          <a:p>
            <a:r>
              <a:rPr lang="en-US" sz="1100" i="1" dirty="0">
                <a:solidFill>
                  <a:srgbClr val="FFC000"/>
                </a:solidFill>
              </a:rPr>
              <a:t>Working…</a:t>
            </a:r>
          </a:p>
        </p:txBody>
      </p:sp>
      <p:sp>
        <p:nvSpPr>
          <p:cNvPr id="83" name="Oval 82">
            <a:extLst>
              <a:ext uri="{FF2B5EF4-FFF2-40B4-BE49-F238E27FC236}">
                <a16:creationId xmlns:a16="http://schemas.microsoft.com/office/drawing/2014/main" id="{10603633-7D55-5BD2-20E1-F0CA0CF1AE26}"/>
              </a:ext>
            </a:extLst>
          </p:cNvPr>
          <p:cNvSpPr/>
          <p:nvPr/>
        </p:nvSpPr>
        <p:spPr>
          <a:xfrm>
            <a:off x="758606" y="3066408"/>
            <a:ext cx="293929" cy="306770"/>
          </a:xfrm>
          <a:prstGeom prst="ellipse">
            <a:avLst/>
          </a:prstGeom>
          <a:solidFill>
            <a:srgbClr val="A32A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BCC823B8-DB47-13C6-38B5-4987C39826D7}"/>
              </a:ext>
            </a:extLst>
          </p:cNvPr>
          <p:cNvSpPr/>
          <p:nvPr/>
        </p:nvSpPr>
        <p:spPr>
          <a:xfrm>
            <a:off x="758606" y="3513494"/>
            <a:ext cx="293929" cy="306770"/>
          </a:xfrm>
          <a:prstGeom prst="ellipse">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8AA42434-5BF1-E0DF-67D9-4974A5BA0F65}"/>
              </a:ext>
            </a:extLst>
          </p:cNvPr>
          <p:cNvSpPr/>
          <p:nvPr/>
        </p:nvSpPr>
        <p:spPr>
          <a:xfrm>
            <a:off x="758606" y="3970226"/>
            <a:ext cx="293929" cy="306770"/>
          </a:xfrm>
          <a:prstGeom prst="ellipse">
            <a:avLst/>
          </a:prstGeom>
          <a:solidFill>
            <a:srgbClr val="FFC3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TextBox 88">
            <a:extLst>
              <a:ext uri="{FF2B5EF4-FFF2-40B4-BE49-F238E27FC236}">
                <a16:creationId xmlns:a16="http://schemas.microsoft.com/office/drawing/2014/main" id="{2A452FF9-4BA7-6CE7-FD2B-CC66EA1540F6}"/>
              </a:ext>
            </a:extLst>
          </p:cNvPr>
          <p:cNvSpPr txBox="1"/>
          <p:nvPr/>
        </p:nvSpPr>
        <p:spPr>
          <a:xfrm>
            <a:off x="1226477" y="3532367"/>
            <a:ext cx="970137" cy="261610"/>
          </a:xfrm>
          <a:prstGeom prst="rect">
            <a:avLst/>
          </a:prstGeom>
          <a:noFill/>
        </p:spPr>
        <p:txBody>
          <a:bodyPr wrap="none" rtlCol="0">
            <a:spAutoFit/>
          </a:bodyPr>
          <a:lstStyle>
            <a:defPPr>
              <a:defRPr lang="en-US"/>
            </a:defPPr>
            <a:lvl1pPr>
              <a:defRPr sz="1100">
                <a:solidFill>
                  <a:srgbClr val="E1E1E1"/>
                </a:solidFill>
              </a:defRPr>
            </a:lvl1pPr>
          </a:lstStyle>
          <a:p>
            <a:r>
              <a:rPr lang="en-US" dirty="0"/>
              <a:t>Implementor</a:t>
            </a:r>
          </a:p>
        </p:txBody>
      </p:sp>
      <p:sp>
        <p:nvSpPr>
          <p:cNvPr id="90" name="TextBox 89">
            <a:extLst>
              <a:ext uri="{FF2B5EF4-FFF2-40B4-BE49-F238E27FC236}">
                <a16:creationId xmlns:a16="http://schemas.microsoft.com/office/drawing/2014/main" id="{8E8EE7E5-8C29-F153-3CAE-D7D92EBB6F3E}"/>
              </a:ext>
            </a:extLst>
          </p:cNvPr>
          <p:cNvSpPr txBox="1"/>
          <p:nvPr/>
        </p:nvSpPr>
        <p:spPr>
          <a:xfrm>
            <a:off x="1245503" y="3998201"/>
            <a:ext cx="559769" cy="261610"/>
          </a:xfrm>
          <a:prstGeom prst="rect">
            <a:avLst/>
          </a:prstGeom>
          <a:noFill/>
        </p:spPr>
        <p:txBody>
          <a:bodyPr wrap="none" rtlCol="0">
            <a:spAutoFit/>
          </a:bodyPr>
          <a:lstStyle>
            <a:defPPr>
              <a:defRPr lang="en-US"/>
            </a:defPPr>
            <a:lvl1pPr>
              <a:defRPr sz="1100">
                <a:solidFill>
                  <a:srgbClr val="E1E1E1"/>
                </a:solidFill>
              </a:defRPr>
            </a:lvl1pPr>
          </a:lstStyle>
          <a:p>
            <a:r>
              <a:rPr lang="en-US" dirty="0"/>
              <a:t>Tester</a:t>
            </a:r>
          </a:p>
        </p:txBody>
      </p:sp>
      <p:sp>
        <p:nvSpPr>
          <p:cNvPr id="91" name="TextBox 90">
            <a:extLst>
              <a:ext uri="{FF2B5EF4-FFF2-40B4-BE49-F238E27FC236}">
                <a16:creationId xmlns:a16="http://schemas.microsoft.com/office/drawing/2014/main" id="{1BDE1D15-F0FD-B850-F86A-81B354DB11FF}"/>
              </a:ext>
            </a:extLst>
          </p:cNvPr>
          <p:cNvSpPr txBox="1"/>
          <p:nvPr/>
        </p:nvSpPr>
        <p:spPr>
          <a:xfrm>
            <a:off x="4260936" y="2611055"/>
            <a:ext cx="683200" cy="261610"/>
          </a:xfrm>
          <a:prstGeom prst="rect">
            <a:avLst/>
          </a:prstGeom>
          <a:noFill/>
        </p:spPr>
        <p:txBody>
          <a:bodyPr wrap="none" rtlCol="0">
            <a:spAutoFit/>
          </a:bodyPr>
          <a:lstStyle/>
          <a:p>
            <a:r>
              <a:rPr lang="en-US" sz="1100" i="1" dirty="0">
                <a:solidFill>
                  <a:srgbClr val="FFC000"/>
                </a:solidFill>
              </a:rPr>
              <a:t>Waiting.</a:t>
            </a:r>
          </a:p>
        </p:txBody>
      </p:sp>
      <p:pic>
        <p:nvPicPr>
          <p:cNvPr id="93" name="Graphic 92" descr="Information with solid fill">
            <a:extLst>
              <a:ext uri="{FF2B5EF4-FFF2-40B4-BE49-F238E27FC236}">
                <a16:creationId xmlns:a16="http://schemas.microsoft.com/office/drawing/2014/main" id="{451877B7-A68D-26B6-9908-0E51FD88A90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2365" y="3102069"/>
            <a:ext cx="193473" cy="193473"/>
          </a:xfrm>
          <a:prstGeom prst="rect">
            <a:avLst/>
          </a:prstGeom>
        </p:spPr>
      </p:pic>
      <p:pic>
        <p:nvPicPr>
          <p:cNvPr id="94" name="Graphic 93" descr="Information with solid fill">
            <a:extLst>
              <a:ext uri="{FF2B5EF4-FFF2-40B4-BE49-F238E27FC236}">
                <a16:creationId xmlns:a16="http://schemas.microsoft.com/office/drawing/2014/main" id="{800BFF7E-EE79-1CBA-1BF8-0C391CE5AF2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2365" y="3553624"/>
            <a:ext cx="193473" cy="193473"/>
          </a:xfrm>
          <a:prstGeom prst="rect">
            <a:avLst/>
          </a:prstGeom>
        </p:spPr>
      </p:pic>
      <p:pic>
        <p:nvPicPr>
          <p:cNvPr id="95" name="Graphic 94" descr="Information with solid fill">
            <a:extLst>
              <a:ext uri="{FF2B5EF4-FFF2-40B4-BE49-F238E27FC236}">
                <a16:creationId xmlns:a16="http://schemas.microsoft.com/office/drawing/2014/main" id="{AE56D5ED-59BB-A092-C458-55552B8C973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2364" y="4014063"/>
            <a:ext cx="193473" cy="193473"/>
          </a:xfrm>
          <a:prstGeom prst="rect">
            <a:avLst/>
          </a:prstGeom>
        </p:spPr>
      </p:pic>
      <p:sp>
        <p:nvSpPr>
          <p:cNvPr id="96" name="TextBox 95">
            <a:extLst>
              <a:ext uri="{FF2B5EF4-FFF2-40B4-BE49-F238E27FC236}">
                <a16:creationId xmlns:a16="http://schemas.microsoft.com/office/drawing/2014/main" id="{93F721CF-A22B-9672-E878-BA87158C15CD}"/>
              </a:ext>
            </a:extLst>
          </p:cNvPr>
          <p:cNvSpPr txBox="1"/>
          <p:nvPr/>
        </p:nvSpPr>
        <p:spPr>
          <a:xfrm>
            <a:off x="729726" y="3076054"/>
            <a:ext cx="460382" cy="282316"/>
          </a:xfrm>
          <a:prstGeom prst="rect">
            <a:avLst/>
          </a:prstGeom>
          <a:noFill/>
        </p:spPr>
        <p:txBody>
          <a:bodyPr wrap="square" rtlCol="0">
            <a:spAutoFit/>
          </a:bodyPr>
          <a:lstStyle/>
          <a:p>
            <a:r>
              <a:rPr lang="en-US" sz="1200" b="1" dirty="0">
                <a:solidFill>
                  <a:srgbClr val="0E1C2D"/>
                </a:solidFill>
              </a:rPr>
              <a:t>An</a:t>
            </a:r>
          </a:p>
        </p:txBody>
      </p:sp>
      <p:sp>
        <p:nvSpPr>
          <p:cNvPr id="97" name="TextBox 96">
            <a:extLst>
              <a:ext uri="{FF2B5EF4-FFF2-40B4-BE49-F238E27FC236}">
                <a16:creationId xmlns:a16="http://schemas.microsoft.com/office/drawing/2014/main" id="{76A2C8AD-2FD3-B23F-B857-30867DF77A8C}"/>
              </a:ext>
            </a:extLst>
          </p:cNvPr>
          <p:cNvSpPr txBox="1"/>
          <p:nvPr/>
        </p:nvSpPr>
        <p:spPr>
          <a:xfrm>
            <a:off x="736070" y="3523140"/>
            <a:ext cx="460382" cy="282316"/>
          </a:xfrm>
          <a:prstGeom prst="rect">
            <a:avLst/>
          </a:prstGeom>
          <a:noFill/>
        </p:spPr>
        <p:txBody>
          <a:bodyPr wrap="square" rtlCol="0">
            <a:spAutoFit/>
          </a:bodyPr>
          <a:lstStyle/>
          <a:p>
            <a:r>
              <a:rPr lang="en-US" sz="1200" b="1" dirty="0" err="1">
                <a:solidFill>
                  <a:srgbClr val="0E1C2D"/>
                </a:solidFill>
              </a:rPr>
              <a:t>Im</a:t>
            </a:r>
            <a:endParaRPr lang="en-US" sz="1200" b="1" dirty="0">
              <a:solidFill>
                <a:srgbClr val="0E1C2D"/>
              </a:solidFill>
            </a:endParaRPr>
          </a:p>
        </p:txBody>
      </p:sp>
      <p:sp>
        <p:nvSpPr>
          <p:cNvPr id="98" name="TextBox 97">
            <a:extLst>
              <a:ext uri="{FF2B5EF4-FFF2-40B4-BE49-F238E27FC236}">
                <a16:creationId xmlns:a16="http://schemas.microsoft.com/office/drawing/2014/main" id="{3A47FC5A-A2AD-F756-87FF-D4888306D80E}"/>
              </a:ext>
            </a:extLst>
          </p:cNvPr>
          <p:cNvSpPr txBox="1"/>
          <p:nvPr/>
        </p:nvSpPr>
        <p:spPr>
          <a:xfrm>
            <a:off x="736070" y="3989707"/>
            <a:ext cx="460382" cy="282316"/>
          </a:xfrm>
          <a:prstGeom prst="rect">
            <a:avLst/>
          </a:prstGeom>
          <a:noFill/>
        </p:spPr>
        <p:txBody>
          <a:bodyPr wrap="square" rtlCol="0">
            <a:spAutoFit/>
          </a:bodyPr>
          <a:lstStyle/>
          <a:p>
            <a:r>
              <a:rPr lang="en-US" sz="1200" b="1" dirty="0" err="1">
                <a:solidFill>
                  <a:srgbClr val="0E1C2D"/>
                </a:solidFill>
              </a:rPr>
              <a:t>Te</a:t>
            </a:r>
            <a:endParaRPr lang="en-US" sz="1200" b="1" dirty="0">
              <a:solidFill>
                <a:srgbClr val="0E1C2D"/>
              </a:solidFill>
            </a:endParaRPr>
          </a:p>
        </p:txBody>
      </p:sp>
      <p:sp>
        <p:nvSpPr>
          <p:cNvPr id="99" name="TextBox 98">
            <a:extLst>
              <a:ext uri="{FF2B5EF4-FFF2-40B4-BE49-F238E27FC236}">
                <a16:creationId xmlns:a16="http://schemas.microsoft.com/office/drawing/2014/main" id="{5E6DAE80-20A0-07FF-5E76-FA20D80229F6}"/>
              </a:ext>
            </a:extLst>
          </p:cNvPr>
          <p:cNvSpPr txBox="1"/>
          <p:nvPr/>
        </p:nvSpPr>
        <p:spPr>
          <a:xfrm>
            <a:off x="4193614" y="2214394"/>
            <a:ext cx="886781" cy="246221"/>
          </a:xfrm>
          <a:prstGeom prst="rect">
            <a:avLst/>
          </a:prstGeom>
          <a:noFill/>
        </p:spPr>
        <p:txBody>
          <a:bodyPr wrap="none" rtlCol="0">
            <a:spAutoFit/>
          </a:bodyPr>
          <a:lstStyle/>
          <a:p>
            <a:pPr algn="ctr"/>
            <a:r>
              <a:rPr lang="en-US" sz="1000" dirty="0">
                <a:solidFill>
                  <a:srgbClr val="E1E1E1"/>
                </a:solidFill>
              </a:rPr>
              <a:t>Agent Status</a:t>
            </a:r>
          </a:p>
        </p:txBody>
      </p:sp>
      <p:sp>
        <p:nvSpPr>
          <p:cNvPr id="100" name="TextBox 99">
            <a:extLst>
              <a:ext uri="{FF2B5EF4-FFF2-40B4-BE49-F238E27FC236}">
                <a16:creationId xmlns:a16="http://schemas.microsoft.com/office/drawing/2014/main" id="{62A3D8F8-EFB4-4558-2319-289C3B8B2386}"/>
              </a:ext>
            </a:extLst>
          </p:cNvPr>
          <p:cNvSpPr txBox="1"/>
          <p:nvPr/>
        </p:nvSpPr>
        <p:spPr>
          <a:xfrm>
            <a:off x="7929117" y="2092323"/>
            <a:ext cx="772505" cy="400110"/>
          </a:xfrm>
          <a:prstGeom prst="rect">
            <a:avLst/>
          </a:prstGeom>
          <a:noFill/>
        </p:spPr>
        <p:txBody>
          <a:bodyPr wrap="square" rtlCol="0">
            <a:spAutoFit/>
          </a:bodyPr>
          <a:lstStyle/>
          <a:p>
            <a:pPr algn="ctr"/>
            <a:r>
              <a:rPr lang="en-US" sz="1000" dirty="0">
                <a:solidFill>
                  <a:srgbClr val="E1E1E1"/>
                </a:solidFill>
              </a:rPr>
              <a:t>Messages waiting</a:t>
            </a:r>
          </a:p>
        </p:txBody>
      </p:sp>
      <p:sp>
        <p:nvSpPr>
          <p:cNvPr id="114" name="TextBox 113">
            <a:extLst>
              <a:ext uri="{FF2B5EF4-FFF2-40B4-BE49-F238E27FC236}">
                <a16:creationId xmlns:a16="http://schemas.microsoft.com/office/drawing/2014/main" id="{DCF3BEB8-5147-ED86-ADD6-DB321885B239}"/>
              </a:ext>
            </a:extLst>
          </p:cNvPr>
          <p:cNvSpPr txBox="1"/>
          <p:nvPr/>
        </p:nvSpPr>
        <p:spPr>
          <a:xfrm>
            <a:off x="7041082" y="2099303"/>
            <a:ext cx="772505" cy="400110"/>
          </a:xfrm>
          <a:prstGeom prst="rect">
            <a:avLst/>
          </a:prstGeom>
          <a:noFill/>
        </p:spPr>
        <p:txBody>
          <a:bodyPr wrap="square" rtlCol="0">
            <a:spAutoFit/>
          </a:bodyPr>
          <a:lstStyle/>
          <a:p>
            <a:pPr algn="ctr"/>
            <a:r>
              <a:rPr lang="en-US" sz="1000" dirty="0">
                <a:solidFill>
                  <a:srgbClr val="E1E1E1"/>
                </a:solidFill>
              </a:rPr>
              <a:t>Messages</a:t>
            </a:r>
          </a:p>
          <a:p>
            <a:pPr algn="ctr"/>
            <a:r>
              <a:rPr lang="en-US" sz="1000" dirty="0">
                <a:solidFill>
                  <a:srgbClr val="E1E1E1"/>
                </a:solidFill>
              </a:rPr>
              <a:t>Sent</a:t>
            </a:r>
          </a:p>
        </p:txBody>
      </p:sp>
      <p:sp>
        <p:nvSpPr>
          <p:cNvPr id="115" name="TextBox 114">
            <a:extLst>
              <a:ext uri="{FF2B5EF4-FFF2-40B4-BE49-F238E27FC236}">
                <a16:creationId xmlns:a16="http://schemas.microsoft.com/office/drawing/2014/main" id="{98ACEA15-EF39-7F84-A035-AEADA0478100}"/>
              </a:ext>
            </a:extLst>
          </p:cNvPr>
          <p:cNvSpPr txBox="1"/>
          <p:nvPr/>
        </p:nvSpPr>
        <p:spPr>
          <a:xfrm>
            <a:off x="8932682" y="2112169"/>
            <a:ext cx="751053" cy="400110"/>
          </a:xfrm>
          <a:prstGeom prst="rect">
            <a:avLst/>
          </a:prstGeom>
          <a:noFill/>
        </p:spPr>
        <p:txBody>
          <a:bodyPr wrap="square" rtlCol="0">
            <a:spAutoFit/>
          </a:bodyPr>
          <a:lstStyle/>
          <a:p>
            <a:pPr algn="ctr"/>
            <a:r>
              <a:rPr lang="en-US" sz="1000" dirty="0">
                <a:solidFill>
                  <a:srgbClr val="E1E1E1"/>
                </a:solidFill>
              </a:rPr>
              <a:t>Messages Read</a:t>
            </a:r>
          </a:p>
        </p:txBody>
      </p:sp>
      <p:pic>
        <p:nvPicPr>
          <p:cNvPr id="117" name="Graphic 116" descr="Chat with solid fill">
            <a:extLst>
              <a:ext uri="{FF2B5EF4-FFF2-40B4-BE49-F238E27FC236}">
                <a16:creationId xmlns:a16="http://schemas.microsoft.com/office/drawing/2014/main" id="{22F1447C-B678-376E-91CD-72C1D2EFC5B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305301" y="2637658"/>
            <a:ext cx="261610" cy="261610"/>
          </a:xfrm>
          <a:prstGeom prst="rect">
            <a:avLst/>
          </a:prstGeom>
        </p:spPr>
      </p:pic>
      <p:pic>
        <p:nvPicPr>
          <p:cNvPr id="118" name="Graphic 117" descr="Chat with solid fill">
            <a:extLst>
              <a:ext uri="{FF2B5EF4-FFF2-40B4-BE49-F238E27FC236}">
                <a16:creationId xmlns:a16="http://schemas.microsoft.com/office/drawing/2014/main" id="{66781A1C-AD6A-1354-4DC8-F5362FBDB2D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297189" y="3068000"/>
            <a:ext cx="261610" cy="261610"/>
          </a:xfrm>
          <a:prstGeom prst="rect">
            <a:avLst/>
          </a:prstGeom>
        </p:spPr>
      </p:pic>
      <p:pic>
        <p:nvPicPr>
          <p:cNvPr id="119" name="Graphic 118" descr="Chat with solid fill">
            <a:extLst>
              <a:ext uri="{FF2B5EF4-FFF2-40B4-BE49-F238E27FC236}">
                <a16:creationId xmlns:a16="http://schemas.microsoft.com/office/drawing/2014/main" id="{7770B5BC-1F37-7064-E975-C9297610C19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297189" y="3527404"/>
            <a:ext cx="261610" cy="261610"/>
          </a:xfrm>
          <a:prstGeom prst="rect">
            <a:avLst/>
          </a:prstGeom>
        </p:spPr>
      </p:pic>
      <p:pic>
        <p:nvPicPr>
          <p:cNvPr id="120" name="Graphic 119" descr="Chat with solid fill">
            <a:extLst>
              <a:ext uri="{FF2B5EF4-FFF2-40B4-BE49-F238E27FC236}">
                <a16:creationId xmlns:a16="http://schemas.microsoft.com/office/drawing/2014/main" id="{5B5D9AE9-B9AD-4AFB-12D2-2D808168620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310562" y="3991625"/>
            <a:ext cx="261610" cy="261610"/>
          </a:xfrm>
          <a:prstGeom prst="rect">
            <a:avLst/>
          </a:prstGeom>
        </p:spPr>
      </p:pic>
      <p:sp>
        <p:nvSpPr>
          <p:cNvPr id="135" name="TextBox 134">
            <a:extLst>
              <a:ext uri="{FF2B5EF4-FFF2-40B4-BE49-F238E27FC236}">
                <a16:creationId xmlns:a16="http://schemas.microsoft.com/office/drawing/2014/main" id="{F7A377D7-63F0-EFE5-F8C0-3A8D8378F7E6}"/>
              </a:ext>
            </a:extLst>
          </p:cNvPr>
          <p:cNvSpPr txBox="1"/>
          <p:nvPr/>
        </p:nvSpPr>
        <p:spPr>
          <a:xfrm>
            <a:off x="4273058" y="3530126"/>
            <a:ext cx="910827" cy="261610"/>
          </a:xfrm>
          <a:prstGeom prst="rect">
            <a:avLst/>
          </a:prstGeom>
          <a:noFill/>
        </p:spPr>
        <p:txBody>
          <a:bodyPr wrap="none" rtlCol="0">
            <a:spAutoFit/>
          </a:bodyPr>
          <a:lstStyle/>
          <a:p>
            <a:r>
              <a:rPr lang="en-US" sz="1100" i="1" dirty="0">
                <a:solidFill>
                  <a:srgbClr val="FFC000"/>
                </a:solidFill>
              </a:rPr>
              <a:t>Completed.</a:t>
            </a:r>
          </a:p>
        </p:txBody>
      </p:sp>
      <p:sp>
        <p:nvSpPr>
          <p:cNvPr id="136" name="TextBox 135">
            <a:extLst>
              <a:ext uri="{FF2B5EF4-FFF2-40B4-BE49-F238E27FC236}">
                <a16:creationId xmlns:a16="http://schemas.microsoft.com/office/drawing/2014/main" id="{AAA236F1-E2E0-CFAC-BDF9-EC36107FA8FB}"/>
              </a:ext>
            </a:extLst>
          </p:cNvPr>
          <p:cNvSpPr txBox="1"/>
          <p:nvPr/>
        </p:nvSpPr>
        <p:spPr>
          <a:xfrm>
            <a:off x="4253814" y="3982173"/>
            <a:ext cx="683200" cy="261610"/>
          </a:xfrm>
          <a:prstGeom prst="rect">
            <a:avLst/>
          </a:prstGeom>
          <a:noFill/>
        </p:spPr>
        <p:txBody>
          <a:bodyPr wrap="none" rtlCol="0">
            <a:spAutoFit/>
          </a:bodyPr>
          <a:lstStyle/>
          <a:p>
            <a:r>
              <a:rPr lang="en-US" sz="1100" i="1" dirty="0">
                <a:solidFill>
                  <a:srgbClr val="FFC000"/>
                </a:solidFill>
              </a:rPr>
              <a:t>Waiting.</a:t>
            </a:r>
          </a:p>
        </p:txBody>
      </p:sp>
      <p:pic>
        <p:nvPicPr>
          <p:cNvPr id="137" name="Graphic 136" descr="Play with solid fill">
            <a:extLst>
              <a:ext uri="{FF2B5EF4-FFF2-40B4-BE49-F238E27FC236}">
                <a16:creationId xmlns:a16="http://schemas.microsoft.com/office/drawing/2014/main" id="{1AA739B6-EA54-4671-3CA9-4FBBBFF2FF7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00374" y="3545730"/>
            <a:ext cx="193474" cy="193474"/>
          </a:xfrm>
          <a:prstGeom prst="rect">
            <a:avLst/>
          </a:prstGeom>
        </p:spPr>
      </p:pic>
      <p:pic>
        <p:nvPicPr>
          <p:cNvPr id="138" name="Graphic 137" descr="Play with solid fill">
            <a:extLst>
              <a:ext uri="{FF2B5EF4-FFF2-40B4-BE49-F238E27FC236}">
                <a16:creationId xmlns:a16="http://schemas.microsoft.com/office/drawing/2014/main" id="{A8F91043-8CF2-93B9-70BC-498A464412B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02983" y="4004988"/>
            <a:ext cx="193474" cy="193474"/>
          </a:xfrm>
          <a:prstGeom prst="rect">
            <a:avLst/>
          </a:prstGeom>
        </p:spPr>
      </p:pic>
      <p:sp>
        <p:nvSpPr>
          <p:cNvPr id="23" name="TextBox 22">
            <a:extLst>
              <a:ext uri="{FF2B5EF4-FFF2-40B4-BE49-F238E27FC236}">
                <a16:creationId xmlns:a16="http://schemas.microsoft.com/office/drawing/2014/main" id="{71BB71BF-23AB-E29E-D440-0090CB993254}"/>
              </a:ext>
            </a:extLst>
          </p:cNvPr>
          <p:cNvSpPr txBox="1"/>
          <p:nvPr/>
        </p:nvSpPr>
        <p:spPr>
          <a:xfrm>
            <a:off x="2947872" y="2209718"/>
            <a:ext cx="649537" cy="246221"/>
          </a:xfrm>
          <a:prstGeom prst="rect">
            <a:avLst/>
          </a:prstGeom>
          <a:noFill/>
        </p:spPr>
        <p:txBody>
          <a:bodyPr wrap="none" rtlCol="0">
            <a:spAutoFit/>
          </a:bodyPr>
          <a:lstStyle/>
          <a:p>
            <a:pPr algn="ctr"/>
            <a:r>
              <a:rPr lang="en-US" sz="1000" dirty="0">
                <a:solidFill>
                  <a:srgbClr val="E1E1E1"/>
                </a:solidFill>
              </a:rPr>
              <a:t>Agent ID</a:t>
            </a:r>
          </a:p>
        </p:txBody>
      </p:sp>
      <p:sp>
        <p:nvSpPr>
          <p:cNvPr id="28" name="TextBox 27">
            <a:extLst>
              <a:ext uri="{FF2B5EF4-FFF2-40B4-BE49-F238E27FC236}">
                <a16:creationId xmlns:a16="http://schemas.microsoft.com/office/drawing/2014/main" id="{3D22ADE1-7822-98D3-5CDE-DD044689468D}"/>
              </a:ext>
            </a:extLst>
          </p:cNvPr>
          <p:cNvSpPr txBox="1"/>
          <p:nvPr/>
        </p:nvSpPr>
        <p:spPr>
          <a:xfrm>
            <a:off x="2647311" y="2620646"/>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0" name="TextBox 29">
            <a:extLst>
              <a:ext uri="{FF2B5EF4-FFF2-40B4-BE49-F238E27FC236}">
                <a16:creationId xmlns:a16="http://schemas.microsoft.com/office/drawing/2014/main" id="{5D87D206-6B73-72BB-3938-26F203C11B27}"/>
              </a:ext>
            </a:extLst>
          </p:cNvPr>
          <p:cNvSpPr txBox="1"/>
          <p:nvPr/>
        </p:nvSpPr>
        <p:spPr>
          <a:xfrm>
            <a:off x="2647311" y="3086580"/>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1" name="TextBox 30">
            <a:extLst>
              <a:ext uri="{FF2B5EF4-FFF2-40B4-BE49-F238E27FC236}">
                <a16:creationId xmlns:a16="http://schemas.microsoft.com/office/drawing/2014/main" id="{ACD65237-285B-7F33-2F4C-85A1E1E5DA84}"/>
              </a:ext>
            </a:extLst>
          </p:cNvPr>
          <p:cNvSpPr txBox="1"/>
          <p:nvPr/>
        </p:nvSpPr>
        <p:spPr>
          <a:xfrm>
            <a:off x="2647311" y="3545730"/>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2" name="TextBox 31">
            <a:extLst>
              <a:ext uri="{FF2B5EF4-FFF2-40B4-BE49-F238E27FC236}">
                <a16:creationId xmlns:a16="http://schemas.microsoft.com/office/drawing/2014/main" id="{ED521FF0-6D3D-E117-BF60-D40A831A7A2B}"/>
              </a:ext>
            </a:extLst>
          </p:cNvPr>
          <p:cNvSpPr txBox="1"/>
          <p:nvPr/>
        </p:nvSpPr>
        <p:spPr>
          <a:xfrm>
            <a:off x="2636441" y="4004880"/>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3" name="TextBox 32">
            <a:extLst>
              <a:ext uri="{FF2B5EF4-FFF2-40B4-BE49-F238E27FC236}">
                <a16:creationId xmlns:a16="http://schemas.microsoft.com/office/drawing/2014/main" id="{02C6745A-A622-C3FA-387E-21737EBA6E39}"/>
              </a:ext>
            </a:extLst>
          </p:cNvPr>
          <p:cNvSpPr txBox="1"/>
          <p:nvPr/>
        </p:nvSpPr>
        <p:spPr>
          <a:xfrm>
            <a:off x="5445208" y="2092323"/>
            <a:ext cx="772505" cy="400110"/>
          </a:xfrm>
          <a:prstGeom prst="rect">
            <a:avLst/>
          </a:prstGeom>
          <a:noFill/>
        </p:spPr>
        <p:txBody>
          <a:bodyPr wrap="square" rtlCol="0">
            <a:spAutoFit/>
          </a:bodyPr>
          <a:lstStyle/>
          <a:p>
            <a:pPr algn="ctr"/>
            <a:r>
              <a:rPr lang="en-US" sz="1000" dirty="0">
                <a:solidFill>
                  <a:srgbClr val="E1E1E1"/>
                </a:solidFill>
              </a:rPr>
              <a:t>Job </a:t>
            </a:r>
          </a:p>
          <a:p>
            <a:pPr algn="ctr"/>
            <a:r>
              <a:rPr lang="en-US" sz="1000" dirty="0">
                <a:solidFill>
                  <a:srgbClr val="E1E1E1"/>
                </a:solidFill>
              </a:rPr>
              <a:t>Read</a:t>
            </a:r>
          </a:p>
        </p:txBody>
      </p:sp>
      <p:sp>
        <p:nvSpPr>
          <p:cNvPr id="34" name="TextBox 33">
            <a:extLst>
              <a:ext uri="{FF2B5EF4-FFF2-40B4-BE49-F238E27FC236}">
                <a16:creationId xmlns:a16="http://schemas.microsoft.com/office/drawing/2014/main" id="{3928B935-6269-03FC-F70B-9E80031297B8}"/>
              </a:ext>
            </a:extLst>
          </p:cNvPr>
          <p:cNvSpPr txBox="1"/>
          <p:nvPr/>
        </p:nvSpPr>
        <p:spPr>
          <a:xfrm>
            <a:off x="6129630" y="2105765"/>
            <a:ext cx="1037054" cy="400110"/>
          </a:xfrm>
          <a:prstGeom prst="rect">
            <a:avLst/>
          </a:prstGeom>
          <a:noFill/>
        </p:spPr>
        <p:txBody>
          <a:bodyPr wrap="square" rtlCol="0">
            <a:spAutoFit/>
          </a:bodyPr>
          <a:lstStyle/>
          <a:p>
            <a:pPr algn="ctr"/>
            <a:r>
              <a:rPr lang="en-US" sz="1000" dirty="0">
                <a:solidFill>
                  <a:srgbClr val="E1E1E1"/>
                </a:solidFill>
              </a:rPr>
              <a:t>Job Acknowledged</a:t>
            </a:r>
          </a:p>
        </p:txBody>
      </p:sp>
      <p:pic>
        <p:nvPicPr>
          <p:cNvPr id="36" name="Graphic 35" descr="Badge Tick1 with solid fill">
            <a:extLst>
              <a:ext uri="{FF2B5EF4-FFF2-40B4-BE49-F238E27FC236}">
                <a16:creationId xmlns:a16="http://schemas.microsoft.com/office/drawing/2014/main" id="{21B50926-15EE-5804-A1D6-D274F538BDE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720452" y="2644852"/>
            <a:ext cx="222015" cy="222015"/>
          </a:xfrm>
          <a:prstGeom prst="rect">
            <a:avLst/>
          </a:prstGeom>
        </p:spPr>
      </p:pic>
      <p:pic>
        <p:nvPicPr>
          <p:cNvPr id="37" name="Graphic 36" descr="Badge Tick1 with solid fill">
            <a:extLst>
              <a:ext uri="{FF2B5EF4-FFF2-40B4-BE49-F238E27FC236}">
                <a16:creationId xmlns:a16="http://schemas.microsoft.com/office/drawing/2014/main" id="{A9A16E9F-E4CB-1001-2BA2-2B408697712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554184" y="2644851"/>
            <a:ext cx="222015" cy="222015"/>
          </a:xfrm>
          <a:prstGeom prst="rect">
            <a:avLst/>
          </a:prstGeom>
        </p:spPr>
      </p:pic>
      <p:pic>
        <p:nvPicPr>
          <p:cNvPr id="38" name="Graphic 37" descr="Badge Tick1 with solid fill">
            <a:extLst>
              <a:ext uri="{FF2B5EF4-FFF2-40B4-BE49-F238E27FC236}">
                <a16:creationId xmlns:a16="http://schemas.microsoft.com/office/drawing/2014/main" id="{5B702B3E-7D5E-C47D-F1AB-DB242F3BB21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720452" y="3530126"/>
            <a:ext cx="222015" cy="222015"/>
          </a:xfrm>
          <a:prstGeom prst="rect">
            <a:avLst/>
          </a:prstGeom>
        </p:spPr>
      </p:pic>
      <p:pic>
        <p:nvPicPr>
          <p:cNvPr id="39" name="Graphic 38" descr="Badge Tick1 with solid fill">
            <a:extLst>
              <a:ext uri="{FF2B5EF4-FFF2-40B4-BE49-F238E27FC236}">
                <a16:creationId xmlns:a16="http://schemas.microsoft.com/office/drawing/2014/main" id="{5D20DE58-7FBE-DA41-DB30-31EF48E0424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583800" y="3523140"/>
            <a:ext cx="222015" cy="222015"/>
          </a:xfrm>
          <a:prstGeom prst="rect">
            <a:avLst/>
          </a:prstGeom>
        </p:spPr>
      </p:pic>
      <p:pic>
        <p:nvPicPr>
          <p:cNvPr id="40" name="Graphic 39" descr="Badge Tick1 with solid fill">
            <a:extLst>
              <a:ext uri="{FF2B5EF4-FFF2-40B4-BE49-F238E27FC236}">
                <a16:creationId xmlns:a16="http://schemas.microsoft.com/office/drawing/2014/main" id="{7F417B6E-3CB3-D9B4-4D9F-3C92AE1E19D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720452" y="3076054"/>
            <a:ext cx="222015" cy="222015"/>
          </a:xfrm>
          <a:prstGeom prst="rect">
            <a:avLst/>
          </a:prstGeom>
        </p:spPr>
      </p:pic>
      <p:cxnSp>
        <p:nvCxnSpPr>
          <p:cNvPr id="41" name="Straight Connector 40">
            <a:extLst>
              <a:ext uri="{FF2B5EF4-FFF2-40B4-BE49-F238E27FC236}">
                <a16:creationId xmlns:a16="http://schemas.microsoft.com/office/drawing/2014/main" id="{BE671194-4562-FC3C-62D7-1FB29054EFA3}"/>
              </a:ext>
            </a:extLst>
          </p:cNvPr>
          <p:cNvCxnSpPr>
            <a:cxnSpLocks/>
          </p:cNvCxnSpPr>
          <p:nvPr/>
        </p:nvCxnSpPr>
        <p:spPr>
          <a:xfrm>
            <a:off x="11391357" y="2585825"/>
            <a:ext cx="0" cy="2327883"/>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920EEAC8-8F8C-DADB-1E72-E5C189127BF6}"/>
              </a:ext>
            </a:extLst>
          </p:cNvPr>
          <p:cNvCxnSpPr>
            <a:cxnSpLocks/>
          </p:cNvCxnSpPr>
          <p:nvPr/>
        </p:nvCxnSpPr>
        <p:spPr>
          <a:xfrm>
            <a:off x="11391357" y="2585825"/>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46565216-2FAD-2BF4-CC6C-1739B9D77EF4}"/>
              </a:ext>
            </a:extLst>
          </p:cNvPr>
          <p:cNvCxnSpPr>
            <a:cxnSpLocks/>
          </p:cNvCxnSpPr>
          <p:nvPr/>
        </p:nvCxnSpPr>
        <p:spPr>
          <a:xfrm>
            <a:off x="11391357" y="2625072"/>
            <a:ext cx="0" cy="2327883"/>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A0F41A12-E3B5-DDE7-7A93-E6B72342AA07}"/>
              </a:ext>
            </a:extLst>
          </p:cNvPr>
          <p:cNvCxnSpPr>
            <a:cxnSpLocks/>
          </p:cNvCxnSpPr>
          <p:nvPr/>
        </p:nvCxnSpPr>
        <p:spPr>
          <a:xfrm>
            <a:off x="11391357" y="2625072"/>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sp>
        <p:nvSpPr>
          <p:cNvPr id="45" name="Rectangle: Rounded Corners 44">
            <a:extLst>
              <a:ext uri="{FF2B5EF4-FFF2-40B4-BE49-F238E27FC236}">
                <a16:creationId xmlns:a16="http://schemas.microsoft.com/office/drawing/2014/main" id="{B790C839-3F8F-E58A-6664-41FFA53307BB}"/>
              </a:ext>
            </a:extLst>
          </p:cNvPr>
          <p:cNvSpPr/>
          <p:nvPr/>
        </p:nvSpPr>
        <p:spPr>
          <a:xfrm>
            <a:off x="3031449" y="5377380"/>
            <a:ext cx="5904873" cy="421811"/>
          </a:xfrm>
          <a:prstGeom prst="roundRect">
            <a:avLst>
              <a:gd name="adj" fmla="val 27474"/>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a:t>
            </a:r>
          </a:p>
        </p:txBody>
      </p:sp>
      <p:sp>
        <p:nvSpPr>
          <p:cNvPr id="46" name="Rectangle: Rounded Corners 45">
            <a:extLst>
              <a:ext uri="{FF2B5EF4-FFF2-40B4-BE49-F238E27FC236}">
                <a16:creationId xmlns:a16="http://schemas.microsoft.com/office/drawing/2014/main" id="{26F24A70-7893-FBE6-DA8D-8D8ED06040BA}"/>
              </a:ext>
            </a:extLst>
          </p:cNvPr>
          <p:cNvSpPr/>
          <p:nvPr/>
        </p:nvSpPr>
        <p:spPr>
          <a:xfrm>
            <a:off x="522553" y="5375748"/>
            <a:ext cx="1132255" cy="421811"/>
          </a:xfrm>
          <a:prstGeom prst="roundRect">
            <a:avLst>
              <a:gd name="adj" fmla="val 27474"/>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1E3147"/>
                </a:solidFill>
              </a:rPr>
              <a:t>Message Orchestrator</a:t>
            </a:r>
          </a:p>
        </p:txBody>
      </p:sp>
      <p:sp>
        <p:nvSpPr>
          <p:cNvPr id="47" name="Rectangle: Rounded Corners 46">
            <a:extLst>
              <a:ext uri="{FF2B5EF4-FFF2-40B4-BE49-F238E27FC236}">
                <a16:creationId xmlns:a16="http://schemas.microsoft.com/office/drawing/2014/main" id="{A97BB3D9-8BBD-03E0-F57C-7963BD674A9A}"/>
              </a:ext>
            </a:extLst>
          </p:cNvPr>
          <p:cNvSpPr/>
          <p:nvPr/>
        </p:nvSpPr>
        <p:spPr>
          <a:xfrm>
            <a:off x="1753756" y="5378268"/>
            <a:ext cx="1178745" cy="421811"/>
          </a:xfrm>
          <a:prstGeom prst="roundRect">
            <a:avLst>
              <a:gd name="adj" fmla="val 27474"/>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1E1E1"/>
                </a:solidFill>
              </a:rPr>
              <a:t>Broadcast</a:t>
            </a:r>
          </a:p>
        </p:txBody>
      </p:sp>
      <p:sp>
        <p:nvSpPr>
          <p:cNvPr id="50" name="Oval 49">
            <a:extLst>
              <a:ext uri="{FF2B5EF4-FFF2-40B4-BE49-F238E27FC236}">
                <a16:creationId xmlns:a16="http://schemas.microsoft.com/office/drawing/2014/main" id="{D7CF1E1A-95E8-7552-2255-CC835CE6232F}"/>
              </a:ext>
            </a:extLst>
          </p:cNvPr>
          <p:cNvSpPr/>
          <p:nvPr/>
        </p:nvSpPr>
        <p:spPr>
          <a:xfrm>
            <a:off x="8997072" y="5441706"/>
            <a:ext cx="293929" cy="306770"/>
          </a:xfrm>
          <a:prstGeom prst="ellipse">
            <a:avLst/>
          </a:prstGeom>
          <a:solidFill>
            <a:srgbClr val="FFC3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 name="Graphic 48" descr="Play with solid fill">
            <a:extLst>
              <a:ext uri="{FF2B5EF4-FFF2-40B4-BE49-F238E27FC236}">
                <a16:creationId xmlns:a16="http://schemas.microsoft.com/office/drawing/2014/main" id="{085EEA38-D2A0-2338-0BE4-312C5739CCD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073173" y="5507713"/>
            <a:ext cx="174755" cy="174755"/>
          </a:xfrm>
          <a:prstGeom prst="rect">
            <a:avLst/>
          </a:prstGeom>
        </p:spPr>
      </p:pic>
      <p:sp>
        <p:nvSpPr>
          <p:cNvPr id="53" name="TextBox 52">
            <a:extLst>
              <a:ext uri="{FF2B5EF4-FFF2-40B4-BE49-F238E27FC236}">
                <a16:creationId xmlns:a16="http://schemas.microsoft.com/office/drawing/2014/main" id="{BD413FD5-763A-16E2-5C46-02B07B13475A}"/>
              </a:ext>
            </a:extLst>
          </p:cNvPr>
          <p:cNvSpPr txBox="1"/>
          <p:nvPr/>
        </p:nvSpPr>
        <p:spPr>
          <a:xfrm>
            <a:off x="39778" y="47732"/>
            <a:ext cx="4306628" cy="369332"/>
          </a:xfrm>
          <a:prstGeom prst="rect">
            <a:avLst/>
          </a:prstGeom>
          <a:noFill/>
        </p:spPr>
        <p:txBody>
          <a:bodyPr wrap="none" rtlCol="0">
            <a:spAutoFit/>
          </a:bodyPr>
          <a:lstStyle/>
          <a:p>
            <a:r>
              <a:rPr lang="en-US" dirty="0">
                <a:solidFill>
                  <a:schemeClr val="accent5">
                    <a:lumMod val="60000"/>
                    <a:lumOff val="40000"/>
                  </a:schemeClr>
                </a:solidFill>
              </a:rPr>
              <a:t>SLIDE 3i – Implementation Tab. Elements</a:t>
            </a:r>
          </a:p>
        </p:txBody>
      </p:sp>
      <p:sp>
        <p:nvSpPr>
          <p:cNvPr id="21" name="TextBox 20">
            <a:extLst>
              <a:ext uri="{FF2B5EF4-FFF2-40B4-BE49-F238E27FC236}">
                <a16:creationId xmlns:a16="http://schemas.microsoft.com/office/drawing/2014/main" id="{F93C1F2F-17CF-7BC0-9F59-4D5E85DEA8B7}"/>
              </a:ext>
            </a:extLst>
          </p:cNvPr>
          <p:cNvSpPr txBox="1"/>
          <p:nvPr/>
        </p:nvSpPr>
        <p:spPr>
          <a:xfrm>
            <a:off x="7336140" y="417064"/>
            <a:ext cx="3901906" cy="1200329"/>
          </a:xfrm>
          <a:prstGeom prst="rect">
            <a:avLst/>
          </a:prstGeom>
          <a:noFill/>
          <a:ln>
            <a:solidFill>
              <a:schemeClr val="accent5">
                <a:lumMod val="60000"/>
                <a:lumOff val="40000"/>
              </a:schemeClr>
            </a:solidFill>
          </a:ln>
        </p:spPr>
        <p:txBody>
          <a:bodyPr wrap="square" rtlCol="0">
            <a:spAutoFit/>
          </a:bodyPr>
          <a:lstStyle/>
          <a:p>
            <a:r>
              <a:rPr lang="en-US" dirty="0">
                <a:solidFill>
                  <a:schemeClr val="accent5">
                    <a:lumMod val="60000"/>
                    <a:lumOff val="40000"/>
                  </a:schemeClr>
                </a:solidFill>
              </a:rPr>
              <a:t>View this agent's message history, including broadcast messages, sent (direct to another agent or broadcast), received, ack, </a:t>
            </a:r>
          </a:p>
        </p:txBody>
      </p:sp>
      <p:cxnSp>
        <p:nvCxnSpPr>
          <p:cNvPr id="35" name="Connector: Elbow 34">
            <a:extLst>
              <a:ext uri="{FF2B5EF4-FFF2-40B4-BE49-F238E27FC236}">
                <a16:creationId xmlns:a16="http://schemas.microsoft.com/office/drawing/2014/main" id="{41D41F72-562D-5997-9E82-1350345F3A2D}"/>
              </a:ext>
            </a:extLst>
          </p:cNvPr>
          <p:cNvCxnSpPr>
            <a:cxnSpLocks/>
          </p:cNvCxnSpPr>
          <p:nvPr/>
        </p:nvCxnSpPr>
        <p:spPr>
          <a:xfrm rot="16200000" flipH="1">
            <a:off x="9734404" y="1959573"/>
            <a:ext cx="1036125" cy="351764"/>
          </a:xfrm>
          <a:prstGeom prst="bentConnector3">
            <a:avLst>
              <a:gd name="adj1" fmla="val 50000"/>
            </a:avLst>
          </a:prstGeom>
          <a:ln>
            <a:tailEnd type="triangle"/>
          </a:ln>
        </p:spPr>
        <p:style>
          <a:lnRef idx="2">
            <a:schemeClr val="accent5"/>
          </a:lnRef>
          <a:fillRef idx="0">
            <a:schemeClr val="accent5"/>
          </a:fillRef>
          <a:effectRef idx="1">
            <a:schemeClr val="accent5"/>
          </a:effectRef>
          <a:fontRef idx="minor">
            <a:schemeClr val="tx1"/>
          </a:fontRef>
        </p:style>
      </p:cxnSp>
      <p:sp>
        <p:nvSpPr>
          <p:cNvPr id="51" name="TextBox 50">
            <a:extLst>
              <a:ext uri="{FF2B5EF4-FFF2-40B4-BE49-F238E27FC236}">
                <a16:creationId xmlns:a16="http://schemas.microsoft.com/office/drawing/2014/main" id="{005F3ED7-3F47-DB18-DF6E-6C6F7702CC50}"/>
              </a:ext>
            </a:extLst>
          </p:cNvPr>
          <p:cNvSpPr txBox="1"/>
          <p:nvPr/>
        </p:nvSpPr>
        <p:spPr>
          <a:xfrm>
            <a:off x="3735616" y="437280"/>
            <a:ext cx="3183013" cy="1200329"/>
          </a:xfrm>
          <a:prstGeom prst="rect">
            <a:avLst/>
          </a:prstGeom>
          <a:noFill/>
          <a:ln>
            <a:solidFill>
              <a:schemeClr val="accent5">
                <a:lumMod val="60000"/>
                <a:lumOff val="40000"/>
              </a:schemeClr>
            </a:solidFill>
          </a:ln>
        </p:spPr>
        <p:txBody>
          <a:bodyPr wrap="square" rtlCol="0">
            <a:spAutoFit/>
          </a:bodyPr>
          <a:lstStyle/>
          <a:p>
            <a:r>
              <a:rPr lang="en-US" dirty="0">
                <a:solidFill>
                  <a:schemeClr val="bg1"/>
                </a:solidFill>
              </a:rPr>
              <a:t>This board just shows over time what a message board could look like with the various elements</a:t>
            </a:r>
          </a:p>
        </p:txBody>
      </p:sp>
      <p:sp>
        <p:nvSpPr>
          <p:cNvPr id="86" name="TextBox 85">
            <a:extLst>
              <a:ext uri="{FF2B5EF4-FFF2-40B4-BE49-F238E27FC236}">
                <a16:creationId xmlns:a16="http://schemas.microsoft.com/office/drawing/2014/main" id="{4A319B67-7E69-D777-9155-5C2A8D33410F}"/>
              </a:ext>
            </a:extLst>
          </p:cNvPr>
          <p:cNvSpPr txBox="1"/>
          <p:nvPr/>
        </p:nvSpPr>
        <p:spPr>
          <a:xfrm>
            <a:off x="4356" y="6139893"/>
            <a:ext cx="2541815" cy="646331"/>
          </a:xfrm>
          <a:prstGeom prst="rect">
            <a:avLst/>
          </a:prstGeom>
          <a:solidFill>
            <a:srgbClr val="FF0000"/>
          </a:solidFill>
          <a:ln>
            <a:solidFill>
              <a:schemeClr val="accent5">
                <a:lumMod val="60000"/>
                <a:lumOff val="40000"/>
              </a:schemeClr>
            </a:solidFill>
          </a:ln>
        </p:spPr>
        <p:txBody>
          <a:bodyPr wrap="square" rtlCol="0">
            <a:spAutoFit/>
          </a:bodyPr>
          <a:lstStyle/>
          <a:p>
            <a:r>
              <a:rPr lang="en-US" dirty="0">
                <a:solidFill>
                  <a:schemeClr val="bg1"/>
                </a:solidFill>
              </a:rPr>
              <a:t>CLAUDE CODE CLI MODE</a:t>
            </a:r>
          </a:p>
        </p:txBody>
      </p:sp>
      <p:pic>
        <p:nvPicPr>
          <p:cNvPr id="123" name="Graphic 122" descr="Repeat outline">
            <a:extLst>
              <a:ext uri="{FF2B5EF4-FFF2-40B4-BE49-F238E27FC236}">
                <a16:creationId xmlns:a16="http://schemas.microsoft.com/office/drawing/2014/main" id="{BEFDEC81-D20A-B17A-A3BE-3EF36D84EE5E}"/>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946626" y="2668570"/>
            <a:ext cx="261611" cy="261611"/>
          </a:xfrm>
          <a:prstGeom prst="rect">
            <a:avLst/>
          </a:prstGeom>
        </p:spPr>
      </p:pic>
      <p:pic>
        <p:nvPicPr>
          <p:cNvPr id="124" name="Graphic 123" descr="Play with solid fill">
            <a:extLst>
              <a:ext uri="{FF2B5EF4-FFF2-40B4-BE49-F238E27FC236}">
                <a16:creationId xmlns:a16="http://schemas.microsoft.com/office/drawing/2014/main" id="{4475B2A7-C164-E47E-96DB-A2699DFD9AB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987387" y="3122345"/>
            <a:ext cx="193474" cy="193474"/>
          </a:xfrm>
          <a:prstGeom prst="rect">
            <a:avLst/>
          </a:prstGeom>
        </p:spPr>
      </p:pic>
      <p:sp>
        <p:nvSpPr>
          <p:cNvPr id="125" name="TextBox 124">
            <a:extLst>
              <a:ext uri="{FF2B5EF4-FFF2-40B4-BE49-F238E27FC236}">
                <a16:creationId xmlns:a16="http://schemas.microsoft.com/office/drawing/2014/main" id="{BE2763E6-E1B8-9E5C-E88B-DA75B8489638}"/>
              </a:ext>
            </a:extLst>
          </p:cNvPr>
          <p:cNvSpPr txBox="1"/>
          <p:nvPr/>
        </p:nvSpPr>
        <p:spPr>
          <a:xfrm>
            <a:off x="7282334" y="2637658"/>
            <a:ext cx="260008" cy="261610"/>
          </a:xfrm>
          <a:prstGeom prst="rect">
            <a:avLst/>
          </a:prstGeom>
          <a:noFill/>
        </p:spPr>
        <p:txBody>
          <a:bodyPr wrap="square" rtlCol="0">
            <a:spAutoFit/>
          </a:bodyPr>
          <a:lstStyle/>
          <a:p>
            <a:r>
              <a:rPr lang="en-US" sz="1100" dirty="0">
                <a:solidFill>
                  <a:srgbClr val="E1E1E1"/>
                </a:solidFill>
              </a:rPr>
              <a:t>7</a:t>
            </a:r>
          </a:p>
        </p:txBody>
      </p:sp>
      <p:sp>
        <p:nvSpPr>
          <p:cNvPr id="126" name="TextBox 125">
            <a:extLst>
              <a:ext uri="{FF2B5EF4-FFF2-40B4-BE49-F238E27FC236}">
                <a16:creationId xmlns:a16="http://schemas.microsoft.com/office/drawing/2014/main" id="{FB2B83D0-9A87-2EEB-9C11-95FFC03AAFE1}"/>
              </a:ext>
            </a:extLst>
          </p:cNvPr>
          <p:cNvSpPr txBox="1"/>
          <p:nvPr/>
        </p:nvSpPr>
        <p:spPr>
          <a:xfrm>
            <a:off x="8155156" y="3033932"/>
            <a:ext cx="260008" cy="261610"/>
          </a:xfrm>
          <a:prstGeom prst="rect">
            <a:avLst/>
          </a:prstGeom>
          <a:noFill/>
        </p:spPr>
        <p:txBody>
          <a:bodyPr wrap="square" rtlCol="0">
            <a:spAutoFit/>
          </a:bodyPr>
          <a:lstStyle/>
          <a:p>
            <a:r>
              <a:rPr lang="en-US" sz="1100" dirty="0">
                <a:solidFill>
                  <a:srgbClr val="E1E1E1"/>
                </a:solidFill>
              </a:rPr>
              <a:t>1</a:t>
            </a:r>
          </a:p>
        </p:txBody>
      </p:sp>
      <p:sp>
        <p:nvSpPr>
          <p:cNvPr id="127" name="TextBox 126">
            <a:extLst>
              <a:ext uri="{FF2B5EF4-FFF2-40B4-BE49-F238E27FC236}">
                <a16:creationId xmlns:a16="http://schemas.microsoft.com/office/drawing/2014/main" id="{45F3E84E-C87C-568A-BCA3-362436D78CAE}"/>
              </a:ext>
            </a:extLst>
          </p:cNvPr>
          <p:cNvSpPr txBox="1"/>
          <p:nvPr/>
        </p:nvSpPr>
        <p:spPr>
          <a:xfrm>
            <a:off x="8155156" y="3980155"/>
            <a:ext cx="260008" cy="261610"/>
          </a:xfrm>
          <a:prstGeom prst="rect">
            <a:avLst/>
          </a:prstGeom>
          <a:noFill/>
        </p:spPr>
        <p:txBody>
          <a:bodyPr wrap="square" rtlCol="0">
            <a:spAutoFit/>
          </a:bodyPr>
          <a:lstStyle/>
          <a:p>
            <a:r>
              <a:rPr lang="en-US" sz="1100" dirty="0">
                <a:solidFill>
                  <a:srgbClr val="E1E1E1"/>
                </a:solidFill>
              </a:rPr>
              <a:t>1</a:t>
            </a:r>
          </a:p>
        </p:txBody>
      </p:sp>
      <p:sp>
        <p:nvSpPr>
          <p:cNvPr id="128" name="TextBox 127">
            <a:extLst>
              <a:ext uri="{FF2B5EF4-FFF2-40B4-BE49-F238E27FC236}">
                <a16:creationId xmlns:a16="http://schemas.microsoft.com/office/drawing/2014/main" id="{74CE5735-5EAF-EC06-CFB1-90247C5C9485}"/>
              </a:ext>
            </a:extLst>
          </p:cNvPr>
          <p:cNvSpPr txBox="1"/>
          <p:nvPr/>
        </p:nvSpPr>
        <p:spPr>
          <a:xfrm>
            <a:off x="8155156" y="3496213"/>
            <a:ext cx="260008" cy="261610"/>
          </a:xfrm>
          <a:prstGeom prst="rect">
            <a:avLst/>
          </a:prstGeom>
          <a:noFill/>
        </p:spPr>
        <p:txBody>
          <a:bodyPr wrap="square" rtlCol="0">
            <a:spAutoFit/>
          </a:bodyPr>
          <a:lstStyle/>
          <a:p>
            <a:r>
              <a:rPr lang="en-US" sz="1100" dirty="0">
                <a:solidFill>
                  <a:srgbClr val="E1E1E1"/>
                </a:solidFill>
              </a:rPr>
              <a:t>1</a:t>
            </a:r>
          </a:p>
        </p:txBody>
      </p:sp>
      <p:sp>
        <p:nvSpPr>
          <p:cNvPr id="129" name="TextBox 128">
            <a:extLst>
              <a:ext uri="{FF2B5EF4-FFF2-40B4-BE49-F238E27FC236}">
                <a16:creationId xmlns:a16="http://schemas.microsoft.com/office/drawing/2014/main" id="{47A4365E-D9D5-A322-7242-B15045F9A473}"/>
              </a:ext>
            </a:extLst>
          </p:cNvPr>
          <p:cNvSpPr txBox="1"/>
          <p:nvPr/>
        </p:nvSpPr>
        <p:spPr>
          <a:xfrm>
            <a:off x="9159175" y="2588302"/>
            <a:ext cx="260008" cy="261610"/>
          </a:xfrm>
          <a:prstGeom prst="rect">
            <a:avLst/>
          </a:prstGeom>
          <a:noFill/>
        </p:spPr>
        <p:txBody>
          <a:bodyPr wrap="square" rtlCol="0">
            <a:spAutoFit/>
          </a:bodyPr>
          <a:lstStyle/>
          <a:p>
            <a:r>
              <a:rPr lang="en-US" sz="1100" dirty="0">
                <a:solidFill>
                  <a:srgbClr val="E1E1E1"/>
                </a:solidFill>
              </a:rPr>
              <a:t>1</a:t>
            </a:r>
          </a:p>
        </p:txBody>
      </p:sp>
      <p:sp>
        <p:nvSpPr>
          <p:cNvPr id="130" name="TextBox 129">
            <a:extLst>
              <a:ext uri="{FF2B5EF4-FFF2-40B4-BE49-F238E27FC236}">
                <a16:creationId xmlns:a16="http://schemas.microsoft.com/office/drawing/2014/main" id="{B9A70EE9-0ABF-2A68-5CE3-79B5CD501E54}"/>
              </a:ext>
            </a:extLst>
          </p:cNvPr>
          <p:cNvSpPr txBox="1"/>
          <p:nvPr/>
        </p:nvSpPr>
        <p:spPr>
          <a:xfrm>
            <a:off x="9143479" y="3056617"/>
            <a:ext cx="260008" cy="261610"/>
          </a:xfrm>
          <a:prstGeom prst="rect">
            <a:avLst/>
          </a:prstGeom>
          <a:noFill/>
        </p:spPr>
        <p:txBody>
          <a:bodyPr wrap="square" rtlCol="0">
            <a:spAutoFit/>
          </a:bodyPr>
          <a:lstStyle/>
          <a:p>
            <a:r>
              <a:rPr lang="en-US" sz="1100" dirty="0">
                <a:solidFill>
                  <a:srgbClr val="E1E1E1"/>
                </a:solidFill>
              </a:rPr>
              <a:t>1</a:t>
            </a:r>
          </a:p>
        </p:txBody>
      </p:sp>
      <p:sp>
        <p:nvSpPr>
          <p:cNvPr id="131" name="TextBox 130">
            <a:extLst>
              <a:ext uri="{FF2B5EF4-FFF2-40B4-BE49-F238E27FC236}">
                <a16:creationId xmlns:a16="http://schemas.microsoft.com/office/drawing/2014/main" id="{A64E9838-2BC4-A6CA-67FB-35CF8201ED1B}"/>
              </a:ext>
            </a:extLst>
          </p:cNvPr>
          <p:cNvSpPr txBox="1"/>
          <p:nvPr/>
        </p:nvSpPr>
        <p:spPr>
          <a:xfrm>
            <a:off x="9168540" y="3530126"/>
            <a:ext cx="260008" cy="261610"/>
          </a:xfrm>
          <a:prstGeom prst="rect">
            <a:avLst/>
          </a:prstGeom>
          <a:noFill/>
        </p:spPr>
        <p:txBody>
          <a:bodyPr wrap="square" rtlCol="0">
            <a:spAutoFit/>
          </a:bodyPr>
          <a:lstStyle/>
          <a:p>
            <a:r>
              <a:rPr lang="en-US" sz="1100" dirty="0">
                <a:solidFill>
                  <a:srgbClr val="E1E1E1"/>
                </a:solidFill>
              </a:rPr>
              <a:t>1</a:t>
            </a:r>
          </a:p>
        </p:txBody>
      </p:sp>
      <p:sp>
        <p:nvSpPr>
          <p:cNvPr id="132" name="TextBox 131">
            <a:extLst>
              <a:ext uri="{FF2B5EF4-FFF2-40B4-BE49-F238E27FC236}">
                <a16:creationId xmlns:a16="http://schemas.microsoft.com/office/drawing/2014/main" id="{BE36358B-A47C-8EEE-828F-7F11EA4B2A0C}"/>
              </a:ext>
            </a:extLst>
          </p:cNvPr>
          <p:cNvSpPr txBox="1"/>
          <p:nvPr/>
        </p:nvSpPr>
        <p:spPr>
          <a:xfrm>
            <a:off x="9159175" y="3980155"/>
            <a:ext cx="260008" cy="261610"/>
          </a:xfrm>
          <a:prstGeom prst="rect">
            <a:avLst/>
          </a:prstGeom>
          <a:noFill/>
        </p:spPr>
        <p:txBody>
          <a:bodyPr wrap="square" rtlCol="0">
            <a:spAutoFit/>
          </a:bodyPr>
          <a:lstStyle/>
          <a:p>
            <a:r>
              <a:rPr lang="en-US" sz="1100" dirty="0">
                <a:solidFill>
                  <a:srgbClr val="E1E1E1"/>
                </a:solidFill>
              </a:rPr>
              <a:t>1</a:t>
            </a:r>
          </a:p>
        </p:txBody>
      </p:sp>
    </p:spTree>
    <p:extLst>
      <p:ext uri="{BB962C8B-B14F-4D97-AF65-F5344CB8AC3E}">
        <p14:creationId xmlns:p14="http://schemas.microsoft.com/office/powerpoint/2010/main" val="18915668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F77D7-A1B3-D719-2E16-3F5EA1E8282E}"/>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D95E61CC-63F4-EA0D-F823-40F3EAA4A1A7}"/>
              </a:ext>
            </a:extLst>
          </p:cNvPr>
          <p:cNvSpPr/>
          <p:nvPr/>
        </p:nvSpPr>
        <p:spPr>
          <a:xfrm>
            <a:off x="503403" y="1334840"/>
            <a:ext cx="2218513" cy="1071163"/>
          </a:xfrm>
          <a:prstGeom prst="roundRect">
            <a:avLst>
              <a:gd name="adj" fmla="val 15806"/>
            </a:avLst>
          </a:prstGeom>
          <a:no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626B9F5-196E-5C38-512E-B8CD94D0A26A}"/>
              </a:ext>
            </a:extLst>
          </p:cNvPr>
          <p:cNvSpPr txBox="1"/>
          <p:nvPr/>
        </p:nvSpPr>
        <p:spPr>
          <a:xfrm>
            <a:off x="516531" y="677075"/>
            <a:ext cx="2514919" cy="553998"/>
          </a:xfrm>
          <a:prstGeom prst="rect">
            <a:avLst/>
          </a:prstGeom>
          <a:noFill/>
        </p:spPr>
        <p:txBody>
          <a:bodyPr wrap="none" rtlCol="0">
            <a:spAutoFit/>
          </a:bodyPr>
          <a:lstStyle/>
          <a:p>
            <a:r>
              <a:rPr lang="en-US" dirty="0">
                <a:solidFill>
                  <a:srgbClr val="E1E1E1"/>
                </a:solidFill>
              </a:rPr>
              <a:t>Project: </a:t>
            </a:r>
            <a:r>
              <a:rPr lang="en-US" dirty="0">
                <a:solidFill>
                  <a:srgbClr val="FFC300"/>
                </a:solidFill>
              </a:rPr>
              <a:t>{</a:t>
            </a:r>
            <a:r>
              <a:rPr lang="en-US" dirty="0" err="1">
                <a:solidFill>
                  <a:srgbClr val="FFC300"/>
                </a:solidFill>
              </a:rPr>
              <a:t>project_name</a:t>
            </a:r>
            <a:r>
              <a:rPr lang="en-US" dirty="0">
                <a:solidFill>
                  <a:srgbClr val="FFC300"/>
                </a:solidFill>
              </a:rPr>
              <a:t>}</a:t>
            </a:r>
          </a:p>
          <a:p>
            <a:r>
              <a:rPr lang="en-US" sz="1200" dirty="0">
                <a:solidFill>
                  <a:srgbClr val="8F97B7"/>
                </a:solidFill>
              </a:rPr>
              <a:t>Project ID: {</a:t>
            </a:r>
            <a:r>
              <a:rPr lang="en-US" sz="1200" dirty="0" err="1">
                <a:solidFill>
                  <a:srgbClr val="8F97B7"/>
                </a:solidFill>
              </a:rPr>
              <a:t>full_UUID</a:t>
            </a:r>
            <a:r>
              <a:rPr lang="en-US" sz="1200" dirty="0">
                <a:solidFill>
                  <a:srgbClr val="8F97B7"/>
                </a:solidFill>
              </a:rPr>
              <a:t>}</a:t>
            </a:r>
          </a:p>
        </p:txBody>
      </p:sp>
      <p:sp>
        <p:nvSpPr>
          <p:cNvPr id="3" name="Rectangle: Rounded Corners 2">
            <a:extLst>
              <a:ext uri="{FF2B5EF4-FFF2-40B4-BE49-F238E27FC236}">
                <a16:creationId xmlns:a16="http://schemas.microsoft.com/office/drawing/2014/main" id="{B2AF09BD-9C82-8010-C6F0-DA2B07342C09}"/>
              </a:ext>
            </a:extLst>
          </p:cNvPr>
          <p:cNvSpPr/>
          <p:nvPr/>
        </p:nvSpPr>
        <p:spPr>
          <a:xfrm>
            <a:off x="1643382" y="1342292"/>
            <a:ext cx="1805578" cy="969932"/>
          </a:xfrm>
          <a:prstGeom prst="roundRect">
            <a:avLst>
              <a:gd name="adj" fmla="val 17766"/>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50AEB47-669D-FC1E-8977-E523644957B7}"/>
              </a:ext>
            </a:extLst>
          </p:cNvPr>
          <p:cNvSpPr txBox="1"/>
          <p:nvPr/>
        </p:nvSpPr>
        <p:spPr>
          <a:xfrm>
            <a:off x="682981" y="1327205"/>
            <a:ext cx="929678" cy="369332"/>
          </a:xfrm>
          <a:prstGeom prst="rect">
            <a:avLst/>
          </a:prstGeom>
          <a:noFill/>
        </p:spPr>
        <p:txBody>
          <a:bodyPr wrap="none" rtlCol="0">
            <a:spAutoFit/>
          </a:bodyPr>
          <a:lstStyle/>
          <a:p>
            <a:r>
              <a:rPr lang="en-US" dirty="0">
                <a:solidFill>
                  <a:srgbClr val="1E3147"/>
                </a:solidFill>
              </a:rPr>
              <a:t>Launch</a:t>
            </a:r>
          </a:p>
        </p:txBody>
      </p:sp>
      <p:sp>
        <p:nvSpPr>
          <p:cNvPr id="6" name="Rectangle: Rounded Corners 5">
            <a:extLst>
              <a:ext uri="{FF2B5EF4-FFF2-40B4-BE49-F238E27FC236}">
                <a16:creationId xmlns:a16="http://schemas.microsoft.com/office/drawing/2014/main" id="{AA02652A-667B-6785-2E53-6C8DED82E3AC}"/>
              </a:ext>
            </a:extLst>
          </p:cNvPr>
          <p:cNvSpPr/>
          <p:nvPr/>
        </p:nvSpPr>
        <p:spPr>
          <a:xfrm>
            <a:off x="503403" y="1668256"/>
            <a:ext cx="11185191" cy="3476117"/>
          </a:xfrm>
          <a:prstGeom prst="roundRect">
            <a:avLst>
              <a:gd name="adj" fmla="val 5962"/>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440DF4A9-6EB8-50FE-C17D-6B0E27EE352A}"/>
              </a:ext>
            </a:extLst>
          </p:cNvPr>
          <p:cNvSpPr/>
          <p:nvPr/>
        </p:nvSpPr>
        <p:spPr>
          <a:xfrm>
            <a:off x="1654808" y="1622562"/>
            <a:ext cx="1787171" cy="287650"/>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33E24DA5-67B6-6FEF-5EF8-B317721EEA9E}"/>
              </a:ext>
            </a:extLst>
          </p:cNvPr>
          <p:cNvSpPr/>
          <p:nvPr/>
        </p:nvSpPr>
        <p:spPr>
          <a:xfrm>
            <a:off x="758606" y="2617315"/>
            <a:ext cx="293929" cy="306770"/>
          </a:xfrm>
          <a:prstGeom prst="ellipse">
            <a:avLst/>
          </a:prstGeom>
          <a:solidFill>
            <a:srgbClr val="A9866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24177753-D03A-AD69-D848-40CEEA3E07CB}"/>
              </a:ext>
            </a:extLst>
          </p:cNvPr>
          <p:cNvSpPr txBox="1"/>
          <p:nvPr/>
        </p:nvSpPr>
        <p:spPr>
          <a:xfrm>
            <a:off x="1899316" y="1330953"/>
            <a:ext cx="1444177" cy="369332"/>
          </a:xfrm>
          <a:prstGeom prst="rect">
            <a:avLst/>
          </a:prstGeom>
          <a:noFill/>
        </p:spPr>
        <p:txBody>
          <a:bodyPr wrap="square" rtlCol="0">
            <a:spAutoFit/>
          </a:bodyPr>
          <a:lstStyle/>
          <a:p>
            <a:r>
              <a:rPr lang="en-US" dirty="0">
                <a:solidFill>
                  <a:srgbClr val="8F97B7"/>
                </a:solidFill>
              </a:rPr>
              <a:t>Implement</a:t>
            </a:r>
          </a:p>
        </p:txBody>
      </p:sp>
      <p:sp>
        <p:nvSpPr>
          <p:cNvPr id="24" name="TextBox 23">
            <a:extLst>
              <a:ext uri="{FF2B5EF4-FFF2-40B4-BE49-F238E27FC236}">
                <a16:creationId xmlns:a16="http://schemas.microsoft.com/office/drawing/2014/main" id="{AA662C37-EC88-39F6-046F-CEBCE7FAC256}"/>
              </a:ext>
            </a:extLst>
          </p:cNvPr>
          <p:cNvSpPr txBox="1"/>
          <p:nvPr/>
        </p:nvSpPr>
        <p:spPr>
          <a:xfrm>
            <a:off x="738137" y="2624295"/>
            <a:ext cx="460382" cy="282316"/>
          </a:xfrm>
          <a:prstGeom prst="rect">
            <a:avLst/>
          </a:prstGeom>
          <a:noFill/>
        </p:spPr>
        <p:txBody>
          <a:bodyPr wrap="square" rtlCol="0">
            <a:spAutoFit/>
          </a:bodyPr>
          <a:lstStyle/>
          <a:p>
            <a:r>
              <a:rPr lang="en-US" sz="1200" b="1" dirty="0">
                <a:solidFill>
                  <a:srgbClr val="0E1C2D"/>
                </a:solidFill>
              </a:rPr>
              <a:t>Or</a:t>
            </a:r>
          </a:p>
        </p:txBody>
      </p:sp>
      <p:sp>
        <p:nvSpPr>
          <p:cNvPr id="27" name="TextBox 26">
            <a:extLst>
              <a:ext uri="{FF2B5EF4-FFF2-40B4-BE49-F238E27FC236}">
                <a16:creationId xmlns:a16="http://schemas.microsoft.com/office/drawing/2014/main" id="{D485B6E2-02DB-133B-3900-F94110775756}"/>
              </a:ext>
            </a:extLst>
          </p:cNvPr>
          <p:cNvSpPr txBox="1"/>
          <p:nvPr/>
        </p:nvSpPr>
        <p:spPr>
          <a:xfrm>
            <a:off x="1184559" y="2638386"/>
            <a:ext cx="965329" cy="261610"/>
          </a:xfrm>
          <a:prstGeom prst="rect">
            <a:avLst/>
          </a:prstGeom>
          <a:noFill/>
        </p:spPr>
        <p:txBody>
          <a:bodyPr wrap="none" rtlCol="0">
            <a:spAutoFit/>
          </a:bodyPr>
          <a:lstStyle/>
          <a:p>
            <a:r>
              <a:rPr lang="en-US" sz="1100" dirty="0">
                <a:solidFill>
                  <a:srgbClr val="E1E1E1"/>
                </a:solidFill>
              </a:rPr>
              <a:t>Orchestrator</a:t>
            </a:r>
          </a:p>
        </p:txBody>
      </p:sp>
      <p:pic>
        <p:nvPicPr>
          <p:cNvPr id="29" name="Graphic 28" descr="Information with solid fill">
            <a:extLst>
              <a:ext uri="{FF2B5EF4-FFF2-40B4-BE49-F238E27FC236}">
                <a16:creationId xmlns:a16="http://schemas.microsoft.com/office/drawing/2014/main" id="{DE7D98B2-BDA8-2C97-54D4-5E8D418155E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3975" y="2661152"/>
            <a:ext cx="193473" cy="193473"/>
          </a:xfrm>
          <a:prstGeom prst="rect">
            <a:avLst/>
          </a:prstGeom>
        </p:spPr>
      </p:pic>
      <p:sp>
        <p:nvSpPr>
          <p:cNvPr id="16" name="TextBox 15">
            <a:extLst>
              <a:ext uri="{FF2B5EF4-FFF2-40B4-BE49-F238E27FC236}">
                <a16:creationId xmlns:a16="http://schemas.microsoft.com/office/drawing/2014/main" id="{BFE2C1E9-5231-649A-1ED1-EBB0312B4885}"/>
              </a:ext>
            </a:extLst>
          </p:cNvPr>
          <p:cNvSpPr txBox="1"/>
          <p:nvPr/>
        </p:nvSpPr>
        <p:spPr>
          <a:xfrm>
            <a:off x="1226477" y="3087372"/>
            <a:ext cx="705642" cy="261610"/>
          </a:xfrm>
          <a:prstGeom prst="rect">
            <a:avLst/>
          </a:prstGeom>
          <a:noFill/>
        </p:spPr>
        <p:txBody>
          <a:bodyPr wrap="none" rtlCol="0">
            <a:spAutoFit/>
          </a:bodyPr>
          <a:lstStyle>
            <a:defPPr>
              <a:defRPr lang="en-US"/>
            </a:defPPr>
            <a:lvl1pPr>
              <a:defRPr sz="1100">
                <a:solidFill>
                  <a:srgbClr val="E1E1E1"/>
                </a:solidFill>
              </a:defRPr>
            </a:lvl1pPr>
          </a:lstStyle>
          <a:p>
            <a:r>
              <a:rPr lang="en-US" dirty="0"/>
              <a:t>Analyzer</a:t>
            </a:r>
          </a:p>
        </p:txBody>
      </p:sp>
      <p:cxnSp>
        <p:nvCxnSpPr>
          <p:cNvPr id="75" name="Straight Connector 74">
            <a:extLst>
              <a:ext uri="{FF2B5EF4-FFF2-40B4-BE49-F238E27FC236}">
                <a16:creationId xmlns:a16="http://schemas.microsoft.com/office/drawing/2014/main" id="{01D075BE-0F08-2650-BAE7-0679DBDD50CE}"/>
              </a:ext>
            </a:extLst>
          </p:cNvPr>
          <p:cNvCxnSpPr>
            <a:cxnSpLocks/>
          </p:cNvCxnSpPr>
          <p:nvPr/>
        </p:nvCxnSpPr>
        <p:spPr>
          <a:xfrm>
            <a:off x="652293" y="2505875"/>
            <a:ext cx="10203544" cy="6404"/>
          </a:xfrm>
          <a:prstGeom prst="line">
            <a:avLst/>
          </a:prstGeom>
          <a:ln>
            <a:solidFill>
              <a:srgbClr val="1E3147"/>
            </a:solidFill>
          </a:ln>
        </p:spPr>
        <p:style>
          <a:lnRef idx="2">
            <a:schemeClr val="accent1"/>
          </a:lnRef>
          <a:fillRef idx="0">
            <a:schemeClr val="accent1"/>
          </a:fillRef>
          <a:effectRef idx="1">
            <a:schemeClr val="accent1"/>
          </a:effectRef>
          <a:fontRef idx="minor">
            <a:schemeClr val="tx1"/>
          </a:fontRef>
        </p:style>
      </p:cxnSp>
      <p:sp>
        <p:nvSpPr>
          <p:cNvPr id="77" name="TextBox 76">
            <a:extLst>
              <a:ext uri="{FF2B5EF4-FFF2-40B4-BE49-F238E27FC236}">
                <a16:creationId xmlns:a16="http://schemas.microsoft.com/office/drawing/2014/main" id="{F0A99D89-AB5D-47D2-68B1-F7150346C7AF}"/>
              </a:ext>
            </a:extLst>
          </p:cNvPr>
          <p:cNvSpPr txBox="1"/>
          <p:nvPr/>
        </p:nvSpPr>
        <p:spPr>
          <a:xfrm>
            <a:off x="1274326" y="2217384"/>
            <a:ext cx="785793" cy="246221"/>
          </a:xfrm>
          <a:prstGeom prst="rect">
            <a:avLst/>
          </a:prstGeom>
          <a:noFill/>
        </p:spPr>
        <p:txBody>
          <a:bodyPr wrap="none" rtlCol="0">
            <a:spAutoFit/>
          </a:bodyPr>
          <a:lstStyle/>
          <a:p>
            <a:pPr algn="ctr"/>
            <a:r>
              <a:rPr lang="en-US" sz="1000" dirty="0">
                <a:solidFill>
                  <a:srgbClr val="E1E1E1"/>
                </a:solidFill>
              </a:rPr>
              <a:t>Agent Type</a:t>
            </a:r>
          </a:p>
        </p:txBody>
      </p:sp>
      <p:sp>
        <p:nvSpPr>
          <p:cNvPr id="78" name="TextBox 77">
            <a:extLst>
              <a:ext uri="{FF2B5EF4-FFF2-40B4-BE49-F238E27FC236}">
                <a16:creationId xmlns:a16="http://schemas.microsoft.com/office/drawing/2014/main" id="{A5FE3F94-72BA-63EF-7009-869F20AFC78D}"/>
              </a:ext>
            </a:extLst>
          </p:cNvPr>
          <p:cNvSpPr txBox="1"/>
          <p:nvPr/>
        </p:nvSpPr>
        <p:spPr>
          <a:xfrm>
            <a:off x="662149" y="1838089"/>
            <a:ext cx="1202573" cy="246221"/>
          </a:xfrm>
          <a:prstGeom prst="rect">
            <a:avLst/>
          </a:prstGeom>
          <a:noFill/>
        </p:spPr>
        <p:txBody>
          <a:bodyPr wrap="none" rtlCol="0">
            <a:spAutoFit/>
          </a:bodyPr>
          <a:lstStyle/>
          <a:p>
            <a:r>
              <a:rPr lang="en-US" sz="1000" dirty="0">
                <a:solidFill>
                  <a:srgbClr val="E1E1E1"/>
                </a:solidFill>
              </a:rPr>
              <a:t>Claude Subagents</a:t>
            </a:r>
          </a:p>
        </p:txBody>
      </p:sp>
      <p:sp>
        <p:nvSpPr>
          <p:cNvPr id="80" name="Rectangle: Rounded Corners 79">
            <a:extLst>
              <a:ext uri="{FF2B5EF4-FFF2-40B4-BE49-F238E27FC236}">
                <a16:creationId xmlns:a16="http://schemas.microsoft.com/office/drawing/2014/main" id="{49F1ED4E-1A31-2F8E-EAE9-28BE7995F6FE}"/>
              </a:ext>
            </a:extLst>
          </p:cNvPr>
          <p:cNvSpPr/>
          <p:nvPr/>
        </p:nvSpPr>
        <p:spPr>
          <a:xfrm>
            <a:off x="1813390" y="1884175"/>
            <a:ext cx="336498" cy="182696"/>
          </a:xfrm>
          <a:prstGeom prst="roundRect">
            <a:avLst>
              <a:gd name="adj" fmla="val 50000"/>
            </a:avLst>
          </a:prstGeom>
          <a:solidFill>
            <a:srgbClr val="0E1C2D"/>
          </a:solid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a:extLst>
              <a:ext uri="{FF2B5EF4-FFF2-40B4-BE49-F238E27FC236}">
                <a16:creationId xmlns:a16="http://schemas.microsoft.com/office/drawing/2014/main" id="{E4F704B6-FC93-5FE4-1FA0-3044673C20D0}"/>
              </a:ext>
            </a:extLst>
          </p:cNvPr>
          <p:cNvSpPr/>
          <p:nvPr/>
        </p:nvSpPr>
        <p:spPr>
          <a:xfrm>
            <a:off x="758606" y="3066408"/>
            <a:ext cx="293929" cy="306770"/>
          </a:xfrm>
          <a:prstGeom prst="ellipse">
            <a:avLst/>
          </a:prstGeom>
          <a:solidFill>
            <a:srgbClr val="A32A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082A6858-AD01-2190-FB12-1B875A0B9BE4}"/>
              </a:ext>
            </a:extLst>
          </p:cNvPr>
          <p:cNvSpPr/>
          <p:nvPr/>
        </p:nvSpPr>
        <p:spPr>
          <a:xfrm>
            <a:off x="758606" y="3513494"/>
            <a:ext cx="293929" cy="306770"/>
          </a:xfrm>
          <a:prstGeom prst="ellipse">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2BBC3094-5AB3-06F7-8DC5-07422334F37C}"/>
              </a:ext>
            </a:extLst>
          </p:cNvPr>
          <p:cNvSpPr/>
          <p:nvPr/>
        </p:nvSpPr>
        <p:spPr>
          <a:xfrm>
            <a:off x="758606" y="3970226"/>
            <a:ext cx="293929" cy="306770"/>
          </a:xfrm>
          <a:prstGeom prst="ellipse">
            <a:avLst/>
          </a:prstGeom>
          <a:solidFill>
            <a:srgbClr val="FFC3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TextBox 88">
            <a:extLst>
              <a:ext uri="{FF2B5EF4-FFF2-40B4-BE49-F238E27FC236}">
                <a16:creationId xmlns:a16="http://schemas.microsoft.com/office/drawing/2014/main" id="{1141AA89-9BB8-88CC-88A5-DBEBD6AE8824}"/>
              </a:ext>
            </a:extLst>
          </p:cNvPr>
          <p:cNvSpPr txBox="1"/>
          <p:nvPr/>
        </p:nvSpPr>
        <p:spPr>
          <a:xfrm>
            <a:off x="1226477" y="3532367"/>
            <a:ext cx="970137" cy="261610"/>
          </a:xfrm>
          <a:prstGeom prst="rect">
            <a:avLst/>
          </a:prstGeom>
          <a:noFill/>
        </p:spPr>
        <p:txBody>
          <a:bodyPr wrap="none" rtlCol="0">
            <a:spAutoFit/>
          </a:bodyPr>
          <a:lstStyle>
            <a:defPPr>
              <a:defRPr lang="en-US"/>
            </a:defPPr>
            <a:lvl1pPr>
              <a:defRPr sz="1100">
                <a:solidFill>
                  <a:srgbClr val="E1E1E1"/>
                </a:solidFill>
              </a:defRPr>
            </a:lvl1pPr>
          </a:lstStyle>
          <a:p>
            <a:r>
              <a:rPr lang="en-US" dirty="0"/>
              <a:t>Implementor</a:t>
            </a:r>
          </a:p>
        </p:txBody>
      </p:sp>
      <p:sp>
        <p:nvSpPr>
          <p:cNvPr id="90" name="TextBox 89">
            <a:extLst>
              <a:ext uri="{FF2B5EF4-FFF2-40B4-BE49-F238E27FC236}">
                <a16:creationId xmlns:a16="http://schemas.microsoft.com/office/drawing/2014/main" id="{1E25C016-6890-5EB3-F1B6-763FE961B5ED}"/>
              </a:ext>
            </a:extLst>
          </p:cNvPr>
          <p:cNvSpPr txBox="1"/>
          <p:nvPr/>
        </p:nvSpPr>
        <p:spPr>
          <a:xfrm>
            <a:off x="1245503" y="3998201"/>
            <a:ext cx="559769" cy="261610"/>
          </a:xfrm>
          <a:prstGeom prst="rect">
            <a:avLst/>
          </a:prstGeom>
          <a:noFill/>
        </p:spPr>
        <p:txBody>
          <a:bodyPr wrap="none" rtlCol="0">
            <a:spAutoFit/>
          </a:bodyPr>
          <a:lstStyle>
            <a:defPPr>
              <a:defRPr lang="en-US"/>
            </a:defPPr>
            <a:lvl1pPr>
              <a:defRPr sz="1100">
                <a:solidFill>
                  <a:srgbClr val="E1E1E1"/>
                </a:solidFill>
              </a:defRPr>
            </a:lvl1pPr>
          </a:lstStyle>
          <a:p>
            <a:r>
              <a:rPr lang="en-US" dirty="0"/>
              <a:t>Tester</a:t>
            </a:r>
          </a:p>
        </p:txBody>
      </p:sp>
      <p:sp>
        <p:nvSpPr>
          <p:cNvPr id="91" name="TextBox 90">
            <a:extLst>
              <a:ext uri="{FF2B5EF4-FFF2-40B4-BE49-F238E27FC236}">
                <a16:creationId xmlns:a16="http://schemas.microsoft.com/office/drawing/2014/main" id="{5B6A4593-6ABE-8718-42F7-5625039C9F1E}"/>
              </a:ext>
            </a:extLst>
          </p:cNvPr>
          <p:cNvSpPr txBox="1"/>
          <p:nvPr/>
        </p:nvSpPr>
        <p:spPr>
          <a:xfrm>
            <a:off x="4260936" y="2611055"/>
            <a:ext cx="683200" cy="261610"/>
          </a:xfrm>
          <a:prstGeom prst="rect">
            <a:avLst/>
          </a:prstGeom>
          <a:noFill/>
        </p:spPr>
        <p:txBody>
          <a:bodyPr wrap="none" rtlCol="0">
            <a:spAutoFit/>
          </a:bodyPr>
          <a:lstStyle/>
          <a:p>
            <a:r>
              <a:rPr lang="en-US" sz="1100" i="1" dirty="0">
                <a:solidFill>
                  <a:srgbClr val="FFC000"/>
                </a:solidFill>
              </a:rPr>
              <a:t>Waiting.</a:t>
            </a:r>
          </a:p>
        </p:txBody>
      </p:sp>
      <p:pic>
        <p:nvPicPr>
          <p:cNvPr id="93" name="Graphic 92" descr="Information with solid fill">
            <a:extLst>
              <a:ext uri="{FF2B5EF4-FFF2-40B4-BE49-F238E27FC236}">
                <a16:creationId xmlns:a16="http://schemas.microsoft.com/office/drawing/2014/main" id="{A66D7A2C-6C8D-A02C-306C-3BC59F05667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2365" y="3102069"/>
            <a:ext cx="193473" cy="193473"/>
          </a:xfrm>
          <a:prstGeom prst="rect">
            <a:avLst/>
          </a:prstGeom>
        </p:spPr>
      </p:pic>
      <p:pic>
        <p:nvPicPr>
          <p:cNvPr id="94" name="Graphic 93" descr="Information with solid fill">
            <a:extLst>
              <a:ext uri="{FF2B5EF4-FFF2-40B4-BE49-F238E27FC236}">
                <a16:creationId xmlns:a16="http://schemas.microsoft.com/office/drawing/2014/main" id="{A4D70724-B4AE-5CDB-D421-82F7E345DD8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2365" y="3553624"/>
            <a:ext cx="193473" cy="193473"/>
          </a:xfrm>
          <a:prstGeom prst="rect">
            <a:avLst/>
          </a:prstGeom>
        </p:spPr>
      </p:pic>
      <p:pic>
        <p:nvPicPr>
          <p:cNvPr id="95" name="Graphic 94" descr="Information with solid fill">
            <a:extLst>
              <a:ext uri="{FF2B5EF4-FFF2-40B4-BE49-F238E27FC236}">
                <a16:creationId xmlns:a16="http://schemas.microsoft.com/office/drawing/2014/main" id="{96E3FCAE-1D2F-6DD1-190F-D5CAD693868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2364" y="4014063"/>
            <a:ext cx="193473" cy="193473"/>
          </a:xfrm>
          <a:prstGeom prst="rect">
            <a:avLst/>
          </a:prstGeom>
        </p:spPr>
      </p:pic>
      <p:sp>
        <p:nvSpPr>
          <p:cNvPr id="96" name="TextBox 95">
            <a:extLst>
              <a:ext uri="{FF2B5EF4-FFF2-40B4-BE49-F238E27FC236}">
                <a16:creationId xmlns:a16="http://schemas.microsoft.com/office/drawing/2014/main" id="{D88E9A95-13F6-9EC0-5F23-2D56AB8DF138}"/>
              </a:ext>
            </a:extLst>
          </p:cNvPr>
          <p:cNvSpPr txBox="1"/>
          <p:nvPr/>
        </p:nvSpPr>
        <p:spPr>
          <a:xfrm>
            <a:off x="729726" y="3076054"/>
            <a:ext cx="460382" cy="282316"/>
          </a:xfrm>
          <a:prstGeom prst="rect">
            <a:avLst/>
          </a:prstGeom>
          <a:noFill/>
        </p:spPr>
        <p:txBody>
          <a:bodyPr wrap="square" rtlCol="0">
            <a:spAutoFit/>
          </a:bodyPr>
          <a:lstStyle/>
          <a:p>
            <a:r>
              <a:rPr lang="en-US" sz="1200" b="1" dirty="0">
                <a:solidFill>
                  <a:srgbClr val="0E1C2D"/>
                </a:solidFill>
              </a:rPr>
              <a:t>An</a:t>
            </a:r>
          </a:p>
        </p:txBody>
      </p:sp>
      <p:sp>
        <p:nvSpPr>
          <p:cNvPr id="97" name="TextBox 96">
            <a:extLst>
              <a:ext uri="{FF2B5EF4-FFF2-40B4-BE49-F238E27FC236}">
                <a16:creationId xmlns:a16="http://schemas.microsoft.com/office/drawing/2014/main" id="{6E78786F-9A72-763A-2171-1730574A05E3}"/>
              </a:ext>
            </a:extLst>
          </p:cNvPr>
          <p:cNvSpPr txBox="1"/>
          <p:nvPr/>
        </p:nvSpPr>
        <p:spPr>
          <a:xfrm>
            <a:off x="736070" y="3523140"/>
            <a:ext cx="460382" cy="282316"/>
          </a:xfrm>
          <a:prstGeom prst="rect">
            <a:avLst/>
          </a:prstGeom>
          <a:noFill/>
        </p:spPr>
        <p:txBody>
          <a:bodyPr wrap="square" rtlCol="0">
            <a:spAutoFit/>
          </a:bodyPr>
          <a:lstStyle/>
          <a:p>
            <a:r>
              <a:rPr lang="en-US" sz="1200" b="1" dirty="0" err="1">
                <a:solidFill>
                  <a:srgbClr val="0E1C2D"/>
                </a:solidFill>
              </a:rPr>
              <a:t>Im</a:t>
            </a:r>
            <a:endParaRPr lang="en-US" sz="1200" b="1" dirty="0">
              <a:solidFill>
                <a:srgbClr val="0E1C2D"/>
              </a:solidFill>
            </a:endParaRPr>
          </a:p>
        </p:txBody>
      </p:sp>
      <p:sp>
        <p:nvSpPr>
          <p:cNvPr id="98" name="TextBox 97">
            <a:extLst>
              <a:ext uri="{FF2B5EF4-FFF2-40B4-BE49-F238E27FC236}">
                <a16:creationId xmlns:a16="http://schemas.microsoft.com/office/drawing/2014/main" id="{6BEC0AA0-17A5-63A9-4895-B9674267F477}"/>
              </a:ext>
            </a:extLst>
          </p:cNvPr>
          <p:cNvSpPr txBox="1"/>
          <p:nvPr/>
        </p:nvSpPr>
        <p:spPr>
          <a:xfrm>
            <a:off x="736070" y="3989707"/>
            <a:ext cx="460382" cy="282316"/>
          </a:xfrm>
          <a:prstGeom prst="rect">
            <a:avLst/>
          </a:prstGeom>
          <a:noFill/>
        </p:spPr>
        <p:txBody>
          <a:bodyPr wrap="square" rtlCol="0">
            <a:spAutoFit/>
          </a:bodyPr>
          <a:lstStyle/>
          <a:p>
            <a:r>
              <a:rPr lang="en-US" sz="1200" b="1" dirty="0" err="1">
                <a:solidFill>
                  <a:srgbClr val="0E1C2D"/>
                </a:solidFill>
              </a:rPr>
              <a:t>Te</a:t>
            </a:r>
            <a:endParaRPr lang="en-US" sz="1200" b="1" dirty="0">
              <a:solidFill>
                <a:srgbClr val="0E1C2D"/>
              </a:solidFill>
            </a:endParaRPr>
          </a:p>
        </p:txBody>
      </p:sp>
      <p:sp>
        <p:nvSpPr>
          <p:cNvPr id="99" name="TextBox 98">
            <a:extLst>
              <a:ext uri="{FF2B5EF4-FFF2-40B4-BE49-F238E27FC236}">
                <a16:creationId xmlns:a16="http://schemas.microsoft.com/office/drawing/2014/main" id="{82C75F0F-7AE0-5052-D50E-62082497E087}"/>
              </a:ext>
            </a:extLst>
          </p:cNvPr>
          <p:cNvSpPr txBox="1"/>
          <p:nvPr/>
        </p:nvSpPr>
        <p:spPr>
          <a:xfrm>
            <a:off x="4193614" y="2214394"/>
            <a:ext cx="886781" cy="246221"/>
          </a:xfrm>
          <a:prstGeom prst="rect">
            <a:avLst/>
          </a:prstGeom>
          <a:noFill/>
        </p:spPr>
        <p:txBody>
          <a:bodyPr wrap="none" rtlCol="0">
            <a:spAutoFit/>
          </a:bodyPr>
          <a:lstStyle/>
          <a:p>
            <a:pPr algn="ctr"/>
            <a:r>
              <a:rPr lang="en-US" sz="1000" dirty="0">
                <a:solidFill>
                  <a:srgbClr val="E1E1E1"/>
                </a:solidFill>
              </a:rPr>
              <a:t>Agent Status</a:t>
            </a:r>
          </a:p>
        </p:txBody>
      </p:sp>
      <p:sp>
        <p:nvSpPr>
          <p:cNvPr id="100" name="TextBox 99">
            <a:extLst>
              <a:ext uri="{FF2B5EF4-FFF2-40B4-BE49-F238E27FC236}">
                <a16:creationId xmlns:a16="http://schemas.microsoft.com/office/drawing/2014/main" id="{8D524814-AD93-5643-5793-0F24CCB9CA33}"/>
              </a:ext>
            </a:extLst>
          </p:cNvPr>
          <p:cNvSpPr txBox="1"/>
          <p:nvPr/>
        </p:nvSpPr>
        <p:spPr>
          <a:xfrm>
            <a:off x="7929117" y="2092323"/>
            <a:ext cx="772505" cy="400110"/>
          </a:xfrm>
          <a:prstGeom prst="rect">
            <a:avLst/>
          </a:prstGeom>
          <a:noFill/>
        </p:spPr>
        <p:txBody>
          <a:bodyPr wrap="square" rtlCol="0">
            <a:spAutoFit/>
          </a:bodyPr>
          <a:lstStyle/>
          <a:p>
            <a:pPr algn="ctr"/>
            <a:r>
              <a:rPr lang="en-US" sz="1000" dirty="0">
                <a:solidFill>
                  <a:srgbClr val="E1E1E1"/>
                </a:solidFill>
              </a:rPr>
              <a:t>Messages waiting</a:t>
            </a:r>
          </a:p>
        </p:txBody>
      </p:sp>
      <p:sp>
        <p:nvSpPr>
          <p:cNvPr id="114" name="TextBox 113">
            <a:extLst>
              <a:ext uri="{FF2B5EF4-FFF2-40B4-BE49-F238E27FC236}">
                <a16:creationId xmlns:a16="http://schemas.microsoft.com/office/drawing/2014/main" id="{0D2FB53A-1F80-4010-6F6A-B57762849425}"/>
              </a:ext>
            </a:extLst>
          </p:cNvPr>
          <p:cNvSpPr txBox="1"/>
          <p:nvPr/>
        </p:nvSpPr>
        <p:spPr>
          <a:xfrm>
            <a:off x="7041082" y="2099303"/>
            <a:ext cx="772505" cy="400110"/>
          </a:xfrm>
          <a:prstGeom prst="rect">
            <a:avLst/>
          </a:prstGeom>
          <a:noFill/>
        </p:spPr>
        <p:txBody>
          <a:bodyPr wrap="square" rtlCol="0">
            <a:spAutoFit/>
          </a:bodyPr>
          <a:lstStyle/>
          <a:p>
            <a:pPr algn="ctr"/>
            <a:r>
              <a:rPr lang="en-US" sz="1000" dirty="0">
                <a:solidFill>
                  <a:srgbClr val="E1E1E1"/>
                </a:solidFill>
              </a:rPr>
              <a:t>Messages</a:t>
            </a:r>
          </a:p>
          <a:p>
            <a:pPr algn="ctr"/>
            <a:r>
              <a:rPr lang="en-US" sz="1000" dirty="0">
                <a:solidFill>
                  <a:srgbClr val="E1E1E1"/>
                </a:solidFill>
              </a:rPr>
              <a:t>Sent</a:t>
            </a:r>
          </a:p>
        </p:txBody>
      </p:sp>
      <p:sp>
        <p:nvSpPr>
          <p:cNvPr id="115" name="TextBox 114">
            <a:extLst>
              <a:ext uri="{FF2B5EF4-FFF2-40B4-BE49-F238E27FC236}">
                <a16:creationId xmlns:a16="http://schemas.microsoft.com/office/drawing/2014/main" id="{4A7BFDA2-6ABE-6907-D5D4-363604E7C512}"/>
              </a:ext>
            </a:extLst>
          </p:cNvPr>
          <p:cNvSpPr txBox="1"/>
          <p:nvPr/>
        </p:nvSpPr>
        <p:spPr>
          <a:xfrm>
            <a:off x="8932682" y="2112169"/>
            <a:ext cx="751053" cy="400110"/>
          </a:xfrm>
          <a:prstGeom prst="rect">
            <a:avLst/>
          </a:prstGeom>
          <a:noFill/>
        </p:spPr>
        <p:txBody>
          <a:bodyPr wrap="square" rtlCol="0">
            <a:spAutoFit/>
          </a:bodyPr>
          <a:lstStyle/>
          <a:p>
            <a:pPr algn="ctr"/>
            <a:r>
              <a:rPr lang="en-US" sz="1000" dirty="0">
                <a:solidFill>
                  <a:srgbClr val="E1E1E1"/>
                </a:solidFill>
              </a:rPr>
              <a:t>Messages Read</a:t>
            </a:r>
          </a:p>
        </p:txBody>
      </p:sp>
      <p:pic>
        <p:nvPicPr>
          <p:cNvPr id="117" name="Graphic 116" descr="Chat with solid fill">
            <a:extLst>
              <a:ext uri="{FF2B5EF4-FFF2-40B4-BE49-F238E27FC236}">
                <a16:creationId xmlns:a16="http://schemas.microsoft.com/office/drawing/2014/main" id="{CE44152E-55F6-78EE-6436-383652F5BB1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305301" y="2637658"/>
            <a:ext cx="261610" cy="261610"/>
          </a:xfrm>
          <a:prstGeom prst="rect">
            <a:avLst/>
          </a:prstGeom>
        </p:spPr>
      </p:pic>
      <p:pic>
        <p:nvPicPr>
          <p:cNvPr id="118" name="Graphic 117" descr="Chat with solid fill">
            <a:extLst>
              <a:ext uri="{FF2B5EF4-FFF2-40B4-BE49-F238E27FC236}">
                <a16:creationId xmlns:a16="http://schemas.microsoft.com/office/drawing/2014/main" id="{2EF68784-D09D-C1E1-F6C6-00C1E74C6B6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297189" y="3068000"/>
            <a:ext cx="261610" cy="261610"/>
          </a:xfrm>
          <a:prstGeom prst="rect">
            <a:avLst/>
          </a:prstGeom>
        </p:spPr>
      </p:pic>
      <p:pic>
        <p:nvPicPr>
          <p:cNvPr id="119" name="Graphic 118" descr="Chat with solid fill">
            <a:extLst>
              <a:ext uri="{FF2B5EF4-FFF2-40B4-BE49-F238E27FC236}">
                <a16:creationId xmlns:a16="http://schemas.microsoft.com/office/drawing/2014/main" id="{FD385D31-4F0C-4D81-576C-76D475C00E2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297189" y="3527404"/>
            <a:ext cx="261610" cy="261610"/>
          </a:xfrm>
          <a:prstGeom prst="rect">
            <a:avLst/>
          </a:prstGeom>
        </p:spPr>
      </p:pic>
      <p:pic>
        <p:nvPicPr>
          <p:cNvPr id="120" name="Graphic 119" descr="Chat with solid fill">
            <a:extLst>
              <a:ext uri="{FF2B5EF4-FFF2-40B4-BE49-F238E27FC236}">
                <a16:creationId xmlns:a16="http://schemas.microsoft.com/office/drawing/2014/main" id="{194EAE03-0696-5AF9-D691-BBC4A6411BA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310562" y="3991625"/>
            <a:ext cx="261610" cy="261610"/>
          </a:xfrm>
          <a:prstGeom prst="rect">
            <a:avLst/>
          </a:prstGeom>
        </p:spPr>
      </p:pic>
      <p:pic>
        <p:nvPicPr>
          <p:cNvPr id="137" name="Graphic 136" descr="Play with solid fill">
            <a:extLst>
              <a:ext uri="{FF2B5EF4-FFF2-40B4-BE49-F238E27FC236}">
                <a16:creationId xmlns:a16="http://schemas.microsoft.com/office/drawing/2014/main" id="{B8ADA27E-C191-1090-F6E5-3C0021C5755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00374" y="3545730"/>
            <a:ext cx="193474" cy="193474"/>
          </a:xfrm>
          <a:prstGeom prst="rect">
            <a:avLst/>
          </a:prstGeom>
        </p:spPr>
      </p:pic>
      <p:pic>
        <p:nvPicPr>
          <p:cNvPr id="138" name="Graphic 137" descr="Play with solid fill">
            <a:extLst>
              <a:ext uri="{FF2B5EF4-FFF2-40B4-BE49-F238E27FC236}">
                <a16:creationId xmlns:a16="http://schemas.microsoft.com/office/drawing/2014/main" id="{66598C1D-004B-BFCE-5C00-A7B83DB6F40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02983" y="4004988"/>
            <a:ext cx="193474" cy="193474"/>
          </a:xfrm>
          <a:prstGeom prst="rect">
            <a:avLst/>
          </a:prstGeom>
        </p:spPr>
      </p:pic>
      <p:sp>
        <p:nvSpPr>
          <p:cNvPr id="23" name="TextBox 22">
            <a:extLst>
              <a:ext uri="{FF2B5EF4-FFF2-40B4-BE49-F238E27FC236}">
                <a16:creationId xmlns:a16="http://schemas.microsoft.com/office/drawing/2014/main" id="{76B407A8-D86A-64B2-04E4-568F58BCA5CA}"/>
              </a:ext>
            </a:extLst>
          </p:cNvPr>
          <p:cNvSpPr txBox="1"/>
          <p:nvPr/>
        </p:nvSpPr>
        <p:spPr>
          <a:xfrm>
            <a:off x="2947872" y="2209718"/>
            <a:ext cx="649537" cy="246221"/>
          </a:xfrm>
          <a:prstGeom prst="rect">
            <a:avLst/>
          </a:prstGeom>
          <a:noFill/>
        </p:spPr>
        <p:txBody>
          <a:bodyPr wrap="none" rtlCol="0">
            <a:spAutoFit/>
          </a:bodyPr>
          <a:lstStyle/>
          <a:p>
            <a:pPr algn="ctr"/>
            <a:r>
              <a:rPr lang="en-US" sz="1000" dirty="0">
                <a:solidFill>
                  <a:srgbClr val="E1E1E1"/>
                </a:solidFill>
              </a:rPr>
              <a:t>Agent ID</a:t>
            </a:r>
          </a:p>
        </p:txBody>
      </p:sp>
      <p:sp>
        <p:nvSpPr>
          <p:cNvPr id="28" name="TextBox 27">
            <a:extLst>
              <a:ext uri="{FF2B5EF4-FFF2-40B4-BE49-F238E27FC236}">
                <a16:creationId xmlns:a16="http://schemas.microsoft.com/office/drawing/2014/main" id="{43E88C78-BFB9-28F3-F9EA-0E282A839D97}"/>
              </a:ext>
            </a:extLst>
          </p:cNvPr>
          <p:cNvSpPr txBox="1"/>
          <p:nvPr/>
        </p:nvSpPr>
        <p:spPr>
          <a:xfrm>
            <a:off x="2647311" y="2620646"/>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0" name="TextBox 29">
            <a:extLst>
              <a:ext uri="{FF2B5EF4-FFF2-40B4-BE49-F238E27FC236}">
                <a16:creationId xmlns:a16="http://schemas.microsoft.com/office/drawing/2014/main" id="{4403E56B-21F6-A080-4916-ACC9FEB33907}"/>
              </a:ext>
            </a:extLst>
          </p:cNvPr>
          <p:cNvSpPr txBox="1"/>
          <p:nvPr/>
        </p:nvSpPr>
        <p:spPr>
          <a:xfrm>
            <a:off x="2647311" y="3086580"/>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1" name="TextBox 30">
            <a:extLst>
              <a:ext uri="{FF2B5EF4-FFF2-40B4-BE49-F238E27FC236}">
                <a16:creationId xmlns:a16="http://schemas.microsoft.com/office/drawing/2014/main" id="{D14A51E6-031C-49BC-9701-C4492491222F}"/>
              </a:ext>
            </a:extLst>
          </p:cNvPr>
          <p:cNvSpPr txBox="1"/>
          <p:nvPr/>
        </p:nvSpPr>
        <p:spPr>
          <a:xfrm>
            <a:off x="2647311" y="3545730"/>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2" name="TextBox 31">
            <a:extLst>
              <a:ext uri="{FF2B5EF4-FFF2-40B4-BE49-F238E27FC236}">
                <a16:creationId xmlns:a16="http://schemas.microsoft.com/office/drawing/2014/main" id="{4D28D6C3-5BD5-AD42-4555-F4A3AE90162C}"/>
              </a:ext>
            </a:extLst>
          </p:cNvPr>
          <p:cNvSpPr txBox="1"/>
          <p:nvPr/>
        </p:nvSpPr>
        <p:spPr>
          <a:xfrm>
            <a:off x="2636441" y="4004880"/>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3" name="TextBox 32">
            <a:extLst>
              <a:ext uri="{FF2B5EF4-FFF2-40B4-BE49-F238E27FC236}">
                <a16:creationId xmlns:a16="http://schemas.microsoft.com/office/drawing/2014/main" id="{041B4748-851A-CDBC-2BEF-0439BB66FDD7}"/>
              </a:ext>
            </a:extLst>
          </p:cNvPr>
          <p:cNvSpPr txBox="1"/>
          <p:nvPr/>
        </p:nvSpPr>
        <p:spPr>
          <a:xfrm>
            <a:off x="5445208" y="2092323"/>
            <a:ext cx="772505" cy="400110"/>
          </a:xfrm>
          <a:prstGeom prst="rect">
            <a:avLst/>
          </a:prstGeom>
          <a:noFill/>
        </p:spPr>
        <p:txBody>
          <a:bodyPr wrap="square" rtlCol="0">
            <a:spAutoFit/>
          </a:bodyPr>
          <a:lstStyle/>
          <a:p>
            <a:pPr algn="ctr"/>
            <a:r>
              <a:rPr lang="en-US" sz="1000" dirty="0">
                <a:solidFill>
                  <a:srgbClr val="E1E1E1"/>
                </a:solidFill>
              </a:rPr>
              <a:t>Job </a:t>
            </a:r>
          </a:p>
          <a:p>
            <a:pPr algn="ctr"/>
            <a:r>
              <a:rPr lang="en-US" sz="1000" dirty="0">
                <a:solidFill>
                  <a:srgbClr val="E1E1E1"/>
                </a:solidFill>
              </a:rPr>
              <a:t>Read</a:t>
            </a:r>
          </a:p>
        </p:txBody>
      </p:sp>
      <p:sp>
        <p:nvSpPr>
          <p:cNvPr id="34" name="TextBox 33">
            <a:extLst>
              <a:ext uri="{FF2B5EF4-FFF2-40B4-BE49-F238E27FC236}">
                <a16:creationId xmlns:a16="http://schemas.microsoft.com/office/drawing/2014/main" id="{F90B27F6-0067-BABB-6A6F-46ED630B1CED}"/>
              </a:ext>
            </a:extLst>
          </p:cNvPr>
          <p:cNvSpPr txBox="1"/>
          <p:nvPr/>
        </p:nvSpPr>
        <p:spPr>
          <a:xfrm>
            <a:off x="6129630" y="2105765"/>
            <a:ext cx="1037054" cy="400110"/>
          </a:xfrm>
          <a:prstGeom prst="rect">
            <a:avLst/>
          </a:prstGeom>
          <a:noFill/>
        </p:spPr>
        <p:txBody>
          <a:bodyPr wrap="square" rtlCol="0">
            <a:spAutoFit/>
          </a:bodyPr>
          <a:lstStyle/>
          <a:p>
            <a:pPr algn="ctr"/>
            <a:r>
              <a:rPr lang="en-US" sz="1000" dirty="0">
                <a:solidFill>
                  <a:srgbClr val="E1E1E1"/>
                </a:solidFill>
              </a:rPr>
              <a:t>Job Acknowledged</a:t>
            </a:r>
          </a:p>
        </p:txBody>
      </p:sp>
      <p:cxnSp>
        <p:nvCxnSpPr>
          <p:cNvPr id="41" name="Straight Connector 40">
            <a:extLst>
              <a:ext uri="{FF2B5EF4-FFF2-40B4-BE49-F238E27FC236}">
                <a16:creationId xmlns:a16="http://schemas.microsoft.com/office/drawing/2014/main" id="{7FA3E2B3-EFC7-6A51-3FDD-7FD3F787E9BB}"/>
              </a:ext>
            </a:extLst>
          </p:cNvPr>
          <p:cNvCxnSpPr>
            <a:cxnSpLocks/>
          </p:cNvCxnSpPr>
          <p:nvPr/>
        </p:nvCxnSpPr>
        <p:spPr>
          <a:xfrm>
            <a:off x="11391357" y="2585825"/>
            <a:ext cx="0" cy="2327883"/>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C44479F6-FDC5-377A-9F1E-53C9EED0CEA8}"/>
              </a:ext>
            </a:extLst>
          </p:cNvPr>
          <p:cNvCxnSpPr>
            <a:cxnSpLocks/>
          </p:cNvCxnSpPr>
          <p:nvPr/>
        </p:nvCxnSpPr>
        <p:spPr>
          <a:xfrm>
            <a:off x="11391357" y="2585825"/>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BF7AC08E-025A-17C9-F04C-D3F3D24EEF2F}"/>
              </a:ext>
            </a:extLst>
          </p:cNvPr>
          <p:cNvCxnSpPr>
            <a:cxnSpLocks/>
          </p:cNvCxnSpPr>
          <p:nvPr/>
        </p:nvCxnSpPr>
        <p:spPr>
          <a:xfrm>
            <a:off x="11391357" y="2625072"/>
            <a:ext cx="0" cy="2327883"/>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A3723A14-F7BA-0285-E6EB-97025E91D217}"/>
              </a:ext>
            </a:extLst>
          </p:cNvPr>
          <p:cNvCxnSpPr>
            <a:cxnSpLocks/>
          </p:cNvCxnSpPr>
          <p:nvPr/>
        </p:nvCxnSpPr>
        <p:spPr>
          <a:xfrm>
            <a:off x="11391357" y="2625072"/>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sp>
        <p:nvSpPr>
          <p:cNvPr id="45" name="Rectangle: Rounded Corners 44">
            <a:extLst>
              <a:ext uri="{FF2B5EF4-FFF2-40B4-BE49-F238E27FC236}">
                <a16:creationId xmlns:a16="http://schemas.microsoft.com/office/drawing/2014/main" id="{B8DDBE15-150A-941A-C2D8-41D549870414}"/>
              </a:ext>
            </a:extLst>
          </p:cNvPr>
          <p:cNvSpPr/>
          <p:nvPr/>
        </p:nvSpPr>
        <p:spPr>
          <a:xfrm>
            <a:off x="3031449" y="5377380"/>
            <a:ext cx="5904873" cy="421811"/>
          </a:xfrm>
          <a:prstGeom prst="roundRect">
            <a:avLst>
              <a:gd name="adj" fmla="val 27474"/>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a:t>
            </a:r>
          </a:p>
        </p:txBody>
      </p:sp>
      <p:sp>
        <p:nvSpPr>
          <p:cNvPr id="46" name="Rectangle: Rounded Corners 45">
            <a:extLst>
              <a:ext uri="{FF2B5EF4-FFF2-40B4-BE49-F238E27FC236}">
                <a16:creationId xmlns:a16="http://schemas.microsoft.com/office/drawing/2014/main" id="{74B3B1B4-4439-08F5-1C1E-61C199852C3D}"/>
              </a:ext>
            </a:extLst>
          </p:cNvPr>
          <p:cNvSpPr/>
          <p:nvPr/>
        </p:nvSpPr>
        <p:spPr>
          <a:xfrm>
            <a:off x="522553" y="5375748"/>
            <a:ext cx="1132255" cy="421811"/>
          </a:xfrm>
          <a:prstGeom prst="roundRect">
            <a:avLst>
              <a:gd name="adj" fmla="val 27474"/>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1E3147"/>
                </a:solidFill>
              </a:rPr>
              <a:t>Message Orchestrator</a:t>
            </a:r>
          </a:p>
        </p:txBody>
      </p:sp>
      <p:sp>
        <p:nvSpPr>
          <p:cNvPr id="47" name="Rectangle: Rounded Corners 46">
            <a:extLst>
              <a:ext uri="{FF2B5EF4-FFF2-40B4-BE49-F238E27FC236}">
                <a16:creationId xmlns:a16="http://schemas.microsoft.com/office/drawing/2014/main" id="{43B01DC1-F076-434F-54F2-5BF3E19BEE24}"/>
              </a:ext>
            </a:extLst>
          </p:cNvPr>
          <p:cNvSpPr/>
          <p:nvPr/>
        </p:nvSpPr>
        <p:spPr>
          <a:xfrm>
            <a:off x="1753756" y="5378268"/>
            <a:ext cx="1178745" cy="421811"/>
          </a:xfrm>
          <a:prstGeom prst="roundRect">
            <a:avLst>
              <a:gd name="adj" fmla="val 27474"/>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1E1E1"/>
                </a:solidFill>
              </a:rPr>
              <a:t>Broadcast</a:t>
            </a:r>
          </a:p>
        </p:txBody>
      </p:sp>
      <p:sp>
        <p:nvSpPr>
          <p:cNvPr id="50" name="Oval 49">
            <a:extLst>
              <a:ext uri="{FF2B5EF4-FFF2-40B4-BE49-F238E27FC236}">
                <a16:creationId xmlns:a16="http://schemas.microsoft.com/office/drawing/2014/main" id="{30BF6009-D165-DF0B-1480-F89BA680DBEE}"/>
              </a:ext>
            </a:extLst>
          </p:cNvPr>
          <p:cNvSpPr/>
          <p:nvPr/>
        </p:nvSpPr>
        <p:spPr>
          <a:xfrm>
            <a:off x="8997072" y="5441706"/>
            <a:ext cx="293929" cy="306770"/>
          </a:xfrm>
          <a:prstGeom prst="ellipse">
            <a:avLst/>
          </a:prstGeom>
          <a:solidFill>
            <a:srgbClr val="FFC3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 name="Graphic 48" descr="Play with solid fill">
            <a:extLst>
              <a:ext uri="{FF2B5EF4-FFF2-40B4-BE49-F238E27FC236}">
                <a16:creationId xmlns:a16="http://schemas.microsoft.com/office/drawing/2014/main" id="{0AC0B7D3-CE5C-826E-BF24-F25215A17E7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073173" y="5507713"/>
            <a:ext cx="174755" cy="174755"/>
          </a:xfrm>
          <a:prstGeom prst="rect">
            <a:avLst/>
          </a:prstGeom>
        </p:spPr>
      </p:pic>
      <p:sp>
        <p:nvSpPr>
          <p:cNvPr id="53" name="TextBox 52">
            <a:extLst>
              <a:ext uri="{FF2B5EF4-FFF2-40B4-BE49-F238E27FC236}">
                <a16:creationId xmlns:a16="http://schemas.microsoft.com/office/drawing/2014/main" id="{7D7739B6-7CDB-F10F-5F31-519A73758840}"/>
              </a:ext>
            </a:extLst>
          </p:cNvPr>
          <p:cNvSpPr txBox="1"/>
          <p:nvPr/>
        </p:nvSpPr>
        <p:spPr>
          <a:xfrm>
            <a:off x="39778" y="47732"/>
            <a:ext cx="4306628" cy="369332"/>
          </a:xfrm>
          <a:prstGeom prst="rect">
            <a:avLst/>
          </a:prstGeom>
          <a:noFill/>
        </p:spPr>
        <p:txBody>
          <a:bodyPr wrap="none" rtlCol="0">
            <a:spAutoFit/>
          </a:bodyPr>
          <a:lstStyle/>
          <a:p>
            <a:r>
              <a:rPr lang="en-US" dirty="0">
                <a:solidFill>
                  <a:schemeClr val="accent5">
                    <a:lumMod val="60000"/>
                    <a:lumOff val="40000"/>
                  </a:schemeClr>
                </a:solidFill>
              </a:rPr>
              <a:t>SLIDE 4a – Implementation Tab. Elements</a:t>
            </a:r>
          </a:p>
        </p:txBody>
      </p:sp>
      <p:sp>
        <p:nvSpPr>
          <p:cNvPr id="7" name="Rectangle 6">
            <a:extLst>
              <a:ext uri="{FF2B5EF4-FFF2-40B4-BE49-F238E27FC236}">
                <a16:creationId xmlns:a16="http://schemas.microsoft.com/office/drawing/2014/main" id="{09E1D375-37B0-0749-5220-A0B03961C833}"/>
              </a:ext>
            </a:extLst>
          </p:cNvPr>
          <p:cNvSpPr/>
          <p:nvPr/>
        </p:nvSpPr>
        <p:spPr>
          <a:xfrm>
            <a:off x="4260936" y="544669"/>
            <a:ext cx="2764140" cy="914400"/>
          </a:xfrm>
          <a:prstGeom prst="rect">
            <a:avLst/>
          </a:prstGeom>
          <a:no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5">
                    <a:lumMod val="60000"/>
                    <a:lumOff val="40000"/>
                  </a:schemeClr>
                </a:solidFill>
              </a:rPr>
              <a:t>Implement tab is ready and Launch is faded</a:t>
            </a:r>
          </a:p>
        </p:txBody>
      </p:sp>
      <p:cxnSp>
        <p:nvCxnSpPr>
          <p:cNvPr id="10" name="Straight Arrow Connector 9">
            <a:extLst>
              <a:ext uri="{FF2B5EF4-FFF2-40B4-BE49-F238E27FC236}">
                <a16:creationId xmlns:a16="http://schemas.microsoft.com/office/drawing/2014/main" id="{EC1C1830-1CAF-97FC-744F-2D2464D9B4AF}"/>
              </a:ext>
            </a:extLst>
          </p:cNvPr>
          <p:cNvCxnSpPr>
            <a:stCxn id="7" idx="1"/>
          </p:cNvCxnSpPr>
          <p:nvPr/>
        </p:nvCxnSpPr>
        <p:spPr>
          <a:xfrm flipH="1">
            <a:off x="3538937" y="1001869"/>
            <a:ext cx="721999" cy="510002"/>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2" name="Straight Arrow Connector 11">
            <a:extLst>
              <a:ext uri="{FF2B5EF4-FFF2-40B4-BE49-F238E27FC236}">
                <a16:creationId xmlns:a16="http://schemas.microsoft.com/office/drawing/2014/main" id="{F725709A-EC16-EE43-58C1-3465B846FF61}"/>
              </a:ext>
            </a:extLst>
          </p:cNvPr>
          <p:cNvCxnSpPr/>
          <p:nvPr/>
        </p:nvCxnSpPr>
        <p:spPr>
          <a:xfrm flipH="1">
            <a:off x="1525387" y="732916"/>
            <a:ext cx="2668227" cy="609376"/>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pic>
        <p:nvPicPr>
          <p:cNvPr id="56" name="Graphic 55" descr="Play with solid fill">
            <a:extLst>
              <a:ext uri="{FF2B5EF4-FFF2-40B4-BE49-F238E27FC236}">
                <a16:creationId xmlns:a16="http://schemas.microsoft.com/office/drawing/2014/main" id="{40F26AA9-C264-DD37-C0BF-19F27106941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979845" y="2671726"/>
            <a:ext cx="193474" cy="193474"/>
          </a:xfrm>
          <a:prstGeom prst="rect">
            <a:avLst/>
          </a:prstGeom>
        </p:spPr>
      </p:pic>
      <p:sp>
        <p:nvSpPr>
          <p:cNvPr id="63" name="TextBox 62">
            <a:extLst>
              <a:ext uri="{FF2B5EF4-FFF2-40B4-BE49-F238E27FC236}">
                <a16:creationId xmlns:a16="http://schemas.microsoft.com/office/drawing/2014/main" id="{5E80692F-06AC-54B4-8791-8525124FE66D}"/>
              </a:ext>
            </a:extLst>
          </p:cNvPr>
          <p:cNvSpPr txBox="1"/>
          <p:nvPr/>
        </p:nvSpPr>
        <p:spPr>
          <a:xfrm>
            <a:off x="7078513" y="198362"/>
            <a:ext cx="4610081" cy="1077218"/>
          </a:xfrm>
          <a:prstGeom prst="rect">
            <a:avLst/>
          </a:prstGeom>
          <a:noFill/>
        </p:spPr>
        <p:txBody>
          <a:bodyPr wrap="square" rtlCol="0">
            <a:spAutoFit/>
          </a:bodyPr>
          <a:lstStyle/>
          <a:p>
            <a:pPr algn="ctr"/>
            <a:r>
              <a:rPr lang="en-US" sz="3200" dirty="0">
                <a:solidFill>
                  <a:schemeClr val="accent5">
                    <a:lumMod val="60000"/>
                    <a:lumOff val="40000"/>
                  </a:schemeClr>
                </a:solidFill>
              </a:rPr>
              <a:t>STATUS BOARD Variant MVP</a:t>
            </a:r>
          </a:p>
        </p:txBody>
      </p:sp>
      <p:sp>
        <p:nvSpPr>
          <p:cNvPr id="79" name="TextBox 78">
            <a:extLst>
              <a:ext uri="{FF2B5EF4-FFF2-40B4-BE49-F238E27FC236}">
                <a16:creationId xmlns:a16="http://schemas.microsoft.com/office/drawing/2014/main" id="{110B1B50-0905-D65A-632A-856EFA8A1538}"/>
              </a:ext>
            </a:extLst>
          </p:cNvPr>
          <p:cNvSpPr txBox="1"/>
          <p:nvPr/>
        </p:nvSpPr>
        <p:spPr>
          <a:xfrm>
            <a:off x="4253814" y="3982173"/>
            <a:ext cx="683200" cy="261610"/>
          </a:xfrm>
          <a:prstGeom prst="rect">
            <a:avLst/>
          </a:prstGeom>
          <a:noFill/>
        </p:spPr>
        <p:txBody>
          <a:bodyPr wrap="none" rtlCol="0">
            <a:spAutoFit/>
          </a:bodyPr>
          <a:lstStyle/>
          <a:p>
            <a:r>
              <a:rPr lang="en-US" sz="1100" i="1" dirty="0">
                <a:solidFill>
                  <a:srgbClr val="FFC000"/>
                </a:solidFill>
              </a:rPr>
              <a:t>Waiting.</a:t>
            </a:r>
          </a:p>
        </p:txBody>
      </p:sp>
      <p:sp>
        <p:nvSpPr>
          <p:cNvPr id="84" name="TextBox 83">
            <a:extLst>
              <a:ext uri="{FF2B5EF4-FFF2-40B4-BE49-F238E27FC236}">
                <a16:creationId xmlns:a16="http://schemas.microsoft.com/office/drawing/2014/main" id="{D1DB0787-8DCA-695B-8F10-C29673FB68F5}"/>
              </a:ext>
            </a:extLst>
          </p:cNvPr>
          <p:cNvSpPr txBox="1"/>
          <p:nvPr/>
        </p:nvSpPr>
        <p:spPr>
          <a:xfrm>
            <a:off x="8152537" y="2627083"/>
            <a:ext cx="260008" cy="261610"/>
          </a:xfrm>
          <a:prstGeom prst="rect">
            <a:avLst/>
          </a:prstGeom>
          <a:noFill/>
        </p:spPr>
        <p:txBody>
          <a:bodyPr wrap="square" rtlCol="0">
            <a:spAutoFit/>
          </a:bodyPr>
          <a:lstStyle/>
          <a:p>
            <a:r>
              <a:rPr lang="en-US" sz="1100" dirty="0">
                <a:solidFill>
                  <a:srgbClr val="E1E1E1"/>
                </a:solidFill>
              </a:rPr>
              <a:t>1</a:t>
            </a:r>
          </a:p>
        </p:txBody>
      </p:sp>
      <p:sp>
        <p:nvSpPr>
          <p:cNvPr id="86" name="TextBox 85">
            <a:extLst>
              <a:ext uri="{FF2B5EF4-FFF2-40B4-BE49-F238E27FC236}">
                <a16:creationId xmlns:a16="http://schemas.microsoft.com/office/drawing/2014/main" id="{B36E0084-EB33-B9C4-8B9E-61CA67959D62}"/>
              </a:ext>
            </a:extLst>
          </p:cNvPr>
          <p:cNvSpPr txBox="1"/>
          <p:nvPr/>
        </p:nvSpPr>
        <p:spPr>
          <a:xfrm>
            <a:off x="8155156" y="3496213"/>
            <a:ext cx="260008" cy="261610"/>
          </a:xfrm>
          <a:prstGeom prst="rect">
            <a:avLst/>
          </a:prstGeom>
          <a:noFill/>
        </p:spPr>
        <p:txBody>
          <a:bodyPr wrap="square" rtlCol="0">
            <a:spAutoFit/>
          </a:bodyPr>
          <a:lstStyle/>
          <a:p>
            <a:r>
              <a:rPr lang="en-US" sz="1100" dirty="0">
                <a:solidFill>
                  <a:srgbClr val="E1E1E1"/>
                </a:solidFill>
              </a:rPr>
              <a:t>1</a:t>
            </a:r>
          </a:p>
        </p:txBody>
      </p:sp>
      <p:sp>
        <p:nvSpPr>
          <p:cNvPr id="88" name="TextBox 87">
            <a:extLst>
              <a:ext uri="{FF2B5EF4-FFF2-40B4-BE49-F238E27FC236}">
                <a16:creationId xmlns:a16="http://schemas.microsoft.com/office/drawing/2014/main" id="{4F7DF462-76A7-D307-F0F9-1CDFAE9D610E}"/>
              </a:ext>
            </a:extLst>
          </p:cNvPr>
          <p:cNvSpPr txBox="1"/>
          <p:nvPr/>
        </p:nvSpPr>
        <p:spPr>
          <a:xfrm>
            <a:off x="4250868" y="3548989"/>
            <a:ext cx="683200" cy="261610"/>
          </a:xfrm>
          <a:prstGeom prst="rect">
            <a:avLst/>
          </a:prstGeom>
          <a:noFill/>
        </p:spPr>
        <p:txBody>
          <a:bodyPr wrap="none" rtlCol="0">
            <a:spAutoFit/>
          </a:bodyPr>
          <a:lstStyle/>
          <a:p>
            <a:r>
              <a:rPr lang="en-US" sz="1100" i="1" dirty="0">
                <a:solidFill>
                  <a:srgbClr val="FFC000"/>
                </a:solidFill>
              </a:rPr>
              <a:t>Waiting.</a:t>
            </a:r>
          </a:p>
        </p:txBody>
      </p:sp>
      <p:sp>
        <p:nvSpPr>
          <p:cNvPr id="92" name="TextBox 91">
            <a:extLst>
              <a:ext uri="{FF2B5EF4-FFF2-40B4-BE49-F238E27FC236}">
                <a16:creationId xmlns:a16="http://schemas.microsoft.com/office/drawing/2014/main" id="{A5BAA6E5-CB00-F5B3-0A8E-DC7745C5202D}"/>
              </a:ext>
            </a:extLst>
          </p:cNvPr>
          <p:cNvSpPr txBox="1"/>
          <p:nvPr/>
        </p:nvSpPr>
        <p:spPr>
          <a:xfrm>
            <a:off x="4253599" y="3080702"/>
            <a:ext cx="683200" cy="261610"/>
          </a:xfrm>
          <a:prstGeom prst="rect">
            <a:avLst/>
          </a:prstGeom>
          <a:noFill/>
        </p:spPr>
        <p:txBody>
          <a:bodyPr wrap="none" rtlCol="0">
            <a:spAutoFit/>
          </a:bodyPr>
          <a:lstStyle/>
          <a:p>
            <a:r>
              <a:rPr lang="en-US" sz="1100" i="1" dirty="0">
                <a:solidFill>
                  <a:srgbClr val="FFC000"/>
                </a:solidFill>
              </a:rPr>
              <a:t>Waiting.</a:t>
            </a:r>
          </a:p>
        </p:txBody>
      </p:sp>
      <p:sp>
        <p:nvSpPr>
          <p:cNvPr id="101" name="TextBox 100">
            <a:extLst>
              <a:ext uri="{FF2B5EF4-FFF2-40B4-BE49-F238E27FC236}">
                <a16:creationId xmlns:a16="http://schemas.microsoft.com/office/drawing/2014/main" id="{EC51DF96-F797-7F1E-C5C3-405118947DC0}"/>
              </a:ext>
            </a:extLst>
          </p:cNvPr>
          <p:cNvSpPr txBox="1"/>
          <p:nvPr/>
        </p:nvSpPr>
        <p:spPr>
          <a:xfrm>
            <a:off x="7260027" y="2637913"/>
            <a:ext cx="260008" cy="261610"/>
          </a:xfrm>
          <a:prstGeom prst="rect">
            <a:avLst/>
          </a:prstGeom>
          <a:noFill/>
        </p:spPr>
        <p:txBody>
          <a:bodyPr wrap="square" rtlCol="0">
            <a:spAutoFit/>
          </a:bodyPr>
          <a:lstStyle/>
          <a:p>
            <a:r>
              <a:rPr lang="en-US" sz="1100" dirty="0">
                <a:solidFill>
                  <a:srgbClr val="E1E1E1"/>
                </a:solidFill>
              </a:rPr>
              <a:t>4</a:t>
            </a:r>
          </a:p>
        </p:txBody>
      </p:sp>
      <p:sp>
        <p:nvSpPr>
          <p:cNvPr id="102" name="TextBox 101">
            <a:extLst>
              <a:ext uri="{FF2B5EF4-FFF2-40B4-BE49-F238E27FC236}">
                <a16:creationId xmlns:a16="http://schemas.microsoft.com/office/drawing/2014/main" id="{8D130F79-ABB0-2896-9A2E-A26797F9DFF5}"/>
              </a:ext>
            </a:extLst>
          </p:cNvPr>
          <p:cNvSpPr txBox="1"/>
          <p:nvPr/>
        </p:nvSpPr>
        <p:spPr>
          <a:xfrm>
            <a:off x="8152537" y="3061648"/>
            <a:ext cx="260008" cy="261610"/>
          </a:xfrm>
          <a:prstGeom prst="rect">
            <a:avLst/>
          </a:prstGeom>
          <a:noFill/>
        </p:spPr>
        <p:txBody>
          <a:bodyPr wrap="square" rtlCol="0">
            <a:spAutoFit/>
          </a:bodyPr>
          <a:lstStyle/>
          <a:p>
            <a:r>
              <a:rPr lang="en-US" sz="1100" dirty="0">
                <a:solidFill>
                  <a:srgbClr val="E1E1E1"/>
                </a:solidFill>
              </a:rPr>
              <a:t>1</a:t>
            </a:r>
          </a:p>
        </p:txBody>
      </p:sp>
      <p:sp>
        <p:nvSpPr>
          <p:cNvPr id="103" name="TextBox 102">
            <a:extLst>
              <a:ext uri="{FF2B5EF4-FFF2-40B4-BE49-F238E27FC236}">
                <a16:creationId xmlns:a16="http://schemas.microsoft.com/office/drawing/2014/main" id="{27A58C68-4587-B1E6-E6B7-B4BACE0856C6}"/>
              </a:ext>
            </a:extLst>
          </p:cNvPr>
          <p:cNvSpPr txBox="1"/>
          <p:nvPr/>
        </p:nvSpPr>
        <p:spPr>
          <a:xfrm>
            <a:off x="8129611" y="3945926"/>
            <a:ext cx="260008" cy="261610"/>
          </a:xfrm>
          <a:prstGeom prst="rect">
            <a:avLst/>
          </a:prstGeom>
          <a:noFill/>
        </p:spPr>
        <p:txBody>
          <a:bodyPr wrap="square" rtlCol="0">
            <a:spAutoFit/>
          </a:bodyPr>
          <a:lstStyle/>
          <a:p>
            <a:r>
              <a:rPr lang="en-US" sz="1100" dirty="0">
                <a:solidFill>
                  <a:srgbClr val="E1E1E1"/>
                </a:solidFill>
              </a:rPr>
              <a:t>1</a:t>
            </a:r>
          </a:p>
        </p:txBody>
      </p:sp>
      <p:pic>
        <p:nvPicPr>
          <p:cNvPr id="104" name="Graphic 103" descr="Play with solid fill">
            <a:extLst>
              <a:ext uri="{FF2B5EF4-FFF2-40B4-BE49-F238E27FC236}">
                <a16:creationId xmlns:a16="http://schemas.microsoft.com/office/drawing/2014/main" id="{58D98241-FE57-9743-8919-43B9F790AE5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979845" y="3094427"/>
            <a:ext cx="193474" cy="193474"/>
          </a:xfrm>
          <a:prstGeom prst="rect">
            <a:avLst/>
          </a:prstGeom>
        </p:spPr>
      </p:pic>
      <p:sp>
        <p:nvSpPr>
          <p:cNvPr id="8" name="TextBox 7">
            <a:extLst>
              <a:ext uri="{FF2B5EF4-FFF2-40B4-BE49-F238E27FC236}">
                <a16:creationId xmlns:a16="http://schemas.microsoft.com/office/drawing/2014/main" id="{FB105875-4D76-DD3C-905A-987FA495078B}"/>
              </a:ext>
            </a:extLst>
          </p:cNvPr>
          <p:cNvSpPr txBox="1"/>
          <p:nvPr/>
        </p:nvSpPr>
        <p:spPr>
          <a:xfrm>
            <a:off x="390687" y="6097720"/>
            <a:ext cx="3420476" cy="646331"/>
          </a:xfrm>
          <a:prstGeom prst="rect">
            <a:avLst/>
          </a:prstGeom>
          <a:solidFill>
            <a:schemeClr val="accent3">
              <a:lumMod val="75000"/>
            </a:schemeClr>
          </a:solidFill>
          <a:ln>
            <a:solidFill>
              <a:schemeClr val="accent5">
                <a:lumMod val="60000"/>
                <a:lumOff val="40000"/>
              </a:schemeClr>
            </a:solidFill>
          </a:ln>
        </p:spPr>
        <p:txBody>
          <a:bodyPr wrap="square" rtlCol="0">
            <a:spAutoFit/>
          </a:bodyPr>
          <a:lstStyle/>
          <a:p>
            <a:r>
              <a:rPr lang="en-US" dirty="0">
                <a:solidFill>
                  <a:schemeClr val="bg1"/>
                </a:solidFill>
              </a:rPr>
              <a:t>General CLI MODE</a:t>
            </a:r>
          </a:p>
          <a:p>
            <a:r>
              <a:rPr lang="en-US" dirty="0">
                <a:solidFill>
                  <a:schemeClr val="bg1"/>
                </a:solidFill>
              </a:rPr>
              <a:t>(individual terminals for agents</a:t>
            </a:r>
          </a:p>
        </p:txBody>
      </p:sp>
      <p:sp>
        <p:nvSpPr>
          <p:cNvPr id="9" name="Oval 8">
            <a:extLst>
              <a:ext uri="{FF2B5EF4-FFF2-40B4-BE49-F238E27FC236}">
                <a16:creationId xmlns:a16="http://schemas.microsoft.com/office/drawing/2014/main" id="{6C49195C-28DA-0B0C-3916-7EFFE7B2EC35}"/>
              </a:ext>
            </a:extLst>
          </p:cNvPr>
          <p:cNvSpPr/>
          <p:nvPr/>
        </p:nvSpPr>
        <p:spPr>
          <a:xfrm>
            <a:off x="1815090" y="1876161"/>
            <a:ext cx="174503" cy="184050"/>
          </a:xfrm>
          <a:prstGeom prst="ellipse">
            <a:avLst/>
          </a:prstGeom>
          <a:solidFill>
            <a:srgbClr val="1E31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014267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E1C2D"/>
        </a:solidFill>
        <a:effectLst/>
      </p:bgPr>
    </p:bg>
    <p:spTree>
      <p:nvGrpSpPr>
        <p:cNvPr id="1" name="">
          <a:extLst>
            <a:ext uri="{FF2B5EF4-FFF2-40B4-BE49-F238E27FC236}">
              <a16:creationId xmlns:a16="http://schemas.microsoft.com/office/drawing/2014/main" id="{5179ED45-97B9-7F48-0DDA-228AB910990C}"/>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816BD217-6F2A-1E1B-3B11-1A123A19A5E4}"/>
              </a:ext>
            </a:extLst>
          </p:cNvPr>
          <p:cNvSpPr/>
          <p:nvPr/>
        </p:nvSpPr>
        <p:spPr>
          <a:xfrm>
            <a:off x="503403" y="1334840"/>
            <a:ext cx="2218513" cy="1071163"/>
          </a:xfrm>
          <a:prstGeom prst="roundRect">
            <a:avLst>
              <a:gd name="adj" fmla="val 15806"/>
            </a:avLst>
          </a:prstGeom>
          <a:no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74487B33-978E-6CD3-09CB-886A7E0FB5AE}"/>
              </a:ext>
            </a:extLst>
          </p:cNvPr>
          <p:cNvSpPr txBox="1"/>
          <p:nvPr/>
        </p:nvSpPr>
        <p:spPr>
          <a:xfrm>
            <a:off x="516531" y="677075"/>
            <a:ext cx="2514919" cy="553998"/>
          </a:xfrm>
          <a:prstGeom prst="rect">
            <a:avLst/>
          </a:prstGeom>
          <a:noFill/>
        </p:spPr>
        <p:txBody>
          <a:bodyPr wrap="none" rtlCol="0">
            <a:spAutoFit/>
          </a:bodyPr>
          <a:lstStyle/>
          <a:p>
            <a:r>
              <a:rPr lang="en-US" dirty="0">
                <a:solidFill>
                  <a:srgbClr val="E1E1E1"/>
                </a:solidFill>
              </a:rPr>
              <a:t>Project: </a:t>
            </a:r>
            <a:r>
              <a:rPr lang="en-US" dirty="0">
                <a:solidFill>
                  <a:srgbClr val="FFC300"/>
                </a:solidFill>
              </a:rPr>
              <a:t>{</a:t>
            </a:r>
            <a:r>
              <a:rPr lang="en-US" dirty="0" err="1">
                <a:solidFill>
                  <a:srgbClr val="FFC300"/>
                </a:solidFill>
              </a:rPr>
              <a:t>project_name</a:t>
            </a:r>
            <a:r>
              <a:rPr lang="en-US" dirty="0">
                <a:solidFill>
                  <a:srgbClr val="FFC300"/>
                </a:solidFill>
              </a:rPr>
              <a:t>}</a:t>
            </a:r>
          </a:p>
          <a:p>
            <a:r>
              <a:rPr lang="en-US" sz="1200" dirty="0">
                <a:solidFill>
                  <a:srgbClr val="8F97B7"/>
                </a:solidFill>
              </a:rPr>
              <a:t>Project ID: {</a:t>
            </a:r>
            <a:r>
              <a:rPr lang="en-US" sz="1200" dirty="0" err="1">
                <a:solidFill>
                  <a:srgbClr val="8F97B7"/>
                </a:solidFill>
              </a:rPr>
              <a:t>full_UUID</a:t>
            </a:r>
            <a:r>
              <a:rPr lang="en-US" sz="1200" dirty="0">
                <a:solidFill>
                  <a:srgbClr val="8F97B7"/>
                </a:solidFill>
              </a:rPr>
              <a:t>}</a:t>
            </a:r>
          </a:p>
        </p:txBody>
      </p:sp>
      <p:sp>
        <p:nvSpPr>
          <p:cNvPr id="3" name="Rectangle: Rounded Corners 2">
            <a:extLst>
              <a:ext uri="{FF2B5EF4-FFF2-40B4-BE49-F238E27FC236}">
                <a16:creationId xmlns:a16="http://schemas.microsoft.com/office/drawing/2014/main" id="{6BD972D9-0BF3-7F4E-733F-3648D4C1D4F2}"/>
              </a:ext>
            </a:extLst>
          </p:cNvPr>
          <p:cNvSpPr/>
          <p:nvPr/>
        </p:nvSpPr>
        <p:spPr>
          <a:xfrm>
            <a:off x="1643382" y="1342292"/>
            <a:ext cx="1805578" cy="969932"/>
          </a:xfrm>
          <a:prstGeom prst="roundRect">
            <a:avLst>
              <a:gd name="adj" fmla="val 17766"/>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2460123-C250-E693-D2D4-1304852198A1}"/>
              </a:ext>
            </a:extLst>
          </p:cNvPr>
          <p:cNvSpPr txBox="1"/>
          <p:nvPr/>
        </p:nvSpPr>
        <p:spPr>
          <a:xfrm>
            <a:off x="682981" y="1327205"/>
            <a:ext cx="929678" cy="369332"/>
          </a:xfrm>
          <a:prstGeom prst="rect">
            <a:avLst/>
          </a:prstGeom>
          <a:noFill/>
        </p:spPr>
        <p:txBody>
          <a:bodyPr wrap="none" rtlCol="0">
            <a:spAutoFit/>
          </a:bodyPr>
          <a:lstStyle/>
          <a:p>
            <a:r>
              <a:rPr lang="en-US" dirty="0">
                <a:solidFill>
                  <a:srgbClr val="1E3147"/>
                </a:solidFill>
              </a:rPr>
              <a:t>Launch</a:t>
            </a:r>
          </a:p>
        </p:txBody>
      </p:sp>
      <p:sp>
        <p:nvSpPr>
          <p:cNvPr id="6" name="Rectangle: Rounded Corners 5">
            <a:extLst>
              <a:ext uri="{FF2B5EF4-FFF2-40B4-BE49-F238E27FC236}">
                <a16:creationId xmlns:a16="http://schemas.microsoft.com/office/drawing/2014/main" id="{D917BD18-82B3-A9A7-1A8A-E216B3832DD1}"/>
              </a:ext>
            </a:extLst>
          </p:cNvPr>
          <p:cNvSpPr/>
          <p:nvPr/>
        </p:nvSpPr>
        <p:spPr>
          <a:xfrm>
            <a:off x="503403" y="1668256"/>
            <a:ext cx="11185191" cy="3476117"/>
          </a:xfrm>
          <a:prstGeom prst="roundRect">
            <a:avLst>
              <a:gd name="adj" fmla="val 5962"/>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01CC104F-BDF6-D56C-029D-77C74CEA8E7C}"/>
              </a:ext>
            </a:extLst>
          </p:cNvPr>
          <p:cNvSpPr/>
          <p:nvPr/>
        </p:nvSpPr>
        <p:spPr>
          <a:xfrm>
            <a:off x="1654808" y="1622562"/>
            <a:ext cx="1787171" cy="287650"/>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916E790-0040-7C74-0184-77CD32BFB295}"/>
              </a:ext>
            </a:extLst>
          </p:cNvPr>
          <p:cNvSpPr/>
          <p:nvPr/>
        </p:nvSpPr>
        <p:spPr>
          <a:xfrm>
            <a:off x="758606" y="2617315"/>
            <a:ext cx="293929" cy="306770"/>
          </a:xfrm>
          <a:prstGeom prst="ellipse">
            <a:avLst/>
          </a:prstGeom>
          <a:solidFill>
            <a:srgbClr val="A9866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72923CE1-EE7C-7007-C753-B3B2DCF333C2}"/>
              </a:ext>
            </a:extLst>
          </p:cNvPr>
          <p:cNvSpPr txBox="1"/>
          <p:nvPr/>
        </p:nvSpPr>
        <p:spPr>
          <a:xfrm>
            <a:off x="1899316" y="1330953"/>
            <a:ext cx="1444177" cy="369332"/>
          </a:xfrm>
          <a:prstGeom prst="rect">
            <a:avLst/>
          </a:prstGeom>
          <a:noFill/>
        </p:spPr>
        <p:txBody>
          <a:bodyPr wrap="square" rtlCol="0">
            <a:spAutoFit/>
          </a:bodyPr>
          <a:lstStyle/>
          <a:p>
            <a:r>
              <a:rPr lang="en-US" dirty="0">
                <a:solidFill>
                  <a:srgbClr val="8F97B7"/>
                </a:solidFill>
              </a:rPr>
              <a:t>Implement</a:t>
            </a:r>
          </a:p>
        </p:txBody>
      </p:sp>
      <p:sp>
        <p:nvSpPr>
          <p:cNvPr id="24" name="TextBox 23">
            <a:extLst>
              <a:ext uri="{FF2B5EF4-FFF2-40B4-BE49-F238E27FC236}">
                <a16:creationId xmlns:a16="http://schemas.microsoft.com/office/drawing/2014/main" id="{5B2999C5-BF55-9067-E4F8-B394F11883A0}"/>
              </a:ext>
            </a:extLst>
          </p:cNvPr>
          <p:cNvSpPr txBox="1"/>
          <p:nvPr/>
        </p:nvSpPr>
        <p:spPr>
          <a:xfrm>
            <a:off x="738137" y="2624295"/>
            <a:ext cx="460382" cy="282316"/>
          </a:xfrm>
          <a:prstGeom prst="rect">
            <a:avLst/>
          </a:prstGeom>
          <a:noFill/>
        </p:spPr>
        <p:txBody>
          <a:bodyPr wrap="square" rtlCol="0">
            <a:spAutoFit/>
          </a:bodyPr>
          <a:lstStyle/>
          <a:p>
            <a:r>
              <a:rPr lang="en-US" sz="1200" b="1" dirty="0">
                <a:solidFill>
                  <a:srgbClr val="0E1C2D"/>
                </a:solidFill>
              </a:rPr>
              <a:t>Or</a:t>
            </a:r>
          </a:p>
        </p:txBody>
      </p:sp>
      <p:sp>
        <p:nvSpPr>
          <p:cNvPr id="27" name="TextBox 26">
            <a:extLst>
              <a:ext uri="{FF2B5EF4-FFF2-40B4-BE49-F238E27FC236}">
                <a16:creationId xmlns:a16="http://schemas.microsoft.com/office/drawing/2014/main" id="{4117A991-9B52-A418-A640-F94BE58A58A2}"/>
              </a:ext>
            </a:extLst>
          </p:cNvPr>
          <p:cNvSpPr txBox="1"/>
          <p:nvPr/>
        </p:nvSpPr>
        <p:spPr>
          <a:xfrm>
            <a:off x="1184559" y="2638386"/>
            <a:ext cx="965329" cy="261610"/>
          </a:xfrm>
          <a:prstGeom prst="rect">
            <a:avLst/>
          </a:prstGeom>
          <a:noFill/>
        </p:spPr>
        <p:txBody>
          <a:bodyPr wrap="none" rtlCol="0">
            <a:spAutoFit/>
          </a:bodyPr>
          <a:lstStyle/>
          <a:p>
            <a:r>
              <a:rPr lang="en-US" sz="1100" dirty="0">
                <a:solidFill>
                  <a:srgbClr val="E1E1E1"/>
                </a:solidFill>
              </a:rPr>
              <a:t>Orchestrator</a:t>
            </a:r>
          </a:p>
        </p:txBody>
      </p:sp>
      <p:pic>
        <p:nvPicPr>
          <p:cNvPr id="29" name="Graphic 28" descr="Information with solid fill">
            <a:extLst>
              <a:ext uri="{FF2B5EF4-FFF2-40B4-BE49-F238E27FC236}">
                <a16:creationId xmlns:a16="http://schemas.microsoft.com/office/drawing/2014/main" id="{A7FB520C-9A8B-0905-F74F-430B5024BC2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3975" y="2661152"/>
            <a:ext cx="193473" cy="193473"/>
          </a:xfrm>
          <a:prstGeom prst="rect">
            <a:avLst/>
          </a:prstGeom>
        </p:spPr>
      </p:pic>
      <p:sp>
        <p:nvSpPr>
          <p:cNvPr id="16" name="TextBox 15">
            <a:extLst>
              <a:ext uri="{FF2B5EF4-FFF2-40B4-BE49-F238E27FC236}">
                <a16:creationId xmlns:a16="http://schemas.microsoft.com/office/drawing/2014/main" id="{4A796917-1642-7837-B700-B8F7364ADD67}"/>
              </a:ext>
            </a:extLst>
          </p:cNvPr>
          <p:cNvSpPr txBox="1"/>
          <p:nvPr/>
        </p:nvSpPr>
        <p:spPr>
          <a:xfrm>
            <a:off x="1226477" y="3087372"/>
            <a:ext cx="705642" cy="261610"/>
          </a:xfrm>
          <a:prstGeom prst="rect">
            <a:avLst/>
          </a:prstGeom>
          <a:noFill/>
        </p:spPr>
        <p:txBody>
          <a:bodyPr wrap="none" rtlCol="0">
            <a:spAutoFit/>
          </a:bodyPr>
          <a:lstStyle>
            <a:defPPr>
              <a:defRPr lang="en-US"/>
            </a:defPPr>
            <a:lvl1pPr>
              <a:defRPr sz="1100">
                <a:solidFill>
                  <a:srgbClr val="E1E1E1"/>
                </a:solidFill>
              </a:defRPr>
            </a:lvl1pPr>
          </a:lstStyle>
          <a:p>
            <a:r>
              <a:rPr lang="en-US" dirty="0"/>
              <a:t>Analyzer</a:t>
            </a:r>
          </a:p>
        </p:txBody>
      </p:sp>
      <p:cxnSp>
        <p:nvCxnSpPr>
          <p:cNvPr id="75" name="Straight Connector 74">
            <a:extLst>
              <a:ext uri="{FF2B5EF4-FFF2-40B4-BE49-F238E27FC236}">
                <a16:creationId xmlns:a16="http://schemas.microsoft.com/office/drawing/2014/main" id="{3E82F02B-B288-86BF-F691-D914F87C3306}"/>
              </a:ext>
            </a:extLst>
          </p:cNvPr>
          <p:cNvCxnSpPr>
            <a:cxnSpLocks/>
          </p:cNvCxnSpPr>
          <p:nvPr/>
        </p:nvCxnSpPr>
        <p:spPr>
          <a:xfrm>
            <a:off x="652293" y="2505875"/>
            <a:ext cx="10203544" cy="6404"/>
          </a:xfrm>
          <a:prstGeom prst="line">
            <a:avLst/>
          </a:prstGeom>
          <a:ln>
            <a:solidFill>
              <a:srgbClr val="1E3147"/>
            </a:solidFill>
          </a:ln>
        </p:spPr>
        <p:style>
          <a:lnRef idx="2">
            <a:schemeClr val="accent1"/>
          </a:lnRef>
          <a:fillRef idx="0">
            <a:schemeClr val="accent1"/>
          </a:fillRef>
          <a:effectRef idx="1">
            <a:schemeClr val="accent1"/>
          </a:effectRef>
          <a:fontRef idx="minor">
            <a:schemeClr val="tx1"/>
          </a:fontRef>
        </p:style>
      </p:cxnSp>
      <p:sp>
        <p:nvSpPr>
          <p:cNvPr id="77" name="TextBox 76">
            <a:extLst>
              <a:ext uri="{FF2B5EF4-FFF2-40B4-BE49-F238E27FC236}">
                <a16:creationId xmlns:a16="http://schemas.microsoft.com/office/drawing/2014/main" id="{44F65B69-1CD2-5663-D300-7E965119B2EF}"/>
              </a:ext>
            </a:extLst>
          </p:cNvPr>
          <p:cNvSpPr txBox="1"/>
          <p:nvPr/>
        </p:nvSpPr>
        <p:spPr>
          <a:xfrm>
            <a:off x="1274326" y="2217384"/>
            <a:ext cx="785793" cy="246221"/>
          </a:xfrm>
          <a:prstGeom prst="rect">
            <a:avLst/>
          </a:prstGeom>
          <a:noFill/>
        </p:spPr>
        <p:txBody>
          <a:bodyPr wrap="none" rtlCol="0">
            <a:spAutoFit/>
          </a:bodyPr>
          <a:lstStyle/>
          <a:p>
            <a:pPr algn="ctr"/>
            <a:r>
              <a:rPr lang="en-US" sz="1000" dirty="0">
                <a:solidFill>
                  <a:srgbClr val="E1E1E1"/>
                </a:solidFill>
              </a:rPr>
              <a:t>Agent Type</a:t>
            </a:r>
          </a:p>
        </p:txBody>
      </p:sp>
      <p:sp>
        <p:nvSpPr>
          <p:cNvPr id="78" name="TextBox 77">
            <a:extLst>
              <a:ext uri="{FF2B5EF4-FFF2-40B4-BE49-F238E27FC236}">
                <a16:creationId xmlns:a16="http://schemas.microsoft.com/office/drawing/2014/main" id="{B02F41E1-4CEF-E38D-BC5B-B897E5172C64}"/>
              </a:ext>
            </a:extLst>
          </p:cNvPr>
          <p:cNvSpPr txBox="1"/>
          <p:nvPr/>
        </p:nvSpPr>
        <p:spPr>
          <a:xfrm>
            <a:off x="662149" y="1838089"/>
            <a:ext cx="1202573" cy="246221"/>
          </a:xfrm>
          <a:prstGeom prst="rect">
            <a:avLst/>
          </a:prstGeom>
          <a:noFill/>
        </p:spPr>
        <p:txBody>
          <a:bodyPr wrap="none" rtlCol="0">
            <a:spAutoFit/>
          </a:bodyPr>
          <a:lstStyle/>
          <a:p>
            <a:r>
              <a:rPr lang="en-US" sz="1000" dirty="0">
                <a:solidFill>
                  <a:srgbClr val="E1E1E1"/>
                </a:solidFill>
              </a:rPr>
              <a:t>Claude Subagents</a:t>
            </a:r>
          </a:p>
        </p:txBody>
      </p:sp>
      <p:sp>
        <p:nvSpPr>
          <p:cNvPr id="80" name="Rectangle: Rounded Corners 79">
            <a:extLst>
              <a:ext uri="{FF2B5EF4-FFF2-40B4-BE49-F238E27FC236}">
                <a16:creationId xmlns:a16="http://schemas.microsoft.com/office/drawing/2014/main" id="{A7BB0661-FF4C-ED8C-5174-ACDB51489842}"/>
              </a:ext>
            </a:extLst>
          </p:cNvPr>
          <p:cNvSpPr/>
          <p:nvPr/>
        </p:nvSpPr>
        <p:spPr>
          <a:xfrm>
            <a:off x="1813390" y="1884175"/>
            <a:ext cx="336498" cy="182696"/>
          </a:xfrm>
          <a:prstGeom prst="roundRect">
            <a:avLst>
              <a:gd name="adj" fmla="val 50000"/>
            </a:avLst>
          </a:prstGeom>
          <a:solidFill>
            <a:srgbClr val="0E1C2D"/>
          </a:solid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a:extLst>
              <a:ext uri="{FF2B5EF4-FFF2-40B4-BE49-F238E27FC236}">
                <a16:creationId xmlns:a16="http://schemas.microsoft.com/office/drawing/2014/main" id="{75BC0530-0098-0ACC-D378-EB42612CE31B}"/>
              </a:ext>
            </a:extLst>
          </p:cNvPr>
          <p:cNvSpPr/>
          <p:nvPr/>
        </p:nvSpPr>
        <p:spPr>
          <a:xfrm>
            <a:off x="1815090" y="1876161"/>
            <a:ext cx="174503" cy="184050"/>
          </a:xfrm>
          <a:prstGeom prst="ellipse">
            <a:avLst/>
          </a:prstGeom>
          <a:solidFill>
            <a:srgbClr val="1E31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a:extLst>
              <a:ext uri="{FF2B5EF4-FFF2-40B4-BE49-F238E27FC236}">
                <a16:creationId xmlns:a16="http://schemas.microsoft.com/office/drawing/2014/main" id="{2D9A9D40-FBF2-3352-F092-769A23D8ED4E}"/>
              </a:ext>
            </a:extLst>
          </p:cNvPr>
          <p:cNvSpPr/>
          <p:nvPr/>
        </p:nvSpPr>
        <p:spPr>
          <a:xfrm>
            <a:off x="758606" y="3066408"/>
            <a:ext cx="293929" cy="306770"/>
          </a:xfrm>
          <a:prstGeom prst="ellipse">
            <a:avLst/>
          </a:prstGeom>
          <a:solidFill>
            <a:srgbClr val="A32A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123C67CF-3988-0246-6DEB-5EA2AD8D885E}"/>
              </a:ext>
            </a:extLst>
          </p:cNvPr>
          <p:cNvSpPr/>
          <p:nvPr/>
        </p:nvSpPr>
        <p:spPr>
          <a:xfrm>
            <a:off x="758606" y="3513494"/>
            <a:ext cx="293929" cy="306770"/>
          </a:xfrm>
          <a:prstGeom prst="ellipse">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D8E2C597-19CD-8813-6F54-8B5B4DF5753F}"/>
              </a:ext>
            </a:extLst>
          </p:cNvPr>
          <p:cNvSpPr/>
          <p:nvPr/>
        </p:nvSpPr>
        <p:spPr>
          <a:xfrm>
            <a:off x="758606" y="3970226"/>
            <a:ext cx="293929" cy="306770"/>
          </a:xfrm>
          <a:prstGeom prst="ellipse">
            <a:avLst/>
          </a:prstGeom>
          <a:solidFill>
            <a:srgbClr val="FFC3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TextBox 88">
            <a:extLst>
              <a:ext uri="{FF2B5EF4-FFF2-40B4-BE49-F238E27FC236}">
                <a16:creationId xmlns:a16="http://schemas.microsoft.com/office/drawing/2014/main" id="{281C9723-7388-540F-A78C-C904FB1366E0}"/>
              </a:ext>
            </a:extLst>
          </p:cNvPr>
          <p:cNvSpPr txBox="1"/>
          <p:nvPr/>
        </p:nvSpPr>
        <p:spPr>
          <a:xfrm>
            <a:off x="1226477" y="3532367"/>
            <a:ext cx="970137" cy="261610"/>
          </a:xfrm>
          <a:prstGeom prst="rect">
            <a:avLst/>
          </a:prstGeom>
          <a:noFill/>
        </p:spPr>
        <p:txBody>
          <a:bodyPr wrap="none" rtlCol="0">
            <a:spAutoFit/>
          </a:bodyPr>
          <a:lstStyle>
            <a:defPPr>
              <a:defRPr lang="en-US"/>
            </a:defPPr>
            <a:lvl1pPr>
              <a:defRPr sz="1100">
                <a:solidFill>
                  <a:srgbClr val="E1E1E1"/>
                </a:solidFill>
              </a:defRPr>
            </a:lvl1pPr>
          </a:lstStyle>
          <a:p>
            <a:r>
              <a:rPr lang="en-US" dirty="0"/>
              <a:t>Implementor</a:t>
            </a:r>
          </a:p>
        </p:txBody>
      </p:sp>
      <p:sp>
        <p:nvSpPr>
          <p:cNvPr id="90" name="TextBox 89">
            <a:extLst>
              <a:ext uri="{FF2B5EF4-FFF2-40B4-BE49-F238E27FC236}">
                <a16:creationId xmlns:a16="http://schemas.microsoft.com/office/drawing/2014/main" id="{6D44F9EC-B78E-3B33-963D-68C80B95ED59}"/>
              </a:ext>
            </a:extLst>
          </p:cNvPr>
          <p:cNvSpPr txBox="1"/>
          <p:nvPr/>
        </p:nvSpPr>
        <p:spPr>
          <a:xfrm>
            <a:off x="1245503" y="3998201"/>
            <a:ext cx="559769" cy="261610"/>
          </a:xfrm>
          <a:prstGeom prst="rect">
            <a:avLst/>
          </a:prstGeom>
          <a:noFill/>
        </p:spPr>
        <p:txBody>
          <a:bodyPr wrap="none" rtlCol="0">
            <a:spAutoFit/>
          </a:bodyPr>
          <a:lstStyle>
            <a:defPPr>
              <a:defRPr lang="en-US"/>
            </a:defPPr>
            <a:lvl1pPr>
              <a:defRPr sz="1100">
                <a:solidFill>
                  <a:srgbClr val="E1E1E1"/>
                </a:solidFill>
              </a:defRPr>
            </a:lvl1pPr>
          </a:lstStyle>
          <a:p>
            <a:r>
              <a:rPr lang="en-US" dirty="0"/>
              <a:t>Tester</a:t>
            </a:r>
          </a:p>
        </p:txBody>
      </p:sp>
      <p:sp>
        <p:nvSpPr>
          <p:cNvPr id="91" name="TextBox 90">
            <a:extLst>
              <a:ext uri="{FF2B5EF4-FFF2-40B4-BE49-F238E27FC236}">
                <a16:creationId xmlns:a16="http://schemas.microsoft.com/office/drawing/2014/main" id="{56986B6E-AA73-7D1D-779C-F87125CB4744}"/>
              </a:ext>
            </a:extLst>
          </p:cNvPr>
          <p:cNvSpPr txBox="1"/>
          <p:nvPr/>
        </p:nvSpPr>
        <p:spPr>
          <a:xfrm>
            <a:off x="4260936" y="2611055"/>
            <a:ext cx="683200" cy="261610"/>
          </a:xfrm>
          <a:prstGeom prst="rect">
            <a:avLst/>
          </a:prstGeom>
          <a:noFill/>
        </p:spPr>
        <p:txBody>
          <a:bodyPr wrap="none" rtlCol="0">
            <a:spAutoFit/>
          </a:bodyPr>
          <a:lstStyle/>
          <a:p>
            <a:r>
              <a:rPr lang="en-US" sz="1100" i="1" dirty="0">
                <a:solidFill>
                  <a:srgbClr val="FFC000"/>
                </a:solidFill>
              </a:rPr>
              <a:t>Waiting.</a:t>
            </a:r>
          </a:p>
        </p:txBody>
      </p:sp>
      <p:pic>
        <p:nvPicPr>
          <p:cNvPr id="93" name="Graphic 92" descr="Information with solid fill">
            <a:extLst>
              <a:ext uri="{FF2B5EF4-FFF2-40B4-BE49-F238E27FC236}">
                <a16:creationId xmlns:a16="http://schemas.microsoft.com/office/drawing/2014/main" id="{38902D89-F3A6-CDF1-AA66-8F9CC62B5A7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2365" y="3102069"/>
            <a:ext cx="193473" cy="193473"/>
          </a:xfrm>
          <a:prstGeom prst="rect">
            <a:avLst/>
          </a:prstGeom>
        </p:spPr>
      </p:pic>
      <p:pic>
        <p:nvPicPr>
          <p:cNvPr id="94" name="Graphic 93" descr="Information with solid fill">
            <a:extLst>
              <a:ext uri="{FF2B5EF4-FFF2-40B4-BE49-F238E27FC236}">
                <a16:creationId xmlns:a16="http://schemas.microsoft.com/office/drawing/2014/main" id="{A88A2B46-8D99-0144-3E5F-7A025E3870C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2365" y="3553624"/>
            <a:ext cx="193473" cy="193473"/>
          </a:xfrm>
          <a:prstGeom prst="rect">
            <a:avLst/>
          </a:prstGeom>
        </p:spPr>
      </p:pic>
      <p:pic>
        <p:nvPicPr>
          <p:cNvPr id="95" name="Graphic 94" descr="Information with solid fill">
            <a:extLst>
              <a:ext uri="{FF2B5EF4-FFF2-40B4-BE49-F238E27FC236}">
                <a16:creationId xmlns:a16="http://schemas.microsoft.com/office/drawing/2014/main" id="{0F9F0B01-F2BB-7744-DF2D-46FC9401815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2364" y="4014063"/>
            <a:ext cx="193473" cy="193473"/>
          </a:xfrm>
          <a:prstGeom prst="rect">
            <a:avLst/>
          </a:prstGeom>
        </p:spPr>
      </p:pic>
      <p:sp>
        <p:nvSpPr>
          <p:cNvPr id="96" name="TextBox 95">
            <a:extLst>
              <a:ext uri="{FF2B5EF4-FFF2-40B4-BE49-F238E27FC236}">
                <a16:creationId xmlns:a16="http://schemas.microsoft.com/office/drawing/2014/main" id="{BF9691BE-9004-466F-F201-DEEE031C4145}"/>
              </a:ext>
            </a:extLst>
          </p:cNvPr>
          <p:cNvSpPr txBox="1"/>
          <p:nvPr/>
        </p:nvSpPr>
        <p:spPr>
          <a:xfrm>
            <a:off x="729726" y="3076054"/>
            <a:ext cx="460382" cy="282316"/>
          </a:xfrm>
          <a:prstGeom prst="rect">
            <a:avLst/>
          </a:prstGeom>
          <a:noFill/>
        </p:spPr>
        <p:txBody>
          <a:bodyPr wrap="square" rtlCol="0">
            <a:spAutoFit/>
          </a:bodyPr>
          <a:lstStyle/>
          <a:p>
            <a:r>
              <a:rPr lang="en-US" sz="1200" b="1" dirty="0">
                <a:solidFill>
                  <a:srgbClr val="0E1C2D"/>
                </a:solidFill>
              </a:rPr>
              <a:t>An</a:t>
            </a:r>
          </a:p>
        </p:txBody>
      </p:sp>
      <p:sp>
        <p:nvSpPr>
          <p:cNvPr id="97" name="TextBox 96">
            <a:extLst>
              <a:ext uri="{FF2B5EF4-FFF2-40B4-BE49-F238E27FC236}">
                <a16:creationId xmlns:a16="http://schemas.microsoft.com/office/drawing/2014/main" id="{614BBCF5-A859-78D3-E429-42B2DA02B706}"/>
              </a:ext>
            </a:extLst>
          </p:cNvPr>
          <p:cNvSpPr txBox="1"/>
          <p:nvPr/>
        </p:nvSpPr>
        <p:spPr>
          <a:xfrm>
            <a:off x="736070" y="3523140"/>
            <a:ext cx="460382" cy="282316"/>
          </a:xfrm>
          <a:prstGeom prst="rect">
            <a:avLst/>
          </a:prstGeom>
          <a:noFill/>
        </p:spPr>
        <p:txBody>
          <a:bodyPr wrap="square" rtlCol="0">
            <a:spAutoFit/>
          </a:bodyPr>
          <a:lstStyle/>
          <a:p>
            <a:r>
              <a:rPr lang="en-US" sz="1200" b="1" dirty="0" err="1">
                <a:solidFill>
                  <a:srgbClr val="0E1C2D"/>
                </a:solidFill>
              </a:rPr>
              <a:t>Im</a:t>
            </a:r>
            <a:endParaRPr lang="en-US" sz="1200" b="1" dirty="0">
              <a:solidFill>
                <a:srgbClr val="0E1C2D"/>
              </a:solidFill>
            </a:endParaRPr>
          </a:p>
        </p:txBody>
      </p:sp>
      <p:sp>
        <p:nvSpPr>
          <p:cNvPr id="98" name="TextBox 97">
            <a:extLst>
              <a:ext uri="{FF2B5EF4-FFF2-40B4-BE49-F238E27FC236}">
                <a16:creationId xmlns:a16="http://schemas.microsoft.com/office/drawing/2014/main" id="{3CD3D673-F15A-FFF3-C926-73D02DCAF64E}"/>
              </a:ext>
            </a:extLst>
          </p:cNvPr>
          <p:cNvSpPr txBox="1"/>
          <p:nvPr/>
        </p:nvSpPr>
        <p:spPr>
          <a:xfrm>
            <a:off x="736070" y="3989707"/>
            <a:ext cx="460382" cy="282316"/>
          </a:xfrm>
          <a:prstGeom prst="rect">
            <a:avLst/>
          </a:prstGeom>
          <a:noFill/>
        </p:spPr>
        <p:txBody>
          <a:bodyPr wrap="square" rtlCol="0">
            <a:spAutoFit/>
          </a:bodyPr>
          <a:lstStyle/>
          <a:p>
            <a:r>
              <a:rPr lang="en-US" sz="1200" b="1" dirty="0" err="1">
                <a:solidFill>
                  <a:srgbClr val="0E1C2D"/>
                </a:solidFill>
              </a:rPr>
              <a:t>Te</a:t>
            </a:r>
            <a:endParaRPr lang="en-US" sz="1200" b="1" dirty="0">
              <a:solidFill>
                <a:srgbClr val="0E1C2D"/>
              </a:solidFill>
            </a:endParaRPr>
          </a:p>
        </p:txBody>
      </p:sp>
      <p:sp>
        <p:nvSpPr>
          <p:cNvPr id="99" name="TextBox 98">
            <a:extLst>
              <a:ext uri="{FF2B5EF4-FFF2-40B4-BE49-F238E27FC236}">
                <a16:creationId xmlns:a16="http://schemas.microsoft.com/office/drawing/2014/main" id="{EDCF7990-7309-BD25-690E-4561C446B0EF}"/>
              </a:ext>
            </a:extLst>
          </p:cNvPr>
          <p:cNvSpPr txBox="1"/>
          <p:nvPr/>
        </p:nvSpPr>
        <p:spPr>
          <a:xfrm>
            <a:off x="4193614" y="2214394"/>
            <a:ext cx="886781" cy="246221"/>
          </a:xfrm>
          <a:prstGeom prst="rect">
            <a:avLst/>
          </a:prstGeom>
          <a:noFill/>
        </p:spPr>
        <p:txBody>
          <a:bodyPr wrap="none" rtlCol="0">
            <a:spAutoFit/>
          </a:bodyPr>
          <a:lstStyle/>
          <a:p>
            <a:pPr algn="ctr"/>
            <a:r>
              <a:rPr lang="en-US" sz="1000" dirty="0">
                <a:solidFill>
                  <a:srgbClr val="E1E1E1"/>
                </a:solidFill>
              </a:rPr>
              <a:t>Agent Status</a:t>
            </a:r>
          </a:p>
        </p:txBody>
      </p:sp>
      <p:sp>
        <p:nvSpPr>
          <p:cNvPr id="100" name="TextBox 99">
            <a:extLst>
              <a:ext uri="{FF2B5EF4-FFF2-40B4-BE49-F238E27FC236}">
                <a16:creationId xmlns:a16="http://schemas.microsoft.com/office/drawing/2014/main" id="{21FD370F-05B4-3621-1E25-AD79B1A02DE1}"/>
              </a:ext>
            </a:extLst>
          </p:cNvPr>
          <p:cNvSpPr txBox="1"/>
          <p:nvPr/>
        </p:nvSpPr>
        <p:spPr>
          <a:xfrm>
            <a:off x="7929117" y="2092323"/>
            <a:ext cx="772505" cy="400110"/>
          </a:xfrm>
          <a:prstGeom prst="rect">
            <a:avLst/>
          </a:prstGeom>
          <a:noFill/>
        </p:spPr>
        <p:txBody>
          <a:bodyPr wrap="square" rtlCol="0">
            <a:spAutoFit/>
          </a:bodyPr>
          <a:lstStyle/>
          <a:p>
            <a:pPr algn="ctr"/>
            <a:r>
              <a:rPr lang="en-US" sz="1000" dirty="0">
                <a:solidFill>
                  <a:srgbClr val="E1E1E1"/>
                </a:solidFill>
              </a:rPr>
              <a:t>Messages waiting</a:t>
            </a:r>
          </a:p>
        </p:txBody>
      </p:sp>
      <p:sp>
        <p:nvSpPr>
          <p:cNvPr id="114" name="TextBox 113">
            <a:extLst>
              <a:ext uri="{FF2B5EF4-FFF2-40B4-BE49-F238E27FC236}">
                <a16:creationId xmlns:a16="http://schemas.microsoft.com/office/drawing/2014/main" id="{4C5ED299-C8A4-3AAD-B669-DB4529AED02C}"/>
              </a:ext>
            </a:extLst>
          </p:cNvPr>
          <p:cNvSpPr txBox="1"/>
          <p:nvPr/>
        </p:nvSpPr>
        <p:spPr>
          <a:xfrm>
            <a:off x="7041082" y="2099303"/>
            <a:ext cx="772505" cy="400110"/>
          </a:xfrm>
          <a:prstGeom prst="rect">
            <a:avLst/>
          </a:prstGeom>
          <a:noFill/>
        </p:spPr>
        <p:txBody>
          <a:bodyPr wrap="square" rtlCol="0">
            <a:spAutoFit/>
          </a:bodyPr>
          <a:lstStyle/>
          <a:p>
            <a:pPr algn="ctr"/>
            <a:r>
              <a:rPr lang="en-US" sz="1000" dirty="0">
                <a:solidFill>
                  <a:srgbClr val="E1E1E1"/>
                </a:solidFill>
              </a:rPr>
              <a:t>Messages</a:t>
            </a:r>
          </a:p>
          <a:p>
            <a:pPr algn="ctr"/>
            <a:r>
              <a:rPr lang="en-US" sz="1000" dirty="0">
                <a:solidFill>
                  <a:srgbClr val="E1E1E1"/>
                </a:solidFill>
              </a:rPr>
              <a:t>Sent</a:t>
            </a:r>
          </a:p>
        </p:txBody>
      </p:sp>
      <p:sp>
        <p:nvSpPr>
          <p:cNvPr id="115" name="TextBox 114">
            <a:extLst>
              <a:ext uri="{FF2B5EF4-FFF2-40B4-BE49-F238E27FC236}">
                <a16:creationId xmlns:a16="http://schemas.microsoft.com/office/drawing/2014/main" id="{BE3B01BC-6690-A47B-48F1-7F58B6D90F49}"/>
              </a:ext>
            </a:extLst>
          </p:cNvPr>
          <p:cNvSpPr txBox="1"/>
          <p:nvPr/>
        </p:nvSpPr>
        <p:spPr>
          <a:xfrm>
            <a:off x="8932682" y="2112169"/>
            <a:ext cx="751053" cy="400110"/>
          </a:xfrm>
          <a:prstGeom prst="rect">
            <a:avLst/>
          </a:prstGeom>
          <a:noFill/>
        </p:spPr>
        <p:txBody>
          <a:bodyPr wrap="square" rtlCol="0">
            <a:spAutoFit/>
          </a:bodyPr>
          <a:lstStyle/>
          <a:p>
            <a:pPr algn="ctr"/>
            <a:r>
              <a:rPr lang="en-US" sz="1000" dirty="0">
                <a:solidFill>
                  <a:srgbClr val="E1E1E1"/>
                </a:solidFill>
              </a:rPr>
              <a:t>Messages Read</a:t>
            </a:r>
          </a:p>
        </p:txBody>
      </p:sp>
      <p:pic>
        <p:nvPicPr>
          <p:cNvPr id="117" name="Graphic 116" descr="Chat with solid fill">
            <a:extLst>
              <a:ext uri="{FF2B5EF4-FFF2-40B4-BE49-F238E27FC236}">
                <a16:creationId xmlns:a16="http://schemas.microsoft.com/office/drawing/2014/main" id="{5FB5F16E-1887-BA40-7616-9904BC31E96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305301" y="2637658"/>
            <a:ext cx="261610" cy="261610"/>
          </a:xfrm>
          <a:prstGeom prst="rect">
            <a:avLst/>
          </a:prstGeom>
        </p:spPr>
      </p:pic>
      <p:pic>
        <p:nvPicPr>
          <p:cNvPr id="118" name="Graphic 117" descr="Chat with solid fill">
            <a:extLst>
              <a:ext uri="{FF2B5EF4-FFF2-40B4-BE49-F238E27FC236}">
                <a16:creationId xmlns:a16="http://schemas.microsoft.com/office/drawing/2014/main" id="{8852BAEA-EB78-4769-8E3E-C8802CF55DD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297189" y="3068000"/>
            <a:ext cx="261610" cy="261610"/>
          </a:xfrm>
          <a:prstGeom prst="rect">
            <a:avLst/>
          </a:prstGeom>
        </p:spPr>
      </p:pic>
      <p:pic>
        <p:nvPicPr>
          <p:cNvPr id="119" name="Graphic 118" descr="Chat with solid fill">
            <a:extLst>
              <a:ext uri="{FF2B5EF4-FFF2-40B4-BE49-F238E27FC236}">
                <a16:creationId xmlns:a16="http://schemas.microsoft.com/office/drawing/2014/main" id="{4A62A8C6-4D8C-A4D6-2B79-1ADAE0C9B84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297189" y="3527404"/>
            <a:ext cx="261610" cy="261610"/>
          </a:xfrm>
          <a:prstGeom prst="rect">
            <a:avLst/>
          </a:prstGeom>
        </p:spPr>
      </p:pic>
      <p:pic>
        <p:nvPicPr>
          <p:cNvPr id="120" name="Graphic 119" descr="Chat with solid fill">
            <a:extLst>
              <a:ext uri="{FF2B5EF4-FFF2-40B4-BE49-F238E27FC236}">
                <a16:creationId xmlns:a16="http://schemas.microsoft.com/office/drawing/2014/main" id="{E6EFF461-16AB-BA72-1D69-F49FAD12551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310562" y="3991625"/>
            <a:ext cx="261610" cy="261610"/>
          </a:xfrm>
          <a:prstGeom prst="rect">
            <a:avLst/>
          </a:prstGeom>
        </p:spPr>
      </p:pic>
      <p:sp>
        <p:nvSpPr>
          <p:cNvPr id="136" name="TextBox 135">
            <a:extLst>
              <a:ext uri="{FF2B5EF4-FFF2-40B4-BE49-F238E27FC236}">
                <a16:creationId xmlns:a16="http://schemas.microsoft.com/office/drawing/2014/main" id="{A4559E0D-56B7-6FA3-5183-FC61CE50BE9A}"/>
              </a:ext>
            </a:extLst>
          </p:cNvPr>
          <p:cNvSpPr txBox="1"/>
          <p:nvPr/>
        </p:nvSpPr>
        <p:spPr>
          <a:xfrm>
            <a:off x="4253814" y="3982173"/>
            <a:ext cx="683200" cy="261610"/>
          </a:xfrm>
          <a:prstGeom prst="rect">
            <a:avLst/>
          </a:prstGeom>
          <a:noFill/>
        </p:spPr>
        <p:txBody>
          <a:bodyPr wrap="none" rtlCol="0">
            <a:spAutoFit/>
          </a:bodyPr>
          <a:lstStyle/>
          <a:p>
            <a:r>
              <a:rPr lang="en-US" sz="1100" i="1" dirty="0">
                <a:solidFill>
                  <a:srgbClr val="FFC000"/>
                </a:solidFill>
              </a:rPr>
              <a:t>Waiting.</a:t>
            </a:r>
          </a:p>
        </p:txBody>
      </p:sp>
      <p:pic>
        <p:nvPicPr>
          <p:cNvPr id="137" name="Graphic 136" descr="Play with solid fill">
            <a:extLst>
              <a:ext uri="{FF2B5EF4-FFF2-40B4-BE49-F238E27FC236}">
                <a16:creationId xmlns:a16="http://schemas.microsoft.com/office/drawing/2014/main" id="{738DA91B-B10C-CCA5-B33D-8797FD5FAF6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00374" y="3545730"/>
            <a:ext cx="193474" cy="193474"/>
          </a:xfrm>
          <a:prstGeom prst="rect">
            <a:avLst/>
          </a:prstGeom>
        </p:spPr>
      </p:pic>
      <p:pic>
        <p:nvPicPr>
          <p:cNvPr id="138" name="Graphic 137" descr="Play with solid fill">
            <a:extLst>
              <a:ext uri="{FF2B5EF4-FFF2-40B4-BE49-F238E27FC236}">
                <a16:creationId xmlns:a16="http://schemas.microsoft.com/office/drawing/2014/main" id="{8658FAA7-3D0A-0EE5-A751-181C8407BF7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02983" y="4004988"/>
            <a:ext cx="193474" cy="193474"/>
          </a:xfrm>
          <a:prstGeom prst="rect">
            <a:avLst/>
          </a:prstGeom>
        </p:spPr>
      </p:pic>
      <p:sp>
        <p:nvSpPr>
          <p:cNvPr id="14" name="TextBox 13">
            <a:extLst>
              <a:ext uri="{FF2B5EF4-FFF2-40B4-BE49-F238E27FC236}">
                <a16:creationId xmlns:a16="http://schemas.microsoft.com/office/drawing/2014/main" id="{242911E2-2554-09CF-1031-A10E9A95FC04}"/>
              </a:ext>
            </a:extLst>
          </p:cNvPr>
          <p:cNvSpPr txBox="1"/>
          <p:nvPr/>
        </p:nvSpPr>
        <p:spPr>
          <a:xfrm>
            <a:off x="8152537" y="2627083"/>
            <a:ext cx="260008" cy="261610"/>
          </a:xfrm>
          <a:prstGeom prst="rect">
            <a:avLst/>
          </a:prstGeom>
          <a:noFill/>
        </p:spPr>
        <p:txBody>
          <a:bodyPr wrap="square" rtlCol="0">
            <a:spAutoFit/>
          </a:bodyPr>
          <a:lstStyle/>
          <a:p>
            <a:r>
              <a:rPr lang="en-US" sz="1100" dirty="0">
                <a:solidFill>
                  <a:srgbClr val="E1E1E1"/>
                </a:solidFill>
              </a:rPr>
              <a:t>1</a:t>
            </a:r>
          </a:p>
        </p:txBody>
      </p:sp>
      <p:sp>
        <p:nvSpPr>
          <p:cNvPr id="19" name="TextBox 18">
            <a:extLst>
              <a:ext uri="{FF2B5EF4-FFF2-40B4-BE49-F238E27FC236}">
                <a16:creationId xmlns:a16="http://schemas.microsoft.com/office/drawing/2014/main" id="{DE600B8E-9231-CC1F-186E-072121123018}"/>
              </a:ext>
            </a:extLst>
          </p:cNvPr>
          <p:cNvSpPr txBox="1"/>
          <p:nvPr/>
        </p:nvSpPr>
        <p:spPr>
          <a:xfrm>
            <a:off x="8155156" y="3980155"/>
            <a:ext cx="260008" cy="261610"/>
          </a:xfrm>
          <a:prstGeom prst="rect">
            <a:avLst/>
          </a:prstGeom>
          <a:noFill/>
        </p:spPr>
        <p:txBody>
          <a:bodyPr wrap="square" rtlCol="0">
            <a:spAutoFit/>
          </a:bodyPr>
          <a:lstStyle/>
          <a:p>
            <a:r>
              <a:rPr lang="en-US" sz="1100" dirty="0">
                <a:solidFill>
                  <a:srgbClr val="E1E1E1"/>
                </a:solidFill>
              </a:rPr>
              <a:t>1</a:t>
            </a:r>
          </a:p>
        </p:txBody>
      </p:sp>
      <p:sp>
        <p:nvSpPr>
          <p:cNvPr id="20" name="TextBox 19">
            <a:extLst>
              <a:ext uri="{FF2B5EF4-FFF2-40B4-BE49-F238E27FC236}">
                <a16:creationId xmlns:a16="http://schemas.microsoft.com/office/drawing/2014/main" id="{2C3CF6B6-FB91-52D6-96C5-A4560F52B62D}"/>
              </a:ext>
            </a:extLst>
          </p:cNvPr>
          <p:cNvSpPr txBox="1"/>
          <p:nvPr/>
        </p:nvSpPr>
        <p:spPr>
          <a:xfrm>
            <a:off x="8155156" y="3496213"/>
            <a:ext cx="260008" cy="261610"/>
          </a:xfrm>
          <a:prstGeom prst="rect">
            <a:avLst/>
          </a:prstGeom>
          <a:noFill/>
        </p:spPr>
        <p:txBody>
          <a:bodyPr wrap="square" rtlCol="0">
            <a:spAutoFit/>
          </a:bodyPr>
          <a:lstStyle/>
          <a:p>
            <a:r>
              <a:rPr lang="en-US" sz="1100" dirty="0">
                <a:solidFill>
                  <a:srgbClr val="E1E1E1"/>
                </a:solidFill>
              </a:rPr>
              <a:t>1</a:t>
            </a:r>
          </a:p>
        </p:txBody>
      </p:sp>
      <p:sp>
        <p:nvSpPr>
          <p:cNvPr id="23" name="TextBox 22">
            <a:extLst>
              <a:ext uri="{FF2B5EF4-FFF2-40B4-BE49-F238E27FC236}">
                <a16:creationId xmlns:a16="http://schemas.microsoft.com/office/drawing/2014/main" id="{E8D3DBA2-E107-7052-A156-3857D6345FC0}"/>
              </a:ext>
            </a:extLst>
          </p:cNvPr>
          <p:cNvSpPr txBox="1"/>
          <p:nvPr/>
        </p:nvSpPr>
        <p:spPr>
          <a:xfrm>
            <a:off x="2947872" y="2209718"/>
            <a:ext cx="649537" cy="246221"/>
          </a:xfrm>
          <a:prstGeom prst="rect">
            <a:avLst/>
          </a:prstGeom>
          <a:noFill/>
        </p:spPr>
        <p:txBody>
          <a:bodyPr wrap="none" rtlCol="0">
            <a:spAutoFit/>
          </a:bodyPr>
          <a:lstStyle/>
          <a:p>
            <a:pPr algn="ctr"/>
            <a:r>
              <a:rPr lang="en-US" sz="1000" dirty="0">
                <a:solidFill>
                  <a:srgbClr val="E1E1E1"/>
                </a:solidFill>
              </a:rPr>
              <a:t>Agent ID</a:t>
            </a:r>
          </a:p>
        </p:txBody>
      </p:sp>
      <p:sp>
        <p:nvSpPr>
          <p:cNvPr id="28" name="TextBox 27">
            <a:extLst>
              <a:ext uri="{FF2B5EF4-FFF2-40B4-BE49-F238E27FC236}">
                <a16:creationId xmlns:a16="http://schemas.microsoft.com/office/drawing/2014/main" id="{CC1C87EA-6F1D-0D35-E429-DAED5744FB06}"/>
              </a:ext>
            </a:extLst>
          </p:cNvPr>
          <p:cNvSpPr txBox="1"/>
          <p:nvPr/>
        </p:nvSpPr>
        <p:spPr>
          <a:xfrm>
            <a:off x="2647311" y="2620646"/>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0" name="TextBox 29">
            <a:extLst>
              <a:ext uri="{FF2B5EF4-FFF2-40B4-BE49-F238E27FC236}">
                <a16:creationId xmlns:a16="http://schemas.microsoft.com/office/drawing/2014/main" id="{BFF917D5-7E0E-1632-FBA2-3B18C31ADC8D}"/>
              </a:ext>
            </a:extLst>
          </p:cNvPr>
          <p:cNvSpPr txBox="1"/>
          <p:nvPr/>
        </p:nvSpPr>
        <p:spPr>
          <a:xfrm>
            <a:off x="2647311" y="3086580"/>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1" name="TextBox 30">
            <a:extLst>
              <a:ext uri="{FF2B5EF4-FFF2-40B4-BE49-F238E27FC236}">
                <a16:creationId xmlns:a16="http://schemas.microsoft.com/office/drawing/2014/main" id="{AF6BCF0E-7C24-3DB3-ED49-CAD0A7BB48EE}"/>
              </a:ext>
            </a:extLst>
          </p:cNvPr>
          <p:cNvSpPr txBox="1"/>
          <p:nvPr/>
        </p:nvSpPr>
        <p:spPr>
          <a:xfrm>
            <a:off x="2647311" y="3545730"/>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2" name="TextBox 31">
            <a:extLst>
              <a:ext uri="{FF2B5EF4-FFF2-40B4-BE49-F238E27FC236}">
                <a16:creationId xmlns:a16="http://schemas.microsoft.com/office/drawing/2014/main" id="{AE57B9C5-CF7A-B50F-B2C4-17D9301A4AD1}"/>
              </a:ext>
            </a:extLst>
          </p:cNvPr>
          <p:cNvSpPr txBox="1"/>
          <p:nvPr/>
        </p:nvSpPr>
        <p:spPr>
          <a:xfrm>
            <a:off x="2636441" y="4004880"/>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3" name="TextBox 32">
            <a:extLst>
              <a:ext uri="{FF2B5EF4-FFF2-40B4-BE49-F238E27FC236}">
                <a16:creationId xmlns:a16="http://schemas.microsoft.com/office/drawing/2014/main" id="{2836CEB4-826C-1C02-3824-76D1D1BE9043}"/>
              </a:ext>
            </a:extLst>
          </p:cNvPr>
          <p:cNvSpPr txBox="1"/>
          <p:nvPr/>
        </p:nvSpPr>
        <p:spPr>
          <a:xfrm>
            <a:off x="5445208" y="2092323"/>
            <a:ext cx="772505" cy="400110"/>
          </a:xfrm>
          <a:prstGeom prst="rect">
            <a:avLst/>
          </a:prstGeom>
          <a:noFill/>
        </p:spPr>
        <p:txBody>
          <a:bodyPr wrap="square" rtlCol="0">
            <a:spAutoFit/>
          </a:bodyPr>
          <a:lstStyle/>
          <a:p>
            <a:pPr algn="ctr"/>
            <a:r>
              <a:rPr lang="en-US" sz="1000" dirty="0">
                <a:solidFill>
                  <a:srgbClr val="E1E1E1"/>
                </a:solidFill>
              </a:rPr>
              <a:t>Job </a:t>
            </a:r>
          </a:p>
          <a:p>
            <a:pPr algn="ctr"/>
            <a:r>
              <a:rPr lang="en-US" sz="1000" dirty="0">
                <a:solidFill>
                  <a:srgbClr val="E1E1E1"/>
                </a:solidFill>
              </a:rPr>
              <a:t>Read</a:t>
            </a:r>
          </a:p>
        </p:txBody>
      </p:sp>
      <p:sp>
        <p:nvSpPr>
          <p:cNvPr id="34" name="TextBox 33">
            <a:extLst>
              <a:ext uri="{FF2B5EF4-FFF2-40B4-BE49-F238E27FC236}">
                <a16:creationId xmlns:a16="http://schemas.microsoft.com/office/drawing/2014/main" id="{161FCDAA-CD82-08DB-F067-66440685524F}"/>
              </a:ext>
            </a:extLst>
          </p:cNvPr>
          <p:cNvSpPr txBox="1"/>
          <p:nvPr/>
        </p:nvSpPr>
        <p:spPr>
          <a:xfrm>
            <a:off x="6129630" y="2105765"/>
            <a:ext cx="1037054" cy="400110"/>
          </a:xfrm>
          <a:prstGeom prst="rect">
            <a:avLst/>
          </a:prstGeom>
          <a:noFill/>
        </p:spPr>
        <p:txBody>
          <a:bodyPr wrap="square" rtlCol="0">
            <a:spAutoFit/>
          </a:bodyPr>
          <a:lstStyle/>
          <a:p>
            <a:pPr algn="ctr"/>
            <a:r>
              <a:rPr lang="en-US" sz="1000" dirty="0">
                <a:solidFill>
                  <a:srgbClr val="E1E1E1"/>
                </a:solidFill>
              </a:rPr>
              <a:t>Job Acknowledged</a:t>
            </a:r>
          </a:p>
        </p:txBody>
      </p:sp>
      <p:cxnSp>
        <p:nvCxnSpPr>
          <p:cNvPr id="41" name="Straight Connector 40">
            <a:extLst>
              <a:ext uri="{FF2B5EF4-FFF2-40B4-BE49-F238E27FC236}">
                <a16:creationId xmlns:a16="http://schemas.microsoft.com/office/drawing/2014/main" id="{FCFAFB0C-D88F-2DB3-6881-E3FA68836992}"/>
              </a:ext>
            </a:extLst>
          </p:cNvPr>
          <p:cNvCxnSpPr>
            <a:cxnSpLocks/>
          </p:cNvCxnSpPr>
          <p:nvPr/>
        </p:nvCxnSpPr>
        <p:spPr>
          <a:xfrm>
            <a:off x="11391357" y="2585825"/>
            <a:ext cx="0" cy="2327883"/>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FF6463B6-A969-D1FB-FBC8-79C8437CBF98}"/>
              </a:ext>
            </a:extLst>
          </p:cNvPr>
          <p:cNvCxnSpPr>
            <a:cxnSpLocks/>
          </p:cNvCxnSpPr>
          <p:nvPr/>
        </p:nvCxnSpPr>
        <p:spPr>
          <a:xfrm>
            <a:off x="11391357" y="2585825"/>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B5649335-A644-FB98-4D6C-521C68DC9390}"/>
              </a:ext>
            </a:extLst>
          </p:cNvPr>
          <p:cNvCxnSpPr>
            <a:cxnSpLocks/>
          </p:cNvCxnSpPr>
          <p:nvPr/>
        </p:nvCxnSpPr>
        <p:spPr>
          <a:xfrm>
            <a:off x="11391357" y="2625072"/>
            <a:ext cx="0" cy="2327883"/>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6E73D3BC-6548-D4D9-F486-66C07A70A3FB}"/>
              </a:ext>
            </a:extLst>
          </p:cNvPr>
          <p:cNvCxnSpPr>
            <a:cxnSpLocks/>
          </p:cNvCxnSpPr>
          <p:nvPr/>
        </p:nvCxnSpPr>
        <p:spPr>
          <a:xfrm>
            <a:off x="11391357" y="2625072"/>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sp>
        <p:nvSpPr>
          <p:cNvPr id="45" name="Rectangle: Rounded Corners 44">
            <a:extLst>
              <a:ext uri="{FF2B5EF4-FFF2-40B4-BE49-F238E27FC236}">
                <a16:creationId xmlns:a16="http://schemas.microsoft.com/office/drawing/2014/main" id="{A6274D92-D32B-A754-5C51-C9159C9C5A8C}"/>
              </a:ext>
            </a:extLst>
          </p:cNvPr>
          <p:cNvSpPr/>
          <p:nvPr/>
        </p:nvSpPr>
        <p:spPr>
          <a:xfrm>
            <a:off x="3031449" y="5377380"/>
            <a:ext cx="5904873" cy="421811"/>
          </a:xfrm>
          <a:prstGeom prst="roundRect">
            <a:avLst>
              <a:gd name="adj" fmla="val 27474"/>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a:t>
            </a:r>
          </a:p>
        </p:txBody>
      </p:sp>
      <p:sp>
        <p:nvSpPr>
          <p:cNvPr id="46" name="Rectangle: Rounded Corners 45">
            <a:extLst>
              <a:ext uri="{FF2B5EF4-FFF2-40B4-BE49-F238E27FC236}">
                <a16:creationId xmlns:a16="http://schemas.microsoft.com/office/drawing/2014/main" id="{DF81BCDC-AE24-47FF-5640-4583C68E0EFA}"/>
              </a:ext>
            </a:extLst>
          </p:cNvPr>
          <p:cNvSpPr/>
          <p:nvPr/>
        </p:nvSpPr>
        <p:spPr>
          <a:xfrm>
            <a:off x="522553" y="5375748"/>
            <a:ext cx="1132255" cy="421811"/>
          </a:xfrm>
          <a:prstGeom prst="roundRect">
            <a:avLst>
              <a:gd name="adj" fmla="val 27474"/>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1E3147"/>
                </a:solidFill>
              </a:rPr>
              <a:t>Message Orchestrator</a:t>
            </a:r>
          </a:p>
        </p:txBody>
      </p:sp>
      <p:sp>
        <p:nvSpPr>
          <p:cNvPr id="47" name="Rectangle: Rounded Corners 46">
            <a:extLst>
              <a:ext uri="{FF2B5EF4-FFF2-40B4-BE49-F238E27FC236}">
                <a16:creationId xmlns:a16="http://schemas.microsoft.com/office/drawing/2014/main" id="{2CE76A9C-9E92-0555-B84F-E722519814A7}"/>
              </a:ext>
            </a:extLst>
          </p:cNvPr>
          <p:cNvSpPr/>
          <p:nvPr/>
        </p:nvSpPr>
        <p:spPr>
          <a:xfrm>
            <a:off x="1753756" y="5378268"/>
            <a:ext cx="1178745" cy="421811"/>
          </a:xfrm>
          <a:prstGeom prst="roundRect">
            <a:avLst>
              <a:gd name="adj" fmla="val 27474"/>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1E1E1"/>
                </a:solidFill>
              </a:rPr>
              <a:t>Broadcast</a:t>
            </a:r>
          </a:p>
        </p:txBody>
      </p:sp>
      <p:sp>
        <p:nvSpPr>
          <p:cNvPr id="50" name="Oval 49">
            <a:extLst>
              <a:ext uri="{FF2B5EF4-FFF2-40B4-BE49-F238E27FC236}">
                <a16:creationId xmlns:a16="http://schemas.microsoft.com/office/drawing/2014/main" id="{EC1410CA-A834-5F7F-902B-6707E324E9E3}"/>
              </a:ext>
            </a:extLst>
          </p:cNvPr>
          <p:cNvSpPr/>
          <p:nvPr/>
        </p:nvSpPr>
        <p:spPr>
          <a:xfrm>
            <a:off x="8997072" y="5441706"/>
            <a:ext cx="293929" cy="306770"/>
          </a:xfrm>
          <a:prstGeom prst="ellipse">
            <a:avLst/>
          </a:prstGeom>
          <a:solidFill>
            <a:srgbClr val="FFC3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 name="Graphic 48" descr="Play with solid fill">
            <a:extLst>
              <a:ext uri="{FF2B5EF4-FFF2-40B4-BE49-F238E27FC236}">
                <a16:creationId xmlns:a16="http://schemas.microsoft.com/office/drawing/2014/main" id="{29F2300C-686A-8F4C-8479-60562CF5B53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073173" y="5507713"/>
            <a:ext cx="174755" cy="174755"/>
          </a:xfrm>
          <a:prstGeom prst="rect">
            <a:avLst/>
          </a:prstGeom>
        </p:spPr>
      </p:pic>
      <p:sp>
        <p:nvSpPr>
          <p:cNvPr id="52" name="TextBox 51">
            <a:extLst>
              <a:ext uri="{FF2B5EF4-FFF2-40B4-BE49-F238E27FC236}">
                <a16:creationId xmlns:a16="http://schemas.microsoft.com/office/drawing/2014/main" id="{BCF8E9CE-A3BA-0933-B6A0-D47FD176853B}"/>
              </a:ext>
            </a:extLst>
          </p:cNvPr>
          <p:cNvSpPr txBox="1"/>
          <p:nvPr/>
        </p:nvSpPr>
        <p:spPr>
          <a:xfrm>
            <a:off x="6107504" y="252789"/>
            <a:ext cx="4610081" cy="1077218"/>
          </a:xfrm>
          <a:prstGeom prst="rect">
            <a:avLst/>
          </a:prstGeom>
          <a:noFill/>
        </p:spPr>
        <p:txBody>
          <a:bodyPr wrap="square" rtlCol="0">
            <a:spAutoFit/>
          </a:bodyPr>
          <a:lstStyle/>
          <a:p>
            <a:pPr algn="ctr"/>
            <a:r>
              <a:rPr lang="en-US" sz="3200" dirty="0">
                <a:solidFill>
                  <a:schemeClr val="accent5">
                    <a:lumMod val="60000"/>
                    <a:lumOff val="40000"/>
                  </a:schemeClr>
                </a:solidFill>
              </a:rPr>
              <a:t>STATUS BOARD Variant MVP</a:t>
            </a:r>
          </a:p>
        </p:txBody>
      </p:sp>
      <p:sp>
        <p:nvSpPr>
          <p:cNvPr id="53" name="TextBox 52">
            <a:extLst>
              <a:ext uri="{FF2B5EF4-FFF2-40B4-BE49-F238E27FC236}">
                <a16:creationId xmlns:a16="http://schemas.microsoft.com/office/drawing/2014/main" id="{53839ADA-B772-A03B-573F-85EF6E08BE75}"/>
              </a:ext>
            </a:extLst>
          </p:cNvPr>
          <p:cNvSpPr txBox="1"/>
          <p:nvPr/>
        </p:nvSpPr>
        <p:spPr>
          <a:xfrm>
            <a:off x="39778" y="47732"/>
            <a:ext cx="3312061" cy="369332"/>
          </a:xfrm>
          <a:prstGeom prst="rect">
            <a:avLst/>
          </a:prstGeom>
          <a:noFill/>
        </p:spPr>
        <p:txBody>
          <a:bodyPr wrap="none" rtlCol="0">
            <a:spAutoFit/>
          </a:bodyPr>
          <a:lstStyle/>
          <a:p>
            <a:r>
              <a:rPr lang="en-US" dirty="0">
                <a:solidFill>
                  <a:schemeClr val="accent5">
                    <a:lumMod val="60000"/>
                    <a:lumOff val="40000"/>
                  </a:schemeClr>
                </a:solidFill>
              </a:rPr>
              <a:t>SLIDE 4b – Implementation Tab.</a:t>
            </a:r>
          </a:p>
        </p:txBody>
      </p:sp>
      <p:pic>
        <p:nvPicPr>
          <p:cNvPr id="54" name="Graphic 53" descr="Play with solid fill">
            <a:extLst>
              <a:ext uri="{FF2B5EF4-FFF2-40B4-BE49-F238E27FC236}">
                <a16:creationId xmlns:a16="http://schemas.microsoft.com/office/drawing/2014/main" id="{9576D50B-FFAA-D962-3659-3DDA0F330CA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979845" y="2671726"/>
            <a:ext cx="193474" cy="193474"/>
          </a:xfrm>
          <a:prstGeom prst="rect">
            <a:avLst/>
          </a:prstGeom>
        </p:spPr>
      </p:pic>
      <p:pic>
        <p:nvPicPr>
          <p:cNvPr id="59" name="Graphic 58" descr="Play with solid fill">
            <a:extLst>
              <a:ext uri="{FF2B5EF4-FFF2-40B4-BE49-F238E27FC236}">
                <a16:creationId xmlns:a16="http://schemas.microsoft.com/office/drawing/2014/main" id="{50092D53-C4A4-FA62-146F-5CD97B148C9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955195" y="3096151"/>
            <a:ext cx="193474" cy="193474"/>
          </a:xfrm>
          <a:prstGeom prst="rect">
            <a:avLst/>
          </a:prstGeom>
        </p:spPr>
      </p:pic>
      <p:sp>
        <p:nvSpPr>
          <p:cNvPr id="61" name="TextBox 60">
            <a:extLst>
              <a:ext uri="{FF2B5EF4-FFF2-40B4-BE49-F238E27FC236}">
                <a16:creationId xmlns:a16="http://schemas.microsoft.com/office/drawing/2014/main" id="{C3CEEAA9-247B-5976-C4DA-735B9BE3D7B0}"/>
              </a:ext>
            </a:extLst>
          </p:cNvPr>
          <p:cNvSpPr txBox="1"/>
          <p:nvPr/>
        </p:nvSpPr>
        <p:spPr>
          <a:xfrm>
            <a:off x="4250868" y="3548989"/>
            <a:ext cx="683200" cy="261610"/>
          </a:xfrm>
          <a:prstGeom prst="rect">
            <a:avLst/>
          </a:prstGeom>
          <a:noFill/>
        </p:spPr>
        <p:txBody>
          <a:bodyPr wrap="none" rtlCol="0">
            <a:spAutoFit/>
          </a:bodyPr>
          <a:lstStyle/>
          <a:p>
            <a:r>
              <a:rPr lang="en-US" sz="1100" i="1" dirty="0">
                <a:solidFill>
                  <a:srgbClr val="FFC000"/>
                </a:solidFill>
              </a:rPr>
              <a:t>Waiting.</a:t>
            </a:r>
          </a:p>
        </p:txBody>
      </p:sp>
      <p:sp>
        <p:nvSpPr>
          <p:cNvPr id="62" name="TextBox 61">
            <a:extLst>
              <a:ext uri="{FF2B5EF4-FFF2-40B4-BE49-F238E27FC236}">
                <a16:creationId xmlns:a16="http://schemas.microsoft.com/office/drawing/2014/main" id="{9A2B1A8C-F4A4-CB87-2DA2-9282CF0CA0D0}"/>
              </a:ext>
            </a:extLst>
          </p:cNvPr>
          <p:cNvSpPr txBox="1"/>
          <p:nvPr/>
        </p:nvSpPr>
        <p:spPr>
          <a:xfrm>
            <a:off x="4253599" y="3080702"/>
            <a:ext cx="683200" cy="261610"/>
          </a:xfrm>
          <a:prstGeom prst="rect">
            <a:avLst/>
          </a:prstGeom>
          <a:noFill/>
        </p:spPr>
        <p:txBody>
          <a:bodyPr wrap="none" rtlCol="0">
            <a:spAutoFit/>
          </a:bodyPr>
          <a:lstStyle/>
          <a:p>
            <a:r>
              <a:rPr lang="en-US" sz="1100" i="1" dirty="0">
                <a:solidFill>
                  <a:srgbClr val="FFC000"/>
                </a:solidFill>
              </a:rPr>
              <a:t>Waiting.</a:t>
            </a:r>
          </a:p>
        </p:txBody>
      </p:sp>
      <p:sp>
        <p:nvSpPr>
          <p:cNvPr id="7" name="TextBox 6">
            <a:extLst>
              <a:ext uri="{FF2B5EF4-FFF2-40B4-BE49-F238E27FC236}">
                <a16:creationId xmlns:a16="http://schemas.microsoft.com/office/drawing/2014/main" id="{1734C60A-5E4C-39B7-DA55-E9697A3B6622}"/>
              </a:ext>
            </a:extLst>
          </p:cNvPr>
          <p:cNvSpPr txBox="1"/>
          <p:nvPr/>
        </p:nvSpPr>
        <p:spPr>
          <a:xfrm>
            <a:off x="7260027" y="2637913"/>
            <a:ext cx="260008" cy="261610"/>
          </a:xfrm>
          <a:prstGeom prst="rect">
            <a:avLst/>
          </a:prstGeom>
          <a:noFill/>
        </p:spPr>
        <p:txBody>
          <a:bodyPr wrap="square" rtlCol="0">
            <a:spAutoFit/>
          </a:bodyPr>
          <a:lstStyle/>
          <a:p>
            <a:r>
              <a:rPr lang="en-US" sz="1100" dirty="0">
                <a:solidFill>
                  <a:srgbClr val="E1E1E1"/>
                </a:solidFill>
              </a:rPr>
              <a:t>4</a:t>
            </a:r>
          </a:p>
        </p:txBody>
      </p:sp>
      <p:sp>
        <p:nvSpPr>
          <p:cNvPr id="8" name="TextBox 7">
            <a:extLst>
              <a:ext uri="{FF2B5EF4-FFF2-40B4-BE49-F238E27FC236}">
                <a16:creationId xmlns:a16="http://schemas.microsoft.com/office/drawing/2014/main" id="{E0DBC0FC-787F-FE5E-A190-A6346E244DE8}"/>
              </a:ext>
            </a:extLst>
          </p:cNvPr>
          <p:cNvSpPr txBox="1"/>
          <p:nvPr/>
        </p:nvSpPr>
        <p:spPr>
          <a:xfrm>
            <a:off x="8152537" y="3076054"/>
            <a:ext cx="260008" cy="261610"/>
          </a:xfrm>
          <a:prstGeom prst="rect">
            <a:avLst/>
          </a:prstGeom>
          <a:noFill/>
        </p:spPr>
        <p:txBody>
          <a:bodyPr wrap="square" rtlCol="0">
            <a:spAutoFit/>
          </a:bodyPr>
          <a:lstStyle/>
          <a:p>
            <a:r>
              <a:rPr lang="en-US" sz="1100" dirty="0">
                <a:solidFill>
                  <a:srgbClr val="E1E1E1"/>
                </a:solidFill>
              </a:rPr>
              <a:t>1</a:t>
            </a:r>
          </a:p>
        </p:txBody>
      </p:sp>
      <p:sp>
        <p:nvSpPr>
          <p:cNvPr id="11" name="TextBox 10">
            <a:extLst>
              <a:ext uri="{FF2B5EF4-FFF2-40B4-BE49-F238E27FC236}">
                <a16:creationId xmlns:a16="http://schemas.microsoft.com/office/drawing/2014/main" id="{00A67922-8F1E-20F4-D00F-EC0E1D12A769}"/>
              </a:ext>
            </a:extLst>
          </p:cNvPr>
          <p:cNvSpPr txBox="1"/>
          <p:nvPr/>
        </p:nvSpPr>
        <p:spPr>
          <a:xfrm>
            <a:off x="390687" y="6097720"/>
            <a:ext cx="3420476" cy="646331"/>
          </a:xfrm>
          <a:prstGeom prst="rect">
            <a:avLst/>
          </a:prstGeom>
          <a:solidFill>
            <a:schemeClr val="accent3">
              <a:lumMod val="75000"/>
            </a:schemeClr>
          </a:solidFill>
          <a:ln>
            <a:solidFill>
              <a:schemeClr val="accent5">
                <a:lumMod val="60000"/>
                <a:lumOff val="40000"/>
              </a:schemeClr>
            </a:solidFill>
          </a:ln>
        </p:spPr>
        <p:txBody>
          <a:bodyPr wrap="square" rtlCol="0">
            <a:spAutoFit/>
          </a:bodyPr>
          <a:lstStyle/>
          <a:p>
            <a:r>
              <a:rPr lang="en-US" dirty="0">
                <a:solidFill>
                  <a:schemeClr val="bg1"/>
                </a:solidFill>
              </a:rPr>
              <a:t>General CLI MODE</a:t>
            </a:r>
          </a:p>
          <a:p>
            <a:r>
              <a:rPr lang="en-US" dirty="0">
                <a:solidFill>
                  <a:schemeClr val="bg1"/>
                </a:solidFill>
              </a:rPr>
              <a:t>(individual terminals for agents</a:t>
            </a:r>
          </a:p>
        </p:txBody>
      </p:sp>
      <p:sp>
        <p:nvSpPr>
          <p:cNvPr id="102" name="Rectangle 101">
            <a:extLst>
              <a:ext uri="{FF2B5EF4-FFF2-40B4-BE49-F238E27FC236}">
                <a16:creationId xmlns:a16="http://schemas.microsoft.com/office/drawing/2014/main" id="{61942841-85B2-2220-92B5-40932C78748E}"/>
              </a:ext>
            </a:extLst>
          </p:cNvPr>
          <p:cNvSpPr/>
          <p:nvPr/>
        </p:nvSpPr>
        <p:spPr>
          <a:xfrm>
            <a:off x="3343493" y="423526"/>
            <a:ext cx="2143429" cy="914400"/>
          </a:xfrm>
          <a:prstGeom prst="rect">
            <a:avLst/>
          </a:prstGeom>
          <a:no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5">
                    <a:lumMod val="60000"/>
                    <a:lumOff val="40000"/>
                  </a:schemeClr>
                </a:solidFill>
              </a:rPr>
              <a:t>Starting state Claude Code CLI toggle OFF</a:t>
            </a:r>
          </a:p>
        </p:txBody>
      </p:sp>
      <p:cxnSp>
        <p:nvCxnSpPr>
          <p:cNvPr id="103" name="Connector: Elbow 102">
            <a:extLst>
              <a:ext uri="{FF2B5EF4-FFF2-40B4-BE49-F238E27FC236}">
                <a16:creationId xmlns:a16="http://schemas.microsoft.com/office/drawing/2014/main" id="{BBCFCB9F-2FF7-C162-5C86-2D7D5FA232EA}"/>
              </a:ext>
            </a:extLst>
          </p:cNvPr>
          <p:cNvCxnSpPr>
            <a:cxnSpLocks/>
            <a:stCxn id="102" idx="2"/>
          </p:cNvCxnSpPr>
          <p:nvPr/>
        </p:nvCxnSpPr>
        <p:spPr>
          <a:xfrm rot="5400000">
            <a:off x="2963750" y="524064"/>
            <a:ext cx="637597" cy="2265320"/>
          </a:xfrm>
          <a:prstGeom prst="bentConnector2">
            <a:avLst/>
          </a:prstGeom>
          <a:ln>
            <a:tailEnd type="triangle"/>
          </a:ln>
        </p:spPr>
        <p:style>
          <a:lnRef idx="2">
            <a:schemeClr val="accent5"/>
          </a:lnRef>
          <a:fillRef idx="0">
            <a:schemeClr val="accent5"/>
          </a:fillRef>
          <a:effectRef idx="1">
            <a:schemeClr val="accent5"/>
          </a:effectRef>
          <a:fontRef idx="minor">
            <a:schemeClr val="tx1"/>
          </a:fontRef>
        </p:style>
      </p:cxnSp>
    </p:spTree>
    <p:extLst>
      <p:ext uri="{BB962C8B-B14F-4D97-AF65-F5344CB8AC3E}">
        <p14:creationId xmlns:p14="http://schemas.microsoft.com/office/powerpoint/2010/main" val="37558545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E1C2D"/>
        </a:solidFill>
        <a:effectLst/>
      </p:bgPr>
    </p:bg>
    <p:spTree>
      <p:nvGrpSpPr>
        <p:cNvPr id="1" name="">
          <a:extLst>
            <a:ext uri="{FF2B5EF4-FFF2-40B4-BE49-F238E27FC236}">
              <a16:creationId xmlns:a16="http://schemas.microsoft.com/office/drawing/2014/main" id="{B20E31AD-D86B-4E0A-36A5-F57BC7290AC2}"/>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8D466D7B-FE56-B186-D276-57FC63ACBB03}"/>
              </a:ext>
            </a:extLst>
          </p:cNvPr>
          <p:cNvSpPr/>
          <p:nvPr/>
        </p:nvSpPr>
        <p:spPr>
          <a:xfrm>
            <a:off x="503403" y="1334840"/>
            <a:ext cx="2218513" cy="1071163"/>
          </a:xfrm>
          <a:prstGeom prst="roundRect">
            <a:avLst>
              <a:gd name="adj" fmla="val 15806"/>
            </a:avLst>
          </a:prstGeom>
          <a:no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1EA3E998-A475-4890-FB32-B93D73A70888}"/>
              </a:ext>
            </a:extLst>
          </p:cNvPr>
          <p:cNvSpPr txBox="1"/>
          <p:nvPr/>
        </p:nvSpPr>
        <p:spPr>
          <a:xfrm>
            <a:off x="516531" y="677075"/>
            <a:ext cx="2514919" cy="553998"/>
          </a:xfrm>
          <a:prstGeom prst="rect">
            <a:avLst/>
          </a:prstGeom>
          <a:noFill/>
        </p:spPr>
        <p:txBody>
          <a:bodyPr wrap="none" rtlCol="0">
            <a:spAutoFit/>
          </a:bodyPr>
          <a:lstStyle/>
          <a:p>
            <a:r>
              <a:rPr lang="en-US" dirty="0">
                <a:solidFill>
                  <a:srgbClr val="E1E1E1"/>
                </a:solidFill>
              </a:rPr>
              <a:t>Project: </a:t>
            </a:r>
            <a:r>
              <a:rPr lang="en-US" dirty="0">
                <a:solidFill>
                  <a:srgbClr val="FFC300"/>
                </a:solidFill>
              </a:rPr>
              <a:t>{</a:t>
            </a:r>
            <a:r>
              <a:rPr lang="en-US" dirty="0" err="1">
                <a:solidFill>
                  <a:srgbClr val="FFC300"/>
                </a:solidFill>
              </a:rPr>
              <a:t>project_name</a:t>
            </a:r>
            <a:r>
              <a:rPr lang="en-US" dirty="0">
                <a:solidFill>
                  <a:srgbClr val="FFC300"/>
                </a:solidFill>
              </a:rPr>
              <a:t>}</a:t>
            </a:r>
          </a:p>
          <a:p>
            <a:r>
              <a:rPr lang="en-US" sz="1200" dirty="0">
                <a:solidFill>
                  <a:srgbClr val="8F97B7"/>
                </a:solidFill>
              </a:rPr>
              <a:t>Project ID: {</a:t>
            </a:r>
            <a:r>
              <a:rPr lang="en-US" sz="1200" dirty="0" err="1">
                <a:solidFill>
                  <a:srgbClr val="8F97B7"/>
                </a:solidFill>
              </a:rPr>
              <a:t>full_UUID</a:t>
            </a:r>
            <a:r>
              <a:rPr lang="en-US" sz="1200" dirty="0">
                <a:solidFill>
                  <a:srgbClr val="8F97B7"/>
                </a:solidFill>
              </a:rPr>
              <a:t>}</a:t>
            </a:r>
          </a:p>
        </p:txBody>
      </p:sp>
      <p:sp>
        <p:nvSpPr>
          <p:cNvPr id="3" name="Rectangle: Rounded Corners 2">
            <a:extLst>
              <a:ext uri="{FF2B5EF4-FFF2-40B4-BE49-F238E27FC236}">
                <a16:creationId xmlns:a16="http://schemas.microsoft.com/office/drawing/2014/main" id="{98E6EFB9-086A-B804-439A-7ACD99930DC1}"/>
              </a:ext>
            </a:extLst>
          </p:cNvPr>
          <p:cNvSpPr/>
          <p:nvPr/>
        </p:nvSpPr>
        <p:spPr>
          <a:xfrm>
            <a:off x="1643382" y="1342292"/>
            <a:ext cx="1805578" cy="969932"/>
          </a:xfrm>
          <a:prstGeom prst="roundRect">
            <a:avLst>
              <a:gd name="adj" fmla="val 17766"/>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FEE632F-CB26-A1D4-81D4-7EEAFF8389CC}"/>
              </a:ext>
            </a:extLst>
          </p:cNvPr>
          <p:cNvSpPr txBox="1"/>
          <p:nvPr/>
        </p:nvSpPr>
        <p:spPr>
          <a:xfrm>
            <a:off x="682981" y="1327205"/>
            <a:ext cx="929678" cy="369332"/>
          </a:xfrm>
          <a:prstGeom prst="rect">
            <a:avLst/>
          </a:prstGeom>
          <a:noFill/>
        </p:spPr>
        <p:txBody>
          <a:bodyPr wrap="none" rtlCol="0">
            <a:spAutoFit/>
          </a:bodyPr>
          <a:lstStyle/>
          <a:p>
            <a:r>
              <a:rPr lang="en-US" dirty="0">
                <a:solidFill>
                  <a:srgbClr val="1E3147"/>
                </a:solidFill>
              </a:rPr>
              <a:t>Launch</a:t>
            </a:r>
          </a:p>
        </p:txBody>
      </p:sp>
      <p:sp>
        <p:nvSpPr>
          <p:cNvPr id="6" name="Rectangle: Rounded Corners 5">
            <a:extLst>
              <a:ext uri="{FF2B5EF4-FFF2-40B4-BE49-F238E27FC236}">
                <a16:creationId xmlns:a16="http://schemas.microsoft.com/office/drawing/2014/main" id="{3F5BE8C0-C8B9-05C0-748F-7E963BFB5A5E}"/>
              </a:ext>
            </a:extLst>
          </p:cNvPr>
          <p:cNvSpPr/>
          <p:nvPr/>
        </p:nvSpPr>
        <p:spPr>
          <a:xfrm>
            <a:off x="503403" y="1668256"/>
            <a:ext cx="11185191" cy="3476117"/>
          </a:xfrm>
          <a:prstGeom prst="roundRect">
            <a:avLst>
              <a:gd name="adj" fmla="val 5962"/>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EC3DB3EC-0207-AB4B-6819-0DC19B2F7B38}"/>
              </a:ext>
            </a:extLst>
          </p:cNvPr>
          <p:cNvSpPr/>
          <p:nvPr/>
        </p:nvSpPr>
        <p:spPr>
          <a:xfrm>
            <a:off x="1654808" y="1622562"/>
            <a:ext cx="1787171" cy="287650"/>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8C6598E1-EE5E-70A0-3E5A-E341976448F9}"/>
              </a:ext>
            </a:extLst>
          </p:cNvPr>
          <p:cNvSpPr/>
          <p:nvPr/>
        </p:nvSpPr>
        <p:spPr>
          <a:xfrm>
            <a:off x="758606" y="2617315"/>
            <a:ext cx="293929" cy="306770"/>
          </a:xfrm>
          <a:prstGeom prst="ellipse">
            <a:avLst/>
          </a:prstGeom>
          <a:solidFill>
            <a:srgbClr val="A9866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046A7011-D776-E8CD-40A3-AD39DEB71C6E}"/>
              </a:ext>
            </a:extLst>
          </p:cNvPr>
          <p:cNvSpPr txBox="1"/>
          <p:nvPr/>
        </p:nvSpPr>
        <p:spPr>
          <a:xfrm>
            <a:off x="1899316" y="1330953"/>
            <a:ext cx="1444177" cy="369332"/>
          </a:xfrm>
          <a:prstGeom prst="rect">
            <a:avLst/>
          </a:prstGeom>
          <a:noFill/>
        </p:spPr>
        <p:txBody>
          <a:bodyPr wrap="square" rtlCol="0">
            <a:spAutoFit/>
          </a:bodyPr>
          <a:lstStyle/>
          <a:p>
            <a:r>
              <a:rPr lang="en-US" dirty="0">
                <a:solidFill>
                  <a:srgbClr val="8F97B7"/>
                </a:solidFill>
              </a:rPr>
              <a:t>Implement</a:t>
            </a:r>
          </a:p>
        </p:txBody>
      </p:sp>
      <p:sp>
        <p:nvSpPr>
          <p:cNvPr id="24" name="TextBox 23">
            <a:extLst>
              <a:ext uri="{FF2B5EF4-FFF2-40B4-BE49-F238E27FC236}">
                <a16:creationId xmlns:a16="http://schemas.microsoft.com/office/drawing/2014/main" id="{EECC2368-34F6-D046-5D4D-F9FA5777B5DB}"/>
              </a:ext>
            </a:extLst>
          </p:cNvPr>
          <p:cNvSpPr txBox="1"/>
          <p:nvPr/>
        </p:nvSpPr>
        <p:spPr>
          <a:xfrm>
            <a:off x="738137" y="2624295"/>
            <a:ext cx="460382" cy="282316"/>
          </a:xfrm>
          <a:prstGeom prst="rect">
            <a:avLst/>
          </a:prstGeom>
          <a:noFill/>
        </p:spPr>
        <p:txBody>
          <a:bodyPr wrap="square" rtlCol="0">
            <a:spAutoFit/>
          </a:bodyPr>
          <a:lstStyle/>
          <a:p>
            <a:r>
              <a:rPr lang="en-US" sz="1200" b="1" dirty="0">
                <a:solidFill>
                  <a:srgbClr val="0E1C2D"/>
                </a:solidFill>
              </a:rPr>
              <a:t>Or</a:t>
            </a:r>
          </a:p>
        </p:txBody>
      </p:sp>
      <p:sp>
        <p:nvSpPr>
          <p:cNvPr id="27" name="TextBox 26">
            <a:extLst>
              <a:ext uri="{FF2B5EF4-FFF2-40B4-BE49-F238E27FC236}">
                <a16:creationId xmlns:a16="http://schemas.microsoft.com/office/drawing/2014/main" id="{7E0C8C91-FD9D-D63D-5BBB-8B56DA4C714E}"/>
              </a:ext>
            </a:extLst>
          </p:cNvPr>
          <p:cNvSpPr txBox="1"/>
          <p:nvPr/>
        </p:nvSpPr>
        <p:spPr>
          <a:xfrm>
            <a:off x="1184559" y="2638386"/>
            <a:ext cx="965329" cy="261610"/>
          </a:xfrm>
          <a:prstGeom prst="rect">
            <a:avLst/>
          </a:prstGeom>
          <a:noFill/>
        </p:spPr>
        <p:txBody>
          <a:bodyPr wrap="none" rtlCol="0">
            <a:spAutoFit/>
          </a:bodyPr>
          <a:lstStyle/>
          <a:p>
            <a:r>
              <a:rPr lang="en-US" sz="1100" dirty="0">
                <a:solidFill>
                  <a:srgbClr val="E1E1E1"/>
                </a:solidFill>
              </a:rPr>
              <a:t>Orchestrator</a:t>
            </a:r>
          </a:p>
        </p:txBody>
      </p:sp>
      <p:pic>
        <p:nvPicPr>
          <p:cNvPr id="29" name="Graphic 28" descr="Information with solid fill">
            <a:extLst>
              <a:ext uri="{FF2B5EF4-FFF2-40B4-BE49-F238E27FC236}">
                <a16:creationId xmlns:a16="http://schemas.microsoft.com/office/drawing/2014/main" id="{FA709800-C286-69C4-4365-33874B6A58C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3975" y="2661152"/>
            <a:ext cx="193473" cy="193473"/>
          </a:xfrm>
          <a:prstGeom prst="rect">
            <a:avLst/>
          </a:prstGeom>
        </p:spPr>
      </p:pic>
      <p:sp>
        <p:nvSpPr>
          <p:cNvPr id="16" name="TextBox 15">
            <a:extLst>
              <a:ext uri="{FF2B5EF4-FFF2-40B4-BE49-F238E27FC236}">
                <a16:creationId xmlns:a16="http://schemas.microsoft.com/office/drawing/2014/main" id="{33CEFDD1-604F-025E-DB4B-6211323B0771}"/>
              </a:ext>
            </a:extLst>
          </p:cNvPr>
          <p:cNvSpPr txBox="1"/>
          <p:nvPr/>
        </p:nvSpPr>
        <p:spPr>
          <a:xfrm>
            <a:off x="1226477" y="3087372"/>
            <a:ext cx="705642" cy="261610"/>
          </a:xfrm>
          <a:prstGeom prst="rect">
            <a:avLst/>
          </a:prstGeom>
          <a:noFill/>
        </p:spPr>
        <p:txBody>
          <a:bodyPr wrap="none" rtlCol="0">
            <a:spAutoFit/>
          </a:bodyPr>
          <a:lstStyle>
            <a:defPPr>
              <a:defRPr lang="en-US"/>
            </a:defPPr>
            <a:lvl1pPr>
              <a:defRPr sz="1100">
                <a:solidFill>
                  <a:srgbClr val="E1E1E1"/>
                </a:solidFill>
              </a:defRPr>
            </a:lvl1pPr>
          </a:lstStyle>
          <a:p>
            <a:r>
              <a:rPr lang="en-US" dirty="0"/>
              <a:t>Analyzer</a:t>
            </a:r>
          </a:p>
        </p:txBody>
      </p:sp>
      <p:cxnSp>
        <p:nvCxnSpPr>
          <p:cNvPr id="75" name="Straight Connector 74">
            <a:extLst>
              <a:ext uri="{FF2B5EF4-FFF2-40B4-BE49-F238E27FC236}">
                <a16:creationId xmlns:a16="http://schemas.microsoft.com/office/drawing/2014/main" id="{7EF89E22-BD18-08FC-BB5B-08EB12919DCE}"/>
              </a:ext>
            </a:extLst>
          </p:cNvPr>
          <p:cNvCxnSpPr>
            <a:cxnSpLocks/>
          </p:cNvCxnSpPr>
          <p:nvPr/>
        </p:nvCxnSpPr>
        <p:spPr>
          <a:xfrm>
            <a:off x="652293" y="2505875"/>
            <a:ext cx="10203544" cy="6404"/>
          </a:xfrm>
          <a:prstGeom prst="line">
            <a:avLst/>
          </a:prstGeom>
          <a:ln>
            <a:solidFill>
              <a:srgbClr val="1E3147"/>
            </a:solidFill>
          </a:ln>
        </p:spPr>
        <p:style>
          <a:lnRef idx="2">
            <a:schemeClr val="accent1"/>
          </a:lnRef>
          <a:fillRef idx="0">
            <a:schemeClr val="accent1"/>
          </a:fillRef>
          <a:effectRef idx="1">
            <a:schemeClr val="accent1"/>
          </a:effectRef>
          <a:fontRef idx="minor">
            <a:schemeClr val="tx1"/>
          </a:fontRef>
        </p:style>
      </p:cxnSp>
      <p:sp>
        <p:nvSpPr>
          <p:cNvPr id="77" name="TextBox 76">
            <a:extLst>
              <a:ext uri="{FF2B5EF4-FFF2-40B4-BE49-F238E27FC236}">
                <a16:creationId xmlns:a16="http://schemas.microsoft.com/office/drawing/2014/main" id="{1CD14850-2A26-C6D3-E075-FA6877E46AE8}"/>
              </a:ext>
            </a:extLst>
          </p:cNvPr>
          <p:cNvSpPr txBox="1"/>
          <p:nvPr/>
        </p:nvSpPr>
        <p:spPr>
          <a:xfrm>
            <a:off x="1274326" y="2217384"/>
            <a:ext cx="785793" cy="246221"/>
          </a:xfrm>
          <a:prstGeom prst="rect">
            <a:avLst/>
          </a:prstGeom>
          <a:noFill/>
        </p:spPr>
        <p:txBody>
          <a:bodyPr wrap="none" rtlCol="0">
            <a:spAutoFit/>
          </a:bodyPr>
          <a:lstStyle/>
          <a:p>
            <a:pPr algn="ctr"/>
            <a:r>
              <a:rPr lang="en-US" sz="1000" dirty="0">
                <a:solidFill>
                  <a:srgbClr val="E1E1E1"/>
                </a:solidFill>
              </a:rPr>
              <a:t>Agent Type</a:t>
            </a:r>
          </a:p>
        </p:txBody>
      </p:sp>
      <p:sp>
        <p:nvSpPr>
          <p:cNvPr id="78" name="TextBox 77">
            <a:extLst>
              <a:ext uri="{FF2B5EF4-FFF2-40B4-BE49-F238E27FC236}">
                <a16:creationId xmlns:a16="http://schemas.microsoft.com/office/drawing/2014/main" id="{B1AF6A8D-CB5A-F371-A748-6F5D7BAD7835}"/>
              </a:ext>
            </a:extLst>
          </p:cNvPr>
          <p:cNvSpPr txBox="1"/>
          <p:nvPr/>
        </p:nvSpPr>
        <p:spPr>
          <a:xfrm>
            <a:off x="662149" y="1838089"/>
            <a:ext cx="1202573" cy="246221"/>
          </a:xfrm>
          <a:prstGeom prst="rect">
            <a:avLst/>
          </a:prstGeom>
          <a:noFill/>
        </p:spPr>
        <p:txBody>
          <a:bodyPr wrap="none" rtlCol="0">
            <a:spAutoFit/>
          </a:bodyPr>
          <a:lstStyle/>
          <a:p>
            <a:r>
              <a:rPr lang="en-US" sz="1000" dirty="0">
                <a:solidFill>
                  <a:srgbClr val="E1E1E1"/>
                </a:solidFill>
              </a:rPr>
              <a:t>Claude Subagents</a:t>
            </a:r>
          </a:p>
        </p:txBody>
      </p:sp>
      <p:sp>
        <p:nvSpPr>
          <p:cNvPr id="80" name="Rectangle: Rounded Corners 79">
            <a:extLst>
              <a:ext uri="{FF2B5EF4-FFF2-40B4-BE49-F238E27FC236}">
                <a16:creationId xmlns:a16="http://schemas.microsoft.com/office/drawing/2014/main" id="{39D5CE8A-DB7D-E662-BE19-204DE11A3487}"/>
              </a:ext>
            </a:extLst>
          </p:cNvPr>
          <p:cNvSpPr/>
          <p:nvPr/>
        </p:nvSpPr>
        <p:spPr>
          <a:xfrm>
            <a:off x="1813390" y="1884175"/>
            <a:ext cx="336498" cy="182696"/>
          </a:xfrm>
          <a:prstGeom prst="roundRect">
            <a:avLst>
              <a:gd name="adj" fmla="val 50000"/>
            </a:avLst>
          </a:prstGeom>
          <a:solidFill>
            <a:srgbClr val="0E1C2D"/>
          </a:solid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a:extLst>
              <a:ext uri="{FF2B5EF4-FFF2-40B4-BE49-F238E27FC236}">
                <a16:creationId xmlns:a16="http://schemas.microsoft.com/office/drawing/2014/main" id="{134B15A2-550A-9FA4-3017-0F7F2E6ECEBD}"/>
              </a:ext>
            </a:extLst>
          </p:cNvPr>
          <p:cNvSpPr/>
          <p:nvPr/>
        </p:nvSpPr>
        <p:spPr>
          <a:xfrm>
            <a:off x="1815090" y="1876161"/>
            <a:ext cx="174503" cy="184050"/>
          </a:xfrm>
          <a:prstGeom prst="ellipse">
            <a:avLst/>
          </a:prstGeom>
          <a:solidFill>
            <a:srgbClr val="1E31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a:extLst>
              <a:ext uri="{FF2B5EF4-FFF2-40B4-BE49-F238E27FC236}">
                <a16:creationId xmlns:a16="http://schemas.microsoft.com/office/drawing/2014/main" id="{5AA8BD28-ACD3-131E-3451-C9BCF8A332FD}"/>
              </a:ext>
            </a:extLst>
          </p:cNvPr>
          <p:cNvSpPr/>
          <p:nvPr/>
        </p:nvSpPr>
        <p:spPr>
          <a:xfrm>
            <a:off x="758606" y="3066408"/>
            <a:ext cx="293929" cy="306770"/>
          </a:xfrm>
          <a:prstGeom prst="ellipse">
            <a:avLst/>
          </a:prstGeom>
          <a:solidFill>
            <a:srgbClr val="A32A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1593CDD7-6D1C-6102-671B-128AAF23B126}"/>
              </a:ext>
            </a:extLst>
          </p:cNvPr>
          <p:cNvSpPr/>
          <p:nvPr/>
        </p:nvSpPr>
        <p:spPr>
          <a:xfrm>
            <a:off x="758606" y="3513494"/>
            <a:ext cx="293929" cy="306770"/>
          </a:xfrm>
          <a:prstGeom prst="ellipse">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C3189281-799F-EF06-8049-2CE4BC2EC493}"/>
              </a:ext>
            </a:extLst>
          </p:cNvPr>
          <p:cNvSpPr/>
          <p:nvPr/>
        </p:nvSpPr>
        <p:spPr>
          <a:xfrm>
            <a:off x="758606" y="3970226"/>
            <a:ext cx="293929" cy="306770"/>
          </a:xfrm>
          <a:prstGeom prst="ellipse">
            <a:avLst/>
          </a:prstGeom>
          <a:solidFill>
            <a:srgbClr val="FFC3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TextBox 88">
            <a:extLst>
              <a:ext uri="{FF2B5EF4-FFF2-40B4-BE49-F238E27FC236}">
                <a16:creationId xmlns:a16="http://schemas.microsoft.com/office/drawing/2014/main" id="{78813D6B-C4BB-4270-78E9-D17AA207C4A1}"/>
              </a:ext>
            </a:extLst>
          </p:cNvPr>
          <p:cNvSpPr txBox="1"/>
          <p:nvPr/>
        </p:nvSpPr>
        <p:spPr>
          <a:xfrm>
            <a:off x="1226477" y="3532367"/>
            <a:ext cx="970137" cy="261610"/>
          </a:xfrm>
          <a:prstGeom prst="rect">
            <a:avLst/>
          </a:prstGeom>
          <a:noFill/>
        </p:spPr>
        <p:txBody>
          <a:bodyPr wrap="none" rtlCol="0">
            <a:spAutoFit/>
          </a:bodyPr>
          <a:lstStyle>
            <a:defPPr>
              <a:defRPr lang="en-US"/>
            </a:defPPr>
            <a:lvl1pPr>
              <a:defRPr sz="1100">
                <a:solidFill>
                  <a:srgbClr val="E1E1E1"/>
                </a:solidFill>
              </a:defRPr>
            </a:lvl1pPr>
          </a:lstStyle>
          <a:p>
            <a:r>
              <a:rPr lang="en-US" dirty="0"/>
              <a:t>Implementor</a:t>
            </a:r>
          </a:p>
        </p:txBody>
      </p:sp>
      <p:sp>
        <p:nvSpPr>
          <p:cNvPr id="90" name="TextBox 89">
            <a:extLst>
              <a:ext uri="{FF2B5EF4-FFF2-40B4-BE49-F238E27FC236}">
                <a16:creationId xmlns:a16="http://schemas.microsoft.com/office/drawing/2014/main" id="{6A56B1BB-1A44-F5F9-7915-EB9AB58B6FA2}"/>
              </a:ext>
            </a:extLst>
          </p:cNvPr>
          <p:cNvSpPr txBox="1"/>
          <p:nvPr/>
        </p:nvSpPr>
        <p:spPr>
          <a:xfrm>
            <a:off x="1245503" y="3998201"/>
            <a:ext cx="559769" cy="261610"/>
          </a:xfrm>
          <a:prstGeom prst="rect">
            <a:avLst/>
          </a:prstGeom>
          <a:noFill/>
        </p:spPr>
        <p:txBody>
          <a:bodyPr wrap="none" rtlCol="0">
            <a:spAutoFit/>
          </a:bodyPr>
          <a:lstStyle>
            <a:defPPr>
              <a:defRPr lang="en-US"/>
            </a:defPPr>
            <a:lvl1pPr>
              <a:defRPr sz="1100">
                <a:solidFill>
                  <a:srgbClr val="E1E1E1"/>
                </a:solidFill>
              </a:defRPr>
            </a:lvl1pPr>
          </a:lstStyle>
          <a:p>
            <a:r>
              <a:rPr lang="en-US" dirty="0"/>
              <a:t>Tester</a:t>
            </a:r>
          </a:p>
        </p:txBody>
      </p:sp>
      <p:sp>
        <p:nvSpPr>
          <p:cNvPr id="91" name="TextBox 90">
            <a:extLst>
              <a:ext uri="{FF2B5EF4-FFF2-40B4-BE49-F238E27FC236}">
                <a16:creationId xmlns:a16="http://schemas.microsoft.com/office/drawing/2014/main" id="{FFD23290-FEE9-3F70-2BE5-5FDEB3333DA5}"/>
              </a:ext>
            </a:extLst>
          </p:cNvPr>
          <p:cNvSpPr txBox="1"/>
          <p:nvPr/>
        </p:nvSpPr>
        <p:spPr>
          <a:xfrm>
            <a:off x="4260936" y="2611055"/>
            <a:ext cx="683200" cy="261610"/>
          </a:xfrm>
          <a:prstGeom prst="rect">
            <a:avLst/>
          </a:prstGeom>
          <a:noFill/>
        </p:spPr>
        <p:txBody>
          <a:bodyPr wrap="none" rtlCol="0">
            <a:spAutoFit/>
          </a:bodyPr>
          <a:lstStyle/>
          <a:p>
            <a:r>
              <a:rPr lang="en-US" sz="1100" i="1" dirty="0">
                <a:solidFill>
                  <a:srgbClr val="FFC000"/>
                </a:solidFill>
              </a:rPr>
              <a:t>Waiting.</a:t>
            </a:r>
          </a:p>
        </p:txBody>
      </p:sp>
      <p:pic>
        <p:nvPicPr>
          <p:cNvPr id="93" name="Graphic 92" descr="Information with solid fill">
            <a:extLst>
              <a:ext uri="{FF2B5EF4-FFF2-40B4-BE49-F238E27FC236}">
                <a16:creationId xmlns:a16="http://schemas.microsoft.com/office/drawing/2014/main" id="{A55FD444-903E-234A-7386-CEB7F0FBA74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2365" y="3102069"/>
            <a:ext cx="193473" cy="193473"/>
          </a:xfrm>
          <a:prstGeom prst="rect">
            <a:avLst/>
          </a:prstGeom>
        </p:spPr>
      </p:pic>
      <p:pic>
        <p:nvPicPr>
          <p:cNvPr id="94" name="Graphic 93" descr="Information with solid fill">
            <a:extLst>
              <a:ext uri="{FF2B5EF4-FFF2-40B4-BE49-F238E27FC236}">
                <a16:creationId xmlns:a16="http://schemas.microsoft.com/office/drawing/2014/main" id="{8217ABB9-61E7-E66A-992D-3F23E20993E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2365" y="3553624"/>
            <a:ext cx="193473" cy="193473"/>
          </a:xfrm>
          <a:prstGeom prst="rect">
            <a:avLst/>
          </a:prstGeom>
        </p:spPr>
      </p:pic>
      <p:pic>
        <p:nvPicPr>
          <p:cNvPr id="95" name="Graphic 94" descr="Information with solid fill">
            <a:extLst>
              <a:ext uri="{FF2B5EF4-FFF2-40B4-BE49-F238E27FC236}">
                <a16:creationId xmlns:a16="http://schemas.microsoft.com/office/drawing/2014/main" id="{5C57F190-0D8A-4831-ABAA-3C85DBDC5B8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2364" y="4014063"/>
            <a:ext cx="193473" cy="193473"/>
          </a:xfrm>
          <a:prstGeom prst="rect">
            <a:avLst/>
          </a:prstGeom>
        </p:spPr>
      </p:pic>
      <p:sp>
        <p:nvSpPr>
          <p:cNvPr id="96" name="TextBox 95">
            <a:extLst>
              <a:ext uri="{FF2B5EF4-FFF2-40B4-BE49-F238E27FC236}">
                <a16:creationId xmlns:a16="http://schemas.microsoft.com/office/drawing/2014/main" id="{18430385-0C3C-D379-762F-B29286E8FE81}"/>
              </a:ext>
            </a:extLst>
          </p:cNvPr>
          <p:cNvSpPr txBox="1"/>
          <p:nvPr/>
        </p:nvSpPr>
        <p:spPr>
          <a:xfrm>
            <a:off x="729726" y="3076054"/>
            <a:ext cx="460382" cy="282316"/>
          </a:xfrm>
          <a:prstGeom prst="rect">
            <a:avLst/>
          </a:prstGeom>
          <a:noFill/>
        </p:spPr>
        <p:txBody>
          <a:bodyPr wrap="square" rtlCol="0">
            <a:spAutoFit/>
          </a:bodyPr>
          <a:lstStyle/>
          <a:p>
            <a:r>
              <a:rPr lang="en-US" sz="1200" b="1" dirty="0">
                <a:solidFill>
                  <a:srgbClr val="0E1C2D"/>
                </a:solidFill>
              </a:rPr>
              <a:t>An</a:t>
            </a:r>
          </a:p>
        </p:txBody>
      </p:sp>
      <p:sp>
        <p:nvSpPr>
          <p:cNvPr id="97" name="TextBox 96">
            <a:extLst>
              <a:ext uri="{FF2B5EF4-FFF2-40B4-BE49-F238E27FC236}">
                <a16:creationId xmlns:a16="http://schemas.microsoft.com/office/drawing/2014/main" id="{9572E4A7-8DA3-091C-3F0F-96884D727AF2}"/>
              </a:ext>
            </a:extLst>
          </p:cNvPr>
          <p:cNvSpPr txBox="1"/>
          <p:nvPr/>
        </p:nvSpPr>
        <p:spPr>
          <a:xfrm>
            <a:off x="736070" y="3523140"/>
            <a:ext cx="460382" cy="282316"/>
          </a:xfrm>
          <a:prstGeom prst="rect">
            <a:avLst/>
          </a:prstGeom>
          <a:noFill/>
        </p:spPr>
        <p:txBody>
          <a:bodyPr wrap="square" rtlCol="0">
            <a:spAutoFit/>
          </a:bodyPr>
          <a:lstStyle/>
          <a:p>
            <a:r>
              <a:rPr lang="en-US" sz="1200" b="1" dirty="0" err="1">
                <a:solidFill>
                  <a:srgbClr val="0E1C2D"/>
                </a:solidFill>
              </a:rPr>
              <a:t>Im</a:t>
            </a:r>
            <a:endParaRPr lang="en-US" sz="1200" b="1" dirty="0">
              <a:solidFill>
                <a:srgbClr val="0E1C2D"/>
              </a:solidFill>
            </a:endParaRPr>
          </a:p>
        </p:txBody>
      </p:sp>
      <p:sp>
        <p:nvSpPr>
          <p:cNvPr id="98" name="TextBox 97">
            <a:extLst>
              <a:ext uri="{FF2B5EF4-FFF2-40B4-BE49-F238E27FC236}">
                <a16:creationId xmlns:a16="http://schemas.microsoft.com/office/drawing/2014/main" id="{A9AC2CBA-5302-3A51-E519-3E29C033C0C3}"/>
              </a:ext>
            </a:extLst>
          </p:cNvPr>
          <p:cNvSpPr txBox="1"/>
          <p:nvPr/>
        </p:nvSpPr>
        <p:spPr>
          <a:xfrm>
            <a:off x="736070" y="3989707"/>
            <a:ext cx="460382" cy="282316"/>
          </a:xfrm>
          <a:prstGeom prst="rect">
            <a:avLst/>
          </a:prstGeom>
          <a:noFill/>
        </p:spPr>
        <p:txBody>
          <a:bodyPr wrap="square" rtlCol="0">
            <a:spAutoFit/>
          </a:bodyPr>
          <a:lstStyle/>
          <a:p>
            <a:r>
              <a:rPr lang="en-US" sz="1200" b="1" dirty="0" err="1">
                <a:solidFill>
                  <a:srgbClr val="0E1C2D"/>
                </a:solidFill>
              </a:rPr>
              <a:t>Te</a:t>
            </a:r>
            <a:endParaRPr lang="en-US" sz="1200" b="1" dirty="0">
              <a:solidFill>
                <a:srgbClr val="0E1C2D"/>
              </a:solidFill>
            </a:endParaRPr>
          </a:p>
        </p:txBody>
      </p:sp>
      <p:sp>
        <p:nvSpPr>
          <p:cNvPr id="99" name="TextBox 98">
            <a:extLst>
              <a:ext uri="{FF2B5EF4-FFF2-40B4-BE49-F238E27FC236}">
                <a16:creationId xmlns:a16="http://schemas.microsoft.com/office/drawing/2014/main" id="{F69164C2-09CC-A15B-ECC4-0861ADB2F2CF}"/>
              </a:ext>
            </a:extLst>
          </p:cNvPr>
          <p:cNvSpPr txBox="1"/>
          <p:nvPr/>
        </p:nvSpPr>
        <p:spPr>
          <a:xfrm>
            <a:off x="4193614" y="2214394"/>
            <a:ext cx="886781" cy="246221"/>
          </a:xfrm>
          <a:prstGeom prst="rect">
            <a:avLst/>
          </a:prstGeom>
          <a:noFill/>
        </p:spPr>
        <p:txBody>
          <a:bodyPr wrap="none" rtlCol="0">
            <a:spAutoFit/>
          </a:bodyPr>
          <a:lstStyle/>
          <a:p>
            <a:pPr algn="ctr"/>
            <a:r>
              <a:rPr lang="en-US" sz="1000" dirty="0">
                <a:solidFill>
                  <a:srgbClr val="E1E1E1"/>
                </a:solidFill>
              </a:rPr>
              <a:t>Agent Status</a:t>
            </a:r>
          </a:p>
        </p:txBody>
      </p:sp>
      <p:sp>
        <p:nvSpPr>
          <p:cNvPr id="100" name="TextBox 99">
            <a:extLst>
              <a:ext uri="{FF2B5EF4-FFF2-40B4-BE49-F238E27FC236}">
                <a16:creationId xmlns:a16="http://schemas.microsoft.com/office/drawing/2014/main" id="{B69DAE4A-32A4-7607-F732-E611A9979BD8}"/>
              </a:ext>
            </a:extLst>
          </p:cNvPr>
          <p:cNvSpPr txBox="1"/>
          <p:nvPr/>
        </p:nvSpPr>
        <p:spPr>
          <a:xfrm>
            <a:off x="7929117" y="2092323"/>
            <a:ext cx="772505" cy="400110"/>
          </a:xfrm>
          <a:prstGeom prst="rect">
            <a:avLst/>
          </a:prstGeom>
          <a:noFill/>
        </p:spPr>
        <p:txBody>
          <a:bodyPr wrap="square" rtlCol="0">
            <a:spAutoFit/>
          </a:bodyPr>
          <a:lstStyle/>
          <a:p>
            <a:pPr algn="ctr"/>
            <a:r>
              <a:rPr lang="en-US" sz="1000" dirty="0">
                <a:solidFill>
                  <a:srgbClr val="E1E1E1"/>
                </a:solidFill>
              </a:rPr>
              <a:t>Messages waiting</a:t>
            </a:r>
          </a:p>
        </p:txBody>
      </p:sp>
      <p:sp>
        <p:nvSpPr>
          <p:cNvPr id="114" name="TextBox 113">
            <a:extLst>
              <a:ext uri="{FF2B5EF4-FFF2-40B4-BE49-F238E27FC236}">
                <a16:creationId xmlns:a16="http://schemas.microsoft.com/office/drawing/2014/main" id="{EE41CE8E-256B-7B16-DD72-4B9BB1F152E3}"/>
              </a:ext>
            </a:extLst>
          </p:cNvPr>
          <p:cNvSpPr txBox="1"/>
          <p:nvPr/>
        </p:nvSpPr>
        <p:spPr>
          <a:xfrm>
            <a:off x="7041082" y="2099303"/>
            <a:ext cx="772505" cy="400110"/>
          </a:xfrm>
          <a:prstGeom prst="rect">
            <a:avLst/>
          </a:prstGeom>
          <a:noFill/>
        </p:spPr>
        <p:txBody>
          <a:bodyPr wrap="square" rtlCol="0">
            <a:spAutoFit/>
          </a:bodyPr>
          <a:lstStyle/>
          <a:p>
            <a:pPr algn="ctr"/>
            <a:r>
              <a:rPr lang="en-US" sz="1000" dirty="0">
                <a:solidFill>
                  <a:srgbClr val="E1E1E1"/>
                </a:solidFill>
              </a:rPr>
              <a:t>Messages</a:t>
            </a:r>
          </a:p>
          <a:p>
            <a:pPr algn="ctr"/>
            <a:r>
              <a:rPr lang="en-US" sz="1000" dirty="0">
                <a:solidFill>
                  <a:srgbClr val="E1E1E1"/>
                </a:solidFill>
              </a:rPr>
              <a:t>Sent</a:t>
            </a:r>
          </a:p>
        </p:txBody>
      </p:sp>
      <p:sp>
        <p:nvSpPr>
          <p:cNvPr id="115" name="TextBox 114">
            <a:extLst>
              <a:ext uri="{FF2B5EF4-FFF2-40B4-BE49-F238E27FC236}">
                <a16:creationId xmlns:a16="http://schemas.microsoft.com/office/drawing/2014/main" id="{36801C11-9D9D-E123-D642-B5B217BDF1E6}"/>
              </a:ext>
            </a:extLst>
          </p:cNvPr>
          <p:cNvSpPr txBox="1"/>
          <p:nvPr/>
        </p:nvSpPr>
        <p:spPr>
          <a:xfrm>
            <a:off x="8932682" y="2112169"/>
            <a:ext cx="751053" cy="400110"/>
          </a:xfrm>
          <a:prstGeom prst="rect">
            <a:avLst/>
          </a:prstGeom>
          <a:noFill/>
        </p:spPr>
        <p:txBody>
          <a:bodyPr wrap="square" rtlCol="0">
            <a:spAutoFit/>
          </a:bodyPr>
          <a:lstStyle/>
          <a:p>
            <a:pPr algn="ctr"/>
            <a:r>
              <a:rPr lang="en-US" sz="1000" dirty="0">
                <a:solidFill>
                  <a:srgbClr val="E1E1E1"/>
                </a:solidFill>
              </a:rPr>
              <a:t>Messages Read</a:t>
            </a:r>
          </a:p>
        </p:txBody>
      </p:sp>
      <p:pic>
        <p:nvPicPr>
          <p:cNvPr id="117" name="Graphic 116" descr="Chat with solid fill">
            <a:extLst>
              <a:ext uri="{FF2B5EF4-FFF2-40B4-BE49-F238E27FC236}">
                <a16:creationId xmlns:a16="http://schemas.microsoft.com/office/drawing/2014/main" id="{EBB297D3-FB4D-EE22-60A7-AFE4AD01282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305301" y="2637658"/>
            <a:ext cx="261610" cy="261610"/>
          </a:xfrm>
          <a:prstGeom prst="rect">
            <a:avLst/>
          </a:prstGeom>
        </p:spPr>
      </p:pic>
      <p:pic>
        <p:nvPicPr>
          <p:cNvPr id="118" name="Graphic 117" descr="Chat with solid fill">
            <a:extLst>
              <a:ext uri="{FF2B5EF4-FFF2-40B4-BE49-F238E27FC236}">
                <a16:creationId xmlns:a16="http://schemas.microsoft.com/office/drawing/2014/main" id="{B269917F-3888-B4C0-7BE7-8EA9AC156CF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297189" y="3068000"/>
            <a:ext cx="261610" cy="261610"/>
          </a:xfrm>
          <a:prstGeom prst="rect">
            <a:avLst/>
          </a:prstGeom>
        </p:spPr>
      </p:pic>
      <p:pic>
        <p:nvPicPr>
          <p:cNvPr id="119" name="Graphic 118" descr="Chat with solid fill">
            <a:extLst>
              <a:ext uri="{FF2B5EF4-FFF2-40B4-BE49-F238E27FC236}">
                <a16:creationId xmlns:a16="http://schemas.microsoft.com/office/drawing/2014/main" id="{BBAA694B-A959-2180-002E-56BE9AC666F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297189" y="3527404"/>
            <a:ext cx="261610" cy="261610"/>
          </a:xfrm>
          <a:prstGeom prst="rect">
            <a:avLst/>
          </a:prstGeom>
        </p:spPr>
      </p:pic>
      <p:pic>
        <p:nvPicPr>
          <p:cNvPr id="120" name="Graphic 119" descr="Chat with solid fill">
            <a:extLst>
              <a:ext uri="{FF2B5EF4-FFF2-40B4-BE49-F238E27FC236}">
                <a16:creationId xmlns:a16="http://schemas.microsoft.com/office/drawing/2014/main" id="{EFE9B842-B9CC-A473-AF93-D2B3BA6719F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310562" y="3991625"/>
            <a:ext cx="261610" cy="261610"/>
          </a:xfrm>
          <a:prstGeom prst="rect">
            <a:avLst/>
          </a:prstGeom>
        </p:spPr>
      </p:pic>
      <p:sp>
        <p:nvSpPr>
          <p:cNvPr id="136" name="TextBox 135">
            <a:extLst>
              <a:ext uri="{FF2B5EF4-FFF2-40B4-BE49-F238E27FC236}">
                <a16:creationId xmlns:a16="http://schemas.microsoft.com/office/drawing/2014/main" id="{A48CDBF4-462C-142B-3F24-63CA82DDD186}"/>
              </a:ext>
            </a:extLst>
          </p:cNvPr>
          <p:cNvSpPr txBox="1"/>
          <p:nvPr/>
        </p:nvSpPr>
        <p:spPr>
          <a:xfrm>
            <a:off x="4253814" y="3982173"/>
            <a:ext cx="683200" cy="261610"/>
          </a:xfrm>
          <a:prstGeom prst="rect">
            <a:avLst/>
          </a:prstGeom>
          <a:noFill/>
        </p:spPr>
        <p:txBody>
          <a:bodyPr wrap="none" rtlCol="0">
            <a:spAutoFit/>
          </a:bodyPr>
          <a:lstStyle/>
          <a:p>
            <a:r>
              <a:rPr lang="en-US" sz="1100" i="1" dirty="0">
                <a:solidFill>
                  <a:srgbClr val="FFC000"/>
                </a:solidFill>
              </a:rPr>
              <a:t>Waiting.</a:t>
            </a:r>
          </a:p>
        </p:txBody>
      </p:sp>
      <p:pic>
        <p:nvPicPr>
          <p:cNvPr id="137" name="Graphic 136" descr="Play with solid fill">
            <a:extLst>
              <a:ext uri="{FF2B5EF4-FFF2-40B4-BE49-F238E27FC236}">
                <a16:creationId xmlns:a16="http://schemas.microsoft.com/office/drawing/2014/main" id="{193775F1-0238-5451-4E7F-71A51A33F6C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00374" y="3545730"/>
            <a:ext cx="193474" cy="193474"/>
          </a:xfrm>
          <a:prstGeom prst="rect">
            <a:avLst/>
          </a:prstGeom>
        </p:spPr>
      </p:pic>
      <p:pic>
        <p:nvPicPr>
          <p:cNvPr id="138" name="Graphic 137" descr="Play with solid fill">
            <a:extLst>
              <a:ext uri="{FF2B5EF4-FFF2-40B4-BE49-F238E27FC236}">
                <a16:creationId xmlns:a16="http://schemas.microsoft.com/office/drawing/2014/main" id="{BBF6CA68-BF8F-2828-B958-00EBE8F0989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02983" y="4004988"/>
            <a:ext cx="193474" cy="193474"/>
          </a:xfrm>
          <a:prstGeom prst="rect">
            <a:avLst/>
          </a:prstGeom>
        </p:spPr>
      </p:pic>
      <p:sp>
        <p:nvSpPr>
          <p:cNvPr id="14" name="TextBox 13">
            <a:extLst>
              <a:ext uri="{FF2B5EF4-FFF2-40B4-BE49-F238E27FC236}">
                <a16:creationId xmlns:a16="http://schemas.microsoft.com/office/drawing/2014/main" id="{662E0162-8FF6-99B5-3BF7-72958163CFCB}"/>
              </a:ext>
            </a:extLst>
          </p:cNvPr>
          <p:cNvSpPr txBox="1"/>
          <p:nvPr/>
        </p:nvSpPr>
        <p:spPr>
          <a:xfrm>
            <a:off x="8152537" y="2627083"/>
            <a:ext cx="260008" cy="261610"/>
          </a:xfrm>
          <a:prstGeom prst="rect">
            <a:avLst/>
          </a:prstGeom>
          <a:noFill/>
        </p:spPr>
        <p:txBody>
          <a:bodyPr wrap="square" rtlCol="0">
            <a:spAutoFit/>
          </a:bodyPr>
          <a:lstStyle/>
          <a:p>
            <a:r>
              <a:rPr lang="en-US" sz="1100" dirty="0">
                <a:solidFill>
                  <a:srgbClr val="E1E1E1"/>
                </a:solidFill>
              </a:rPr>
              <a:t>1</a:t>
            </a:r>
          </a:p>
        </p:txBody>
      </p:sp>
      <p:sp>
        <p:nvSpPr>
          <p:cNvPr id="19" name="TextBox 18">
            <a:extLst>
              <a:ext uri="{FF2B5EF4-FFF2-40B4-BE49-F238E27FC236}">
                <a16:creationId xmlns:a16="http://schemas.microsoft.com/office/drawing/2014/main" id="{A2443A5B-94CB-3152-835B-1DDDC412A54A}"/>
              </a:ext>
            </a:extLst>
          </p:cNvPr>
          <p:cNvSpPr txBox="1"/>
          <p:nvPr/>
        </p:nvSpPr>
        <p:spPr>
          <a:xfrm>
            <a:off x="8155156" y="3980155"/>
            <a:ext cx="260008" cy="261610"/>
          </a:xfrm>
          <a:prstGeom prst="rect">
            <a:avLst/>
          </a:prstGeom>
          <a:noFill/>
        </p:spPr>
        <p:txBody>
          <a:bodyPr wrap="square" rtlCol="0">
            <a:spAutoFit/>
          </a:bodyPr>
          <a:lstStyle/>
          <a:p>
            <a:r>
              <a:rPr lang="en-US" sz="1100" dirty="0">
                <a:solidFill>
                  <a:srgbClr val="E1E1E1"/>
                </a:solidFill>
              </a:rPr>
              <a:t>1</a:t>
            </a:r>
          </a:p>
        </p:txBody>
      </p:sp>
      <p:sp>
        <p:nvSpPr>
          <p:cNvPr id="20" name="TextBox 19">
            <a:extLst>
              <a:ext uri="{FF2B5EF4-FFF2-40B4-BE49-F238E27FC236}">
                <a16:creationId xmlns:a16="http://schemas.microsoft.com/office/drawing/2014/main" id="{5FDB6076-827F-19E8-8089-E1FAA64557CB}"/>
              </a:ext>
            </a:extLst>
          </p:cNvPr>
          <p:cNvSpPr txBox="1"/>
          <p:nvPr/>
        </p:nvSpPr>
        <p:spPr>
          <a:xfrm>
            <a:off x="8155156" y="3496213"/>
            <a:ext cx="260008" cy="261610"/>
          </a:xfrm>
          <a:prstGeom prst="rect">
            <a:avLst/>
          </a:prstGeom>
          <a:noFill/>
        </p:spPr>
        <p:txBody>
          <a:bodyPr wrap="square" rtlCol="0">
            <a:spAutoFit/>
          </a:bodyPr>
          <a:lstStyle/>
          <a:p>
            <a:r>
              <a:rPr lang="en-US" sz="1100" dirty="0">
                <a:solidFill>
                  <a:srgbClr val="E1E1E1"/>
                </a:solidFill>
              </a:rPr>
              <a:t>1</a:t>
            </a:r>
          </a:p>
        </p:txBody>
      </p:sp>
      <p:sp>
        <p:nvSpPr>
          <p:cNvPr id="23" name="TextBox 22">
            <a:extLst>
              <a:ext uri="{FF2B5EF4-FFF2-40B4-BE49-F238E27FC236}">
                <a16:creationId xmlns:a16="http://schemas.microsoft.com/office/drawing/2014/main" id="{29905793-5F95-AB62-4ED0-1424D6BDD18A}"/>
              </a:ext>
            </a:extLst>
          </p:cNvPr>
          <p:cNvSpPr txBox="1"/>
          <p:nvPr/>
        </p:nvSpPr>
        <p:spPr>
          <a:xfrm>
            <a:off x="2947872" y="2209718"/>
            <a:ext cx="649537" cy="246221"/>
          </a:xfrm>
          <a:prstGeom prst="rect">
            <a:avLst/>
          </a:prstGeom>
          <a:noFill/>
        </p:spPr>
        <p:txBody>
          <a:bodyPr wrap="none" rtlCol="0">
            <a:spAutoFit/>
          </a:bodyPr>
          <a:lstStyle/>
          <a:p>
            <a:pPr algn="ctr"/>
            <a:r>
              <a:rPr lang="en-US" sz="1000" dirty="0">
                <a:solidFill>
                  <a:srgbClr val="E1E1E1"/>
                </a:solidFill>
              </a:rPr>
              <a:t>Agent ID</a:t>
            </a:r>
          </a:p>
        </p:txBody>
      </p:sp>
      <p:sp>
        <p:nvSpPr>
          <p:cNvPr id="28" name="TextBox 27">
            <a:extLst>
              <a:ext uri="{FF2B5EF4-FFF2-40B4-BE49-F238E27FC236}">
                <a16:creationId xmlns:a16="http://schemas.microsoft.com/office/drawing/2014/main" id="{F153AA50-2A5B-2B4B-C311-F68FA89A3995}"/>
              </a:ext>
            </a:extLst>
          </p:cNvPr>
          <p:cNvSpPr txBox="1"/>
          <p:nvPr/>
        </p:nvSpPr>
        <p:spPr>
          <a:xfrm>
            <a:off x="2647311" y="2620646"/>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0" name="TextBox 29">
            <a:extLst>
              <a:ext uri="{FF2B5EF4-FFF2-40B4-BE49-F238E27FC236}">
                <a16:creationId xmlns:a16="http://schemas.microsoft.com/office/drawing/2014/main" id="{DE6EEA4A-24A8-B544-0CDD-AEB1C4B63442}"/>
              </a:ext>
            </a:extLst>
          </p:cNvPr>
          <p:cNvSpPr txBox="1"/>
          <p:nvPr/>
        </p:nvSpPr>
        <p:spPr>
          <a:xfrm>
            <a:off x="2647311" y="3086580"/>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1" name="TextBox 30">
            <a:extLst>
              <a:ext uri="{FF2B5EF4-FFF2-40B4-BE49-F238E27FC236}">
                <a16:creationId xmlns:a16="http://schemas.microsoft.com/office/drawing/2014/main" id="{F41423B8-41AE-4A69-4931-EC2E9854846F}"/>
              </a:ext>
            </a:extLst>
          </p:cNvPr>
          <p:cNvSpPr txBox="1"/>
          <p:nvPr/>
        </p:nvSpPr>
        <p:spPr>
          <a:xfrm>
            <a:off x="2647311" y="3545730"/>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2" name="TextBox 31">
            <a:extLst>
              <a:ext uri="{FF2B5EF4-FFF2-40B4-BE49-F238E27FC236}">
                <a16:creationId xmlns:a16="http://schemas.microsoft.com/office/drawing/2014/main" id="{6A3B2A68-41FC-C22D-F03D-35B82DEDA5D9}"/>
              </a:ext>
            </a:extLst>
          </p:cNvPr>
          <p:cNvSpPr txBox="1"/>
          <p:nvPr/>
        </p:nvSpPr>
        <p:spPr>
          <a:xfrm>
            <a:off x="2636441" y="4004880"/>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3" name="TextBox 32">
            <a:extLst>
              <a:ext uri="{FF2B5EF4-FFF2-40B4-BE49-F238E27FC236}">
                <a16:creationId xmlns:a16="http://schemas.microsoft.com/office/drawing/2014/main" id="{EFA5096A-8D94-2133-BCA0-90D7CB3CFB62}"/>
              </a:ext>
            </a:extLst>
          </p:cNvPr>
          <p:cNvSpPr txBox="1"/>
          <p:nvPr/>
        </p:nvSpPr>
        <p:spPr>
          <a:xfrm>
            <a:off x="5445208" y="2092323"/>
            <a:ext cx="772505" cy="400110"/>
          </a:xfrm>
          <a:prstGeom prst="rect">
            <a:avLst/>
          </a:prstGeom>
          <a:noFill/>
        </p:spPr>
        <p:txBody>
          <a:bodyPr wrap="square" rtlCol="0">
            <a:spAutoFit/>
          </a:bodyPr>
          <a:lstStyle/>
          <a:p>
            <a:pPr algn="ctr"/>
            <a:r>
              <a:rPr lang="en-US" sz="1000" dirty="0">
                <a:solidFill>
                  <a:srgbClr val="E1E1E1"/>
                </a:solidFill>
              </a:rPr>
              <a:t>Job </a:t>
            </a:r>
          </a:p>
          <a:p>
            <a:pPr algn="ctr"/>
            <a:r>
              <a:rPr lang="en-US" sz="1000" dirty="0">
                <a:solidFill>
                  <a:srgbClr val="E1E1E1"/>
                </a:solidFill>
              </a:rPr>
              <a:t>Read</a:t>
            </a:r>
          </a:p>
        </p:txBody>
      </p:sp>
      <p:sp>
        <p:nvSpPr>
          <p:cNvPr id="34" name="TextBox 33">
            <a:extLst>
              <a:ext uri="{FF2B5EF4-FFF2-40B4-BE49-F238E27FC236}">
                <a16:creationId xmlns:a16="http://schemas.microsoft.com/office/drawing/2014/main" id="{579BDFFC-4996-E562-F8A6-860070450CF1}"/>
              </a:ext>
            </a:extLst>
          </p:cNvPr>
          <p:cNvSpPr txBox="1"/>
          <p:nvPr/>
        </p:nvSpPr>
        <p:spPr>
          <a:xfrm>
            <a:off x="6129630" y="2105765"/>
            <a:ext cx="1037054" cy="400110"/>
          </a:xfrm>
          <a:prstGeom prst="rect">
            <a:avLst/>
          </a:prstGeom>
          <a:noFill/>
        </p:spPr>
        <p:txBody>
          <a:bodyPr wrap="square" rtlCol="0">
            <a:spAutoFit/>
          </a:bodyPr>
          <a:lstStyle/>
          <a:p>
            <a:pPr algn="ctr"/>
            <a:r>
              <a:rPr lang="en-US" sz="1000" dirty="0">
                <a:solidFill>
                  <a:srgbClr val="E1E1E1"/>
                </a:solidFill>
              </a:rPr>
              <a:t>Job Acknowledged</a:t>
            </a:r>
          </a:p>
        </p:txBody>
      </p:sp>
      <p:cxnSp>
        <p:nvCxnSpPr>
          <p:cNvPr id="41" name="Straight Connector 40">
            <a:extLst>
              <a:ext uri="{FF2B5EF4-FFF2-40B4-BE49-F238E27FC236}">
                <a16:creationId xmlns:a16="http://schemas.microsoft.com/office/drawing/2014/main" id="{2B52F734-8E2A-D16B-0AF9-F92592AAB793}"/>
              </a:ext>
            </a:extLst>
          </p:cNvPr>
          <p:cNvCxnSpPr>
            <a:cxnSpLocks/>
          </p:cNvCxnSpPr>
          <p:nvPr/>
        </p:nvCxnSpPr>
        <p:spPr>
          <a:xfrm>
            <a:off x="11391357" y="2585825"/>
            <a:ext cx="0" cy="2327883"/>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661B812E-3E32-CF76-DCBB-0776B210081C}"/>
              </a:ext>
            </a:extLst>
          </p:cNvPr>
          <p:cNvCxnSpPr>
            <a:cxnSpLocks/>
          </p:cNvCxnSpPr>
          <p:nvPr/>
        </p:nvCxnSpPr>
        <p:spPr>
          <a:xfrm>
            <a:off x="11391357" y="2585825"/>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EBE4241D-8F29-9670-3981-0754024EADA5}"/>
              </a:ext>
            </a:extLst>
          </p:cNvPr>
          <p:cNvCxnSpPr>
            <a:cxnSpLocks/>
          </p:cNvCxnSpPr>
          <p:nvPr/>
        </p:nvCxnSpPr>
        <p:spPr>
          <a:xfrm>
            <a:off x="11391357" y="2625072"/>
            <a:ext cx="0" cy="2327883"/>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0D85D8E5-D18E-61AF-9E38-6FB9A1848B75}"/>
              </a:ext>
            </a:extLst>
          </p:cNvPr>
          <p:cNvCxnSpPr>
            <a:cxnSpLocks/>
          </p:cNvCxnSpPr>
          <p:nvPr/>
        </p:nvCxnSpPr>
        <p:spPr>
          <a:xfrm>
            <a:off x="11391357" y="2625072"/>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sp>
        <p:nvSpPr>
          <p:cNvPr id="45" name="Rectangle: Rounded Corners 44">
            <a:extLst>
              <a:ext uri="{FF2B5EF4-FFF2-40B4-BE49-F238E27FC236}">
                <a16:creationId xmlns:a16="http://schemas.microsoft.com/office/drawing/2014/main" id="{621AEF71-EB27-68EB-075D-212D38680161}"/>
              </a:ext>
            </a:extLst>
          </p:cNvPr>
          <p:cNvSpPr/>
          <p:nvPr/>
        </p:nvSpPr>
        <p:spPr>
          <a:xfrm>
            <a:off x="3031449" y="5377380"/>
            <a:ext cx="5904873" cy="421811"/>
          </a:xfrm>
          <a:prstGeom prst="roundRect">
            <a:avLst>
              <a:gd name="adj" fmla="val 27474"/>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a:t>
            </a:r>
          </a:p>
        </p:txBody>
      </p:sp>
      <p:sp>
        <p:nvSpPr>
          <p:cNvPr id="46" name="Rectangle: Rounded Corners 45">
            <a:extLst>
              <a:ext uri="{FF2B5EF4-FFF2-40B4-BE49-F238E27FC236}">
                <a16:creationId xmlns:a16="http://schemas.microsoft.com/office/drawing/2014/main" id="{F41CFFF4-9BB2-F457-5616-D6AE96844CC1}"/>
              </a:ext>
            </a:extLst>
          </p:cNvPr>
          <p:cNvSpPr/>
          <p:nvPr/>
        </p:nvSpPr>
        <p:spPr>
          <a:xfrm>
            <a:off x="522553" y="5375748"/>
            <a:ext cx="1132255" cy="421811"/>
          </a:xfrm>
          <a:prstGeom prst="roundRect">
            <a:avLst>
              <a:gd name="adj" fmla="val 27474"/>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1E3147"/>
                </a:solidFill>
              </a:rPr>
              <a:t>Message Orchestrator</a:t>
            </a:r>
          </a:p>
        </p:txBody>
      </p:sp>
      <p:sp>
        <p:nvSpPr>
          <p:cNvPr id="47" name="Rectangle: Rounded Corners 46">
            <a:extLst>
              <a:ext uri="{FF2B5EF4-FFF2-40B4-BE49-F238E27FC236}">
                <a16:creationId xmlns:a16="http://schemas.microsoft.com/office/drawing/2014/main" id="{F8FB9468-822D-50D2-F591-7C51684A97CC}"/>
              </a:ext>
            </a:extLst>
          </p:cNvPr>
          <p:cNvSpPr/>
          <p:nvPr/>
        </p:nvSpPr>
        <p:spPr>
          <a:xfrm>
            <a:off x="1753756" y="5378268"/>
            <a:ext cx="1178745" cy="421811"/>
          </a:xfrm>
          <a:prstGeom prst="roundRect">
            <a:avLst>
              <a:gd name="adj" fmla="val 27474"/>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1E1E1"/>
                </a:solidFill>
              </a:rPr>
              <a:t>Broadcast</a:t>
            </a:r>
          </a:p>
        </p:txBody>
      </p:sp>
      <p:sp>
        <p:nvSpPr>
          <p:cNvPr id="50" name="Oval 49">
            <a:extLst>
              <a:ext uri="{FF2B5EF4-FFF2-40B4-BE49-F238E27FC236}">
                <a16:creationId xmlns:a16="http://schemas.microsoft.com/office/drawing/2014/main" id="{38B745C0-2006-3183-706F-C7D541E5ACBB}"/>
              </a:ext>
            </a:extLst>
          </p:cNvPr>
          <p:cNvSpPr/>
          <p:nvPr/>
        </p:nvSpPr>
        <p:spPr>
          <a:xfrm>
            <a:off x="8997072" y="5441706"/>
            <a:ext cx="293929" cy="306770"/>
          </a:xfrm>
          <a:prstGeom prst="ellipse">
            <a:avLst/>
          </a:prstGeom>
          <a:solidFill>
            <a:srgbClr val="FFC3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 name="Graphic 48" descr="Play with solid fill">
            <a:extLst>
              <a:ext uri="{FF2B5EF4-FFF2-40B4-BE49-F238E27FC236}">
                <a16:creationId xmlns:a16="http://schemas.microsoft.com/office/drawing/2014/main" id="{00DCE2E1-F554-FBA2-5192-A912052B29A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073173" y="5507713"/>
            <a:ext cx="174755" cy="174755"/>
          </a:xfrm>
          <a:prstGeom prst="rect">
            <a:avLst/>
          </a:prstGeom>
        </p:spPr>
      </p:pic>
      <p:sp>
        <p:nvSpPr>
          <p:cNvPr id="52" name="TextBox 51">
            <a:extLst>
              <a:ext uri="{FF2B5EF4-FFF2-40B4-BE49-F238E27FC236}">
                <a16:creationId xmlns:a16="http://schemas.microsoft.com/office/drawing/2014/main" id="{913C69D4-112F-6303-4CB3-704068C8806E}"/>
              </a:ext>
            </a:extLst>
          </p:cNvPr>
          <p:cNvSpPr txBox="1"/>
          <p:nvPr/>
        </p:nvSpPr>
        <p:spPr>
          <a:xfrm>
            <a:off x="6107504" y="252789"/>
            <a:ext cx="4610081" cy="1077218"/>
          </a:xfrm>
          <a:prstGeom prst="rect">
            <a:avLst/>
          </a:prstGeom>
          <a:noFill/>
        </p:spPr>
        <p:txBody>
          <a:bodyPr wrap="square" rtlCol="0">
            <a:spAutoFit/>
          </a:bodyPr>
          <a:lstStyle/>
          <a:p>
            <a:pPr algn="ctr"/>
            <a:r>
              <a:rPr lang="en-US" sz="3200" dirty="0">
                <a:solidFill>
                  <a:schemeClr val="accent5">
                    <a:lumMod val="60000"/>
                    <a:lumOff val="40000"/>
                  </a:schemeClr>
                </a:solidFill>
              </a:rPr>
              <a:t>STATUS BOARD Variant MVP</a:t>
            </a:r>
          </a:p>
        </p:txBody>
      </p:sp>
      <p:sp>
        <p:nvSpPr>
          <p:cNvPr id="53" name="TextBox 52">
            <a:extLst>
              <a:ext uri="{FF2B5EF4-FFF2-40B4-BE49-F238E27FC236}">
                <a16:creationId xmlns:a16="http://schemas.microsoft.com/office/drawing/2014/main" id="{BE776960-1D4A-6425-07BF-5DB6B8FC110E}"/>
              </a:ext>
            </a:extLst>
          </p:cNvPr>
          <p:cNvSpPr txBox="1"/>
          <p:nvPr/>
        </p:nvSpPr>
        <p:spPr>
          <a:xfrm>
            <a:off x="39778" y="47732"/>
            <a:ext cx="3312061" cy="369332"/>
          </a:xfrm>
          <a:prstGeom prst="rect">
            <a:avLst/>
          </a:prstGeom>
          <a:noFill/>
        </p:spPr>
        <p:txBody>
          <a:bodyPr wrap="none" rtlCol="0">
            <a:spAutoFit/>
          </a:bodyPr>
          <a:lstStyle/>
          <a:p>
            <a:r>
              <a:rPr lang="en-US" dirty="0">
                <a:solidFill>
                  <a:schemeClr val="accent5">
                    <a:lumMod val="60000"/>
                    <a:lumOff val="40000"/>
                  </a:schemeClr>
                </a:solidFill>
              </a:rPr>
              <a:t>SLIDE 4c – Implementation Tab.</a:t>
            </a:r>
          </a:p>
        </p:txBody>
      </p:sp>
      <p:pic>
        <p:nvPicPr>
          <p:cNvPr id="54" name="Graphic 53" descr="Play with solid fill">
            <a:extLst>
              <a:ext uri="{FF2B5EF4-FFF2-40B4-BE49-F238E27FC236}">
                <a16:creationId xmlns:a16="http://schemas.microsoft.com/office/drawing/2014/main" id="{F92D47B4-2B2F-1D55-CC33-3BAD7F30BAE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979845" y="2671726"/>
            <a:ext cx="193474" cy="193474"/>
          </a:xfrm>
          <a:prstGeom prst="rect">
            <a:avLst/>
          </a:prstGeom>
        </p:spPr>
      </p:pic>
      <p:pic>
        <p:nvPicPr>
          <p:cNvPr id="59" name="Graphic 58" descr="Play with solid fill">
            <a:extLst>
              <a:ext uri="{FF2B5EF4-FFF2-40B4-BE49-F238E27FC236}">
                <a16:creationId xmlns:a16="http://schemas.microsoft.com/office/drawing/2014/main" id="{96104485-DDC7-CA92-926A-9C824F66FBC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955195" y="3096151"/>
            <a:ext cx="193474" cy="193474"/>
          </a:xfrm>
          <a:prstGeom prst="rect">
            <a:avLst/>
          </a:prstGeom>
        </p:spPr>
      </p:pic>
      <p:sp>
        <p:nvSpPr>
          <p:cNvPr id="61" name="TextBox 60">
            <a:extLst>
              <a:ext uri="{FF2B5EF4-FFF2-40B4-BE49-F238E27FC236}">
                <a16:creationId xmlns:a16="http://schemas.microsoft.com/office/drawing/2014/main" id="{9C150C38-6E42-C964-7D63-176E8D291EF5}"/>
              </a:ext>
            </a:extLst>
          </p:cNvPr>
          <p:cNvSpPr txBox="1"/>
          <p:nvPr/>
        </p:nvSpPr>
        <p:spPr>
          <a:xfrm>
            <a:off x="4250868" y="3548989"/>
            <a:ext cx="683200" cy="261610"/>
          </a:xfrm>
          <a:prstGeom prst="rect">
            <a:avLst/>
          </a:prstGeom>
          <a:noFill/>
        </p:spPr>
        <p:txBody>
          <a:bodyPr wrap="none" rtlCol="0">
            <a:spAutoFit/>
          </a:bodyPr>
          <a:lstStyle/>
          <a:p>
            <a:r>
              <a:rPr lang="en-US" sz="1100" i="1" dirty="0">
                <a:solidFill>
                  <a:srgbClr val="FFC000"/>
                </a:solidFill>
              </a:rPr>
              <a:t>Waiting.</a:t>
            </a:r>
          </a:p>
        </p:txBody>
      </p:sp>
      <p:sp>
        <p:nvSpPr>
          <p:cNvPr id="62" name="TextBox 61">
            <a:extLst>
              <a:ext uri="{FF2B5EF4-FFF2-40B4-BE49-F238E27FC236}">
                <a16:creationId xmlns:a16="http://schemas.microsoft.com/office/drawing/2014/main" id="{C52302FC-B1DC-A16D-CA37-FC6E2A92568E}"/>
              </a:ext>
            </a:extLst>
          </p:cNvPr>
          <p:cNvSpPr txBox="1"/>
          <p:nvPr/>
        </p:nvSpPr>
        <p:spPr>
          <a:xfrm>
            <a:off x="4253599" y="3080702"/>
            <a:ext cx="683200" cy="261610"/>
          </a:xfrm>
          <a:prstGeom prst="rect">
            <a:avLst/>
          </a:prstGeom>
          <a:noFill/>
        </p:spPr>
        <p:txBody>
          <a:bodyPr wrap="none" rtlCol="0">
            <a:spAutoFit/>
          </a:bodyPr>
          <a:lstStyle/>
          <a:p>
            <a:r>
              <a:rPr lang="en-US" sz="1100" i="1" dirty="0">
                <a:solidFill>
                  <a:srgbClr val="FFC000"/>
                </a:solidFill>
              </a:rPr>
              <a:t>Waiting.</a:t>
            </a:r>
          </a:p>
        </p:txBody>
      </p:sp>
      <p:sp>
        <p:nvSpPr>
          <p:cNvPr id="7" name="TextBox 6">
            <a:extLst>
              <a:ext uri="{FF2B5EF4-FFF2-40B4-BE49-F238E27FC236}">
                <a16:creationId xmlns:a16="http://schemas.microsoft.com/office/drawing/2014/main" id="{B75EA1BC-5258-F503-E7A1-68A4DCE5A121}"/>
              </a:ext>
            </a:extLst>
          </p:cNvPr>
          <p:cNvSpPr txBox="1"/>
          <p:nvPr/>
        </p:nvSpPr>
        <p:spPr>
          <a:xfrm>
            <a:off x="7260027" y="2637913"/>
            <a:ext cx="260008" cy="261610"/>
          </a:xfrm>
          <a:prstGeom prst="rect">
            <a:avLst/>
          </a:prstGeom>
          <a:noFill/>
        </p:spPr>
        <p:txBody>
          <a:bodyPr wrap="square" rtlCol="0">
            <a:spAutoFit/>
          </a:bodyPr>
          <a:lstStyle/>
          <a:p>
            <a:r>
              <a:rPr lang="en-US" sz="1100" dirty="0">
                <a:solidFill>
                  <a:srgbClr val="E1E1E1"/>
                </a:solidFill>
              </a:rPr>
              <a:t>4</a:t>
            </a:r>
          </a:p>
        </p:txBody>
      </p:sp>
      <p:sp>
        <p:nvSpPr>
          <p:cNvPr id="8" name="TextBox 7">
            <a:extLst>
              <a:ext uri="{FF2B5EF4-FFF2-40B4-BE49-F238E27FC236}">
                <a16:creationId xmlns:a16="http://schemas.microsoft.com/office/drawing/2014/main" id="{D804CCDE-9A81-7831-E70A-EA0F45DE38EC}"/>
              </a:ext>
            </a:extLst>
          </p:cNvPr>
          <p:cNvSpPr txBox="1"/>
          <p:nvPr/>
        </p:nvSpPr>
        <p:spPr>
          <a:xfrm>
            <a:off x="8152537" y="3076054"/>
            <a:ext cx="260008" cy="261610"/>
          </a:xfrm>
          <a:prstGeom prst="rect">
            <a:avLst/>
          </a:prstGeom>
          <a:noFill/>
        </p:spPr>
        <p:txBody>
          <a:bodyPr wrap="square" rtlCol="0">
            <a:spAutoFit/>
          </a:bodyPr>
          <a:lstStyle/>
          <a:p>
            <a:r>
              <a:rPr lang="en-US" sz="1100" dirty="0">
                <a:solidFill>
                  <a:srgbClr val="E1E1E1"/>
                </a:solidFill>
              </a:rPr>
              <a:t>1</a:t>
            </a:r>
          </a:p>
        </p:txBody>
      </p:sp>
      <p:sp>
        <p:nvSpPr>
          <p:cNvPr id="11" name="TextBox 10">
            <a:extLst>
              <a:ext uri="{FF2B5EF4-FFF2-40B4-BE49-F238E27FC236}">
                <a16:creationId xmlns:a16="http://schemas.microsoft.com/office/drawing/2014/main" id="{80653FE6-F482-980C-E0A2-5266EEC088B0}"/>
              </a:ext>
            </a:extLst>
          </p:cNvPr>
          <p:cNvSpPr txBox="1"/>
          <p:nvPr/>
        </p:nvSpPr>
        <p:spPr>
          <a:xfrm>
            <a:off x="390687" y="6097720"/>
            <a:ext cx="3420476" cy="646331"/>
          </a:xfrm>
          <a:prstGeom prst="rect">
            <a:avLst/>
          </a:prstGeom>
          <a:solidFill>
            <a:schemeClr val="accent3">
              <a:lumMod val="75000"/>
            </a:schemeClr>
          </a:solidFill>
          <a:ln>
            <a:solidFill>
              <a:schemeClr val="accent5">
                <a:lumMod val="60000"/>
                <a:lumOff val="40000"/>
              </a:schemeClr>
            </a:solidFill>
          </a:ln>
        </p:spPr>
        <p:txBody>
          <a:bodyPr wrap="square" rtlCol="0">
            <a:spAutoFit/>
          </a:bodyPr>
          <a:lstStyle/>
          <a:p>
            <a:r>
              <a:rPr lang="en-US" dirty="0">
                <a:solidFill>
                  <a:schemeClr val="bg1"/>
                </a:solidFill>
              </a:rPr>
              <a:t>General CLI MODE</a:t>
            </a:r>
          </a:p>
          <a:p>
            <a:r>
              <a:rPr lang="en-US" dirty="0">
                <a:solidFill>
                  <a:schemeClr val="bg1"/>
                </a:solidFill>
              </a:rPr>
              <a:t>(individual terminals for agents</a:t>
            </a:r>
          </a:p>
        </p:txBody>
      </p:sp>
      <p:sp>
        <p:nvSpPr>
          <p:cNvPr id="58" name="TextBox 57">
            <a:extLst>
              <a:ext uri="{FF2B5EF4-FFF2-40B4-BE49-F238E27FC236}">
                <a16:creationId xmlns:a16="http://schemas.microsoft.com/office/drawing/2014/main" id="{3146AB97-7416-3878-A14D-2B837F601EBA}"/>
              </a:ext>
            </a:extLst>
          </p:cNvPr>
          <p:cNvSpPr txBox="1"/>
          <p:nvPr/>
        </p:nvSpPr>
        <p:spPr>
          <a:xfrm>
            <a:off x="4004851" y="5870560"/>
            <a:ext cx="5760383" cy="923330"/>
          </a:xfrm>
          <a:prstGeom prst="rect">
            <a:avLst/>
          </a:prstGeom>
          <a:noFill/>
          <a:ln>
            <a:solidFill>
              <a:schemeClr val="accent5">
                <a:lumMod val="60000"/>
                <a:lumOff val="40000"/>
              </a:schemeClr>
            </a:solidFill>
          </a:ln>
        </p:spPr>
        <p:txBody>
          <a:bodyPr wrap="square" rtlCol="0">
            <a:spAutoFit/>
          </a:bodyPr>
          <a:lstStyle/>
          <a:p>
            <a:r>
              <a:rPr lang="en-US" dirty="0">
                <a:solidFill>
                  <a:schemeClr val="accent5">
                    <a:lumMod val="60000"/>
                    <a:lumOff val="40000"/>
                  </a:schemeClr>
                </a:solidFill>
              </a:rPr>
              <a:t>From staging orchestrator has sent missions to the message system for all agents, they are now waiting.  (including orchestrator sending one to itself)</a:t>
            </a:r>
          </a:p>
        </p:txBody>
      </p:sp>
      <p:cxnSp>
        <p:nvCxnSpPr>
          <p:cNvPr id="60" name="Connector: Elbow 59">
            <a:extLst>
              <a:ext uri="{FF2B5EF4-FFF2-40B4-BE49-F238E27FC236}">
                <a16:creationId xmlns:a16="http://schemas.microsoft.com/office/drawing/2014/main" id="{3954A897-DBBA-29E2-4BE2-97A5CE40F2D7}"/>
              </a:ext>
            </a:extLst>
          </p:cNvPr>
          <p:cNvCxnSpPr/>
          <p:nvPr/>
        </p:nvCxnSpPr>
        <p:spPr>
          <a:xfrm rot="5400000" flipH="1" flipV="1">
            <a:off x="5916794" y="4397322"/>
            <a:ext cx="2946474" cy="12700"/>
          </a:xfrm>
          <a:prstGeom prst="bentConnector3">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63" name="Connector: Elbow 62">
            <a:extLst>
              <a:ext uri="{FF2B5EF4-FFF2-40B4-BE49-F238E27FC236}">
                <a16:creationId xmlns:a16="http://schemas.microsoft.com/office/drawing/2014/main" id="{BD888739-4C0A-AC3D-BF4D-7E2BD679ADDF}"/>
              </a:ext>
            </a:extLst>
          </p:cNvPr>
          <p:cNvCxnSpPr/>
          <p:nvPr/>
        </p:nvCxnSpPr>
        <p:spPr>
          <a:xfrm rot="5400000" flipH="1" flipV="1">
            <a:off x="7104572" y="4819976"/>
            <a:ext cx="1759599" cy="341569"/>
          </a:xfrm>
          <a:prstGeom prst="bentConnector2">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64" name="Connector: Elbow 63">
            <a:extLst>
              <a:ext uri="{FF2B5EF4-FFF2-40B4-BE49-F238E27FC236}">
                <a16:creationId xmlns:a16="http://schemas.microsoft.com/office/drawing/2014/main" id="{2EF607BB-CE75-378F-081A-81F312D2A97A}"/>
              </a:ext>
            </a:extLst>
          </p:cNvPr>
          <p:cNvCxnSpPr>
            <a:cxnSpLocks/>
          </p:cNvCxnSpPr>
          <p:nvPr/>
        </p:nvCxnSpPr>
        <p:spPr>
          <a:xfrm rot="5400000" flipH="1" flipV="1">
            <a:off x="6884408" y="4534341"/>
            <a:ext cx="2192185" cy="334252"/>
          </a:xfrm>
          <a:prstGeom prst="bentConnector3">
            <a:avLst>
              <a:gd name="adj1" fmla="val 99672"/>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65" name="Connector: Elbow 64">
            <a:extLst>
              <a:ext uri="{FF2B5EF4-FFF2-40B4-BE49-F238E27FC236}">
                <a16:creationId xmlns:a16="http://schemas.microsoft.com/office/drawing/2014/main" id="{A08D070C-B208-A94E-27F5-E077BBB80C39}"/>
              </a:ext>
            </a:extLst>
          </p:cNvPr>
          <p:cNvCxnSpPr/>
          <p:nvPr/>
        </p:nvCxnSpPr>
        <p:spPr>
          <a:xfrm rot="5400000" flipH="1" flipV="1">
            <a:off x="6687712" y="4332734"/>
            <a:ext cx="2590700" cy="338950"/>
          </a:xfrm>
          <a:prstGeom prst="bentConnector2">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66" name="Connector: Elbow 65">
            <a:extLst>
              <a:ext uri="{FF2B5EF4-FFF2-40B4-BE49-F238E27FC236}">
                <a16:creationId xmlns:a16="http://schemas.microsoft.com/office/drawing/2014/main" id="{A6661C13-F375-A8BF-EAE4-11719A249F48}"/>
              </a:ext>
            </a:extLst>
          </p:cNvPr>
          <p:cNvCxnSpPr/>
          <p:nvPr/>
        </p:nvCxnSpPr>
        <p:spPr>
          <a:xfrm rot="5400000" flipH="1" flipV="1">
            <a:off x="6463227" y="4108249"/>
            <a:ext cx="3039671" cy="338950"/>
          </a:xfrm>
          <a:prstGeom prst="bentConnector2">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67" name="Connector: Elbow 66">
            <a:extLst>
              <a:ext uri="{FF2B5EF4-FFF2-40B4-BE49-F238E27FC236}">
                <a16:creationId xmlns:a16="http://schemas.microsoft.com/office/drawing/2014/main" id="{99332886-832C-7B7C-A236-61CFA355D93B}"/>
              </a:ext>
            </a:extLst>
          </p:cNvPr>
          <p:cNvCxnSpPr>
            <a:cxnSpLocks/>
            <a:stCxn id="58" idx="0"/>
            <a:endCxn id="91" idx="3"/>
          </p:cNvCxnSpPr>
          <p:nvPr/>
        </p:nvCxnSpPr>
        <p:spPr>
          <a:xfrm rot="16200000" flipV="1">
            <a:off x="4350240" y="3335756"/>
            <a:ext cx="3128700" cy="1940907"/>
          </a:xfrm>
          <a:prstGeom prst="bentConnector2">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68" name="Connector: Elbow 67">
            <a:extLst>
              <a:ext uri="{FF2B5EF4-FFF2-40B4-BE49-F238E27FC236}">
                <a16:creationId xmlns:a16="http://schemas.microsoft.com/office/drawing/2014/main" id="{5B6F1096-7008-7E51-3188-03BE35FAD62E}"/>
              </a:ext>
            </a:extLst>
          </p:cNvPr>
          <p:cNvCxnSpPr>
            <a:cxnSpLocks/>
            <a:stCxn id="58" idx="0"/>
            <a:endCxn id="62" idx="3"/>
          </p:cNvCxnSpPr>
          <p:nvPr/>
        </p:nvCxnSpPr>
        <p:spPr>
          <a:xfrm rot="16200000" flipV="1">
            <a:off x="4581395" y="3566912"/>
            <a:ext cx="2659053" cy="1948244"/>
          </a:xfrm>
          <a:prstGeom prst="bentConnector2">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69" name="Connector: Elbow 68">
            <a:extLst>
              <a:ext uri="{FF2B5EF4-FFF2-40B4-BE49-F238E27FC236}">
                <a16:creationId xmlns:a16="http://schemas.microsoft.com/office/drawing/2014/main" id="{B8971770-88F2-528B-E5AD-327AA51C384D}"/>
              </a:ext>
            </a:extLst>
          </p:cNvPr>
          <p:cNvCxnSpPr>
            <a:cxnSpLocks/>
            <a:stCxn id="58" idx="0"/>
            <a:endCxn id="61" idx="3"/>
          </p:cNvCxnSpPr>
          <p:nvPr/>
        </p:nvCxnSpPr>
        <p:spPr>
          <a:xfrm rot="16200000" flipV="1">
            <a:off x="4814173" y="3799689"/>
            <a:ext cx="2190766" cy="1950975"/>
          </a:xfrm>
          <a:prstGeom prst="bentConnector2">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70" name="Connector: Elbow 69">
            <a:extLst>
              <a:ext uri="{FF2B5EF4-FFF2-40B4-BE49-F238E27FC236}">
                <a16:creationId xmlns:a16="http://schemas.microsoft.com/office/drawing/2014/main" id="{0D4E1FCD-4AB2-1A47-C318-2334BF81E8A1}"/>
              </a:ext>
            </a:extLst>
          </p:cNvPr>
          <p:cNvCxnSpPr>
            <a:cxnSpLocks/>
            <a:stCxn id="58" idx="0"/>
            <a:endCxn id="136" idx="3"/>
          </p:cNvCxnSpPr>
          <p:nvPr/>
        </p:nvCxnSpPr>
        <p:spPr>
          <a:xfrm rot="16200000" flipV="1">
            <a:off x="5032238" y="4017754"/>
            <a:ext cx="1757582" cy="1948029"/>
          </a:xfrm>
          <a:prstGeom prst="bentConnector2">
            <a:avLst/>
          </a:prstGeom>
          <a:ln>
            <a:tailEnd type="triangle"/>
          </a:ln>
        </p:spPr>
        <p:style>
          <a:lnRef idx="2">
            <a:schemeClr val="accent5"/>
          </a:lnRef>
          <a:fillRef idx="0">
            <a:schemeClr val="accent5"/>
          </a:fillRef>
          <a:effectRef idx="1">
            <a:schemeClr val="accent5"/>
          </a:effectRef>
          <a:fontRef idx="minor">
            <a:schemeClr val="tx1"/>
          </a:fontRef>
        </p:style>
      </p:cxnSp>
    </p:spTree>
    <p:extLst>
      <p:ext uri="{BB962C8B-B14F-4D97-AF65-F5344CB8AC3E}">
        <p14:creationId xmlns:p14="http://schemas.microsoft.com/office/powerpoint/2010/main" val="540551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E1C2D"/>
        </a:solidFill>
        <a:effectLst/>
      </p:bgPr>
    </p:bg>
    <p:spTree>
      <p:nvGrpSpPr>
        <p:cNvPr id="1" name="">
          <a:extLst>
            <a:ext uri="{FF2B5EF4-FFF2-40B4-BE49-F238E27FC236}">
              <a16:creationId xmlns:a16="http://schemas.microsoft.com/office/drawing/2014/main" id="{CF3A7B90-9280-4C27-EBDD-D3DA1D1F522B}"/>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C6DD812F-CF98-00D6-61CD-359405246056}"/>
              </a:ext>
            </a:extLst>
          </p:cNvPr>
          <p:cNvSpPr/>
          <p:nvPr/>
        </p:nvSpPr>
        <p:spPr>
          <a:xfrm>
            <a:off x="503403" y="1334840"/>
            <a:ext cx="2218513" cy="1071163"/>
          </a:xfrm>
          <a:prstGeom prst="roundRect">
            <a:avLst>
              <a:gd name="adj" fmla="val 15806"/>
            </a:avLst>
          </a:prstGeom>
          <a:no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B7EFF149-FC40-174D-B0FF-37468D5DA0EE}"/>
              </a:ext>
            </a:extLst>
          </p:cNvPr>
          <p:cNvSpPr txBox="1"/>
          <p:nvPr/>
        </p:nvSpPr>
        <p:spPr>
          <a:xfrm>
            <a:off x="516531" y="677075"/>
            <a:ext cx="2514919" cy="553998"/>
          </a:xfrm>
          <a:prstGeom prst="rect">
            <a:avLst/>
          </a:prstGeom>
          <a:noFill/>
        </p:spPr>
        <p:txBody>
          <a:bodyPr wrap="none" rtlCol="0">
            <a:spAutoFit/>
          </a:bodyPr>
          <a:lstStyle/>
          <a:p>
            <a:r>
              <a:rPr lang="en-US" dirty="0">
                <a:solidFill>
                  <a:srgbClr val="E1E1E1"/>
                </a:solidFill>
              </a:rPr>
              <a:t>Project: </a:t>
            </a:r>
            <a:r>
              <a:rPr lang="en-US" dirty="0">
                <a:solidFill>
                  <a:srgbClr val="FFC300"/>
                </a:solidFill>
              </a:rPr>
              <a:t>{</a:t>
            </a:r>
            <a:r>
              <a:rPr lang="en-US" dirty="0" err="1">
                <a:solidFill>
                  <a:srgbClr val="FFC300"/>
                </a:solidFill>
              </a:rPr>
              <a:t>project_name</a:t>
            </a:r>
            <a:r>
              <a:rPr lang="en-US" dirty="0">
                <a:solidFill>
                  <a:srgbClr val="FFC300"/>
                </a:solidFill>
              </a:rPr>
              <a:t>}</a:t>
            </a:r>
          </a:p>
          <a:p>
            <a:r>
              <a:rPr lang="en-US" sz="1200" dirty="0">
                <a:solidFill>
                  <a:srgbClr val="8F97B7"/>
                </a:solidFill>
              </a:rPr>
              <a:t>Project ID: {</a:t>
            </a:r>
            <a:r>
              <a:rPr lang="en-US" sz="1200" dirty="0" err="1">
                <a:solidFill>
                  <a:srgbClr val="8F97B7"/>
                </a:solidFill>
              </a:rPr>
              <a:t>full_UUID</a:t>
            </a:r>
            <a:r>
              <a:rPr lang="en-US" sz="1200" dirty="0">
                <a:solidFill>
                  <a:srgbClr val="8F97B7"/>
                </a:solidFill>
              </a:rPr>
              <a:t>}</a:t>
            </a:r>
          </a:p>
        </p:txBody>
      </p:sp>
      <p:sp>
        <p:nvSpPr>
          <p:cNvPr id="3" name="Rectangle: Rounded Corners 2">
            <a:extLst>
              <a:ext uri="{FF2B5EF4-FFF2-40B4-BE49-F238E27FC236}">
                <a16:creationId xmlns:a16="http://schemas.microsoft.com/office/drawing/2014/main" id="{1D1B9354-1511-8411-876D-6C3DC1C9FA68}"/>
              </a:ext>
            </a:extLst>
          </p:cNvPr>
          <p:cNvSpPr/>
          <p:nvPr/>
        </p:nvSpPr>
        <p:spPr>
          <a:xfrm>
            <a:off x="1643382" y="1342292"/>
            <a:ext cx="1805578" cy="969932"/>
          </a:xfrm>
          <a:prstGeom prst="roundRect">
            <a:avLst>
              <a:gd name="adj" fmla="val 17766"/>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4F3AF16-ECF0-615C-B48E-5063584D41CB}"/>
              </a:ext>
            </a:extLst>
          </p:cNvPr>
          <p:cNvSpPr txBox="1"/>
          <p:nvPr/>
        </p:nvSpPr>
        <p:spPr>
          <a:xfrm>
            <a:off x="682981" y="1327205"/>
            <a:ext cx="929678" cy="369332"/>
          </a:xfrm>
          <a:prstGeom prst="rect">
            <a:avLst/>
          </a:prstGeom>
          <a:noFill/>
        </p:spPr>
        <p:txBody>
          <a:bodyPr wrap="none" rtlCol="0">
            <a:spAutoFit/>
          </a:bodyPr>
          <a:lstStyle/>
          <a:p>
            <a:r>
              <a:rPr lang="en-US" dirty="0">
                <a:solidFill>
                  <a:srgbClr val="1E3147"/>
                </a:solidFill>
              </a:rPr>
              <a:t>Launch</a:t>
            </a:r>
          </a:p>
        </p:txBody>
      </p:sp>
      <p:sp>
        <p:nvSpPr>
          <p:cNvPr id="6" name="Rectangle: Rounded Corners 5">
            <a:extLst>
              <a:ext uri="{FF2B5EF4-FFF2-40B4-BE49-F238E27FC236}">
                <a16:creationId xmlns:a16="http://schemas.microsoft.com/office/drawing/2014/main" id="{317C66AE-C1D9-94E9-52DA-CF0DA04D84B9}"/>
              </a:ext>
            </a:extLst>
          </p:cNvPr>
          <p:cNvSpPr/>
          <p:nvPr/>
        </p:nvSpPr>
        <p:spPr>
          <a:xfrm>
            <a:off x="503403" y="1668256"/>
            <a:ext cx="11185191" cy="3476117"/>
          </a:xfrm>
          <a:prstGeom prst="roundRect">
            <a:avLst>
              <a:gd name="adj" fmla="val 5962"/>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11AF54C2-6CB1-C919-A31D-EE1CF77FF094}"/>
              </a:ext>
            </a:extLst>
          </p:cNvPr>
          <p:cNvSpPr/>
          <p:nvPr/>
        </p:nvSpPr>
        <p:spPr>
          <a:xfrm>
            <a:off x="1654808" y="1622562"/>
            <a:ext cx="1787171" cy="287650"/>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C6817A80-F249-1C33-ACA3-9C07D127D7E4}"/>
              </a:ext>
            </a:extLst>
          </p:cNvPr>
          <p:cNvSpPr/>
          <p:nvPr/>
        </p:nvSpPr>
        <p:spPr>
          <a:xfrm>
            <a:off x="758606" y="2617315"/>
            <a:ext cx="293929" cy="306770"/>
          </a:xfrm>
          <a:prstGeom prst="ellipse">
            <a:avLst/>
          </a:prstGeom>
          <a:solidFill>
            <a:srgbClr val="A9866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5A870C9C-5082-A6C9-D4C1-EE6014599058}"/>
              </a:ext>
            </a:extLst>
          </p:cNvPr>
          <p:cNvSpPr txBox="1"/>
          <p:nvPr/>
        </p:nvSpPr>
        <p:spPr>
          <a:xfrm>
            <a:off x="1899316" y="1330953"/>
            <a:ext cx="1444177" cy="369332"/>
          </a:xfrm>
          <a:prstGeom prst="rect">
            <a:avLst/>
          </a:prstGeom>
          <a:noFill/>
        </p:spPr>
        <p:txBody>
          <a:bodyPr wrap="square" rtlCol="0">
            <a:spAutoFit/>
          </a:bodyPr>
          <a:lstStyle/>
          <a:p>
            <a:r>
              <a:rPr lang="en-US" dirty="0">
                <a:solidFill>
                  <a:srgbClr val="8F97B7"/>
                </a:solidFill>
              </a:rPr>
              <a:t>Implement</a:t>
            </a:r>
          </a:p>
        </p:txBody>
      </p:sp>
      <p:sp>
        <p:nvSpPr>
          <p:cNvPr id="24" name="TextBox 23">
            <a:extLst>
              <a:ext uri="{FF2B5EF4-FFF2-40B4-BE49-F238E27FC236}">
                <a16:creationId xmlns:a16="http://schemas.microsoft.com/office/drawing/2014/main" id="{BA515604-184B-E3FC-982D-204A3BF5C5FD}"/>
              </a:ext>
            </a:extLst>
          </p:cNvPr>
          <p:cNvSpPr txBox="1"/>
          <p:nvPr/>
        </p:nvSpPr>
        <p:spPr>
          <a:xfrm>
            <a:off x="738137" y="2624295"/>
            <a:ext cx="460382" cy="282316"/>
          </a:xfrm>
          <a:prstGeom prst="rect">
            <a:avLst/>
          </a:prstGeom>
          <a:noFill/>
        </p:spPr>
        <p:txBody>
          <a:bodyPr wrap="square" rtlCol="0">
            <a:spAutoFit/>
          </a:bodyPr>
          <a:lstStyle/>
          <a:p>
            <a:r>
              <a:rPr lang="en-US" sz="1200" b="1" dirty="0">
                <a:solidFill>
                  <a:srgbClr val="0E1C2D"/>
                </a:solidFill>
              </a:rPr>
              <a:t>Or</a:t>
            </a:r>
          </a:p>
        </p:txBody>
      </p:sp>
      <p:sp>
        <p:nvSpPr>
          <p:cNvPr id="27" name="TextBox 26">
            <a:extLst>
              <a:ext uri="{FF2B5EF4-FFF2-40B4-BE49-F238E27FC236}">
                <a16:creationId xmlns:a16="http://schemas.microsoft.com/office/drawing/2014/main" id="{6558E25E-7C53-53D7-C457-58B144DF116D}"/>
              </a:ext>
            </a:extLst>
          </p:cNvPr>
          <p:cNvSpPr txBox="1"/>
          <p:nvPr/>
        </p:nvSpPr>
        <p:spPr>
          <a:xfrm>
            <a:off x="1184559" y="2638386"/>
            <a:ext cx="965329" cy="261610"/>
          </a:xfrm>
          <a:prstGeom prst="rect">
            <a:avLst/>
          </a:prstGeom>
          <a:noFill/>
        </p:spPr>
        <p:txBody>
          <a:bodyPr wrap="none" rtlCol="0">
            <a:spAutoFit/>
          </a:bodyPr>
          <a:lstStyle/>
          <a:p>
            <a:r>
              <a:rPr lang="en-US" sz="1100" dirty="0">
                <a:solidFill>
                  <a:srgbClr val="E1E1E1"/>
                </a:solidFill>
              </a:rPr>
              <a:t>Orchestrator</a:t>
            </a:r>
          </a:p>
        </p:txBody>
      </p:sp>
      <p:pic>
        <p:nvPicPr>
          <p:cNvPr id="29" name="Graphic 28" descr="Information with solid fill">
            <a:extLst>
              <a:ext uri="{FF2B5EF4-FFF2-40B4-BE49-F238E27FC236}">
                <a16:creationId xmlns:a16="http://schemas.microsoft.com/office/drawing/2014/main" id="{C0E2B002-DECB-1B0F-40CE-1D3D86CAAB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3975" y="2661152"/>
            <a:ext cx="193473" cy="193473"/>
          </a:xfrm>
          <a:prstGeom prst="rect">
            <a:avLst/>
          </a:prstGeom>
        </p:spPr>
      </p:pic>
      <p:sp>
        <p:nvSpPr>
          <p:cNvPr id="16" name="TextBox 15">
            <a:extLst>
              <a:ext uri="{FF2B5EF4-FFF2-40B4-BE49-F238E27FC236}">
                <a16:creationId xmlns:a16="http://schemas.microsoft.com/office/drawing/2014/main" id="{B6B922F0-996C-9CB9-A381-0CEDE2129F12}"/>
              </a:ext>
            </a:extLst>
          </p:cNvPr>
          <p:cNvSpPr txBox="1"/>
          <p:nvPr/>
        </p:nvSpPr>
        <p:spPr>
          <a:xfrm>
            <a:off x="1226477" y="3087372"/>
            <a:ext cx="705642" cy="261610"/>
          </a:xfrm>
          <a:prstGeom prst="rect">
            <a:avLst/>
          </a:prstGeom>
          <a:noFill/>
        </p:spPr>
        <p:txBody>
          <a:bodyPr wrap="none" rtlCol="0">
            <a:spAutoFit/>
          </a:bodyPr>
          <a:lstStyle>
            <a:defPPr>
              <a:defRPr lang="en-US"/>
            </a:defPPr>
            <a:lvl1pPr>
              <a:defRPr sz="1100">
                <a:solidFill>
                  <a:srgbClr val="E1E1E1"/>
                </a:solidFill>
              </a:defRPr>
            </a:lvl1pPr>
          </a:lstStyle>
          <a:p>
            <a:r>
              <a:rPr lang="en-US" dirty="0"/>
              <a:t>Analyzer</a:t>
            </a:r>
          </a:p>
        </p:txBody>
      </p:sp>
      <p:cxnSp>
        <p:nvCxnSpPr>
          <p:cNvPr id="75" name="Straight Connector 74">
            <a:extLst>
              <a:ext uri="{FF2B5EF4-FFF2-40B4-BE49-F238E27FC236}">
                <a16:creationId xmlns:a16="http://schemas.microsoft.com/office/drawing/2014/main" id="{052DD024-B5AA-ECC7-876D-EE92D90DCCBB}"/>
              </a:ext>
            </a:extLst>
          </p:cNvPr>
          <p:cNvCxnSpPr>
            <a:cxnSpLocks/>
          </p:cNvCxnSpPr>
          <p:nvPr/>
        </p:nvCxnSpPr>
        <p:spPr>
          <a:xfrm>
            <a:off x="652293" y="2505875"/>
            <a:ext cx="10203544" cy="6404"/>
          </a:xfrm>
          <a:prstGeom prst="line">
            <a:avLst/>
          </a:prstGeom>
          <a:ln>
            <a:solidFill>
              <a:srgbClr val="1E3147"/>
            </a:solidFill>
          </a:ln>
        </p:spPr>
        <p:style>
          <a:lnRef idx="2">
            <a:schemeClr val="accent1"/>
          </a:lnRef>
          <a:fillRef idx="0">
            <a:schemeClr val="accent1"/>
          </a:fillRef>
          <a:effectRef idx="1">
            <a:schemeClr val="accent1"/>
          </a:effectRef>
          <a:fontRef idx="minor">
            <a:schemeClr val="tx1"/>
          </a:fontRef>
        </p:style>
      </p:cxnSp>
      <p:sp>
        <p:nvSpPr>
          <p:cNvPr id="77" name="TextBox 76">
            <a:extLst>
              <a:ext uri="{FF2B5EF4-FFF2-40B4-BE49-F238E27FC236}">
                <a16:creationId xmlns:a16="http://schemas.microsoft.com/office/drawing/2014/main" id="{7B685A07-62DA-A837-77CC-CEEA269E0A39}"/>
              </a:ext>
            </a:extLst>
          </p:cNvPr>
          <p:cNvSpPr txBox="1"/>
          <p:nvPr/>
        </p:nvSpPr>
        <p:spPr>
          <a:xfrm>
            <a:off x="1274326" y="2217384"/>
            <a:ext cx="785793" cy="246221"/>
          </a:xfrm>
          <a:prstGeom prst="rect">
            <a:avLst/>
          </a:prstGeom>
          <a:noFill/>
        </p:spPr>
        <p:txBody>
          <a:bodyPr wrap="none" rtlCol="0">
            <a:spAutoFit/>
          </a:bodyPr>
          <a:lstStyle/>
          <a:p>
            <a:pPr algn="ctr"/>
            <a:r>
              <a:rPr lang="en-US" sz="1000" dirty="0">
                <a:solidFill>
                  <a:srgbClr val="E1E1E1"/>
                </a:solidFill>
              </a:rPr>
              <a:t>Agent Type</a:t>
            </a:r>
          </a:p>
        </p:txBody>
      </p:sp>
      <p:sp>
        <p:nvSpPr>
          <p:cNvPr id="78" name="TextBox 77">
            <a:extLst>
              <a:ext uri="{FF2B5EF4-FFF2-40B4-BE49-F238E27FC236}">
                <a16:creationId xmlns:a16="http://schemas.microsoft.com/office/drawing/2014/main" id="{A947F796-F497-8D73-852B-B193E5D722AD}"/>
              </a:ext>
            </a:extLst>
          </p:cNvPr>
          <p:cNvSpPr txBox="1"/>
          <p:nvPr/>
        </p:nvSpPr>
        <p:spPr>
          <a:xfrm>
            <a:off x="662149" y="1838089"/>
            <a:ext cx="1202573" cy="246221"/>
          </a:xfrm>
          <a:prstGeom prst="rect">
            <a:avLst/>
          </a:prstGeom>
          <a:noFill/>
        </p:spPr>
        <p:txBody>
          <a:bodyPr wrap="none" rtlCol="0">
            <a:spAutoFit/>
          </a:bodyPr>
          <a:lstStyle/>
          <a:p>
            <a:r>
              <a:rPr lang="en-US" sz="1000" dirty="0">
                <a:solidFill>
                  <a:srgbClr val="E1E1E1"/>
                </a:solidFill>
              </a:rPr>
              <a:t>Claude Subagents</a:t>
            </a:r>
          </a:p>
        </p:txBody>
      </p:sp>
      <p:sp>
        <p:nvSpPr>
          <p:cNvPr id="80" name="Rectangle: Rounded Corners 79">
            <a:extLst>
              <a:ext uri="{FF2B5EF4-FFF2-40B4-BE49-F238E27FC236}">
                <a16:creationId xmlns:a16="http://schemas.microsoft.com/office/drawing/2014/main" id="{011C4C14-5A6E-7576-F899-564C8E6ECDA2}"/>
              </a:ext>
            </a:extLst>
          </p:cNvPr>
          <p:cNvSpPr/>
          <p:nvPr/>
        </p:nvSpPr>
        <p:spPr>
          <a:xfrm>
            <a:off x="1813390" y="1884175"/>
            <a:ext cx="336498" cy="182696"/>
          </a:xfrm>
          <a:prstGeom prst="roundRect">
            <a:avLst>
              <a:gd name="adj" fmla="val 50000"/>
            </a:avLst>
          </a:prstGeom>
          <a:solidFill>
            <a:srgbClr val="0E1C2D"/>
          </a:solid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a:extLst>
              <a:ext uri="{FF2B5EF4-FFF2-40B4-BE49-F238E27FC236}">
                <a16:creationId xmlns:a16="http://schemas.microsoft.com/office/drawing/2014/main" id="{5D4599B2-08AC-FC4D-837E-F2B0CECA7433}"/>
              </a:ext>
            </a:extLst>
          </p:cNvPr>
          <p:cNvSpPr/>
          <p:nvPr/>
        </p:nvSpPr>
        <p:spPr>
          <a:xfrm>
            <a:off x="1815090" y="1876161"/>
            <a:ext cx="174503" cy="184050"/>
          </a:xfrm>
          <a:prstGeom prst="ellipse">
            <a:avLst/>
          </a:prstGeom>
          <a:solidFill>
            <a:srgbClr val="1E31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a:extLst>
              <a:ext uri="{FF2B5EF4-FFF2-40B4-BE49-F238E27FC236}">
                <a16:creationId xmlns:a16="http://schemas.microsoft.com/office/drawing/2014/main" id="{BDF3E499-764D-7237-220A-1776350E281F}"/>
              </a:ext>
            </a:extLst>
          </p:cNvPr>
          <p:cNvSpPr/>
          <p:nvPr/>
        </p:nvSpPr>
        <p:spPr>
          <a:xfrm>
            <a:off x="758606" y="3066408"/>
            <a:ext cx="293929" cy="306770"/>
          </a:xfrm>
          <a:prstGeom prst="ellipse">
            <a:avLst/>
          </a:prstGeom>
          <a:solidFill>
            <a:srgbClr val="A32A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92F8067B-E180-DA40-106A-3524C87208F3}"/>
              </a:ext>
            </a:extLst>
          </p:cNvPr>
          <p:cNvSpPr/>
          <p:nvPr/>
        </p:nvSpPr>
        <p:spPr>
          <a:xfrm>
            <a:off x="758606" y="3513494"/>
            <a:ext cx="293929" cy="306770"/>
          </a:xfrm>
          <a:prstGeom prst="ellipse">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6EA458C1-C50B-8F56-EB61-F18EF1B57485}"/>
              </a:ext>
            </a:extLst>
          </p:cNvPr>
          <p:cNvSpPr/>
          <p:nvPr/>
        </p:nvSpPr>
        <p:spPr>
          <a:xfrm>
            <a:off x="758606" y="3970226"/>
            <a:ext cx="293929" cy="306770"/>
          </a:xfrm>
          <a:prstGeom prst="ellipse">
            <a:avLst/>
          </a:prstGeom>
          <a:solidFill>
            <a:srgbClr val="FFC3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TextBox 88">
            <a:extLst>
              <a:ext uri="{FF2B5EF4-FFF2-40B4-BE49-F238E27FC236}">
                <a16:creationId xmlns:a16="http://schemas.microsoft.com/office/drawing/2014/main" id="{CDE2A935-5505-D384-7FA0-FEA31670F96E}"/>
              </a:ext>
            </a:extLst>
          </p:cNvPr>
          <p:cNvSpPr txBox="1"/>
          <p:nvPr/>
        </p:nvSpPr>
        <p:spPr>
          <a:xfrm>
            <a:off x="1226477" y="3532367"/>
            <a:ext cx="970137" cy="261610"/>
          </a:xfrm>
          <a:prstGeom prst="rect">
            <a:avLst/>
          </a:prstGeom>
          <a:noFill/>
        </p:spPr>
        <p:txBody>
          <a:bodyPr wrap="none" rtlCol="0">
            <a:spAutoFit/>
          </a:bodyPr>
          <a:lstStyle>
            <a:defPPr>
              <a:defRPr lang="en-US"/>
            </a:defPPr>
            <a:lvl1pPr>
              <a:defRPr sz="1100">
                <a:solidFill>
                  <a:srgbClr val="E1E1E1"/>
                </a:solidFill>
              </a:defRPr>
            </a:lvl1pPr>
          </a:lstStyle>
          <a:p>
            <a:r>
              <a:rPr lang="en-US" dirty="0"/>
              <a:t>Implementor</a:t>
            </a:r>
          </a:p>
        </p:txBody>
      </p:sp>
      <p:sp>
        <p:nvSpPr>
          <p:cNvPr id="90" name="TextBox 89">
            <a:extLst>
              <a:ext uri="{FF2B5EF4-FFF2-40B4-BE49-F238E27FC236}">
                <a16:creationId xmlns:a16="http://schemas.microsoft.com/office/drawing/2014/main" id="{F7767F65-48BD-85CD-C8FC-07EFAAA829F3}"/>
              </a:ext>
            </a:extLst>
          </p:cNvPr>
          <p:cNvSpPr txBox="1"/>
          <p:nvPr/>
        </p:nvSpPr>
        <p:spPr>
          <a:xfrm>
            <a:off x="1245503" y="3998201"/>
            <a:ext cx="559769" cy="261610"/>
          </a:xfrm>
          <a:prstGeom prst="rect">
            <a:avLst/>
          </a:prstGeom>
          <a:noFill/>
        </p:spPr>
        <p:txBody>
          <a:bodyPr wrap="none" rtlCol="0">
            <a:spAutoFit/>
          </a:bodyPr>
          <a:lstStyle>
            <a:defPPr>
              <a:defRPr lang="en-US"/>
            </a:defPPr>
            <a:lvl1pPr>
              <a:defRPr sz="1100">
                <a:solidFill>
                  <a:srgbClr val="E1E1E1"/>
                </a:solidFill>
              </a:defRPr>
            </a:lvl1pPr>
          </a:lstStyle>
          <a:p>
            <a:r>
              <a:rPr lang="en-US" dirty="0"/>
              <a:t>Tester</a:t>
            </a:r>
          </a:p>
        </p:txBody>
      </p:sp>
      <p:sp>
        <p:nvSpPr>
          <p:cNvPr id="91" name="TextBox 90">
            <a:extLst>
              <a:ext uri="{FF2B5EF4-FFF2-40B4-BE49-F238E27FC236}">
                <a16:creationId xmlns:a16="http://schemas.microsoft.com/office/drawing/2014/main" id="{5FCBBEC9-1243-03B9-09A3-A1314A3738F6}"/>
              </a:ext>
            </a:extLst>
          </p:cNvPr>
          <p:cNvSpPr txBox="1"/>
          <p:nvPr/>
        </p:nvSpPr>
        <p:spPr>
          <a:xfrm>
            <a:off x="4260936" y="2611055"/>
            <a:ext cx="683200" cy="261610"/>
          </a:xfrm>
          <a:prstGeom prst="rect">
            <a:avLst/>
          </a:prstGeom>
          <a:noFill/>
        </p:spPr>
        <p:txBody>
          <a:bodyPr wrap="none" rtlCol="0">
            <a:spAutoFit/>
          </a:bodyPr>
          <a:lstStyle/>
          <a:p>
            <a:r>
              <a:rPr lang="en-US" sz="1100" i="1" dirty="0">
                <a:solidFill>
                  <a:srgbClr val="FFC000"/>
                </a:solidFill>
              </a:rPr>
              <a:t>Waiting.</a:t>
            </a:r>
          </a:p>
        </p:txBody>
      </p:sp>
      <p:pic>
        <p:nvPicPr>
          <p:cNvPr id="93" name="Graphic 92" descr="Information with solid fill">
            <a:extLst>
              <a:ext uri="{FF2B5EF4-FFF2-40B4-BE49-F238E27FC236}">
                <a16:creationId xmlns:a16="http://schemas.microsoft.com/office/drawing/2014/main" id="{AF8E140E-B31A-C78A-E3CD-B7FD4D5E177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2365" y="3102069"/>
            <a:ext cx="193473" cy="193473"/>
          </a:xfrm>
          <a:prstGeom prst="rect">
            <a:avLst/>
          </a:prstGeom>
        </p:spPr>
      </p:pic>
      <p:pic>
        <p:nvPicPr>
          <p:cNvPr id="94" name="Graphic 93" descr="Information with solid fill">
            <a:extLst>
              <a:ext uri="{FF2B5EF4-FFF2-40B4-BE49-F238E27FC236}">
                <a16:creationId xmlns:a16="http://schemas.microsoft.com/office/drawing/2014/main" id="{9E98EE87-9F20-8374-7D8A-FAA4823A724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2365" y="3553624"/>
            <a:ext cx="193473" cy="193473"/>
          </a:xfrm>
          <a:prstGeom prst="rect">
            <a:avLst/>
          </a:prstGeom>
        </p:spPr>
      </p:pic>
      <p:pic>
        <p:nvPicPr>
          <p:cNvPr id="95" name="Graphic 94" descr="Information with solid fill">
            <a:extLst>
              <a:ext uri="{FF2B5EF4-FFF2-40B4-BE49-F238E27FC236}">
                <a16:creationId xmlns:a16="http://schemas.microsoft.com/office/drawing/2014/main" id="{C0D3D6CD-FF0A-A2F6-BCD8-6C6E5D5F7E5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2364" y="4014063"/>
            <a:ext cx="193473" cy="193473"/>
          </a:xfrm>
          <a:prstGeom prst="rect">
            <a:avLst/>
          </a:prstGeom>
        </p:spPr>
      </p:pic>
      <p:sp>
        <p:nvSpPr>
          <p:cNvPr id="96" name="TextBox 95">
            <a:extLst>
              <a:ext uri="{FF2B5EF4-FFF2-40B4-BE49-F238E27FC236}">
                <a16:creationId xmlns:a16="http://schemas.microsoft.com/office/drawing/2014/main" id="{7960853F-C6B3-436C-B34B-6B5EBEDC75D2}"/>
              </a:ext>
            </a:extLst>
          </p:cNvPr>
          <p:cNvSpPr txBox="1"/>
          <p:nvPr/>
        </p:nvSpPr>
        <p:spPr>
          <a:xfrm>
            <a:off x="729726" y="3076054"/>
            <a:ext cx="460382" cy="282316"/>
          </a:xfrm>
          <a:prstGeom prst="rect">
            <a:avLst/>
          </a:prstGeom>
          <a:noFill/>
        </p:spPr>
        <p:txBody>
          <a:bodyPr wrap="square" rtlCol="0">
            <a:spAutoFit/>
          </a:bodyPr>
          <a:lstStyle/>
          <a:p>
            <a:r>
              <a:rPr lang="en-US" sz="1200" b="1" dirty="0">
                <a:solidFill>
                  <a:srgbClr val="0E1C2D"/>
                </a:solidFill>
              </a:rPr>
              <a:t>An</a:t>
            </a:r>
          </a:p>
        </p:txBody>
      </p:sp>
      <p:sp>
        <p:nvSpPr>
          <p:cNvPr id="97" name="TextBox 96">
            <a:extLst>
              <a:ext uri="{FF2B5EF4-FFF2-40B4-BE49-F238E27FC236}">
                <a16:creationId xmlns:a16="http://schemas.microsoft.com/office/drawing/2014/main" id="{40E964B1-A5B1-1999-BE19-F0A3F990E99E}"/>
              </a:ext>
            </a:extLst>
          </p:cNvPr>
          <p:cNvSpPr txBox="1"/>
          <p:nvPr/>
        </p:nvSpPr>
        <p:spPr>
          <a:xfrm>
            <a:off x="736070" y="3523140"/>
            <a:ext cx="460382" cy="282316"/>
          </a:xfrm>
          <a:prstGeom prst="rect">
            <a:avLst/>
          </a:prstGeom>
          <a:noFill/>
        </p:spPr>
        <p:txBody>
          <a:bodyPr wrap="square" rtlCol="0">
            <a:spAutoFit/>
          </a:bodyPr>
          <a:lstStyle/>
          <a:p>
            <a:r>
              <a:rPr lang="en-US" sz="1200" b="1" dirty="0" err="1">
                <a:solidFill>
                  <a:srgbClr val="0E1C2D"/>
                </a:solidFill>
              </a:rPr>
              <a:t>Im</a:t>
            </a:r>
            <a:endParaRPr lang="en-US" sz="1200" b="1" dirty="0">
              <a:solidFill>
                <a:srgbClr val="0E1C2D"/>
              </a:solidFill>
            </a:endParaRPr>
          </a:p>
        </p:txBody>
      </p:sp>
      <p:sp>
        <p:nvSpPr>
          <p:cNvPr id="98" name="TextBox 97">
            <a:extLst>
              <a:ext uri="{FF2B5EF4-FFF2-40B4-BE49-F238E27FC236}">
                <a16:creationId xmlns:a16="http://schemas.microsoft.com/office/drawing/2014/main" id="{D3A7A516-2C5A-517F-B223-E5A029B99AF2}"/>
              </a:ext>
            </a:extLst>
          </p:cNvPr>
          <p:cNvSpPr txBox="1"/>
          <p:nvPr/>
        </p:nvSpPr>
        <p:spPr>
          <a:xfrm>
            <a:off x="736070" y="3989707"/>
            <a:ext cx="460382" cy="282316"/>
          </a:xfrm>
          <a:prstGeom prst="rect">
            <a:avLst/>
          </a:prstGeom>
          <a:noFill/>
        </p:spPr>
        <p:txBody>
          <a:bodyPr wrap="square" rtlCol="0">
            <a:spAutoFit/>
          </a:bodyPr>
          <a:lstStyle/>
          <a:p>
            <a:r>
              <a:rPr lang="en-US" sz="1200" b="1" dirty="0" err="1">
                <a:solidFill>
                  <a:srgbClr val="0E1C2D"/>
                </a:solidFill>
              </a:rPr>
              <a:t>Te</a:t>
            </a:r>
            <a:endParaRPr lang="en-US" sz="1200" b="1" dirty="0">
              <a:solidFill>
                <a:srgbClr val="0E1C2D"/>
              </a:solidFill>
            </a:endParaRPr>
          </a:p>
        </p:txBody>
      </p:sp>
      <p:sp>
        <p:nvSpPr>
          <p:cNvPr id="99" name="TextBox 98">
            <a:extLst>
              <a:ext uri="{FF2B5EF4-FFF2-40B4-BE49-F238E27FC236}">
                <a16:creationId xmlns:a16="http://schemas.microsoft.com/office/drawing/2014/main" id="{ABF6D5FC-D584-D91B-768A-252421E9169B}"/>
              </a:ext>
            </a:extLst>
          </p:cNvPr>
          <p:cNvSpPr txBox="1"/>
          <p:nvPr/>
        </p:nvSpPr>
        <p:spPr>
          <a:xfrm>
            <a:off x="4193614" y="2214394"/>
            <a:ext cx="886781" cy="246221"/>
          </a:xfrm>
          <a:prstGeom prst="rect">
            <a:avLst/>
          </a:prstGeom>
          <a:noFill/>
        </p:spPr>
        <p:txBody>
          <a:bodyPr wrap="none" rtlCol="0">
            <a:spAutoFit/>
          </a:bodyPr>
          <a:lstStyle/>
          <a:p>
            <a:pPr algn="ctr"/>
            <a:r>
              <a:rPr lang="en-US" sz="1000" dirty="0">
                <a:solidFill>
                  <a:srgbClr val="E1E1E1"/>
                </a:solidFill>
              </a:rPr>
              <a:t>Agent Status</a:t>
            </a:r>
          </a:p>
        </p:txBody>
      </p:sp>
      <p:sp>
        <p:nvSpPr>
          <p:cNvPr id="100" name="TextBox 99">
            <a:extLst>
              <a:ext uri="{FF2B5EF4-FFF2-40B4-BE49-F238E27FC236}">
                <a16:creationId xmlns:a16="http://schemas.microsoft.com/office/drawing/2014/main" id="{8AC0DC04-C326-DFAF-517E-B97E2ED30772}"/>
              </a:ext>
            </a:extLst>
          </p:cNvPr>
          <p:cNvSpPr txBox="1"/>
          <p:nvPr/>
        </p:nvSpPr>
        <p:spPr>
          <a:xfrm>
            <a:off x="7929117" y="2092323"/>
            <a:ext cx="772505" cy="400110"/>
          </a:xfrm>
          <a:prstGeom prst="rect">
            <a:avLst/>
          </a:prstGeom>
          <a:noFill/>
        </p:spPr>
        <p:txBody>
          <a:bodyPr wrap="square" rtlCol="0">
            <a:spAutoFit/>
          </a:bodyPr>
          <a:lstStyle/>
          <a:p>
            <a:pPr algn="ctr"/>
            <a:r>
              <a:rPr lang="en-US" sz="1000" dirty="0">
                <a:solidFill>
                  <a:srgbClr val="E1E1E1"/>
                </a:solidFill>
              </a:rPr>
              <a:t>Messages waiting</a:t>
            </a:r>
          </a:p>
        </p:txBody>
      </p:sp>
      <p:sp>
        <p:nvSpPr>
          <p:cNvPr id="114" name="TextBox 113">
            <a:extLst>
              <a:ext uri="{FF2B5EF4-FFF2-40B4-BE49-F238E27FC236}">
                <a16:creationId xmlns:a16="http://schemas.microsoft.com/office/drawing/2014/main" id="{005B2202-9BD8-E790-2FB1-0406A153D004}"/>
              </a:ext>
            </a:extLst>
          </p:cNvPr>
          <p:cNvSpPr txBox="1"/>
          <p:nvPr/>
        </p:nvSpPr>
        <p:spPr>
          <a:xfrm>
            <a:off x="7041082" y="2099303"/>
            <a:ext cx="772505" cy="400110"/>
          </a:xfrm>
          <a:prstGeom prst="rect">
            <a:avLst/>
          </a:prstGeom>
          <a:noFill/>
        </p:spPr>
        <p:txBody>
          <a:bodyPr wrap="square" rtlCol="0">
            <a:spAutoFit/>
          </a:bodyPr>
          <a:lstStyle/>
          <a:p>
            <a:pPr algn="ctr"/>
            <a:r>
              <a:rPr lang="en-US" sz="1000" dirty="0">
                <a:solidFill>
                  <a:srgbClr val="E1E1E1"/>
                </a:solidFill>
              </a:rPr>
              <a:t>Messages</a:t>
            </a:r>
          </a:p>
          <a:p>
            <a:pPr algn="ctr"/>
            <a:r>
              <a:rPr lang="en-US" sz="1000" dirty="0">
                <a:solidFill>
                  <a:srgbClr val="E1E1E1"/>
                </a:solidFill>
              </a:rPr>
              <a:t>Sent</a:t>
            </a:r>
          </a:p>
        </p:txBody>
      </p:sp>
      <p:sp>
        <p:nvSpPr>
          <p:cNvPr id="115" name="TextBox 114">
            <a:extLst>
              <a:ext uri="{FF2B5EF4-FFF2-40B4-BE49-F238E27FC236}">
                <a16:creationId xmlns:a16="http://schemas.microsoft.com/office/drawing/2014/main" id="{33245FDC-7EA4-DADE-B720-4A84CDF6B557}"/>
              </a:ext>
            </a:extLst>
          </p:cNvPr>
          <p:cNvSpPr txBox="1"/>
          <p:nvPr/>
        </p:nvSpPr>
        <p:spPr>
          <a:xfrm>
            <a:off x="8932682" y="2112169"/>
            <a:ext cx="751053" cy="400110"/>
          </a:xfrm>
          <a:prstGeom prst="rect">
            <a:avLst/>
          </a:prstGeom>
          <a:noFill/>
        </p:spPr>
        <p:txBody>
          <a:bodyPr wrap="square" rtlCol="0">
            <a:spAutoFit/>
          </a:bodyPr>
          <a:lstStyle/>
          <a:p>
            <a:pPr algn="ctr"/>
            <a:r>
              <a:rPr lang="en-US" sz="1000" dirty="0">
                <a:solidFill>
                  <a:srgbClr val="E1E1E1"/>
                </a:solidFill>
              </a:rPr>
              <a:t>Messages Read</a:t>
            </a:r>
          </a:p>
        </p:txBody>
      </p:sp>
      <p:pic>
        <p:nvPicPr>
          <p:cNvPr id="117" name="Graphic 116" descr="Chat with solid fill">
            <a:extLst>
              <a:ext uri="{FF2B5EF4-FFF2-40B4-BE49-F238E27FC236}">
                <a16:creationId xmlns:a16="http://schemas.microsoft.com/office/drawing/2014/main" id="{B5F7D771-9D13-0807-CCC8-133047B2A31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305301" y="2637658"/>
            <a:ext cx="261610" cy="261610"/>
          </a:xfrm>
          <a:prstGeom prst="rect">
            <a:avLst/>
          </a:prstGeom>
        </p:spPr>
      </p:pic>
      <p:pic>
        <p:nvPicPr>
          <p:cNvPr id="118" name="Graphic 117" descr="Chat with solid fill">
            <a:extLst>
              <a:ext uri="{FF2B5EF4-FFF2-40B4-BE49-F238E27FC236}">
                <a16:creationId xmlns:a16="http://schemas.microsoft.com/office/drawing/2014/main" id="{399BB499-9411-9BA9-126E-5058F977866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297189" y="3068000"/>
            <a:ext cx="261610" cy="261610"/>
          </a:xfrm>
          <a:prstGeom prst="rect">
            <a:avLst/>
          </a:prstGeom>
        </p:spPr>
      </p:pic>
      <p:pic>
        <p:nvPicPr>
          <p:cNvPr id="119" name="Graphic 118" descr="Chat with solid fill">
            <a:extLst>
              <a:ext uri="{FF2B5EF4-FFF2-40B4-BE49-F238E27FC236}">
                <a16:creationId xmlns:a16="http://schemas.microsoft.com/office/drawing/2014/main" id="{ED784970-D7DF-65B9-95BC-03A7778FC35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297189" y="3527404"/>
            <a:ext cx="261610" cy="261610"/>
          </a:xfrm>
          <a:prstGeom prst="rect">
            <a:avLst/>
          </a:prstGeom>
        </p:spPr>
      </p:pic>
      <p:pic>
        <p:nvPicPr>
          <p:cNvPr id="120" name="Graphic 119" descr="Chat with solid fill">
            <a:extLst>
              <a:ext uri="{FF2B5EF4-FFF2-40B4-BE49-F238E27FC236}">
                <a16:creationId xmlns:a16="http://schemas.microsoft.com/office/drawing/2014/main" id="{094E01F5-AB9B-6757-A946-D33E720D430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310562" y="3991625"/>
            <a:ext cx="261610" cy="261610"/>
          </a:xfrm>
          <a:prstGeom prst="rect">
            <a:avLst/>
          </a:prstGeom>
        </p:spPr>
      </p:pic>
      <p:sp>
        <p:nvSpPr>
          <p:cNvPr id="136" name="TextBox 135">
            <a:extLst>
              <a:ext uri="{FF2B5EF4-FFF2-40B4-BE49-F238E27FC236}">
                <a16:creationId xmlns:a16="http://schemas.microsoft.com/office/drawing/2014/main" id="{C68A3072-9015-BBAE-423E-05D1626796ED}"/>
              </a:ext>
            </a:extLst>
          </p:cNvPr>
          <p:cNvSpPr txBox="1"/>
          <p:nvPr/>
        </p:nvSpPr>
        <p:spPr>
          <a:xfrm>
            <a:off x="4253814" y="3982173"/>
            <a:ext cx="683200" cy="261610"/>
          </a:xfrm>
          <a:prstGeom prst="rect">
            <a:avLst/>
          </a:prstGeom>
          <a:noFill/>
        </p:spPr>
        <p:txBody>
          <a:bodyPr wrap="none" rtlCol="0">
            <a:spAutoFit/>
          </a:bodyPr>
          <a:lstStyle/>
          <a:p>
            <a:r>
              <a:rPr lang="en-US" sz="1100" i="1" dirty="0">
                <a:solidFill>
                  <a:srgbClr val="FFC000"/>
                </a:solidFill>
              </a:rPr>
              <a:t>Waiting.</a:t>
            </a:r>
          </a:p>
        </p:txBody>
      </p:sp>
      <p:pic>
        <p:nvPicPr>
          <p:cNvPr id="137" name="Graphic 136" descr="Play with solid fill">
            <a:extLst>
              <a:ext uri="{FF2B5EF4-FFF2-40B4-BE49-F238E27FC236}">
                <a16:creationId xmlns:a16="http://schemas.microsoft.com/office/drawing/2014/main" id="{96DBF43B-BF51-96EB-6D26-A9E41E3D487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00374" y="3545730"/>
            <a:ext cx="193474" cy="193474"/>
          </a:xfrm>
          <a:prstGeom prst="rect">
            <a:avLst/>
          </a:prstGeom>
        </p:spPr>
      </p:pic>
      <p:pic>
        <p:nvPicPr>
          <p:cNvPr id="138" name="Graphic 137" descr="Play with solid fill">
            <a:extLst>
              <a:ext uri="{FF2B5EF4-FFF2-40B4-BE49-F238E27FC236}">
                <a16:creationId xmlns:a16="http://schemas.microsoft.com/office/drawing/2014/main" id="{9A589036-2367-BF4D-8637-700FD99F298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02983" y="4004988"/>
            <a:ext cx="193474" cy="193474"/>
          </a:xfrm>
          <a:prstGeom prst="rect">
            <a:avLst/>
          </a:prstGeom>
        </p:spPr>
      </p:pic>
      <p:sp>
        <p:nvSpPr>
          <p:cNvPr id="14" name="TextBox 13">
            <a:extLst>
              <a:ext uri="{FF2B5EF4-FFF2-40B4-BE49-F238E27FC236}">
                <a16:creationId xmlns:a16="http://schemas.microsoft.com/office/drawing/2014/main" id="{FA0F1E78-651F-C158-0F86-CC0507099EA9}"/>
              </a:ext>
            </a:extLst>
          </p:cNvPr>
          <p:cNvSpPr txBox="1"/>
          <p:nvPr/>
        </p:nvSpPr>
        <p:spPr>
          <a:xfrm>
            <a:off x="8152537" y="2627083"/>
            <a:ext cx="260008" cy="261610"/>
          </a:xfrm>
          <a:prstGeom prst="rect">
            <a:avLst/>
          </a:prstGeom>
          <a:noFill/>
        </p:spPr>
        <p:txBody>
          <a:bodyPr wrap="square" rtlCol="0">
            <a:spAutoFit/>
          </a:bodyPr>
          <a:lstStyle/>
          <a:p>
            <a:r>
              <a:rPr lang="en-US" sz="1100" dirty="0">
                <a:solidFill>
                  <a:srgbClr val="E1E1E1"/>
                </a:solidFill>
              </a:rPr>
              <a:t>1</a:t>
            </a:r>
          </a:p>
        </p:txBody>
      </p:sp>
      <p:sp>
        <p:nvSpPr>
          <p:cNvPr id="19" name="TextBox 18">
            <a:extLst>
              <a:ext uri="{FF2B5EF4-FFF2-40B4-BE49-F238E27FC236}">
                <a16:creationId xmlns:a16="http://schemas.microsoft.com/office/drawing/2014/main" id="{29010AA5-9667-397E-3A80-18585FBAB752}"/>
              </a:ext>
            </a:extLst>
          </p:cNvPr>
          <p:cNvSpPr txBox="1"/>
          <p:nvPr/>
        </p:nvSpPr>
        <p:spPr>
          <a:xfrm>
            <a:off x="8155156" y="3980155"/>
            <a:ext cx="260008" cy="261610"/>
          </a:xfrm>
          <a:prstGeom prst="rect">
            <a:avLst/>
          </a:prstGeom>
          <a:noFill/>
        </p:spPr>
        <p:txBody>
          <a:bodyPr wrap="square" rtlCol="0">
            <a:spAutoFit/>
          </a:bodyPr>
          <a:lstStyle/>
          <a:p>
            <a:r>
              <a:rPr lang="en-US" sz="1100" dirty="0">
                <a:solidFill>
                  <a:srgbClr val="E1E1E1"/>
                </a:solidFill>
              </a:rPr>
              <a:t>1</a:t>
            </a:r>
          </a:p>
        </p:txBody>
      </p:sp>
      <p:sp>
        <p:nvSpPr>
          <p:cNvPr id="20" name="TextBox 19">
            <a:extLst>
              <a:ext uri="{FF2B5EF4-FFF2-40B4-BE49-F238E27FC236}">
                <a16:creationId xmlns:a16="http://schemas.microsoft.com/office/drawing/2014/main" id="{1CA261A1-BC51-0A91-765B-69FF4E1CF100}"/>
              </a:ext>
            </a:extLst>
          </p:cNvPr>
          <p:cNvSpPr txBox="1"/>
          <p:nvPr/>
        </p:nvSpPr>
        <p:spPr>
          <a:xfrm>
            <a:off x="8155156" y="3496213"/>
            <a:ext cx="260008" cy="261610"/>
          </a:xfrm>
          <a:prstGeom prst="rect">
            <a:avLst/>
          </a:prstGeom>
          <a:noFill/>
        </p:spPr>
        <p:txBody>
          <a:bodyPr wrap="square" rtlCol="0">
            <a:spAutoFit/>
          </a:bodyPr>
          <a:lstStyle/>
          <a:p>
            <a:r>
              <a:rPr lang="en-US" sz="1100" dirty="0">
                <a:solidFill>
                  <a:srgbClr val="E1E1E1"/>
                </a:solidFill>
              </a:rPr>
              <a:t>1</a:t>
            </a:r>
          </a:p>
        </p:txBody>
      </p:sp>
      <p:sp>
        <p:nvSpPr>
          <p:cNvPr id="23" name="TextBox 22">
            <a:extLst>
              <a:ext uri="{FF2B5EF4-FFF2-40B4-BE49-F238E27FC236}">
                <a16:creationId xmlns:a16="http://schemas.microsoft.com/office/drawing/2014/main" id="{966434BD-BF4E-42E1-AE8F-F2F96B741290}"/>
              </a:ext>
            </a:extLst>
          </p:cNvPr>
          <p:cNvSpPr txBox="1"/>
          <p:nvPr/>
        </p:nvSpPr>
        <p:spPr>
          <a:xfrm>
            <a:off x="2947872" y="2209718"/>
            <a:ext cx="649537" cy="246221"/>
          </a:xfrm>
          <a:prstGeom prst="rect">
            <a:avLst/>
          </a:prstGeom>
          <a:noFill/>
        </p:spPr>
        <p:txBody>
          <a:bodyPr wrap="none" rtlCol="0">
            <a:spAutoFit/>
          </a:bodyPr>
          <a:lstStyle/>
          <a:p>
            <a:pPr algn="ctr"/>
            <a:r>
              <a:rPr lang="en-US" sz="1000" dirty="0">
                <a:solidFill>
                  <a:srgbClr val="E1E1E1"/>
                </a:solidFill>
              </a:rPr>
              <a:t>Agent ID</a:t>
            </a:r>
          </a:p>
        </p:txBody>
      </p:sp>
      <p:sp>
        <p:nvSpPr>
          <p:cNvPr id="28" name="TextBox 27">
            <a:extLst>
              <a:ext uri="{FF2B5EF4-FFF2-40B4-BE49-F238E27FC236}">
                <a16:creationId xmlns:a16="http://schemas.microsoft.com/office/drawing/2014/main" id="{5B59A447-F329-7B54-21CA-F42C7BD533D1}"/>
              </a:ext>
            </a:extLst>
          </p:cNvPr>
          <p:cNvSpPr txBox="1"/>
          <p:nvPr/>
        </p:nvSpPr>
        <p:spPr>
          <a:xfrm>
            <a:off x="2647311" y="2620646"/>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0" name="TextBox 29">
            <a:extLst>
              <a:ext uri="{FF2B5EF4-FFF2-40B4-BE49-F238E27FC236}">
                <a16:creationId xmlns:a16="http://schemas.microsoft.com/office/drawing/2014/main" id="{F60C1A68-EF07-6166-AE84-F2748EC418BC}"/>
              </a:ext>
            </a:extLst>
          </p:cNvPr>
          <p:cNvSpPr txBox="1"/>
          <p:nvPr/>
        </p:nvSpPr>
        <p:spPr>
          <a:xfrm>
            <a:off x="2647311" y="3086580"/>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1" name="TextBox 30">
            <a:extLst>
              <a:ext uri="{FF2B5EF4-FFF2-40B4-BE49-F238E27FC236}">
                <a16:creationId xmlns:a16="http://schemas.microsoft.com/office/drawing/2014/main" id="{6AC9132D-1E16-1064-4ABD-550AD80FA223}"/>
              </a:ext>
            </a:extLst>
          </p:cNvPr>
          <p:cNvSpPr txBox="1"/>
          <p:nvPr/>
        </p:nvSpPr>
        <p:spPr>
          <a:xfrm>
            <a:off x="2647311" y="3545730"/>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2" name="TextBox 31">
            <a:extLst>
              <a:ext uri="{FF2B5EF4-FFF2-40B4-BE49-F238E27FC236}">
                <a16:creationId xmlns:a16="http://schemas.microsoft.com/office/drawing/2014/main" id="{0B83057B-0026-1069-82C6-87DF2FC6B5BC}"/>
              </a:ext>
            </a:extLst>
          </p:cNvPr>
          <p:cNvSpPr txBox="1"/>
          <p:nvPr/>
        </p:nvSpPr>
        <p:spPr>
          <a:xfrm>
            <a:off x="2636441" y="4004880"/>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3" name="TextBox 32">
            <a:extLst>
              <a:ext uri="{FF2B5EF4-FFF2-40B4-BE49-F238E27FC236}">
                <a16:creationId xmlns:a16="http://schemas.microsoft.com/office/drawing/2014/main" id="{499CCB30-B973-BD05-04FD-95AD5DFBC37A}"/>
              </a:ext>
            </a:extLst>
          </p:cNvPr>
          <p:cNvSpPr txBox="1"/>
          <p:nvPr/>
        </p:nvSpPr>
        <p:spPr>
          <a:xfrm>
            <a:off x="5445208" y="2092323"/>
            <a:ext cx="772505" cy="400110"/>
          </a:xfrm>
          <a:prstGeom prst="rect">
            <a:avLst/>
          </a:prstGeom>
          <a:noFill/>
        </p:spPr>
        <p:txBody>
          <a:bodyPr wrap="square" rtlCol="0">
            <a:spAutoFit/>
          </a:bodyPr>
          <a:lstStyle/>
          <a:p>
            <a:pPr algn="ctr"/>
            <a:r>
              <a:rPr lang="en-US" sz="1000" dirty="0">
                <a:solidFill>
                  <a:srgbClr val="E1E1E1"/>
                </a:solidFill>
              </a:rPr>
              <a:t>Job </a:t>
            </a:r>
          </a:p>
          <a:p>
            <a:pPr algn="ctr"/>
            <a:r>
              <a:rPr lang="en-US" sz="1000" dirty="0">
                <a:solidFill>
                  <a:srgbClr val="E1E1E1"/>
                </a:solidFill>
              </a:rPr>
              <a:t>Read</a:t>
            </a:r>
          </a:p>
        </p:txBody>
      </p:sp>
      <p:sp>
        <p:nvSpPr>
          <p:cNvPr id="34" name="TextBox 33">
            <a:extLst>
              <a:ext uri="{FF2B5EF4-FFF2-40B4-BE49-F238E27FC236}">
                <a16:creationId xmlns:a16="http://schemas.microsoft.com/office/drawing/2014/main" id="{A39CBFB8-A0D5-0D28-36A8-F1ECFB84FED6}"/>
              </a:ext>
            </a:extLst>
          </p:cNvPr>
          <p:cNvSpPr txBox="1"/>
          <p:nvPr/>
        </p:nvSpPr>
        <p:spPr>
          <a:xfrm>
            <a:off x="6129630" y="2105765"/>
            <a:ext cx="1037054" cy="400110"/>
          </a:xfrm>
          <a:prstGeom prst="rect">
            <a:avLst/>
          </a:prstGeom>
          <a:noFill/>
        </p:spPr>
        <p:txBody>
          <a:bodyPr wrap="square" rtlCol="0">
            <a:spAutoFit/>
          </a:bodyPr>
          <a:lstStyle/>
          <a:p>
            <a:pPr algn="ctr"/>
            <a:r>
              <a:rPr lang="en-US" sz="1000" dirty="0">
                <a:solidFill>
                  <a:srgbClr val="E1E1E1"/>
                </a:solidFill>
              </a:rPr>
              <a:t>Job Acknowledged</a:t>
            </a:r>
          </a:p>
        </p:txBody>
      </p:sp>
      <p:cxnSp>
        <p:nvCxnSpPr>
          <p:cNvPr id="41" name="Straight Connector 40">
            <a:extLst>
              <a:ext uri="{FF2B5EF4-FFF2-40B4-BE49-F238E27FC236}">
                <a16:creationId xmlns:a16="http://schemas.microsoft.com/office/drawing/2014/main" id="{F966D26D-76F8-CB66-D5D5-E3A9B91F7208}"/>
              </a:ext>
            </a:extLst>
          </p:cNvPr>
          <p:cNvCxnSpPr>
            <a:cxnSpLocks/>
          </p:cNvCxnSpPr>
          <p:nvPr/>
        </p:nvCxnSpPr>
        <p:spPr>
          <a:xfrm>
            <a:off x="11391357" y="2585825"/>
            <a:ext cx="0" cy="2327883"/>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8B44B965-7268-8A71-176B-DE982EBCFB13}"/>
              </a:ext>
            </a:extLst>
          </p:cNvPr>
          <p:cNvCxnSpPr>
            <a:cxnSpLocks/>
          </p:cNvCxnSpPr>
          <p:nvPr/>
        </p:nvCxnSpPr>
        <p:spPr>
          <a:xfrm>
            <a:off x="11391357" y="2585825"/>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F9D1922E-EB85-1C53-2B23-FB5867BCAA34}"/>
              </a:ext>
            </a:extLst>
          </p:cNvPr>
          <p:cNvCxnSpPr>
            <a:cxnSpLocks/>
          </p:cNvCxnSpPr>
          <p:nvPr/>
        </p:nvCxnSpPr>
        <p:spPr>
          <a:xfrm>
            <a:off x="11391357" y="2625072"/>
            <a:ext cx="0" cy="2327883"/>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5CEFA20D-F178-0655-2CDF-14893D5BFAFD}"/>
              </a:ext>
            </a:extLst>
          </p:cNvPr>
          <p:cNvCxnSpPr>
            <a:cxnSpLocks/>
          </p:cNvCxnSpPr>
          <p:nvPr/>
        </p:nvCxnSpPr>
        <p:spPr>
          <a:xfrm>
            <a:off x="11391357" y="2625072"/>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sp>
        <p:nvSpPr>
          <p:cNvPr id="45" name="Rectangle: Rounded Corners 44">
            <a:extLst>
              <a:ext uri="{FF2B5EF4-FFF2-40B4-BE49-F238E27FC236}">
                <a16:creationId xmlns:a16="http://schemas.microsoft.com/office/drawing/2014/main" id="{508B79A5-F339-7889-536A-A69BB58D557D}"/>
              </a:ext>
            </a:extLst>
          </p:cNvPr>
          <p:cNvSpPr/>
          <p:nvPr/>
        </p:nvSpPr>
        <p:spPr>
          <a:xfrm>
            <a:off x="3031449" y="5377380"/>
            <a:ext cx="5904873" cy="421811"/>
          </a:xfrm>
          <a:prstGeom prst="roundRect">
            <a:avLst>
              <a:gd name="adj" fmla="val 27474"/>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a:t>
            </a:r>
          </a:p>
        </p:txBody>
      </p:sp>
      <p:sp>
        <p:nvSpPr>
          <p:cNvPr id="46" name="Rectangle: Rounded Corners 45">
            <a:extLst>
              <a:ext uri="{FF2B5EF4-FFF2-40B4-BE49-F238E27FC236}">
                <a16:creationId xmlns:a16="http://schemas.microsoft.com/office/drawing/2014/main" id="{64EC0698-D83A-CFE2-9682-D2D080912B15}"/>
              </a:ext>
            </a:extLst>
          </p:cNvPr>
          <p:cNvSpPr/>
          <p:nvPr/>
        </p:nvSpPr>
        <p:spPr>
          <a:xfrm>
            <a:off x="522553" y="5375748"/>
            <a:ext cx="1132255" cy="421811"/>
          </a:xfrm>
          <a:prstGeom prst="roundRect">
            <a:avLst>
              <a:gd name="adj" fmla="val 27474"/>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1E3147"/>
                </a:solidFill>
              </a:rPr>
              <a:t>Message Orchestrator</a:t>
            </a:r>
          </a:p>
        </p:txBody>
      </p:sp>
      <p:sp>
        <p:nvSpPr>
          <p:cNvPr id="47" name="Rectangle: Rounded Corners 46">
            <a:extLst>
              <a:ext uri="{FF2B5EF4-FFF2-40B4-BE49-F238E27FC236}">
                <a16:creationId xmlns:a16="http://schemas.microsoft.com/office/drawing/2014/main" id="{FAF9FAF9-ACAD-4C00-2DBD-3558408A339C}"/>
              </a:ext>
            </a:extLst>
          </p:cNvPr>
          <p:cNvSpPr/>
          <p:nvPr/>
        </p:nvSpPr>
        <p:spPr>
          <a:xfrm>
            <a:off x="1753756" y="5378268"/>
            <a:ext cx="1178745" cy="421811"/>
          </a:xfrm>
          <a:prstGeom prst="roundRect">
            <a:avLst>
              <a:gd name="adj" fmla="val 27474"/>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1E1E1"/>
                </a:solidFill>
              </a:rPr>
              <a:t>Broadcast</a:t>
            </a:r>
          </a:p>
        </p:txBody>
      </p:sp>
      <p:sp>
        <p:nvSpPr>
          <p:cNvPr id="50" name="Oval 49">
            <a:extLst>
              <a:ext uri="{FF2B5EF4-FFF2-40B4-BE49-F238E27FC236}">
                <a16:creationId xmlns:a16="http://schemas.microsoft.com/office/drawing/2014/main" id="{0532AB35-3ED4-46CE-41F4-56C04C208355}"/>
              </a:ext>
            </a:extLst>
          </p:cNvPr>
          <p:cNvSpPr/>
          <p:nvPr/>
        </p:nvSpPr>
        <p:spPr>
          <a:xfrm>
            <a:off x="8997072" y="5441706"/>
            <a:ext cx="293929" cy="306770"/>
          </a:xfrm>
          <a:prstGeom prst="ellipse">
            <a:avLst/>
          </a:prstGeom>
          <a:solidFill>
            <a:srgbClr val="FFC3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 name="Graphic 48" descr="Play with solid fill">
            <a:extLst>
              <a:ext uri="{FF2B5EF4-FFF2-40B4-BE49-F238E27FC236}">
                <a16:creationId xmlns:a16="http://schemas.microsoft.com/office/drawing/2014/main" id="{8A3A20E4-FE87-9CB6-2F5D-0179B73928B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073173" y="5507713"/>
            <a:ext cx="174755" cy="174755"/>
          </a:xfrm>
          <a:prstGeom prst="rect">
            <a:avLst/>
          </a:prstGeom>
        </p:spPr>
      </p:pic>
      <p:sp>
        <p:nvSpPr>
          <p:cNvPr id="52" name="TextBox 51">
            <a:extLst>
              <a:ext uri="{FF2B5EF4-FFF2-40B4-BE49-F238E27FC236}">
                <a16:creationId xmlns:a16="http://schemas.microsoft.com/office/drawing/2014/main" id="{631F8C62-748B-08A9-DE42-6E8DA7F2DD04}"/>
              </a:ext>
            </a:extLst>
          </p:cNvPr>
          <p:cNvSpPr txBox="1"/>
          <p:nvPr/>
        </p:nvSpPr>
        <p:spPr>
          <a:xfrm>
            <a:off x="6107504" y="252789"/>
            <a:ext cx="4610081" cy="1077218"/>
          </a:xfrm>
          <a:prstGeom prst="rect">
            <a:avLst/>
          </a:prstGeom>
          <a:noFill/>
        </p:spPr>
        <p:txBody>
          <a:bodyPr wrap="square" rtlCol="0">
            <a:spAutoFit/>
          </a:bodyPr>
          <a:lstStyle/>
          <a:p>
            <a:pPr algn="ctr"/>
            <a:r>
              <a:rPr lang="en-US" sz="3200" dirty="0">
                <a:solidFill>
                  <a:schemeClr val="accent5">
                    <a:lumMod val="60000"/>
                    <a:lumOff val="40000"/>
                  </a:schemeClr>
                </a:solidFill>
              </a:rPr>
              <a:t>STATUS BOARD Variant MVP</a:t>
            </a:r>
          </a:p>
        </p:txBody>
      </p:sp>
      <p:sp>
        <p:nvSpPr>
          <p:cNvPr id="53" name="TextBox 52">
            <a:extLst>
              <a:ext uri="{FF2B5EF4-FFF2-40B4-BE49-F238E27FC236}">
                <a16:creationId xmlns:a16="http://schemas.microsoft.com/office/drawing/2014/main" id="{E4D60F55-D83B-86D8-EF49-368A74D7A400}"/>
              </a:ext>
            </a:extLst>
          </p:cNvPr>
          <p:cNvSpPr txBox="1"/>
          <p:nvPr/>
        </p:nvSpPr>
        <p:spPr>
          <a:xfrm>
            <a:off x="39778" y="47732"/>
            <a:ext cx="3312061" cy="369332"/>
          </a:xfrm>
          <a:prstGeom prst="rect">
            <a:avLst/>
          </a:prstGeom>
          <a:noFill/>
        </p:spPr>
        <p:txBody>
          <a:bodyPr wrap="none" rtlCol="0">
            <a:spAutoFit/>
          </a:bodyPr>
          <a:lstStyle/>
          <a:p>
            <a:r>
              <a:rPr lang="en-US" dirty="0">
                <a:solidFill>
                  <a:schemeClr val="accent5">
                    <a:lumMod val="60000"/>
                    <a:lumOff val="40000"/>
                  </a:schemeClr>
                </a:solidFill>
              </a:rPr>
              <a:t>SLIDE 4d – Implementation Tab.</a:t>
            </a:r>
          </a:p>
        </p:txBody>
      </p:sp>
      <p:pic>
        <p:nvPicPr>
          <p:cNvPr id="54" name="Graphic 53" descr="Play with solid fill">
            <a:extLst>
              <a:ext uri="{FF2B5EF4-FFF2-40B4-BE49-F238E27FC236}">
                <a16:creationId xmlns:a16="http://schemas.microsoft.com/office/drawing/2014/main" id="{A841CBB6-3405-D358-33E3-6FB6583674F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979845" y="2671726"/>
            <a:ext cx="193474" cy="193474"/>
          </a:xfrm>
          <a:prstGeom prst="rect">
            <a:avLst/>
          </a:prstGeom>
        </p:spPr>
      </p:pic>
      <p:pic>
        <p:nvPicPr>
          <p:cNvPr id="59" name="Graphic 58" descr="Play with solid fill">
            <a:extLst>
              <a:ext uri="{FF2B5EF4-FFF2-40B4-BE49-F238E27FC236}">
                <a16:creationId xmlns:a16="http://schemas.microsoft.com/office/drawing/2014/main" id="{E146D460-1504-9016-54BE-1641178F42A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955195" y="3096151"/>
            <a:ext cx="193474" cy="193474"/>
          </a:xfrm>
          <a:prstGeom prst="rect">
            <a:avLst/>
          </a:prstGeom>
        </p:spPr>
      </p:pic>
      <p:sp>
        <p:nvSpPr>
          <p:cNvPr id="61" name="TextBox 60">
            <a:extLst>
              <a:ext uri="{FF2B5EF4-FFF2-40B4-BE49-F238E27FC236}">
                <a16:creationId xmlns:a16="http://schemas.microsoft.com/office/drawing/2014/main" id="{43C97233-6E04-D18B-971A-2B2761170785}"/>
              </a:ext>
            </a:extLst>
          </p:cNvPr>
          <p:cNvSpPr txBox="1"/>
          <p:nvPr/>
        </p:nvSpPr>
        <p:spPr>
          <a:xfrm>
            <a:off x="4250868" y="3548989"/>
            <a:ext cx="683200" cy="261610"/>
          </a:xfrm>
          <a:prstGeom prst="rect">
            <a:avLst/>
          </a:prstGeom>
          <a:noFill/>
        </p:spPr>
        <p:txBody>
          <a:bodyPr wrap="none" rtlCol="0">
            <a:spAutoFit/>
          </a:bodyPr>
          <a:lstStyle/>
          <a:p>
            <a:r>
              <a:rPr lang="en-US" sz="1100" i="1" dirty="0">
                <a:solidFill>
                  <a:srgbClr val="FFC000"/>
                </a:solidFill>
              </a:rPr>
              <a:t>Waiting.</a:t>
            </a:r>
          </a:p>
        </p:txBody>
      </p:sp>
      <p:sp>
        <p:nvSpPr>
          <p:cNvPr id="62" name="TextBox 61">
            <a:extLst>
              <a:ext uri="{FF2B5EF4-FFF2-40B4-BE49-F238E27FC236}">
                <a16:creationId xmlns:a16="http://schemas.microsoft.com/office/drawing/2014/main" id="{4A153213-7DE1-420F-BB7B-27363E1DE44F}"/>
              </a:ext>
            </a:extLst>
          </p:cNvPr>
          <p:cNvSpPr txBox="1"/>
          <p:nvPr/>
        </p:nvSpPr>
        <p:spPr>
          <a:xfrm>
            <a:off x="4253599" y="3080702"/>
            <a:ext cx="683200" cy="261610"/>
          </a:xfrm>
          <a:prstGeom prst="rect">
            <a:avLst/>
          </a:prstGeom>
          <a:noFill/>
        </p:spPr>
        <p:txBody>
          <a:bodyPr wrap="none" rtlCol="0">
            <a:spAutoFit/>
          </a:bodyPr>
          <a:lstStyle/>
          <a:p>
            <a:r>
              <a:rPr lang="en-US" sz="1100" i="1" dirty="0">
                <a:solidFill>
                  <a:srgbClr val="FFC000"/>
                </a:solidFill>
              </a:rPr>
              <a:t>Waiting.</a:t>
            </a:r>
          </a:p>
        </p:txBody>
      </p:sp>
      <p:sp>
        <p:nvSpPr>
          <p:cNvPr id="7" name="TextBox 6">
            <a:extLst>
              <a:ext uri="{FF2B5EF4-FFF2-40B4-BE49-F238E27FC236}">
                <a16:creationId xmlns:a16="http://schemas.microsoft.com/office/drawing/2014/main" id="{3F03DE11-2C99-F004-19B7-035824242AF4}"/>
              </a:ext>
            </a:extLst>
          </p:cNvPr>
          <p:cNvSpPr txBox="1"/>
          <p:nvPr/>
        </p:nvSpPr>
        <p:spPr>
          <a:xfrm>
            <a:off x="7260027" y="2637913"/>
            <a:ext cx="260008" cy="261610"/>
          </a:xfrm>
          <a:prstGeom prst="rect">
            <a:avLst/>
          </a:prstGeom>
          <a:noFill/>
        </p:spPr>
        <p:txBody>
          <a:bodyPr wrap="square" rtlCol="0">
            <a:spAutoFit/>
          </a:bodyPr>
          <a:lstStyle/>
          <a:p>
            <a:r>
              <a:rPr lang="en-US" sz="1100" dirty="0">
                <a:solidFill>
                  <a:srgbClr val="E1E1E1"/>
                </a:solidFill>
              </a:rPr>
              <a:t>4</a:t>
            </a:r>
          </a:p>
        </p:txBody>
      </p:sp>
      <p:sp>
        <p:nvSpPr>
          <p:cNvPr id="8" name="TextBox 7">
            <a:extLst>
              <a:ext uri="{FF2B5EF4-FFF2-40B4-BE49-F238E27FC236}">
                <a16:creationId xmlns:a16="http://schemas.microsoft.com/office/drawing/2014/main" id="{CF9C1A68-3B62-721B-926B-EB623FD3693C}"/>
              </a:ext>
            </a:extLst>
          </p:cNvPr>
          <p:cNvSpPr txBox="1"/>
          <p:nvPr/>
        </p:nvSpPr>
        <p:spPr>
          <a:xfrm>
            <a:off x="8152537" y="3076054"/>
            <a:ext cx="260008" cy="261610"/>
          </a:xfrm>
          <a:prstGeom prst="rect">
            <a:avLst/>
          </a:prstGeom>
          <a:noFill/>
        </p:spPr>
        <p:txBody>
          <a:bodyPr wrap="square" rtlCol="0">
            <a:spAutoFit/>
          </a:bodyPr>
          <a:lstStyle/>
          <a:p>
            <a:r>
              <a:rPr lang="en-US" sz="1100" dirty="0">
                <a:solidFill>
                  <a:srgbClr val="E1E1E1"/>
                </a:solidFill>
              </a:rPr>
              <a:t>1</a:t>
            </a:r>
          </a:p>
        </p:txBody>
      </p:sp>
      <p:sp>
        <p:nvSpPr>
          <p:cNvPr id="9" name="Rectangle 8">
            <a:extLst>
              <a:ext uri="{FF2B5EF4-FFF2-40B4-BE49-F238E27FC236}">
                <a16:creationId xmlns:a16="http://schemas.microsoft.com/office/drawing/2014/main" id="{36E34B90-BEDD-808C-05D8-AB48C7EA90DC}"/>
              </a:ext>
            </a:extLst>
          </p:cNvPr>
          <p:cNvSpPr/>
          <p:nvPr/>
        </p:nvSpPr>
        <p:spPr>
          <a:xfrm>
            <a:off x="5912189" y="6006064"/>
            <a:ext cx="6015363" cy="741663"/>
          </a:xfrm>
          <a:prstGeom prst="rect">
            <a:avLst/>
          </a:prstGeom>
          <a:no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5">
                    <a:lumMod val="60000"/>
                    <a:lumOff val="40000"/>
                  </a:schemeClr>
                </a:solidFill>
              </a:rPr>
              <a:t>In General CLI Mode each agent needs a prompt for its individual terminal CLI so all buttons have unique prompts to get the agents going</a:t>
            </a:r>
          </a:p>
        </p:txBody>
      </p:sp>
      <p:cxnSp>
        <p:nvCxnSpPr>
          <p:cNvPr id="10" name="Connector: Elbow 9">
            <a:extLst>
              <a:ext uri="{FF2B5EF4-FFF2-40B4-BE49-F238E27FC236}">
                <a16:creationId xmlns:a16="http://schemas.microsoft.com/office/drawing/2014/main" id="{B64A29E1-75D6-7C19-D207-C7B38D7F101C}"/>
              </a:ext>
            </a:extLst>
          </p:cNvPr>
          <p:cNvCxnSpPr>
            <a:cxnSpLocks/>
            <a:stCxn id="9" idx="0"/>
            <a:endCxn id="54" idx="1"/>
          </p:cNvCxnSpPr>
          <p:nvPr/>
        </p:nvCxnSpPr>
        <p:spPr>
          <a:xfrm rot="5400000" flipH="1" flipV="1">
            <a:off x="7831058" y="3857277"/>
            <a:ext cx="3237601" cy="1059974"/>
          </a:xfrm>
          <a:prstGeom prst="bentConnector2">
            <a:avLst/>
          </a:prstGeom>
          <a:ln>
            <a:tailEnd type="triangle"/>
          </a:ln>
        </p:spPr>
        <p:style>
          <a:lnRef idx="2">
            <a:schemeClr val="accent5"/>
          </a:lnRef>
          <a:fillRef idx="0">
            <a:schemeClr val="accent5"/>
          </a:fillRef>
          <a:effectRef idx="1">
            <a:schemeClr val="accent5"/>
          </a:effectRef>
          <a:fontRef idx="minor">
            <a:schemeClr val="tx1"/>
          </a:fontRef>
        </p:style>
      </p:cxnSp>
      <p:sp>
        <p:nvSpPr>
          <p:cNvPr id="11" name="TextBox 10">
            <a:extLst>
              <a:ext uri="{FF2B5EF4-FFF2-40B4-BE49-F238E27FC236}">
                <a16:creationId xmlns:a16="http://schemas.microsoft.com/office/drawing/2014/main" id="{8FE4C90E-476B-22B0-4FD0-7E10F11953A1}"/>
              </a:ext>
            </a:extLst>
          </p:cNvPr>
          <p:cNvSpPr txBox="1"/>
          <p:nvPr/>
        </p:nvSpPr>
        <p:spPr>
          <a:xfrm>
            <a:off x="390687" y="6097720"/>
            <a:ext cx="3420476" cy="646331"/>
          </a:xfrm>
          <a:prstGeom prst="rect">
            <a:avLst/>
          </a:prstGeom>
          <a:solidFill>
            <a:schemeClr val="accent3">
              <a:lumMod val="75000"/>
            </a:schemeClr>
          </a:solidFill>
          <a:ln>
            <a:solidFill>
              <a:schemeClr val="accent5">
                <a:lumMod val="60000"/>
                <a:lumOff val="40000"/>
              </a:schemeClr>
            </a:solidFill>
          </a:ln>
        </p:spPr>
        <p:txBody>
          <a:bodyPr wrap="square" rtlCol="0">
            <a:spAutoFit/>
          </a:bodyPr>
          <a:lstStyle/>
          <a:p>
            <a:r>
              <a:rPr lang="en-US" dirty="0">
                <a:solidFill>
                  <a:schemeClr val="bg1"/>
                </a:solidFill>
              </a:rPr>
              <a:t>General CLI MODE</a:t>
            </a:r>
          </a:p>
          <a:p>
            <a:r>
              <a:rPr lang="en-US" dirty="0">
                <a:solidFill>
                  <a:schemeClr val="bg1"/>
                </a:solidFill>
              </a:rPr>
              <a:t>(individual terminals for agents</a:t>
            </a:r>
          </a:p>
        </p:txBody>
      </p:sp>
      <p:cxnSp>
        <p:nvCxnSpPr>
          <p:cNvPr id="36" name="Connector: Elbow 35">
            <a:extLst>
              <a:ext uri="{FF2B5EF4-FFF2-40B4-BE49-F238E27FC236}">
                <a16:creationId xmlns:a16="http://schemas.microsoft.com/office/drawing/2014/main" id="{BBB4AC3F-6F09-15DD-FCC7-5D951302D3F1}"/>
              </a:ext>
            </a:extLst>
          </p:cNvPr>
          <p:cNvCxnSpPr>
            <a:cxnSpLocks/>
            <a:stCxn id="9" idx="0"/>
            <a:endCxn id="59" idx="1"/>
          </p:cNvCxnSpPr>
          <p:nvPr/>
        </p:nvCxnSpPr>
        <p:spPr>
          <a:xfrm rot="5400000" flipH="1" flipV="1">
            <a:off x="8030945" y="4081814"/>
            <a:ext cx="2813176" cy="1035324"/>
          </a:xfrm>
          <a:prstGeom prst="bentConnector2">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48" name="Connector: Elbow 47">
            <a:extLst>
              <a:ext uri="{FF2B5EF4-FFF2-40B4-BE49-F238E27FC236}">
                <a16:creationId xmlns:a16="http://schemas.microsoft.com/office/drawing/2014/main" id="{08CDBB36-20BE-4C86-E19F-C8353CA4862C}"/>
              </a:ext>
            </a:extLst>
          </p:cNvPr>
          <p:cNvCxnSpPr>
            <a:cxnSpLocks/>
            <a:stCxn id="9" idx="0"/>
            <a:endCxn id="137" idx="1"/>
          </p:cNvCxnSpPr>
          <p:nvPr/>
        </p:nvCxnSpPr>
        <p:spPr>
          <a:xfrm rot="5400000" flipH="1" flipV="1">
            <a:off x="8278324" y="4284015"/>
            <a:ext cx="2363597" cy="1080503"/>
          </a:xfrm>
          <a:prstGeom prst="bentConnector2">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56" name="Connector: Elbow 55">
            <a:extLst>
              <a:ext uri="{FF2B5EF4-FFF2-40B4-BE49-F238E27FC236}">
                <a16:creationId xmlns:a16="http://schemas.microsoft.com/office/drawing/2014/main" id="{154C276A-323D-B18C-EAC4-3DE817F32B2E}"/>
              </a:ext>
            </a:extLst>
          </p:cNvPr>
          <p:cNvCxnSpPr>
            <a:cxnSpLocks/>
            <a:stCxn id="9" idx="0"/>
            <a:endCxn id="138" idx="1"/>
          </p:cNvCxnSpPr>
          <p:nvPr/>
        </p:nvCxnSpPr>
        <p:spPr>
          <a:xfrm rot="5400000" flipH="1" flipV="1">
            <a:off x="8509258" y="4512339"/>
            <a:ext cx="1904339" cy="1083112"/>
          </a:xfrm>
          <a:prstGeom prst="bentConnector2">
            <a:avLst/>
          </a:prstGeom>
          <a:ln>
            <a:tailEnd type="triangle"/>
          </a:ln>
        </p:spPr>
        <p:style>
          <a:lnRef idx="2">
            <a:schemeClr val="accent5"/>
          </a:lnRef>
          <a:fillRef idx="0">
            <a:schemeClr val="accent5"/>
          </a:fillRef>
          <a:effectRef idx="1">
            <a:schemeClr val="accent5"/>
          </a:effectRef>
          <a:fontRef idx="minor">
            <a:schemeClr val="tx1"/>
          </a:fontRef>
        </p:style>
      </p:cxnSp>
    </p:spTree>
    <p:extLst>
      <p:ext uri="{BB962C8B-B14F-4D97-AF65-F5344CB8AC3E}">
        <p14:creationId xmlns:p14="http://schemas.microsoft.com/office/powerpoint/2010/main" val="2793015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E1C2D"/>
        </a:solidFill>
        <a:effectLst/>
      </p:bgPr>
    </p:bg>
    <p:spTree>
      <p:nvGrpSpPr>
        <p:cNvPr id="1" name="">
          <a:extLst>
            <a:ext uri="{FF2B5EF4-FFF2-40B4-BE49-F238E27FC236}">
              <a16:creationId xmlns:a16="http://schemas.microsoft.com/office/drawing/2014/main" id="{17EB3B31-8B42-75EC-0E90-3F692690632D}"/>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60B36577-06FD-6FAE-3C64-3C1477DE70C1}"/>
              </a:ext>
            </a:extLst>
          </p:cNvPr>
          <p:cNvSpPr/>
          <p:nvPr/>
        </p:nvSpPr>
        <p:spPr>
          <a:xfrm>
            <a:off x="503403" y="1334840"/>
            <a:ext cx="2218513" cy="1071163"/>
          </a:xfrm>
          <a:prstGeom prst="roundRect">
            <a:avLst>
              <a:gd name="adj" fmla="val 15806"/>
            </a:avLst>
          </a:prstGeom>
          <a:no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D9A49B68-86BA-801E-FFA0-2A3BF4F9AB25}"/>
              </a:ext>
            </a:extLst>
          </p:cNvPr>
          <p:cNvSpPr txBox="1"/>
          <p:nvPr/>
        </p:nvSpPr>
        <p:spPr>
          <a:xfrm>
            <a:off x="516531" y="677075"/>
            <a:ext cx="2514919" cy="553998"/>
          </a:xfrm>
          <a:prstGeom prst="rect">
            <a:avLst/>
          </a:prstGeom>
          <a:noFill/>
        </p:spPr>
        <p:txBody>
          <a:bodyPr wrap="none" rtlCol="0">
            <a:spAutoFit/>
          </a:bodyPr>
          <a:lstStyle/>
          <a:p>
            <a:r>
              <a:rPr lang="en-US" dirty="0">
                <a:solidFill>
                  <a:srgbClr val="E1E1E1"/>
                </a:solidFill>
              </a:rPr>
              <a:t>Project: </a:t>
            </a:r>
            <a:r>
              <a:rPr lang="en-US" dirty="0">
                <a:solidFill>
                  <a:srgbClr val="FFC300"/>
                </a:solidFill>
              </a:rPr>
              <a:t>{</a:t>
            </a:r>
            <a:r>
              <a:rPr lang="en-US" dirty="0" err="1">
                <a:solidFill>
                  <a:srgbClr val="FFC300"/>
                </a:solidFill>
              </a:rPr>
              <a:t>project_name</a:t>
            </a:r>
            <a:r>
              <a:rPr lang="en-US" dirty="0">
                <a:solidFill>
                  <a:srgbClr val="FFC300"/>
                </a:solidFill>
              </a:rPr>
              <a:t>}</a:t>
            </a:r>
          </a:p>
          <a:p>
            <a:r>
              <a:rPr lang="en-US" sz="1200" dirty="0">
                <a:solidFill>
                  <a:srgbClr val="8F97B7"/>
                </a:solidFill>
              </a:rPr>
              <a:t>Project ID: {</a:t>
            </a:r>
            <a:r>
              <a:rPr lang="en-US" sz="1200" dirty="0" err="1">
                <a:solidFill>
                  <a:srgbClr val="8F97B7"/>
                </a:solidFill>
              </a:rPr>
              <a:t>full_UUID</a:t>
            </a:r>
            <a:r>
              <a:rPr lang="en-US" sz="1200" dirty="0">
                <a:solidFill>
                  <a:srgbClr val="8F97B7"/>
                </a:solidFill>
              </a:rPr>
              <a:t>}</a:t>
            </a:r>
          </a:p>
        </p:txBody>
      </p:sp>
      <p:sp>
        <p:nvSpPr>
          <p:cNvPr id="3" name="Rectangle: Rounded Corners 2">
            <a:extLst>
              <a:ext uri="{FF2B5EF4-FFF2-40B4-BE49-F238E27FC236}">
                <a16:creationId xmlns:a16="http://schemas.microsoft.com/office/drawing/2014/main" id="{87E5A15A-A72A-197C-EF0C-09839086CCEB}"/>
              </a:ext>
            </a:extLst>
          </p:cNvPr>
          <p:cNvSpPr/>
          <p:nvPr/>
        </p:nvSpPr>
        <p:spPr>
          <a:xfrm>
            <a:off x="1643382" y="1342292"/>
            <a:ext cx="1805578" cy="969932"/>
          </a:xfrm>
          <a:prstGeom prst="roundRect">
            <a:avLst>
              <a:gd name="adj" fmla="val 17766"/>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973BA3C-A029-C091-BEA9-C9016C6E4439}"/>
              </a:ext>
            </a:extLst>
          </p:cNvPr>
          <p:cNvSpPr txBox="1"/>
          <p:nvPr/>
        </p:nvSpPr>
        <p:spPr>
          <a:xfrm>
            <a:off x="682981" y="1327205"/>
            <a:ext cx="929678" cy="369332"/>
          </a:xfrm>
          <a:prstGeom prst="rect">
            <a:avLst/>
          </a:prstGeom>
          <a:noFill/>
        </p:spPr>
        <p:txBody>
          <a:bodyPr wrap="none" rtlCol="0">
            <a:spAutoFit/>
          </a:bodyPr>
          <a:lstStyle/>
          <a:p>
            <a:r>
              <a:rPr lang="en-US" dirty="0">
                <a:solidFill>
                  <a:srgbClr val="1E3147"/>
                </a:solidFill>
              </a:rPr>
              <a:t>Launch</a:t>
            </a:r>
          </a:p>
        </p:txBody>
      </p:sp>
      <p:sp>
        <p:nvSpPr>
          <p:cNvPr id="6" name="Rectangle: Rounded Corners 5">
            <a:extLst>
              <a:ext uri="{FF2B5EF4-FFF2-40B4-BE49-F238E27FC236}">
                <a16:creationId xmlns:a16="http://schemas.microsoft.com/office/drawing/2014/main" id="{EC65A8D9-A8CF-C774-5638-4FC90CAAB5DE}"/>
              </a:ext>
            </a:extLst>
          </p:cNvPr>
          <p:cNvSpPr/>
          <p:nvPr/>
        </p:nvSpPr>
        <p:spPr>
          <a:xfrm>
            <a:off x="503403" y="1668256"/>
            <a:ext cx="11185191" cy="3476117"/>
          </a:xfrm>
          <a:prstGeom prst="roundRect">
            <a:avLst>
              <a:gd name="adj" fmla="val 5962"/>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69520DEF-2374-9622-41FB-AC60888E48BE}"/>
              </a:ext>
            </a:extLst>
          </p:cNvPr>
          <p:cNvSpPr/>
          <p:nvPr/>
        </p:nvSpPr>
        <p:spPr>
          <a:xfrm>
            <a:off x="1654808" y="1622562"/>
            <a:ext cx="1787171" cy="287650"/>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330AF272-5B6D-ABF5-80B8-4E744F5C7B81}"/>
              </a:ext>
            </a:extLst>
          </p:cNvPr>
          <p:cNvSpPr/>
          <p:nvPr/>
        </p:nvSpPr>
        <p:spPr>
          <a:xfrm>
            <a:off x="758606" y="2617315"/>
            <a:ext cx="293929" cy="306770"/>
          </a:xfrm>
          <a:prstGeom prst="ellipse">
            <a:avLst/>
          </a:prstGeom>
          <a:solidFill>
            <a:srgbClr val="A9866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AFBB2E0A-B922-788C-DBC8-78CFC80D5632}"/>
              </a:ext>
            </a:extLst>
          </p:cNvPr>
          <p:cNvSpPr txBox="1"/>
          <p:nvPr/>
        </p:nvSpPr>
        <p:spPr>
          <a:xfrm>
            <a:off x="1899316" y="1330953"/>
            <a:ext cx="1444177" cy="369332"/>
          </a:xfrm>
          <a:prstGeom prst="rect">
            <a:avLst/>
          </a:prstGeom>
          <a:noFill/>
        </p:spPr>
        <p:txBody>
          <a:bodyPr wrap="square" rtlCol="0">
            <a:spAutoFit/>
          </a:bodyPr>
          <a:lstStyle/>
          <a:p>
            <a:r>
              <a:rPr lang="en-US" dirty="0">
                <a:solidFill>
                  <a:srgbClr val="8F97B7"/>
                </a:solidFill>
              </a:rPr>
              <a:t>Implement</a:t>
            </a:r>
          </a:p>
        </p:txBody>
      </p:sp>
      <p:sp>
        <p:nvSpPr>
          <p:cNvPr id="24" name="TextBox 23">
            <a:extLst>
              <a:ext uri="{FF2B5EF4-FFF2-40B4-BE49-F238E27FC236}">
                <a16:creationId xmlns:a16="http://schemas.microsoft.com/office/drawing/2014/main" id="{154059ED-B2D0-7665-5FF2-2F9F7881FD4A}"/>
              </a:ext>
            </a:extLst>
          </p:cNvPr>
          <p:cNvSpPr txBox="1"/>
          <p:nvPr/>
        </p:nvSpPr>
        <p:spPr>
          <a:xfrm>
            <a:off x="738137" y="2624295"/>
            <a:ext cx="460382" cy="282316"/>
          </a:xfrm>
          <a:prstGeom prst="rect">
            <a:avLst/>
          </a:prstGeom>
          <a:noFill/>
        </p:spPr>
        <p:txBody>
          <a:bodyPr wrap="square" rtlCol="0">
            <a:spAutoFit/>
          </a:bodyPr>
          <a:lstStyle/>
          <a:p>
            <a:r>
              <a:rPr lang="en-US" sz="1200" b="1" dirty="0">
                <a:solidFill>
                  <a:srgbClr val="0E1C2D"/>
                </a:solidFill>
              </a:rPr>
              <a:t>Or</a:t>
            </a:r>
          </a:p>
        </p:txBody>
      </p:sp>
      <p:sp>
        <p:nvSpPr>
          <p:cNvPr id="27" name="TextBox 26">
            <a:extLst>
              <a:ext uri="{FF2B5EF4-FFF2-40B4-BE49-F238E27FC236}">
                <a16:creationId xmlns:a16="http://schemas.microsoft.com/office/drawing/2014/main" id="{306BD2A9-8230-999D-7A10-050957D17271}"/>
              </a:ext>
            </a:extLst>
          </p:cNvPr>
          <p:cNvSpPr txBox="1"/>
          <p:nvPr/>
        </p:nvSpPr>
        <p:spPr>
          <a:xfrm>
            <a:off x="1184559" y="2638386"/>
            <a:ext cx="965329" cy="261610"/>
          </a:xfrm>
          <a:prstGeom prst="rect">
            <a:avLst/>
          </a:prstGeom>
          <a:noFill/>
        </p:spPr>
        <p:txBody>
          <a:bodyPr wrap="none" rtlCol="0">
            <a:spAutoFit/>
          </a:bodyPr>
          <a:lstStyle/>
          <a:p>
            <a:r>
              <a:rPr lang="en-US" sz="1100" dirty="0">
                <a:solidFill>
                  <a:srgbClr val="E1E1E1"/>
                </a:solidFill>
              </a:rPr>
              <a:t>Orchestrator</a:t>
            </a:r>
          </a:p>
        </p:txBody>
      </p:sp>
      <p:pic>
        <p:nvPicPr>
          <p:cNvPr id="29" name="Graphic 28" descr="Information with solid fill">
            <a:extLst>
              <a:ext uri="{FF2B5EF4-FFF2-40B4-BE49-F238E27FC236}">
                <a16:creationId xmlns:a16="http://schemas.microsoft.com/office/drawing/2014/main" id="{51A34D56-68FB-FBF1-27EA-208B790AA77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3975" y="2661152"/>
            <a:ext cx="193473" cy="193473"/>
          </a:xfrm>
          <a:prstGeom prst="rect">
            <a:avLst/>
          </a:prstGeom>
        </p:spPr>
      </p:pic>
      <p:sp>
        <p:nvSpPr>
          <p:cNvPr id="16" name="TextBox 15">
            <a:extLst>
              <a:ext uri="{FF2B5EF4-FFF2-40B4-BE49-F238E27FC236}">
                <a16:creationId xmlns:a16="http://schemas.microsoft.com/office/drawing/2014/main" id="{89A34C6D-E71D-E832-C031-C1236EAEDC18}"/>
              </a:ext>
            </a:extLst>
          </p:cNvPr>
          <p:cNvSpPr txBox="1"/>
          <p:nvPr/>
        </p:nvSpPr>
        <p:spPr>
          <a:xfrm>
            <a:off x="1226477" y="3087372"/>
            <a:ext cx="705642" cy="261610"/>
          </a:xfrm>
          <a:prstGeom prst="rect">
            <a:avLst/>
          </a:prstGeom>
          <a:noFill/>
        </p:spPr>
        <p:txBody>
          <a:bodyPr wrap="none" rtlCol="0">
            <a:spAutoFit/>
          </a:bodyPr>
          <a:lstStyle>
            <a:defPPr>
              <a:defRPr lang="en-US"/>
            </a:defPPr>
            <a:lvl1pPr>
              <a:defRPr sz="1100">
                <a:solidFill>
                  <a:srgbClr val="E1E1E1"/>
                </a:solidFill>
              </a:defRPr>
            </a:lvl1pPr>
          </a:lstStyle>
          <a:p>
            <a:r>
              <a:rPr lang="en-US" dirty="0"/>
              <a:t>Analyzer</a:t>
            </a:r>
          </a:p>
        </p:txBody>
      </p:sp>
      <p:cxnSp>
        <p:nvCxnSpPr>
          <p:cNvPr id="75" name="Straight Connector 74">
            <a:extLst>
              <a:ext uri="{FF2B5EF4-FFF2-40B4-BE49-F238E27FC236}">
                <a16:creationId xmlns:a16="http://schemas.microsoft.com/office/drawing/2014/main" id="{377C283A-4051-A12F-6EE9-471BEEEFD4E2}"/>
              </a:ext>
            </a:extLst>
          </p:cNvPr>
          <p:cNvCxnSpPr>
            <a:cxnSpLocks/>
          </p:cNvCxnSpPr>
          <p:nvPr/>
        </p:nvCxnSpPr>
        <p:spPr>
          <a:xfrm>
            <a:off x="652293" y="2505875"/>
            <a:ext cx="10203544" cy="6404"/>
          </a:xfrm>
          <a:prstGeom prst="line">
            <a:avLst/>
          </a:prstGeom>
          <a:ln>
            <a:solidFill>
              <a:srgbClr val="1E3147"/>
            </a:solidFill>
          </a:ln>
        </p:spPr>
        <p:style>
          <a:lnRef idx="2">
            <a:schemeClr val="accent1"/>
          </a:lnRef>
          <a:fillRef idx="0">
            <a:schemeClr val="accent1"/>
          </a:fillRef>
          <a:effectRef idx="1">
            <a:schemeClr val="accent1"/>
          </a:effectRef>
          <a:fontRef idx="minor">
            <a:schemeClr val="tx1"/>
          </a:fontRef>
        </p:style>
      </p:cxnSp>
      <p:sp>
        <p:nvSpPr>
          <p:cNvPr id="77" name="TextBox 76">
            <a:extLst>
              <a:ext uri="{FF2B5EF4-FFF2-40B4-BE49-F238E27FC236}">
                <a16:creationId xmlns:a16="http://schemas.microsoft.com/office/drawing/2014/main" id="{483FE4C6-53AA-F5D0-775D-496C1CF5F602}"/>
              </a:ext>
            </a:extLst>
          </p:cNvPr>
          <p:cNvSpPr txBox="1"/>
          <p:nvPr/>
        </p:nvSpPr>
        <p:spPr>
          <a:xfrm>
            <a:off x="1274326" y="2217384"/>
            <a:ext cx="785793" cy="246221"/>
          </a:xfrm>
          <a:prstGeom prst="rect">
            <a:avLst/>
          </a:prstGeom>
          <a:noFill/>
        </p:spPr>
        <p:txBody>
          <a:bodyPr wrap="none" rtlCol="0">
            <a:spAutoFit/>
          </a:bodyPr>
          <a:lstStyle/>
          <a:p>
            <a:pPr algn="ctr"/>
            <a:r>
              <a:rPr lang="en-US" sz="1000" dirty="0">
                <a:solidFill>
                  <a:srgbClr val="E1E1E1"/>
                </a:solidFill>
              </a:rPr>
              <a:t>Agent Type</a:t>
            </a:r>
          </a:p>
        </p:txBody>
      </p:sp>
      <p:sp>
        <p:nvSpPr>
          <p:cNvPr id="78" name="TextBox 77">
            <a:extLst>
              <a:ext uri="{FF2B5EF4-FFF2-40B4-BE49-F238E27FC236}">
                <a16:creationId xmlns:a16="http://schemas.microsoft.com/office/drawing/2014/main" id="{6537A676-FF2F-2BBD-16DB-1E38C9C506E1}"/>
              </a:ext>
            </a:extLst>
          </p:cNvPr>
          <p:cNvSpPr txBox="1"/>
          <p:nvPr/>
        </p:nvSpPr>
        <p:spPr>
          <a:xfrm>
            <a:off x="662149" y="1838089"/>
            <a:ext cx="1202573" cy="246221"/>
          </a:xfrm>
          <a:prstGeom prst="rect">
            <a:avLst/>
          </a:prstGeom>
          <a:noFill/>
        </p:spPr>
        <p:txBody>
          <a:bodyPr wrap="none" rtlCol="0">
            <a:spAutoFit/>
          </a:bodyPr>
          <a:lstStyle/>
          <a:p>
            <a:r>
              <a:rPr lang="en-US" sz="1000" dirty="0">
                <a:solidFill>
                  <a:srgbClr val="E1E1E1"/>
                </a:solidFill>
              </a:rPr>
              <a:t>Claude Subagents</a:t>
            </a:r>
          </a:p>
        </p:txBody>
      </p:sp>
      <p:sp>
        <p:nvSpPr>
          <p:cNvPr id="80" name="Rectangle: Rounded Corners 79">
            <a:extLst>
              <a:ext uri="{FF2B5EF4-FFF2-40B4-BE49-F238E27FC236}">
                <a16:creationId xmlns:a16="http://schemas.microsoft.com/office/drawing/2014/main" id="{737BABD4-C732-ADC4-CF0D-3722EF352475}"/>
              </a:ext>
            </a:extLst>
          </p:cNvPr>
          <p:cNvSpPr/>
          <p:nvPr/>
        </p:nvSpPr>
        <p:spPr>
          <a:xfrm>
            <a:off x="1813390" y="1884175"/>
            <a:ext cx="336498" cy="182696"/>
          </a:xfrm>
          <a:prstGeom prst="roundRect">
            <a:avLst>
              <a:gd name="adj" fmla="val 50000"/>
            </a:avLst>
          </a:prstGeom>
          <a:solidFill>
            <a:srgbClr val="0E1C2D"/>
          </a:solid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a:extLst>
              <a:ext uri="{FF2B5EF4-FFF2-40B4-BE49-F238E27FC236}">
                <a16:creationId xmlns:a16="http://schemas.microsoft.com/office/drawing/2014/main" id="{B5123690-FE61-D3BE-398C-95B43D629C2D}"/>
              </a:ext>
            </a:extLst>
          </p:cNvPr>
          <p:cNvSpPr/>
          <p:nvPr/>
        </p:nvSpPr>
        <p:spPr>
          <a:xfrm>
            <a:off x="1815090" y="1876161"/>
            <a:ext cx="174503" cy="184050"/>
          </a:xfrm>
          <a:prstGeom prst="ellipse">
            <a:avLst/>
          </a:prstGeom>
          <a:solidFill>
            <a:srgbClr val="1E31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a:extLst>
              <a:ext uri="{FF2B5EF4-FFF2-40B4-BE49-F238E27FC236}">
                <a16:creationId xmlns:a16="http://schemas.microsoft.com/office/drawing/2014/main" id="{F4DFB3D8-5B36-0EA1-3B0D-47B9AF04D845}"/>
              </a:ext>
            </a:extLst>
          </p:cNvPr>
          <p:cNvSpPr/>
          <p:nvPr/>
        </p:nvSpPr>
        <p:spPr>
          <a:xfrm>
            <a:off x="758606" y="3066408"/>
            <a:ext cx="293929" cy="306770"/>
          </a:xfrm>
          <a:prstGeom prst="ellipse">
            <a:avLst/>
          </a:prstGeom>
          <a:solidFill>
            <a:srgbClr val="A32A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08A69696-A061-FAC6-50E3-6CD66EDAD965}"/>
              </a:ext>
            </a:extLst>
          </p:cNvPr>
          <p:cNvSpPr/>
          <p:nvPr/>
        </p:nvSpPr>
        <p:spPr>
          <a:xfrm>
            <a:off x="758606" y="3513494"/>
            <a:ext cx="293929" cy="306770"/>
          </a:xfrm>
          <a:prstGeom prst="ellipse">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E8440918-41EC-4280-4B00-09D179428D34}"/>
              </a:ext>
            </a:extLst>
          </p:cNvPr>
          <p:cNvSpPr/>
          <p:nvPr/>
        </p:nvSpPr>
        <p:spPr>
          <a:xfrm>
            <a:off x="758606" y="3970226"/>
            <a:ext cx="293929" cy="306770"/>
          </a:xfrm>
          <a:prstGeom prst="ellipse">
            <a:avLst/>
          </a:prstGeom>
          <a:solidFill>
            <a:srgbClr val="FFC3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TextBox 88">
            <a:extLst>
              <a:ext uri="{FF2B5EF4-FFF2-40B4-BE49-F238E27FC236}">
                <a16:creationId xmlns:a16="http://schemas.microsoft.com/office/drawing/2014/main" id="{869F875A-124D-B2E3-F01C-B6B4C42506C3}"/>
              </a:ext>
            </a:extLst>
          </p:cNvPr>
          <p:cNvSpPr txBox="1"/>
          <p:nvPr/>
        </p:nvSpPr>
        <p:spPr>
          <a:xfrm>
            <a:off x="1226477" y="3532367"/>
            <a:ext cx="970137" cy="261610"/>
          </a:xfrm>
          <a:prstGeom prst="rect">
            <a:avLst/>
          </a:prstGeom>
          <a:noFill/>
        </p:spPr>
        <p:txBody>
          <a:bodyPr wrap="none" rtlCol="0">
            <a:spAutoFit/>
          </a:bodyPr>
          <a:lstStyle>
            <a:defPPr>
              <a:defRPr lang="en-US"/>
            </a:defPPr>
            <a:lvl1pPr>
              <a:defRPr sz="1100">
                <a:solidFill>
                  <a:srgbClr val="E1E1E1"/>
                </a:solidFill>
              </a:defRPr>
            </a:lvl1pPr>
          </a:lstStyle>
          <a:p>
            <a:r>
              <a:rPr lang="en-US" dirty="0"/>
              <a:t>Implementor</a:t>
            </a:r>
          </a:p>
        </p:txBody>
      </p:sp>
      <p:sp>
        <p:nvSpPr>
          <p:cNvPr id="90" name="TextBox 89">
            <a:extLst>
              <a:ext uri="{FF2B5EF4-FFF2-40B4-BE49-F238E27FC236}">
                <a16:creationId xmlns:a16="http://schemas.microsoft.com/office/drawing/2014/main" id="{0A7B4871-B916-E1EA-8804-9FFC8350B8A2}"/>
              </a:ext>
            </a:extLst>
          </p:cNvPr>
          <p:cNvSpPr txBox="1"/>
          <p:nvPr/>
        </p:nvSpPr>
        <p:spPr>
          <a:xfrm>
            <a:off x="1245503" y="3998201"/>
            <a:ext cx="559769" cy="261610"/>
          </a:xfrm>
          <a:prstGeom prst="rect">
            <a:avLst/>
          </a:prstGeom>
          <a:noFill/>
        </p:spPr>
        <p:txBody>
          <a:bodyPr wrap="none" rtlCol="0">
            <a:spAutoFit/>
          </a:bodyPr>
          <a:lstStyle>
            <a:defPPr>
              <a:defRPr lang="en-US"/>
            </a:defPPr>
            <a:lvl1pPr>
              <a:defRPr sz="1100">
                <a:solidFill>
                  <a:srgbClr val="E1E1E1"/>
                </a:solidFill>
              </a:defRPr>
            </a:lvl1pPr>
          </a:lstStyle>
          <a:p>
            <a:r>
              <a:rPr lang="en-US" dirty="0"/>
              <a:t>Tester</a:t>
            </a:r>
          </a:p>
        </p:txBody>
      </p:sp>
      <p:sp>
        <p:nvSpPr>
          <p:cNvPr id="91" name="TextBox 90">
            <a:extLst>
              <a:ext uri="{FF2B5EF4-FFF2-40B4-BE49-F238E27FC236}">
                <a16:creationId xmlns:a16="http://schemas.microsoft.com/office/drawing/2014/main" id="{424BA705-19BE-9325-B8B0-29515C5C5A2B}"/>
              </a:ext>
            </a:extLst>
          </p:cNvPr>
          <p:cNvSpPr txBox="1"/>
          <p:nvPr/>
        </p:nvSpPr>
        <p:spPr>
          <a:xfrm>
            <a:off x="4260936" y="2611055"/>
            <a:ext cx="683200" cy="261610"/>
          </a:xfrm>
          <a:prstGeom prst="rect">
            <a:avLst/>
          </a:prstGeom>
          <a:noFill/>
        </p:spPr>
        <p:txBody>
          <a:bodyPr wrap="none" rtlCol="0">
            <a:spAutoFit/>
          </a:bodyPr>
          <a:lstStyle/>
          <a:p>
            <a:r>
              <a:rPr lang="en-US" sz="1100" i="1" dirty="0">
                <a:solidFill>
                  <a:srgbClr val="FFC000"/>
                </a:solidFill>
              </a:rPr>
              <a:t>Waiting.</a:t>
            </a:r>
          </a:p>
        </p:txBody>
      </p:sp>
      <p:pic>
        <p:nvPicPr>
          <p:cNvPr id="93" name="Graphic 92" descr="Information with solid fill">
            <a:extLst>
              <a:ext uri="{FF2B5EF4-FFF2-40B4-BE49-F238E27FC236}">
                <a16:creationId xmlns:a16="http://schemas.microsoft.com/office/drawing/2014/main" id="{9240B616-8844-B60D-2AE6-FA17D4A3DE5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2365" y="3102069"/>
            <a:ext cx="193473" cy="193473"/>
          </a:xfrm>
          <a:prstGeom prst="rect">
            <a:avLst/>
          </a:prstGeom>
        </p:spPr>
      </p:pic>
      <p:pic>
        <p:nvPicPr>
          <p:cNvPr id="94" name="Graphic 93" descr="Information with solid fill">
            <a:extLst>
              <a:ext uri="{FF2B5EF4-FFF2-40B4-BE49-F238E27FC236}">
                <a16:creationId xmlns:a16="http://schemas.microsoft.com/office/drawing/2014/main" id="{5CE64F6D-7DA0-5678-6E3D-737390FDA68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2365" y="3553624"/>
            <a:ext cx="193473" cy="193473"/>
          </a:xfrm>
          <a:prstGeom prst="rect">
            <a:avLst/>
          </a:prstGeom>
        </p:spPr>
      </p:pic>
      <p:pic>
        <p:nvPicPr>
          <p:cNvPr id="95" name="Graphic 94" descr="Information with solid fill">
            <a:extLst>
              <a:ext uri="{FF2B5EF4-FFF2-40B4-BE49-F238E27FC236}">
                <a16:creationId xmlns:a16="http://schemas.microsoft.com/office/drawing/2014/main" id="{589FCE10-DF85-8D6C-2333-C437718D064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2364" y="4014063"/>
            <a:ext cx="193473" cy="193473"/>
          </a:xfrm>
          <a:prstGeom prst="rect">
            <a:avLst/>
          </a:prstGeom>
        </p:spPr>
      </p:pic>
      <p:sp>
        <p:nvSpPr>
          <p:cNvPr id="96" name="TextBox 95">
            <a:extLst>
              <a:ext uri="{FF2B5EF4-FFF2-40B4-BE49-F238E27FC236}">
                <a16:creationId xmlns:a16="http://schemas.microsoft.com/office/drawing/2014/main" id="{85DF61C3-93C8-BAD3-6214-66D144B359A3}"/>
              </a:ext>
            </a:extLst>
          </p:cNvPr>
          <p:cNvSpPr txBox="1"/>
          <p:nvPr/>
        </p:nvSpPr>
        <p:spPr>
          <a:xfrm>
            <a:off x="729726" y="3076054"/>
            <a:ext cx="460382" cy="282316"/>
          </a:xfrm>
          <a:prstGeom prst="rect">
            <a:avLst/>
          </a:prstGeom>
          <a:noFill/>
        </p:spPr>
        <p:txBody>
          <a:bodyPr wrap="square" rtlCol="0">
            <a:spAutoFit/>
          </a:bodyPr>
          <a:lstStyle/>
          <a:p>
            <a:r>
              <a:rPr lang="en-US" sz="1200" b="1" dirty="0">
                <a:solidFill>
                  <a:srgbClr val="0E1C2D"/>
                </a:solidFill>
              </a:rPr>
              <a:t>An</a:t>
            </a:r>
          </a:p>
        </p:txBody>
      </p:sp>
      <p:sp>
        <p:nvSpPr>
          <p:cNvPr id="97" name="TextBox 96">
            <a:extLst>
              <a:ext uri="{FF2B5EF4-FFF2-40B4-BE49-F238E27FC236}">
                <a16:creationId xmlns:a16="http://schemas.microsoft.com/office/drawing/2014/main" id="{3E274EE3-EEA5-F5A0-C09E-D2F0768D40FF}"/>
              </a:ext>
            </a:extLst>
          </p:cNvPr>
          <p:cNvSpPr txBox="1"/>
          <p:nvPr/>
        </p:nvSpPr>
        <p:spPr>
          <a:xfrm>
            <a:off x="736070" y="3523140"/>
            <a:ext cx="460382" cy="282316"/>
          </a:xfrm>
          <a:prstGeom prst="rect">
            <a:avLst/>
          </a:prstGeom>
          <a:noFill/>
        </p:spPr>
        <p:txBody>
          <a:bodyPr wrap="square" rtlCol="0">
            <a:spAutoFit/>
          </a:bodyPr>
          <a:lstStyle/>
          <a:p>
            <a:r>
              <a:rPr lang="en-US" sz="1200" b="1" dirty="0" err="1">
                <a:solidFill>
                  <a:srgbClr val="0E1C2D"/>
                </a:solidFill>
              </a:rPr>
              <a:t>Im</a:t>
            </a:r>
            <a:endParaRPr lang="en-US" sz="1200" b="1" dirty="0">
              <a:solidFill>
                <a:srgbClr val="0E1C2D"/>
              </a:solidFill>
            </a:endParaRPr>
          </a:p>
        </p:txBody>
      </p:sp>
      <p:sp>
        <p:nvSpPr>
          <p:cNvPr id="98" name="TextBox 97">
            <a:extLst>
              <a:ext uri="{FF2B5EF4-FFF2-40B4-BE49-F238E27FC236}">
                <a16:creationId xmlns:a16="http://schemas.microsoft.com/office/drawing/2014/main" id="{4E88F455-FC81-E35D-5EDE-5014769D9387}"/>
              </a:ext>
            </a:extLst>
          </p:cNvPr>
          <p:cNvSpPr txBox="1"/>
          <p:nvPr/>
        </p:nvSpPr>
        <p:spPr>
          <a:xfrm>
            <a:off x="736070" y="3989707"/>
            <a:ext cx="460382" cy="282316"/>
          </a:xfrm>
          <a:prstGeom prst="rect">
            <a:avLst/>
          </a:prstGeom>
          <a:noFill/>
        </p:spPr>
        <p:txBody>
          <a:bodyPr wrap="square" rtlCol="0">
            <a:spAutoFit/>
          </a:bodyPr>
          <a:lstStyle/>
          <a:p>
            <a:r>
              <a:rPr lang="en-US" sz="1200" b="1" dirty="0" err="1">
                <a:solidFill>
                  <a:srgbClr val="0E1C2D"/>
                </a:solidFill>
              </a:rPr>
              <a:t>Te</a:t>
            </a:r>
            <a:endParaRPr lang="en-US" sz="1200" b="1" dirty="0">
              <a:solidFill>
                <a:srgbClr val="0E1C2D"/>
              </a:solidFill>
            </a:endParaRPr>
          </a:p>
        </p:txBody>
      </p:sp>
      <p:sp>
        <p:nvSpPr>
          <p:cNvPr id="99" name="TextBox 98">
            <a:extLst>
              <a:ext uri="{FF2B5EF4-FFF2-40B4-BE49-F238E27FC236}">
                <a16:creationId xmlns:a16="http://schemas.microsoft.com/office/drawing/2014/main" id="{D9574D20-C24F-6A53-8A3C-657462D20192}"/>
              </a:ext>
            </a:extLst>
          </p:cNvPr>
          <p:cNvSpPr txBox="1"/>
          <p:nvPr/>
        </p:nvSpPr>
        <p:spPr>
          <a:xfrm>
            <a:off x="4193614" y="2214394"/>
            <a:ext cx="886781" cy="246221"/>
          </a:xfrm>
          <a:prstGeom prst="rect">
            <a:avLst/>
          </a:prstGeom>
          <a:noFill/>
        </p:spPr>
        <p:txBody>
          <a:bodyPr wrap="none" rtlCol="0">
            <a:spAutoFit/>
          </a:bodyPr>
          <a:lstStyle/>
          <a:p>
            <a:pPr algn="ctr"/>
            <a:r>
              <a:rPr lang="en-US" sz="1000" dirty="0">
                <a:solidFill>
                  <a:srgbClr val="E1E1E1"/>
                </a:solidFill>
              </a:rPr>
              <a:t>Agent Status</a:t>
            </a:r>
          </a:p>
        </p:txBody>
      </p:sp>
      <p:sp>
        <p:nvSpPr>
          <p:cNvPr id="100" name="TextBox 99">
            <a:extLst>
              <a:ext uri="{FF2B5EF4-FFF2-40B4-BE49-F238E27FC236}">
                <a16:creationId xmlns:a16="http://schemas.microsoft.com/office/drawing/2014/main" id="{EE8D4654-902E-8209-A6D0-E0FDACC95A15}"/>
              </a:ext>
            </a:extLst>
          </p:cNvPr>
          <p:cNvSpPr txBox="1"/>
          <p:nvPr/>
        </p:nvSpPr>
        <p:spPr>
          <a:xfrm>
            <a:off x="7929117" y="2092323"/>
            <a:ext cx="772505" cy="400110"/>
          </a:xfrm>
          <a:prstGeom prst="rect">
            <a:avLst/>
          </a:prstGeom>
          <a:noFill/>
        </p:spPr>
        <p:txBody>
          <a:bodyPr wrap="square" rtlCol="0">
            <a:spAutoFit/>
          </a:bodyPr>
          <a:lstStyle/>
          <a:p>
            <a:pPr algn="ctr"/>
            <a:r>
              <a:rPr lang="en-US" sz="1000" dirty="0">
                <a:solidFill>
                  <a:srgbClr val="E1E1E1"/>
                </a:solidFill>
              </a:rPr>
              <a:t>Messages waiting</a:t>
            </a:r>
          </a:p>
        </p:txBody>
      </p:sp>
      <p:sp>
        <p:nvSpPr>
          <p:cNvPr id="114" name="TextBox 113">
            <a:extLst>
              <a:ext uri="{FF2B5EF4-FFF2-40B4-BE49-F238E27FC236}">
                <a16:creationId xmlns:a16="http://schemas.microsoft.com/office/drawing/2014/main" id="{0243C278-5DD7-E4AD-F441-B21FE7A15A22}"/>
              </a:ext>
            </a:extLst>
          </p:cNvPr>
          <p:cNvSpPr txBox="1"/>
          <p:nvPr/>
        </p:nvSpPr>
        <p:spPr>
          <a:xfrm>
            <a:off x="7041082" y="2099303"/>
            <a:ext cx="772505" cy="400110"/>
          </a:xfrm>
          <a:prstGeom prst="rect">
            <a:avLst/>
          </a:prstGeom>
          <a:noFill/>
        </p:spPr>
        <p:txBody>
          <a:bodyPr wrap="square" rtlCol="0">
            <a:spAutoFit/>
          </a:bodyPr>
          <a:lstStyle/>
          <a:p>
            <a:pPr algn="ctr"/>
            <a:r>
              <a:rPr lang="en-US" sz="1000" dirty="0">
                <a:solidFill>
                  <a:srgbClr val="E1E1E1"/>
                </a:solidFill>
              </a:rPr>
              <a:t>Messages</a:t>
            </a:r>
          </a:p>
          <a:p>
            <a:pPr algn="ctr"/>
            <a:r>
              <a:rPr lang="en-US" sz="1000" dirty="0">
                <a:solidFill>
                  <a:srgbClr val="E1E1E1"/>
                </a:solidFill>
              </a:rPr>
              <a:t>Sent</a:t>
            </a:r>
          </a:p>
        </p:txBody>
      </p:sp>
      <p:sp>
        <p:nvSpPr>
          <p:cNvPr id="115" name="TextBox 114">
            <a:extLst>
              <a:ext uri="{FF2B5EF4-FFF2-40B4-BE49-F238E27FC236}">
                <a16:creationId xmlns:a16="http://schemas.microsoft.com/office/drawing/2014/main" id="{AC52F3F7-EFBE-53A8-8920-4768B51E4758}"/>
              </a:ext>
            </a:extLst>
          </p:cNvPr>
          <p:cNvSpPr txBox="1"/>
          <p:nvPr/>
        </p:nvSpPr>
        <p:spPr>
          <a:xfrm>
            <a:off x="8932682" y="2112169"/>
            <a:ext cx="751053" cy="400110"/>
          </a:xfrm>
          <a:prstGeom prst="rect">
            <a:avLst/>
          </a:prstGeom>
          <a:noFill/>
        </p:spPr>
        <p:txBody>
          <a:bodyPr wrap="square" rtlCol="0">
            <a:spAutoFit/>
          </a:bodyPr>
          <a:lstStyle/>
          <a:p>
            <a:pPr algn="ctr"/>
            <a:r>
              <a:rPr lang="en-US" sz="1000" dirty="0">
                <a:solidFill>
                  <a:srgbClr val="E1E1E1"/>
                </a:solidFill>
              </a:rPr>
              <a:t>Messages Read</a:t>
            </a:r>
          </a:p>
        </p:txBody>
      </p:sp>
      <p:pic>
        <p:nvPicPr>
          <p:cNvPr id="117" name="Graphic 116" descr="Chat with solid fill">
            <a:extLst>
              <a:ext uri="{FF2B5EF4-FFF2-40B4-BE49-F238E27FC236}">
                <a16:creationId xmlns:a16="http://schemas.microsoft.com/office/drawing/2014/main" id="{E7F75C25-213A-F344-4D24-F8B5FA231B3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305301" y="2637658"/>
            <a:ext cx="261610" cy="261610"/>
          </a:xfrm>
          <a:prstGeom prst="rect">
            <a:avLst/>
          </a:prstGeom>
        </p:spPr>
      </p:pic>
      <p:pic>
        <p:nvPicPr>
          <p:cNvPr id="118" name="Graphic 117" descr="Chat with solid fill">
            <a:extLst>
              <a:ext uri="{FF2B5EF4-FFF2-40B4-BE49-F238E27FC236}">
                <a16:creationId xmlns:a16="http://schemas.microsoft.com/office/drawing/2014/main" id="{77B34645-A490-93D2-9623-0047895C798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297189" y="3068000"/>
            <a:ext cx="261610" cy="261610"/>
          </a:xfrm>
          <a:prstGeom prst="rect">
            <a:avLst/>
          </a:prstGeom>
        </p:spPr>
      </p:pic>
      <p:pic>
        <p:nvPicPr>
          <p:cNvPr id="119" name="Graphic 118" descr="Chat with solid fill">
            <a:extLst>
              <a:ext uri="{FF2B5EF4-FFF2-40B4-BE49-F238E27FC236}">
                <a16:creationId xmlns:a16="http://schemas.microsoft.com/office/drawing/2014/main" id="{1B5E39FC-9227-F53C-D1DD-016C6B1B3E4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297189" y="3527404"/>
            <a:ext cx="261610" cy="261610"/>
          </a:xfrm>
          <a:prstGeom prst="rect">
            <a:avLst/>
          </a:prstGeom>
        </p:spPr>
      </p:pic>
      <p:pic>
        <p:nvPicPr>
          <p:cNvPr id="120" name="Graphic 119" descr="Chat with solid fill">
            <a:extLst>
              <a:ext uri="{FF2B5EF4-FFF2-40B4-BE49-F238E27FC236}">
                <a16:creationId xmlns:a16="http://schemas.microsoft.com/office/drawing/2014/main" id="{AA08647B-0A57-412C-55EF-32F8F19AEC7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310562" y="3991625"/>
            <a:ext cx="261610" cy="261610"/>
          </a:xfrm>
          <a:prstGeom prst="rect">
            <a:avLst/>
          </a:prstGeom>
        </p:spPr>
      </p:pic>
      <p:sp>
        <p:nvSpPr>
          <p:cNvPr id="136" name="TextBox 135">
            <a:extLst>
              <a:ext uri="{FF2B5EF4-FFF2-40B4-BE49-F238E27FC236}">
                <a16:creationId xmlns:a16="http://schemas.microsoft.com/office/drawing/2014/main" id="{EA2C9E0A-7394-EEEA-2CD2-9019C72BB782}"/>
              </a:ext>
            </a:extLst>
          </p:cNvPr>
          <p:cNvSpPr txBox="1"/>
          <p:nvPr/>
        </p:nvSpPr>
        <p:spPr>
          <a:xfrm>
            <a:off x="4253814" y="3982173"/>
            <a:ext cx="683200" cy="261610"/>
          </a:xfrm>
          <a:prstGeom prst="rect">
            <a:avLst/>
          </a:prstGeom>
          <a:noFill/>
        </p:spPr>
        <p:txBody>
          <a:bodyPr wrap="none" rtlCol="0">
            <a:spAutoFit/>
          </a:bodyPr>
          <a:lstStyle/>
          <a:p>
            <a:r>
              <a:rPr lang="en-US" sz="1100" i="1" dirty="0">
                <a:solidFill>
                  <a:srgbClr val="FFC000"/>
                </a:solidFill>
              </a:rPr>
              <a:t>Waiting.</a:t>
            </a:r>
          </a:p>
        </p:txBody>
      </p:sp>
      <p:pic>
        <p:nvPicPr>
          <p:cNvPr id="137" name="Graphic 136" descr="Play with solid fill">
            <a:extLst>
              <a:ext uri="{FF2B5EF4-FFF2-40B4-BE49-F238E27FC236}">
                <a16:creationId xmlns:a16="http://schemas.microsoft.com/office/drawing/2014/main" id="{88043DA2-D979-1BB2-C120-ACB7E7D617F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00374" y="3545730"/>
            <a:ext cx="193474" cy="193474"/>
          </a:xfrm>
          <a:prstGeom prst="rect">
            <a:avLst/>
          </a:prstGeom>
        </p:spPr>
      </p:pic>
      <p:pic>
        <p:nvPicPr>
          <p:cNvPr id="138" name="Graphic 137" descr="Play with solid fill">
            <a:extLst>
              <a:ext uri="{FF2B5EF4-FFF2-40B4-BE49-F238E27FC236}">
                <a16:creationId xmlns:a16="http://schemas.microsoft.com/office/drawing/2014/main" id="{B2ED55AD-DF29-B6FD-3414-E21F690202D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02983" y="4004988"/>
            <a:ext cx="193474" cy="193474"/>
          </a:xfrm>
          <a:prstGeom prst="rect">
            <a:avLst/>
          </a:prstGeom>
        </p:spPr>
      </p:pic>
      <p:sp>
        <p:nvSpPr>
          <p:cNvPr id="14" name="TextBox 13">
            <a:extLst>
              <a:ext uri="{FF2B5EF4-FFF2-40B4-BE49-F238E27FC236}">
                <a16:creationId xmlns:a16="http://schemas.microsoft.com/office/drawing/2014/main" id="{1A374788-26D8-4D22-73B3-3940722A10B6}"/>
              </a:ext>
            </a:extLst>
          </p:cNvPr>
          <p:cNvSpPr txBox="1"/>
          <p:nvPr/>
        </p:nvSpPr>
        <p:spPr>
          <a:xfrm>
            <a:off x="8152537" y="2627083"/>
            <a:ext cx="260008" cy="261610"/>
          </a:xfrm>
          <a:prstGeom prst="rect">
            <a:avLst/>
          </a:prstGeom>
          <a:noFill/>
        </p:spPr>
        <p:txBody>
          <a:bodyPr wrap="square" rtlCol="0">
            <a:spAutoFit/>
          </a:bodyPr>
          <a:lstStyle/>
          <a:p>
            <a:r>
              <a:rPr lang="en-US" sz="1100" dirty="0">
                <a:solidFill>
                  <a:srgbClr val="E1E1E1"/>
                </a:solidFill>
              </a:rPr>
              <a:t>1</a:t>
            </a:r>
          </a:p>
        </p:txBody>
      </p:sp>
      <p:sp>
        <p:nvSpPr>
          <p:cNvPr id="19" name="TextBox 18">
            <a:extLst>
              <a:ext uri="{FF2B5EF4-FFF2-40B4-BE49-F238E27FC236}">
                <a16:creationId xmlns:a16="http://schemas.microsoft.com/office/drawing/2014/main" id="{3CEC0104-CF64-B28B-2DB5-3112AC5C09A9}"/>
              </a:ext>
            </a:extLst>
          </p:cNvPr>
          <p:cNvSpPr txBox="1"/>
          <p:nvPr/>
        </p:nvSpPr>
        <p:spPr>
          <a:xfrm>
            <a:off x="8155156" y="3980155"/>
            <a:ext cx="260008" cy="261610"/>
          </a:xfrm>
          <a:prstGeom prst="rect">
            <a:avLst/>
          </a:prstGeom>
          <a:noFill/>
        </p:spPr>
        <p:txBody>
          <a:bodyPr wrap="square" rtlCol="0">
            <a:spAutoFit/>
          </a:bodyPr>
          <a:lstStyle/>
          <a:p>
            <a:r>
              <a:rPr lang="en-US" sz="1100" dirty="0">
                <a:solidFill>
                  <a:srgbClr val="E1E1E1"/>
                </a:solidFill>
              </a:rPr>
              <a:t>1</a:t>
            </a:r>
          </a:p>
        </p:txBody>
      </p:sp>
      <p:sp>
        <p:nvSpPr>
          <p:cNvPr id="20" name="TextBox 19">
            <a:extLst>
              <a:ext uri="{FF2B5EF4-FFF2-40B4-BE49-F238E27FC236}">
                <a16:creationId xmlns:a16="http://schemas.microsoft.com/office/drawing/2014/main" id="{5D48C9DE-BD75-65DB-7EBE-B3186E5D9087}"/>
              </a:ext>
            </a:extLst>
          </p:cNvPr>
          <p:cNvSpPr txBox="1"/>
          <p:nvPr/>
        </p:nvSpPr>
        <p:spPr>
          <a:xfrm>
            <a:off x="8155156" y="3496213"/>
            <a:ext cx="260008" cy="261610"/>
          </a:xfrm>
          <a:prstGeom prst="rect">
            <a:avLst/>
          </a:prstGeom>
          <a:noFill/>
        </p:spPr>
        <p:txBody>
          <a:bodyPr wrap="square" rtlCol="0">
            <a:spAutoFit/>
          </a:bodyPr>
          <a:lstStyle/>
          <a:p>
            <a:r>
              <a:rPr lang="en-US" sz="1100" dirty="0">
                <a:solidFill>
                  <a:srgbClr val="E1E1E1"/>
                </a:solidFill>
              </a:rPr>
              <a:t>1</a:t>
            </a:r>
          </a:p>
        </p:txBody>
      </p:sp>
      <p:sp>
        <p:nvSpPr>
          <p:cNvPr id="23" name="TextBox 22">
            <a:extLst>
              <a:ext uri="{FF2B5EF4-FFF2-40B4-BE49-F238E27FC236}">
                <a16:creationId xmlns:a16="http://schemas.microsoft.com/office/drawing/2014/main" id="{F3139F3C-45F4-B42A-4CE9-3EC45723F42D}"/>
              </a:ext>
            </a:extLst>
          </p:cNvPr>
          <p:cNvSpPr txBox="1"/>
          <p:nvPr/>
        </p:nvSpPr>
        <p:spPr>
          <a:xfrm>
            <a:off x="2947872" y="2209718"/>
            <a:ext cx="649537" cy="246221"/>
          </a:xfrm>
          <a:prstGeom prst="rect">
            <a:avLst/>
          </a:prstGeom>
          <a:noFill/>
        </p:spPr>
        <p:txBody>
          <a:bodyPr wrap="none" rtlCol="0">
            <a:spAutoFit/>
          </a:bodyPr>
          <a:lstStyle/>
          <a:p>
            <a:pPr algn="ctr"/>
            <a:r>
              <a:rPr lang="en-US" sz="1000" dirty="0">
                <a:solidFill>
                  <a:srgbClr val="E1E1E1"/>
                </a:solidFill>
              </a:rPr>
              <a:t>Agent ID</a:t>
            </a:r>
          </a:p>
        </p:txBody>
      </p:sp>
      <p:sp>
        <p:nvSpPr>
          <p:cNvPr id="28" name="TextBox 27">
            <a:extLst>
              <a:ext uri="{FF2B5EF4-FFF2-40B4-BE49-F238E27FC236}">
                <a16:creationId xmlns:a16="http://schemas.microsoft.com/office/drawing/2014/main" id="{5463498C-43DC-06A2-4CBE-61E036592760}"/>
              </a:ext>
            </a:extLst>
          </p:cNvPr>
          <p:cNvSpPr txBox="1"/>
          <p:nvPr/>
        </p:nvSpPr>
        <p:spPr>
          <a:xfrm>
            <a:off x="2647311" y="2620646"/>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0" name="TextBox 29">
            <a:extLst>
              <a:ext uri="{FF2B5EF4-FFF2-40B4-BE49-F238E27FC236}">
                <a16:creationId xmlns:a16="http://schemas.microsoft.com/office/drawing/2014/main" id="{B59A440F-9959-6016-6558-567623E6A18D}"/>
              </a:ext>
            </a:extLst>
          </p:cNvPr>
          <p:cNvSpPr txBox="1"/>
          <p:nvPr/>
        </p:nvSpPr>
        <p:spPr>
          <a:xfrm>
            <a:off x="2647311" y="3086580"/>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1" name="TextBox 30">
            <a:extLst>
              <a:ext uri="{FF2B5EF4-FFF2-40B4-BE49-F238E27FC236}">
                <a16:creationId xmlns:a16="http://schemas.microsoft.com/office/drawing/2014/main" id="{7033899F-8AFA-B9AC-2E8F-19C414CAA788}"/>
              </a:ext>
            </a:extLst>
          </p:cNvPr>
          <p:cNvSpPr txBox="1"/>
          <p:nvPr/>
        </p:nvSpPr>
        <p:spPr>
          <a:xfrm>
            <a:off x="2647311" y="3545730"/>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2" name="TextBox 31">
            <a:extLst>
              <a:ext uri="{FF2B5EF4-FFF2-40B4-BE49-F238E27FC236}">
                <a16:creationId xmlns:a16="http://schemas.microsoft.com/office/drawing/2014/main" id="{117E4801-9F19-E575-8FF1-F2D0490EE0D1}"/>
              </a:ext>
            </a:extLst>
          </p:cNvPr>
          <p:cNvSpPr txBox="1"/>
          <p:nvPr/>
        </p:nvSpPr>
        <p:spPr>
          <a:xfrm>
            <a:off x="2636441" y="4004880"/>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3" name="TextBox 32">
            <a:extLst>
              <a:ext uri="{FF2B5EF4-FFF2-40B4-BE49-F238E27FC236}">
                <a16:creationId xmlns:a16="http://schemas.microsoft.com/office/drawing/2014/main" id="{6030D8F9-3FEF-482F-2565-821EC1208F25}"/>
              </a:ext>
            </a:extLst>
          </p:cNvPr>
          <p:cNvSpPr txBox="1"/>
          <p:nvPr/>
        </p:nvSpPr>
        <p:spPr>
          <a:xfrm>
            <a:off x="5445208" y="2092323"/>
            <a:ext cx="772505" cy="400110"/>
          </a:xfrm>
          <a:prstGeom prst="rect">
            <a:avLst/>
          </a:prstGeom>
          <a:noFill/>
        </p:spPr>
        <p:txBody>
          <a:bodyPr wrap="square" rtlCol="0">
            <a:spAutoFit/>
          </a:bodyPr>
          <a:lstStyle/>
          <a:p>
            <a:pPr algn="ctr"/>
            <a:r>
              <a:rPr lang="en-US" sz="1000" dirty="0">
                <a:solidFill>
                  <a:srgbClr val="E1E1E1"/>
                </a:solidFill>
              </a:rPr>
              <a:t>Job </a:t>
            </a:r>
          </a:p>
          <a:p>
            <a:pPr algn="ctr"/>
            <a:r>
              <a:rPr lang="en-US" sz="1000" dirty="0">
                <a:solidFill>
                  <a:srgbClr val="E1E1E1"/>
                </a:solidFill>
              </a:rPr>
              <a:t>Read</a:t>
            </a:r>
          </a:p>
        </p:txBody>
      </p:sp>
      <p:sp>
        <p:nvSpPr>
          <p:cNvPr id="34" name="TextBox 33">
            <a:extLst>
              <a:ext uri="{FF2B5EF4-FFF2-40B4-BE49-F238E27FC236}">
                <a16:creationId xmlns:a16="http://schemas.microsoft.com/office/drawing/2014/main" id="{28D0EF17-5516-1C21-8B53-FE9B7BB6CF04}"/>
              </a:ext>
            </a:extLst>
          </p:cNvPr>
          <p:cNvSpPr txBox="1"/>
          <p:nvPr/>
        </p:nvSpPr>
        <p:spPr>
          <a:xfrm>
            <a:off x="6129630" y="2105765"/>
            <a:ext cx="1037054" cy="400110"/>
          </a:xfrm>
          <a:prstGeom prst="rect">
            <a:avLst/>
          </a:prstGeom>
          <a:noFill/>
        </p:spPr>
        <p:txBody>
          <a:bodyPr wrap="square" rtlCol="0">
            <a:spAutoFit/>
          </a:bodyPr>
          <a:lstStyle/>
          <a:p>
            <a:pPr algn="ctr"/>
            <a:r>
              <a:rPr lang="en-US" sz="1000" dirty="0">
                <a:solidFill>
                  <a:srgbClr val="E1E1E1"/>
                </a:solidFill>
              </a:rPr>
              <a:t>Job Acknowledged</a:t>
            </a:r>
          </a:p>
        </p:txBody>
      </p:sp>
      <p:cxnSp>
        <p:nvCxnSpPr>
          <p:cNvPr id="41" name="Straight Connector 40">
            <a:extLst>
              <a:ext uri="{FF2B5EF4-FFF2-40B4-BE49-F238E27FC236}">
                <a16:creationId xmlns:a16="http://schemas.microsoft.com/office/drawing/2014/main" id="{0AB72FBD-266B-6717-4A41-A224B1C8B5D6}"/>
              </a:ext>
            </a:extLst>
          </p:cNvPr>
          <p:cNvCxnSpPr>
            <a:cxnSpLocks/>
          </p:cNvCxnSpPr>
          <p:nvPr/>
        </p:nvCxnSpPr>
        <p:spPr>
          <a:xfrm>
            <a:off x="11391357" y="2585825"/>
            <a:ext cx="0" cy="2327883"/>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62ED24EF-DBD1-425A-1FD4-906A86B0CAB7}"/>
              </a:ext>
            </a:extLst>
          </p:cNvPr>
          <p:cNvCxnSpPr>
            <a:cxnSpLocks/>
          </p:cNvCxnSpPr>
          <p:nvPr/>
        </p:nvCxnSpPr>
        <p:spPr>
          <a:xfrm>
            <a:off x="11391357" y="2585825"/>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9A53E485-DDC4-69C2-7470-3DF3F40D455B}"/>
              </a:ext>
            </a:extLst>
          </p:cNvPr>
          <p:cNvCxnSpPr>
            <a:cxnSpLocks/>
          </p:cNvCxnSpPr>
          <p:nvPr/>
        </p:nvCxnSpPr>
        <p:spPr>
          <a:xfrm>
            <a:off x="11391357" y="2625072"/>
            <a:ext cx="0" cy="2327883"/>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EFA863AA-DF78-3982-0D86-9D1E861D8ED8}"/>
              </a:ext>
            </a:extLst>
          </p:cNvPr>
          <p:cNvCxnSpPr>
            <a:cxnSpLocks/>
          </p:cNvCxnSpPr>
          <p:nvPr/>
        </p:nvCxnSpPr>
        <p:spPr>
          <a:xfrm>
            <a:off x="11391357" y="2625072"/>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sp>
        <p:nvSpPr>
          <p:cNvPr id="45" name="Rectangle: Rounded Corners 44">
            <a:extLst>
              <a:ext uri="{FF2B5EF4-FFF2-40B4-BE49-F238E27FC236}">
                <a16:creationId xmlns:a16="http://schemas.microsoft.com/office/drawing/2014/main" id="{E9595319-06DA-DAE5-CF44-37A3BA5B8D31}"/>
              </a:ext>
            </a:extLst>
          </p:cNvPr>
          <p:cNvSpPr/>
          <p:nvPr/>
        </p:nvSpPr>
        <p:spPr>
          <a:xfrm>
            <a:off x="3031449" y="5377380"/>
            <a:ext cx="5904873" cy="421811"/>
          </a:xfrm>
          <a:prstGeom prst="roundRect">
            <a:avLst>
              <a:gd name="adj" fmla="val 27474"/>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a:t>
            </a:r>
          </a:p>
        </p:txBody>
      </p:sp>
      <p:sp>
        <p:nvSpPr>
          <p:cNvPr id="46" name="Rectangle: Rounded Corners 45">
            <a:extLst>
              <a:ext uri="{FF2B5EF4-FFF2-40B4-BE49-F238E27FC236}">
                <a16:creationId xmlns:a16="http://schemas.microsoft.com/office/drawing/2014/main" id="{85CBDDEF-2712-A5EC-5AB5-2216A366AF05}"/>
              </a:ext>
            </a:extLst>
          </p:cNvPr>
          <p:cNvSpPr/>
          <p:nvPr/>
        </p:nvSpPr>
        <p:spPr>
          <a:xfrm>
            <a:off x="522553" y="5375748"/>
            <a:ext cx="1132255" cy="421811"/>
          </a:xfrm>
          <a:prstGeom prst="roundRect">
            <a:avLst>
              <a:gd name="adj" fmla="val 27474"/>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1E3147"/>
                </a:solidFill>
              </a:rPr>
              <a:t>Message Orchestrator</a:t>
            </a:r>
          </a:p>
        </p:txBody>
      </p:sp>
      <p:sp>
        <p:nvSpPr>
          <p:cNvPr id="47" name="Rectangle: Rounded Corners 46">
            <a:extLst>
              <a:ext uri="{FF2B5EF4-FFF2-40B4-BE49-F238E27FC236}">
                <a16:creationId xmlns:a16="http://schemas.microsoft.com/office/drawing/2014/main" id="{06B4500B-FC78-10BD-35B4-8F9A28E43A8E}"/>
              </a:ext>
            </a:extLst>
          </p:cNvPr>
          <p:cNvSpPr/>
          <p:nvPr/>
        </p:nvSpPr>
        <p:spPr>
          <a:xfrm>
            <a:off x="1753756" y="5378268"/>
            <a:ext cx="1178745" cy="421811"/>
          </a:xfrm>
          <a:prstGeom prst="roundRect">
            <a:avLst>
              <a:gd name="adj" fmla="val 27474"/>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1E1E1"/>
                </a:solidFill>
              </a:rPr>
              <a:t>Broadcast</a:t>
            </a:r>
          </a:p>
        </p:txBody>
      </p:sp>
      <p:sp>
        <p:nvSpPr>
          <p:cNvPr id="50" name="Oval 49">
            <a:extLst>
              <a:ext uri="{FF2B5EF4-FFF2-40B4-BE49-F238E27FC236}">
                <a16:creationId xmlns:a16="http://schemas.microsoft.com/office/drawing/2014/main" id="{818E3EA5-1D76-D796-1C17-9D83DDD0B087}"/>
              </a:ext>
            </a:extLst>
          </p:cNvPr>
          <p:cNvSpPr/>
          <p:nvPr/>
        </p:nvSpPr>
        <p:spPr>
          <a:xfrm>
            <a:off x="8997072" y="5441706"/>
            <a:ext cx="293929" cy="306770"/>
          </a:xfrm>
          <a:prstGeom prst="ellipse">
            <a:avLst/>
          </a:prstGeom>
          <a:solidFill>
            <a:srgbClr val="FFC3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 name="Graphic 48" descr="Play with solid fill">
            <a:extLst>
              <a:ext uri="{FF2B5EF4-FFF2-40B4-BE49-F238E27FC236}">
                <a16:creationId xmlns:a16="http://schemas.microsoft.com/office/drawing/2014/main" id="{32C086E8-6BAD-7DA1-0F2D-CE796CAB872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073173" y="5507713"/>
            <a:ext cx="174755" cy="174755"/>
          </a:xfrm>
          <a:prstGeom prst="rect">
            <a:avLst/>
          </a:prstGeom>
        </p:spPr>
      </p:pic>
      <p:sp>
        <p:nvSpPr>
          <p:cNvPr id="52" name="TextBox 51">
            <a:extLst>
              <a:ext uri="{FF2B5EF4-FFF2-40B4-BE49-F238E27FC236}">
                <a16:creationId xmlns:a16="http://schemas.microsoft.com/office/drawing/2014/main" id="{853FDE25-CFAB-0AA8-1C29-AB3548BBD5F5}"/>
              </a:ext>
            </a:extLst>
          </p:cNvPr>
          <p:cNvSpPr txBox="1"/>
          <p:nvPr/>
        </p:nvSpPr>
        <p:spPr>
          <a:xfrm>
            <a:off x="6107504" y="252789"/>
            <a:ext cx="4610081" cy="1077218"/>
          </a:xfrm>
          <a:prstGeom prst="rect">
            <a:avLst/>
          </a:prstGeom>
          <a:noFill/>
        </p:spPr>
        <p:txBody>
          <a:bodyPr wrap="square" rtlCol="0">
            <a:spAutoFit/>
          </a:bodyPr>
          <a:lstStyle/>
          <a:p>
            <a:pPr algn="ctr"/>
            <a:r>
              <a:rPr lang="en-US" sz="3200" dirty="0">
                <a:solidFill>
                  <a:schemeClr val="accent5">
                    <a:lumMod val="60000"/>
                    <a:lumOff val="40000"/>
                  </a:schemeClr>
                </a:solidFill>
              </a:rPr>
              <a:t>STATUS BOARD Variant MVP</a:t>
            </a:r>
          </a:p>
        </p:txBody>
      </p:sp>
      <p:sp>
        <p:nvSpPr>
          <p:cNvPr id="53" name="TextBox 52">
            <a:extLst>
              <a:ext uri="{FF2B5EF4-FFF2-40B4-BE49-F238E27FC236}">
                <a16:creationId xmlns:a16="http://schemas.microsoft.com/office/drawing/2014/main" id="{A9BF6E51-1ECA-7B30-EA0E-E028F6C5C751}"/>
              </a:ext>
            </a:extLst>
          </p:cNvPr>
          <p:cNvSpPr txBox="1"/>
          <p:nvPr/>
        </p:nvSpPr>
        <p:spPr>
          <a:xfrm>
            <a:off x="39778" y="47732"/>
            <a:ext cx="3312061" cy="369332"/>
          </a:xfrm>
          <a:prstGeom prst="rect">
            <a:avLst/>
          </a:prstGeom>
          <a:noFill/>
        </p:spPr>
        <p:txBody>
          <a:bodyPr wrap="none" rtlCol="0">
            <a:spAutoFit/>
          </a:bodyPr>
          <a:lstStyle/>
          <a:p>
            <a:r>
              <a:rPr lang="en-US" dirty="0">
                <a:solidFill>
                  <a:schemeClr val="accent5">
                    <a:lumMod val="60000"/>
                    <a:lumOff val="40000"/>
                  </a:schemeClr>
                </a:solidFill>
              </a:rPr>
              <a:t>SLIDE 4e – Implementation Tab.</a:t>
            </a:r>
          </a:p>
        </p:txBody>
      </p:sp>
      <p:pic>
        <p:nvPicPr>
          <p:cNvPr id="54" name="Graphic 53" descr="Play with solid fill">
            <a:extLst>
              <a:ext uri="{FF2B5EF4-FFF2-40B4-BE49-F238E27FC236}">
                <a16:creationId xmlns:a16="http://schemas.microsoft.com/office/drawing/2014/main" id="{12267CFF-D927-1791-8134-73C51C66659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979845" y="2671726"/>
            <a:ext cx="193474" cy="193474"/>
          </a:xfrm>
          <a:prstGeom prst="rect">
            <a:avLst/>
          </a:prstGeom>
        </p:spPr>
      </p:pic>
      <p:pic>
        <p:nvPicPr>
          <p:cNvPr id="59" name="Graphic 58" descr="Play with solid fill">
            <a:extLst>
              <a:ext uri="{FF2B5EF4-FFF2-40B4-BE49-F238E27FC236}">
                <a16:creationId xmlns:a16="http://schemas.microsoft.com/office/drawing/2014/main" id="{7147E012-33C4-FA6E-E50E-90ED584C741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955195" y="3096151"/>
            <a:ext cx="193474" cy="193474"/>
          </a:xfrm>
          <a:prstGeom prst="rect">
            <a:avLst/>
          </a:prstGeom>
        </p:spPr>
      </p:pic>
      <p:sp>
        <p:nvSpPr>
          <p:cNvPr id="61" name="TextBox 60">
            <a:extLst>
              <a:ext uri="{FF2B5EF4-FFF2-40B4-BE49-F238E27FC236}">
                <a16:creationId xmlns:a16="http://schemas.microsoft.com/office/drawing/2014/main" id="{B623374E-3611-F7CE-87C1-A0632A7D46D4}"/>
              </a:ext>
            </a:extLst>
          </p:cNvPr>
          <p:cNvSpPr txBox="1"/>
          <p:nvPr/>
        </p:nvSpPr>
        <p:spPr>
          <a:xfrm>
            <a:off x="4250868" y="3548989"/>
            <a:ext cx="683200" cy="261610"/>
          </a:xfrm>
          <a:prstGeom prst="rect">
            <a:avLst/>
          </a:prstGeom>
          <a:noFill/>
        </p:spPr>
        <p:txBody>
          <a:bodyPr wrap="none" rtlCol="0">
            <a:spAutoFit/>
          </a:bodyPr>
          <a:lstStyle/>
          <a:p>
            <a:r>
              <a:rPr lang="en-US" sz="1100" i="1" dirty="0">
                <a:solidFill>
                  <a:srgbClr val="FFC000"/>
                </a:solidFill>
              </a:rPr>
              <a:t>Waiting.</a:t>
            </a:r>
          </a:p>
        </p:txBody>
      </p:sp>
      <p:sp>
        <p:nvSpPr>
          <p:cNvPr id="62" name="TextBox 61">
            <a:extLst>
              <a:ext uri="{FF2B5EF4-FFF2-40B4-BE49-F238E27FC236}">
                <a16:creationId xmlns:a16="http://schemas.microsoft.com/office/drawing/2014/main" id="{08EE75CF-D5EC-49A1-00B5-E5A799F49351}"/>
              </a:ext>
            </a:extLst>
          </p:cNvPr>
          <p:cNvSpPr txBox="1"/>
          <p:nvPr/>
        </p:nvSpPr>
        <p:spPr>
          <a:xfrm>
            <a:off x="4253599" y="3080702"/>
            <a:ext cx="683200" cy="261610"/>
          </a:xfrm>
          <a:prstGeom prst="rect">
            <a:avLst/>
          </a:prstGeom>
          <a:noFill/>
        </p:spPr>
        <p:txBody>
          <a:bodyPr wrap="none" rtlCol="0">
            <a:spAutoFit/>
          </a:bodyPr>
          <a:lstStyle/>
          <a:p>
            <a:r>
              <a:rPr lang="en-US" sz="1100" i="1" dirty="0">
                <a:solidFill>
                  <a:srgbClr val="FFC000"/>
                </a:solidFill>
              </a:rPr>
              <a:t>Waiting.</a:t>
            </a:r>
          </a:p>
        </p:txBody>
      </p:sp>
      <p:sp>
        <p:nvSpPr>
          <p:cNvPr id="7" name="TextBox 6">
            <a:extLst>
              <a:ext uri="{FF2B5EF4-FFF2-40B4-BE49-F238E27FC236}">
                <a16:creationId xmlns:a16="http://schemas.microsoft.com/office/drawing/2014/main" id="{4BF074D3-84E8-6063-2DF7-92A8139FE227}"/>
              </a:ext>
            </a:extLst>
          </p:cNvPr>
          <p:cNvSpPr txBox="1"/>
          <p:nvPr/>
        </p:nvSpPr>
        <p:spPr>
          <a:xfrm>
            <a:off x="7260027" y="2637913"/>
            <a:ext cx="260008" cy="261610"/>
          </a:xfrm>
          <a:prstGeom prst="rect">
            <a:avLst/>
          </a:prstGeom>
          <a:noFill/>
        </p:spPr>
        <p:txBody>
          <a:bodyPr wrap="square" rtlCol="0">
            <a:spAutoFit/>
          </a:bodyPr>
          <a:lstStyle/>
          <a:p>
            <a:r>
              <a:rPr lang="en-US" sz="1100" dirty="0">
                <a:solidFill>
                  <a:srgbClr val="E1E1E1"/>
                </a:solidFill>
              </a:rPr>
              <a:t>4</a:t>
            </a:r>
          </a:p>
        </p:txBody>
      </p:sp>
      <p:sp>
        <p:nvSpPr>
          <p:cNvPr id="8" name="TextBox 7">
            <a:extLst>
              <a:ext uri="{FF2B5EF4-FFF2-40B4-BE49-F238E27FC236}">
                <a16:creationId xmlns:a16="http://schemas.microsoft.com/office/drawing/2014/main" id="{30FE7324-862F-676B-7B3F-00C8AE2CBFA7}"/>
              </a:ext>
            </a:extLst>
          </p:cNvPr>
          <p:cNvSpPr txBox="1"/>
          <p:nvPr/>
        </p:nvSpPr>
        <p:spPr>
          <a:xfrm>
            <a:off x="8152537" y="3076054"/>
            <a:ext cx="260008" cy="261610"/>
          </a:xfrm>
          <a:prstGeom prst="rect">
            <a:avLst/>
          </a:prstGeom>
          <a:noFill/>
        </p:spPr>
        <p:txBody>
          <a:bodyPr wrap="square" rtlCol="0">
            <a:spAutoFit/>
          </a:bodyPr>
          <a:lstStyle/>
          <a:p>
            <a:r>
              <a:rPr lang="en-US" sz="1100" dirty="0">
                <a:solidFill>
                  <a:srgbClr val="E1E1E1"/>
                </a:solidFill>
              </a:rPr>
              <a:t>1</a:t>
            </a:r>
          </a:p>
        </p:txBody>
      </p:sp>
      <p:sp>
        <p:nvSpPr>
          <p:cNvPr id="9" name="Rectangle 8">
            <a:extLst>
              <a:ext uri="{FF2B5EF4-FFF2-40B4-BE49-F238E27FC236}">
                <a16:creationId xmlns:a16="http://schemas.microsoft.com/office/drawing/2014/main" id="{674D3BD1-1DBA-2975-AE1C-98C762B0E149}"/>
              </a:ext>
            </a:extLst>
          </p:cNvPr>
          <p:cNvSpPr/>
          <p:nvPr/>
        </p:nvSpPr>
        <p:spPr>
          <a:xfrm>
            <a:off x="4034528" y="6006064"/>
            <a:ext cx="7893025" cy="741663"/>
          </a:xfrm>
          <a:prstGeom prst="rect">
            <a:avLst/>
          </a:prstGeom>
          <a:no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5">
                    <a:lumMod val="60000"/>
                    <a:lumOff val="40000"/>
                  </a:schemeClr>
                </a:solidFill>
              </a:rPr>
              <a:t>User copies and pastes each prompt in each agent's terminal window, some agents may have instructions to wait for another gent to finish, this will require user intervention to retrigger agent</a:t>
            </a:r>
          </a:p>
        </p:txBody>
      </p:sp>
      <p:cxnSp>
        <p:nvCxnSpPr>
          <p:cNvPr id="10" name="Connector: Elbow 9">
            <a:extLst>
              <a:ext uri="{FF2B5EF4-FFF2-40B4-BE49-F238E27FC236}">
                <a16:creationId xmlns:a16="http://schemas.microsoft.com/office/drawing/2014/main" id="{2A335D7E-8935-C9D3-37CC-61A571020908}"/>
              </a:ext>
            </a:extLst>
          </p:cNvPr>
          <p:cNvCxnSpPr>
            <a:cxnSpLocks/>
            <a:stCxn id="9" idx="0"/>
            <a:endCxn id="54" idx="1"/>
          </p:cNvCxnSpPr>
          <p:nvPr/>
        </p:nvCxnSpPr>
        <p:spPr>
          <a:xfrm rot="5400000" flipH="1" flipV="1">
            <a:off x="7361643" y="3387862"/>
            <a:ext cx="3237601" cy="1998804"/>
          </a:xfrm>
          <a:prstGeom prst="bentConnector2">
            <a:avLst/>
          </a:prstGeom>
          <a:ln>
            <a:tailEnd type="triangle"/>
          </a:ln>
        </p:spPr>
        <p:style>
          <a:lnRef idx="2">
            <a:schemeClr val="accent5"/>
          </a:lnRef>
          <a:fillRef idx="0">
            <a:schemeClr val="accent5"/>
          </a:fillRef>
          <a:effectRef idx="1">
            <a:schemeClr val="accent5"/>
          </a:effectRef>
          <a:fontRef idx="minor">
            <a:schemeClr val="tx1"/>
          </a:fontRef>
        </p:style>
      </p:cxnSp>
      <p:sp>
        <p:nvSpPr>
          <p:cNvPr id="11" name="TextBox 10">
            <a:extLst>
              <a:ext uri="{FF2B5EF4-FFF2-40B4-BE49-F238E27FC236}">
                <a16:creationId xmlns:a16="http://schemas.microsoft.com/office/drawing/2014/main" id="{6181E8A8-3DFC-A436-05E1-8CD92B229D87}"/>
              </a:ext>
            </a:extLst>
          </p:cNvPr>
          <p:cNvSpPr txBox="1"/>
          <p:nvPr/>
        </p:nvSpPr>
        <p:spPr>
          <a:xfrm>
            <a:off x="390687" y="6097720"/>
            <a:ext cx="3420476" cy="646331"/>
          </a:xfrm>
          <a:prstGeom prst="rect">
            <a:avLst/>
          </a:prstGeom>
          <a:solidFill>
            <a:schemeClr val="accent3">
              <a:lumMod val="75000"/>
            </a:schemeClr>
          </a:solidFill>
          <a:ln>
            <a:solidFill>
              <a:schemeClr val="accent5">
                <a:lumMod val="60000"/>
                <a:lumOff val="40000"/>
              </a:schemeClr>
            </a:solidFill>
          </a:ln>
        </p:spPr>
        <p:txBody>
          <a:bodyPr wrap="square" rtlCol="0">
            <a:spAutoFit/>
          </a:bodyPr>
          <a:lstStyle/>
          <a:p>
            <a:r>
              <a:rPr lang="en-US" dirty="0">
                <a:solidFill>
                  <a:schemeClr val="bg1"/>
                </a:solidFill>
              </a:rPr>
              <a:t>General CLI MODE</a:t>
            </a:r>
          </a:p>
          <a:p>
            <a:r>
              <a:rPr lang="en-US" dirty="0">
                <a:solidFill>
                  <a:schemeClr val="bg1"/>
                </a:solidFill>
              </a:rPr>
              <a:t>(individual terminals for agents</a:t>
            </a:r>
          </a:p>
        </p:txBody>
      </p:sp>
      <p:cxnSp>
        <p:nvCxnSpPr>
          <p:cNvPr id="36" name="Connector: Elbow 35">
            <a:extLst>
              <a:ext uri="{FF2B5EF4-FFF2-40B4-BE49-F238E27FC236}">
                <a16:creationId xmlns:a16="http://schemas.microsoft.com/office/drawing/2014/main" id="{B9215F84-812E-CE6F-B3BC-D93772148054}"/>
              </a:ext>
            </a:extLst>
          </p:cNvPr>
          <p:cNvCxnSpPr>
            <a:cxnSpLocks/>
            <a:stCxn id="9" idx="0"/>
            <a:endCxn id="59" idx="1"/>
          </p:cNvCxnSpPr>
          <p:nvPr/>
        </p:nvCxnSpPr>
        <p:spPr>
          <a:xfrm rot="5400000" flipH="1" flipV="1">
            <a:off x="7561530" y="3612399"/>
            <a:ext cx="2813176" cy="1974154"/>
          </a:xfrm>
          <a:prstGeom prst="bentConnector2">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48" name="Connector: Elbow 47">
            <a:extLst>
              <a:ext uri="{FF2B5EF4-FFF2-40B4-BE49-F238E27FC236}">
                <a16:creationId xmlns:a16="http://schemas.microsoft.com/office/drawing/2014/main" id="{74DB5721-8DEC-D561-FB8D-F80E79FEA1D7}"/>
              </a:ext>
            </a:extLst>
          </p:cNvPr>
          <p:cNvCxnSpPr>
            <a:cxnSpLocks/>
            <a:stCxn id="9" idx="0"/>
            <a:endCxn id="137" idx="1"/>
          </p:cNvCxnSpPr>
          <p:nvPr/>
        </p:nvCxnSpPr>
        <p:spPr>
          <a:xfrm rot="5400000" flipH="1" flipV="1">
            <a:off x="7808909" y="3814600"/>
            <a:ext cx="2363597" cy="2019333"/>
          </a:xfrm>
          <a:prstGeom prst="bentConnector2">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56" name="Connector: Elbow 55">
            <a:extLst>
              <a:ext uri="{FF2B5EF4-FFF2-40B4-BE49-F238E27FC236}">
                <a16:creationId xmlns:a16="http://schemas.microsoft.com/office/drawing/2014/main" id="{B3D8694D-E800-BFD0-431F-25EE207A6A40}"/>
              </a:ext>
            </a:extLst>
          </p:cNvPr>
          <p:cNvCxnSpPr>
            <a:cxnSpLocks/>
            <a:stCxn id="9" idx="0"/>
            <a:endCxn id="138" idx="1"/>
          </p:cNvCxnSpPr>
          <p:nvPr/>
        </p:nvCxnSpPr>
        <p:spPr>
          <a:xfrm rot="5400000" flipH="1" flipV="1">
            <a:off x="8039843" y="4042924"/>
            <a:ext cx="1904339" cy="2021942"/>
          </a:xfrm>
          <a:prstGeom prst="bentConnector2">
            <a:avLst/>
          </a:prstGeom>
          <a:ln>
            <a:tailEnd type="triangle"/>
          </a:ln>
        </p:spPr>
        <p:style>
          <a:lnRef idx="2">
            <a:schemeClr val="accent5"/>
          </a:lnRef>
          <a:fillRef idx="0">
            <a:schemeClr val="accent5"/>
          </a:fillRef>
          <a:effectRef idx="1">
            <a:schemeClr val="accent5"/>
          </a:effectRef>
          <a:fontRef idx="minor">
            <a:schemeClr val="tx1"/>
          </a:fontRef>
        </p:style>
      </p:cxnSp>
    </p:spTree>
    <p:extLst>
      <p:ext uri="{BB962C8B-B14F-4D97-AF65-F5344CB8AC3E}">
        <p14:creationId xmlns:p14="http://schemas.microsoft.com/office/powerpoint/2010/main" val="8043356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F20E6-DD9F-8C62-2E8F-8A5DC6A6180B}"/>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2E87DAF-C85C-2F09-8E5E-F9080728450D}"/>
              </a:ext>
            </a:extLst>
          </p:cNvPr>
          <p:cNvSpPr/>
          <p:nvPr/>
        </p:nvSpPr>
        <p:spPr>
          <a:xfrm>
            <a:off x="503403" y="1334840"/>
            <a:ext cx="2218513" cy="1071163"/>
          </a:xfrm>
          <a:prstGeom prst="roundRect">
            <a:avLst>
              <a:gd name="adj" fmla="val 15806"/>
            </a:avLst>
          </a:prstGeom>
          <a:no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EDA46358-A489-E10F-8E03-EB4CD6C14303}"/>
              </a:ext>
            </a:extLst>
          </p:cNvPr>
          <p:cNvSpPr txBox="1"/>
          <p:nvPr/>
        </p:nvSpPr>
        <p:spPr>
          <a:xfrm>
            <a:off x="516531" y="677075"/>
            <a:ext cx="2514919" cy="553998"/>
          </a:xfrm>
          <a:prstGeom prst="rect">
            <a:avLst/>
          </a:prstGeom>
          <a:noFill/>
        </p:spPr>
        <p:txBody>
          <a:bodyPr wrap="none" rtlCol="0">
            <a:spAutoFit/>
          </a:bodyPr>
          <a:lstStyle/>
          <a:p>
            <a:r>
              <a:rPr lang="en-US" dirty="0">
                <a:solidFill>
                  <a:srgbClr val="E1E1E1"/>
                </a:solidFill>
              </a:rPr>
              <a:t>Project: </a:t>
            </a:r>
            <a:r>
              <a:rPr lang="en-US" dirty="0">
                <a:solidFill>
                  <a:srgbClr val="FFC300"/>
                </a:solidFill>
              </a:rPr>
              <a:t>{</a:t>
            </a:r>
            <a:r>
              <a:rPr lang="en-US" dirty="0" err="1">
                <a:solidFill>
                  <a:srgbClr val="FFC300"/>
                </a:solidFill>
              </a:rPr>
              <a:t>project_name</a:t>
            </a:r>
            <a:r>
              <a:rPr lang="en-US" dirty="0">
                <a:solidFill>
                  <a:srgbClr val="FFC300"/>
                </a:solidFill>
              </a:rPr>
              <a:t>}</a:t>
            </a:r>
          </a:p>
          <a:p>
            <a:r>
              <a:rPr lang="en-US" sz="1200" dirty="0">
                <a:solidFill>
                  <a:srgbClr val="8F97B7"/>
                </a:solidFill>
              </a:rPr>
              <a:t>Project ID: {</a:t>
            </a:r>
            <a:r>
              <a:rPr lang="en-US" sz="1200" dirty="0" err="1">
                <a:solidFill>
                  <a:srgbClr val="8F97B7"/>
                </a:solidFill>
              </a:rPr>
              <a:t>full_UUID</a:t>
            </a:r>
            <a:r>
              <a:rPr lang="en-US" sz="1200" dirty="0">
                <a:solidFill>
                  <a:srgbClr val="8F97B7"/>
                </a:solidFill>
              </a:rPr>
              <a:t>}</a:t>
            </a:r>
          </a:p>
        </p:txBody>
      </p:sp>
      <p:sp>
        <p:nvSpPr>
          <p:cNvPr id="3" name="Rectangle: Rounded Corners 2">
            <a:extLst>
              <a:ext uri="{FF2B5EF4-FFF2-40B4-BE49-F238E27FC236}">
                <a16:creationId xmlns:a16="http://schemas.microsoft.com/office/drawing/2014/main" id="{E93B5318-8C8B-9E56-F700-44C14A7CB355}"/>
              </a:ext>
            </a:extLst>
          </p:cNvPr>
          <p:cNvSpPr/>
          <p:nvPr/>
        </p:nvSpPr>
        <p:spPr>
          <a:xfrm>
            <a:off x="1643382" y="1342292"/>
            <a:ext cx="1805578" cy="969932"/>
          </a:xfrm>
          <a:prstGeom prst="roundRect">
            <a:avLst>
              <a:gd name="adj" fmla="val 17766"/>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D3B362A-FE3B-51BF-01B3-8CC87D24DFA7}"/>
              </a:ext>
            </a:extLst>
          </p:cNvPr>
          <p:cNvSpPr txBox="1"/>
          <p:nvPr/>
        </p:nvSpPr>
        <p:spPr>
          <a:xfrm>
            <a:off x="682981" y="1327205"/>
            <a:ext cx="929678" cy="369332"/>
          </a:xfrm>
          <a:prstGeom prst="rect">
            <a:avLst/>
          </a:prstGeom>
          <a:noFill/>
        </p:spPr>
        <p:txBody>
          <a:bodyPr wrap="none" rtlCol="0">
            <a:spAutoFit/>
          </a:bodyPr>
          <a:lstStyle/>
          <a:p>
            <a:r>
              <a:rPr lang="en-US" dirty="0">
                <a:solidFill>
                  <a:srgbClr val="1E3147"/>
                </a:solidFill>
              </a:rPr>
              <a:t>Launch</a:t>
            </a:r>
          </a:p>
        </p:txBody>
      </p:sp>
      <p:sp>
        <p:nvSpPr>
          <p:cNvPr id="6" name="Rectangle: Rounded Corners 5">
            <a:extLst>
              <a:ext uri="{FF2B5EF4-FFF2-40B4-BE49-F238E27FC236}">
                <a16:creationId xmlns:a16="http://schemas.microsoft.com/office/drawing/2014/main" id="{F6B8ADCE-6621-CF2E-5FA2-5A8FCD3650BB}"/>
              </a:ext>
            </a:extLst>
          </p:cNvPr>
          <p:cNvSpPr/>
          <p:nvPr/>
        </p:nvSpPr>
        <p:spPr>
          <a:xfrm>
            <a:off x="503403" y="1668256"/>
            <a:ext cx="11185191" cy="3476117"/>
          </a:xfrm>
          <a:prstGeom prst="roundRect">
            <a:avLst>
              <a:gd name="adj" fmla="val 5962"/>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DAAF1B65-5242-E089-D479-FE64E66E8048}"/>
              </a:ext>
            </a:extLst>
          </p:cNvPr>
          <p:cNvSpPr/>
          <p:nvPr/>
        </p:nvSpPr>
        <p:spPr>
          <a:xfrm>
            <a:off x="1654808" y="1622562"/>
            <a:ext cx="1787171" cy="287650"/>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F27A5242-16EC-61F2-D8C5-7DC375C7E62F}"/>
              </a:ext>
            </a:extLst>
          </p:cNvPr>
          <p:cNvSpPr/>
          <p:nvPr/>
        </p:nvSpPr>
        <p:spPr>
          <a:xfrm>
            <a:off x="758606" y="2617315"/>
            <a:ext cx="293929" cy="306770"/>
          </a:xfrm>
          <a:prstGeom prst="ellipse">
            <a:avLst/>
          </a:prstGeom>
          <a:solidFill>
            <a:srgbClr val="A9866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D2CE98E8-6889-70BD-5750-5071CBD761B0}"/>
              </a:ext>
            </a:extLst>
          </p:cNvPr>
          <p:cNvSpPr txBox="1"/>
          <p:nvPr/>
        </p:nvSpPr>
        <p:spPr>
          <a:xfrm>
            <a:off x="1899316" y="1330953"/>
            <a:ext cx="1444177" cy="369332"/>
          </a:xfrm>
          <a:prstGeom prst="rect">
            <a:avLst/>
          </a:prstGeom>
          <a:noFill/>
        </p:spPr>
        <p:txBody>
          <a:bodyPr wrap="square" rtlCol="0">
            <a:spAutoFit/>
          </a:bodyPr>
          <a:lstStyle/>
          <a:p>
            <a:r>
              <a:rPr lang="en-US" dirty="0">
                <a:solidFill>
                  <a:srgbClr val="8F97B7"/>
                </a:solidFill>
              </a:rPr>
              <a:t>Implement</a:t>
            </a:r>
          </a:p>
        </p:txBody>
      </p:sp>
      <p:sp>
        <p:nvSpPr>
          <p:cNvPr id="24" name="TextBox 23">
            <a:extLst>
              <a:ext uri="{FF2B5EF4-FFF2-40B4-BE49-F238E27FC236}">
                <a16:creationId xmlns:a16="http://schemas.microsoft.com/office/drawing/2014/main" id="{8DA97CAF-7D5E-5959-1891-4786ACC9755A}"/>
              </a:ext>
            </a:extLst>
          </p:cNvPr>
          <p:cNvSpPr txBox="1"/>
          <p:nvPr/>
        </p:nvSpPr>
        <p:spPr>
          <a:xfrm>
            <a:off x="738137" y="2624295"/>
            <a:ext cx="460382" cy="282316"/>
          </a:xfrm>
          <a:prstGeom prst="rect">
            <a:avLst/>
          </a:prstGeom>
          <a:noFill/>
        </p:spPr>
        <p:txBody>
          <a:bodyPr wrap="square" rtlCol="0">
            <a:spAutoFit/>
          </a:bodyPr>
          <a:lstStyle/>
          <a:p>
            <a:r>
              <a:rPr lang="en-US" sz="1200" b="1" dirty="0">
                <a:solidFill>
                  <a:srgbClr val="0E1C2D"/>
                </a:solidFill>
              </a:rPr>
              <a:t>Or</a:t>
            </a:r>
          </a:p>
        </p:txBody>
      </p:sp>
      <p:sp>
        <p:nvSpPr>
          <p:cNvPr id="27" name="TextBox 26">
            <a:extLst>
              <a:ext uri="{FF2B5EF4-FFF2-40B4-BE49-F238E27FC236}">
                <a16:creationId xmlns:a16="http://schemas.microsoft.com/office/drawing/2014/main" id="{A308D296-F522-9C42-C06C-425042A4BF9D}"/>
              </a:ext>
            </a:extLst>
          </p:cNvPr>
          <p:cNvSpPr txBox="1"/>
          <p:nvPr/>
        </p:nvSpPr>
        <p:spPr>
          <a:xfrm>
            <a:off x="1184559" y="2638386"/>
            <a:ext cx="965329" cy="261610"/>
          </a:xfrm>
          <a:prstGeom prst="rect">
            <a:avLst/>
          </a:prstGeom>
          <a:noFill/>
        </p:spPr>
        <p:txBody>
          <a:bodyPr wrap="none" rtlCol="0">
            <a:spAutoFit/>
          </a:bodyPr>
          <a:lstStyle/>
          <a:p>
            <a:r>
              <a:rPr lang="en-US" sz="1100" dirty="0">
                <a:solidFill>
                  <a:srgbClr val="E1E1E1"/>
                </a:solidFill>
              </a:rPr>
              <a:t>Orchestrator</a:t>
            </a:r>
          </a:p>
        </p:txBody>
      </p:sp>
      <p:pic>
        <p:nvPicPr>
          <p:cNvPr id="29" name="Graphic 28" descr="Information with solid fill">
            <a:extLst>
              <a:ext uri="{FF2B5EF4-FFF2-40B4-BE49-F238E27FC236}">
                <a16:creationId xmlns:a16="http://schemas.microsoft.com/office/drawing/2014/main" id="{49808583-762A-9DE8-6210-647F1F4C9E7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3975" y="2661152"/>
            <a:ext cx="193473" cy="193473"/>
          </a:xfrm>
          <a:prstGeom prst="rect">
            <a:avLst/>
          </a:prstGeom>
        </p:spPr>
      </p:pic>
      <p:sp>
        <p:nvSpPr>
          <p:cNvPr id="16" name="TextBox 15">
            <a:extLst>
              <a:ext uri="{FF2B5EF4-FFF2-40B4-BE49-F238E27FC236}">
                <a16:creationId xmlns:a16="http://schemas.microsoft.com/office/drawing/2014/main" id="{BF1C7C4B-67F3-C89A-00A8-47A8A040B6BF}"/>
              </a:ext>
            </a:extLst>
          </p:cNvPr>
          <p:cNvSpPr txBox="1"/>
          <p:nvPr/>
        </p:nvSpPr>
        <p:spPr>
          <a:xfrm>
            <a:off x="1226477" y="3087372"/>
            <a:ext cx="705642" cy="261610"/>
          </a:xfrm>
          <a:prstGeom prst="rect">
            <a:avLst/>
          </a:prstGeom>
          <a:noFill/>
        </p:spPr>
        <p:txBody>
          <a:bodyPr wrap="none" rtlCol="0">
            <a:spAutoFit/>
          </a:bodyPr>
          <a:lstStyle>
            <a:defPPr>
              <a:defRPr lang="en-US"/>
            </a:defPPr>
            <a:lvl1pPr>
              <a:defRPr sz="1100">
                <a:solidFill>
                  <a:srgbClr val="E1E1E1"/>
                </a:solidFill>
              </a:defRPr>
            </a:lvl1pPr>
          </a:lstStyle>
          <a:p>
            <a:r>
              <a:rPr lang="en-US" dirty="0"/>
              <a:t>Analyzer</a:t>
            </a:r>
          </a:p>
        </p:txBody>
      </p:sp>
      <p:cxnSp>
        <p:nvCxnSpPr>
          <p:cNvPr id="75" name="Straight Connector 74">
            <a:extLst>
              <a:ext uri="{FF2B5EF4-FFF2-40B4-BE49-F238E27FC236}">
                <a16:creationId xmlns:a16="http://schemas.microsoft.com/office/drawing/2014/main" id="{75D33FBA-D2BE-6C09-2D4F-425DEAB6433A}"/>
              </a:ext>
            </a:extLst>
          </p:cNvPr>
          <p:cNvCxnSpPr>
            <a:cxnSpLocks/>
          </p:cNvCxnSpPr>
          <p:nvPr/>
        </p:nvCxnSpPr>
        <p:spPr>
          <a:xfrm>
            <a:off x="652293" y="2505875"/>
            <a:ext cx="10203544" cy="6404"/>
          </a:xfrm>
          <a:prstGeom prst="line">
            <a:avLst/>
          </a:prstGeom>
          <a:ln>
            <a:solidFill>
              <a:srgbClr val="1E3147"/>
            </a:solidFill>
          </a:ln>
        </p:spPr>
        <p:style>
          <a:lnRef idx="2">
            <a:schemeClr val="accent1"/>
          </a:lnRef>
          <a:fillRef idx="0">
            <a:schemeClr val="accent1"/>
          </a:fillRef>
          <a:effectRef idx="1">
            <a:schemeClr val="accent1"/>
          </a:effectRef>
          <a:fontRef idx="minor">
            <a:schemeClr val="tx1"/>
          </a:fontRef>
        </p:style>
      </p:cxnSp>
      <p:sp>
        <p:nvSpPr>
          <p:cNvPr id="77" name="TextBox 76">
            <a:extLst>
              <a:ext uri="{FF2B5EF4-FFF2-40B4-BE49-F238E27FC236}">
                <a16:creationId xmlns:a16="http://schemas.microsoft.com/office/drawing/2014/main" id="{D364B51C-A15F-25A9-5C92-1445952CA686}"/>
              </a:ext>
            </a:extLst>
          </p:cNvPr>
          <p:cNvSpPr txBox="1"/>
          <p:nvPr/>
        </p:nvSpPr>
        <p:spPr>
          <a:xfrm>
            <a:off x="1274326" y="2217384"/>
            <a:ext cx="785793" cy="246221"/>
          </a:xfrm>
          <a:prstGeom prst="rect">
            <a:avLst/>
          </a:prstGeom>
          <a:noFill/>
        </p:spPr>
        <p:txBody>
          <a:bodyPr wrap="none" rtlCol="0">
            <a:spAutoFit/>
          </a:bodyPr>
          <a:lstStyle/>
          <a:p>
            <a:pPr algn="ctr"/>
            <a:r>
              <a:rPr lang="en-US" sz="1000" dirty="0">
                <a:solidFill>
                  <a:srgbClr val="E1E1E1"/>
                </a:solidFill>
              </a:rPr>
              <a:t>Agent Type</a:t>
            </a:r>
          </a:p>
        </p:txBody>
      </p:sp>
      <p:sp>
        <p:nvSpPr>
          <p:cNvPr id="78" name="TextBox 77">
            <a:extLst>
              <a:ext uri="{FF2B5EF4-FFF2-40B4-BE49-F238E27FC236}">
                <a16:creationId xmlns:a16="http://schemas.microsoft.com/office/drawing/2014/main" id="{E72A49A6-478A-B821-8735-7C458830F9F4}"/>
              </a:ext>
            </a:extLst>
          </p:cNvPr>
          <p:cNvSpPr txBox="1"/>
          <p:nvPr/>
        </p:nvSpPr>
        <p:spPr>
          <a:xfrm>
            <a:off x="662149" y="1838089"/>
            <a:ext cx="1202573" cy="246221"/>
          </a:xfrm>
          <a:prstGeom prst="rect">
            <a:avLst/>
          </a:prstGeom>
          <a:noFill/>
        </p:spPr>
        <p:txBody>
          <a:bodyPr wrap="none" rtlCol="0">
            <a:spAutoFit/>
          </a:bodyPr>
          <a:lstStyle/>
          <a:p>
            <a:r>
              <a:rPr lang="en-US" sz="1000" dirty="0">
                <a:solidFill>
                  <a:srgbClr val="E1E1E1"/>
                </a:solidFill>
              </a:rPr>
              <a:t>Claude Subagents</a:t>
            </a:r>
          </a:p>
        </p:txBody>
      </p:sp>
      <p:sp>
        <p:nvSpPr>
          <p:cNvPr id="80" name="Rectangle: Rounded Corners 79">
            <a:extLst>
              <a:ext uri="{FF2B5EF4-FFF2-40B4-BE49-F238E27FC236}">
                <a16:creationId xmlns:a16="http://schemas.microsoft.com/office/drawing/2014/main" id="{64800D65-1259-92EA-1773-399965AC401C}"/>
              </a:ext>
            </a:extLst>
          </p:cNvPr>
          <p:cNvSpPr/>
          <p:nvPr/>
        </p:nvSpPr>
        <p:spPr>
          <a:xfrm>
            <a:off x="1813390" y="1884175"/>
            <a:ext cx="336498" cy="182696"/>
          </a:xfrm>
          <a:prstGeom prst="roundRect">
            <a:avLst>
              <a:gd name="adj" fmla="val 50000"/>
            </a:avLst>
          </a:prstGeom>
          <a:solidFill>
            <a:srgbClr val="0E1C2D"/>
          </a:solid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a:extLst>
              <a:ext uri="{FF2B5EF4-FFF2-40B4-BE49-F238E27FC236}">
                <a16:creationId xmlns:a16="http://schemas.microsoft.com/office/drawing/2014/main" id="{47FF98A8-8EEC-E808-15A8-AC5829C96DB9}"/>
              </a:ext>
            </a:extLst>
          </p:cNvPr>
          <p:cNvSpPr/>
          <p:nvPr/>
        </p:nvSpPr>
        <p:spPr>
          <a:xfrm>
            <a:off x="758606" y="3066408"/>
            <a:ext cx="293929" cy="306770"/>
          </a:xfrm>
          <a:prstGeom prst="ellipse">
            <a:avLst/>
          </a:prstGeom>
          <a:solidFill>
            <a:srgbClr val="A32A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0A1F33DF-57CB-3E69-7909-EDEC75933486}"/>
              </a:ext>
            </a:extLst>
          </p:cNvPr>
          <p:cNvSpPr/>
          <p:nvPr/>
        </p:nvSpPr>
        <p:spPr>
          <a:xfrm>
            <a:off x="758606" y="3513494"/>
            <a:ext cx="293929" cy="306770"/>
          </a:xfrm>
          <a:prstGeom prst="ellipse">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3AABD560-A6FE-EDF6-E445-46F53F239935}"/>
              </a:ext>
            </a:extLst>
          </p:cNvPr>
          <p:cNvSpPr/>
          <p:nvPr/>
        </p:nvSpPr>
        <p:spPr>
          <a:xfrm>
            <a:off x="758606" y="3970226"/>
            <a:ext cx="293929" cy="306770"/>
          </a:xfrm>
          <a:prstGeom prst="ellipse">
            <a:avLst/>
          </a:prstGeom>
          <a:solidFill>
            <a:srgbClr val="FFC3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TextBox 88">
            <a:extLst>
              <a:ext uri="{FF2B5EF4-FFF2-40B4-BE49-F238E27FC236}">
                <a16:creationId xmlns:a16="http://schemas.microsoft.com/office/drawing/2014/main" id="{15C8FC87-F0F4-2C73-64E5-7025539BFAF5}"/>
              </a:ext>
            </a:extLst>
          </p:cNvPr>
          <p:cNvSpPr txBox="1"/>
          <p:nvPr/>
        </p:nvSpPr>
        <p:spPr>
          <a:xfrm>
            <a:off x="1226477" y="3532367"/>
            <a:ext cx="970137" cy="261610"/>
          </a:xfrm>
          <a:prstGeom prst="rect">
            <a:avLst/>
          </a:prstGeom>
          <a:noFill/>
        </p:spPr>
        <p:txBody>
          <a:bodyPr wrap="none" rtlCol="0">
            <a:spAutoFit/>
          </a:bodyPr>
          <a:lstStyle>
            <a:defPPr>
              <a:defRPr lang="en-US"/>
            </a:defPPr>
            <a:lvl1pPr>
              <a:defRPr sz="1100">
                <a:solidFill>
                  <a:srgbClr val="E1E1E1"/>
                </a:solidFill>
              </a:defRPr>
            </a:lvl1pPr>
          </a:lstStyle>
          <a:p>
            <a:r>
              <a:rPr lang="en-US" dirty="0"/>
              <a:t>Implementor</a:t>
            </a:r>
          </a:p>
        </p:txBody>
      </p:sp>
      <p:sp>
        <p:nvSpPr>
          <p:cNvPr id="90" name="TextBox 89">
            <a:extLst>
              <a:ext uri="{FF2B5EF4-FFF2-40B4-BE49-F238E27FC236}">
                <a16:creationId xmlns:a16="http://schemas.microsoft.com/office/drawing/2014/main" id="{62554293-49E1-B09E-76CE-DFD7849F9CBC}"/>
              </a:ext>
            </a:extLst>
          </p:cNvPr>
          <p:cNvSpPr txBox="1"/>
          <p:nvPr/>
        </p:nvSpPr>
        <p:spPr>
          <a:xfrm>
            <a:off x="1245503" y="3998201"/>
            <a:ext cx="559769" cy="261610"/>
          </a:xfrm>
          <a:prstGeom prst="rect">
            <a:avLst/>
          </a:prstGeom>
          <a:noFill/>
        </p:spPr>
        <p:txBody>
          <a:bodyPr wrap="none" rtlCol="0">
            <a:spAutoFit/>
          </a:bodyPr>
          <a:lstStyle>
            <a:defPPr>
              <a:defRPr lang="en-US"/>
            </a:defPPr>
            <a:lvl1pPr>
              <a:defRPr sz="1100">
                <a:solidFill>
                  <a:srgbClr val="E1E1E1"/>
                </a:solidFill>
              </a:defRPr>
            </a:lvl1pPr>
          </a:lstStyle>
          <a:p>
            <a:r>
              <a:rPr lang="en-US" dirty="0"/>
              <a:t>Tester</a:t>
            </a:r>
          </a:p>
        </p:txBody>
      </p:sp>
      <p:sp>
        <p:nvSpPr>
          <p:cNvPr id="91" name="TextBox 90">
            <a:extLst>
              <a:ext uri="{FF2B5EF4-FFF2-40B4-BE49-F238E27FC236}">
                <a16:creationId xmlns:a16="http://schemas.microsoft.com/office/drawing/2014/main" id="{2370F757-1244-2861-12AB-1B32E684B3CE}"/>
              </a:ext>
            </a:extLst>
          </p:cNvPr>
          <p:cNvSpPr txBox="1"/>
          <p:nvPr/>
        </p:nvSpPr>
        <p:spPr>
          <a:xfrm>
            <a:off x="4260936" y="2611055"/>
            <a:ext cx="724878" cy="261610"/>
          </a:xfrm>
          <a:prstGeom prst="rect">
            <a:avLst/>
          </a:prstGeom>
          <a:noFill/>
        </p:spPr>
        <p:txBody>
          <a:bodyPr wrap="none" rtlCol="0">
            <a:spAutoFit/>
          </a:bodyPr>
          <a:lstStyle/>
          <a:p>
            <a:r>
              <a:rPr lang="en-US" sz="1100" i="1" dirty="0">
                <a:solidFill>
                  <a:srgbClr val="FFC000"/>
                </a:solidFill>
              </a:rPr>
              <a:t>Working.</a:t>
            </a:r>
          </a:p>
        </p:txBody>
      </p:sp>
      <p:pic>
        <p:nvPicPr>
          <p:cNvPr id="93" name="Graphic 92" descr="Information with solid fill">
            <a:extLst>
              <a:ext uri="{FF2B5EF4-FFF2-40B4-BE49-F238E27FC236}">
                <a16:creationId xmlns:a16="http://schemas.microsoft.com/office/drawing/2014/main" id="{0ADBE015-7966-B1C0-6DA7-F3647444E5A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2365" y="3102069"/>
            <a:ext cx="193473" cy="193473"/>
          </a:xfrm>
          <a:prstGeom prst="rect">
            <a:avLst/>
          </a:prstGeom>
        </p:spPr>
      </p:pic>
      <p:pic>
        <p:nvPicPr>
          <p:cNvPr id="94" name="Graphic 93" descr="Information with solid fill">
            <a:extLst>
              <a:ext uri="{FF2B5EF4-FFF2-40B4-BE49-F238E27FC236}">
                <a16:creationId xmlns:a16="http://schemas.microsoft.com/office/drawing/2014/main" id="{AA794519-D323-34F2-6E8F-79BEECE75D2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2365" y="3553624"/>
            <a:ext cx="193473" cy="193473"/>
          </a:xfrm>
          <a:prstGeom prst="rect">
            <a:avLst/>
          </a:prstGeom>
        </p:spPr>
      </p:pic>
      <p:pic>
        <p:nvPicPr>
          <p:cNvPr id="95" name="Graphic 94" descr="Information with solid fill">
            <a:extLst>
              <a:ext uri="{FF2B5EF4-FFF2-40B4-BE49-F238E27FC236}">
                <a16:creationId xmlns:a16="http://schemas.microsoft.com/office/drawing/2014/main" id="{B1F1390F-756A-35B8-BC03-B28792B0F63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2364" y="4014063"/>
            <a:ext cx="193473" cy="193473"/>
          </a:xfrm>
          <a:prstGeom prst="rect">
            <a:avLst/>
          </a:prstGeom>
        </p:spPr>
      </p:pic>
      <p:sp>
        <p:nvSpPr>
          <p:cNvPr id="96" name="TextBox 95">
            <a:extLst>
              <a:ext uri="{FF2B5EF4-FFF2-40B4-BE49-F238E27FC236}">
                <a16:creationId xmlns:a16="http://schemas.microsoft.com/office/drawing/2014/main" id="{C94A98F1-6A04-9717-4A8B-5738BD403CF3}"/>
              </a:ext>
            </a:extLst>
          </p:cNvPr>
          <p:cNvSpPr txBox="1"/>
          <p:nvPr/>
        </p:nvSpPr>
        <p:spPr>
          <a:xfrm>
            <a:off x="729726" y="3076054"/>
            <a:ext cx="460382" cy="282316"/>
          </a:xfrm>
          <a:prstGeom prst="rect">
            <a:avLst/>
          </a:prstGeom>
          <a:noFill/>
        </p:spPr>
        <p:txBody>
          <a:bodyPr wrap="square" rtlCol="0">
            <a:spAutoFit/>
          </a:bodyPr>
          <a:lstStyle/>
          <a:p>
            <a:r>
              <a:rPr lang="en-US" sz="1200" b="1" dirty="0">
                <a:solidFill>
                  <a:srgbClr val="0E1C2D"/>
                </a:solidFill>
              </a:rPr>
              <a:t>An</a:t>
            </a:r>
          </a:p>
        </p:txBody>
      </p:sp>
      <p:sp>
        <p:nvSpPr>
          <p:cNvPr id="97" name="TextBox 96">
            <a:extLst>
              <a:ext uri="{FF2B5EF4-FFF2-40B4-BE49-F238E27FC236}">
                <a16:creationId xmlns:a16="http://schemas.microsoft.com/office/drawing/2014/main" id="{EB963908-1CE2-07D4-07EE-E0A69F88637C}"/>
              </a:ext>
            </a:extLst>
          </p:cNvPr>
          <p:cNvSpPr txBox="1"/>
          <p:nvPr/>
        </p:nvSpPr>
        <p:spPr>
          <a:xfrm>
            <a:off x="736070" y="3523140"/>
            <a:ext cx="460382" cy="282316"/>
          </a:xfrm>
          <a:prstGeom prst="rect">
            <a:avLst/>
          </a:prstGeom>
          <a:noFill/>
        </p:spPr>
        <p:txBody>
          <a:bodyPr wrap="square" rtlCol="0">
            <a:spAutoFit/>
          </a:bodyPr>
          <a:lstStyle/>
          <a:p>
            <a:r>
              <a:rPr lang="en-US" sz="1200" b="1" dirty="0" err="1">
                <a:solidFill>
                  <a:srgbClr val="0E1C2D"/>
                </a:solidFill>
              </a:rPr>
              <a:t>Im</a:t>
            </a:r>
            <a:endParaRPr lang="en-US" sz="1200" b="1" dirty="0">
              <a:solidFill>
                <a:srgbClr val="0E1C2D"/>
              </a:solidFill>
            </a:endParaRPr>
          </a:p>
        </p:txBody>
      </p:sp>
      <p:sp>
        <p:nvSpPr>
          <p:cNvPr id="98" name="TextBox 97">
            <a:extLst>
              <a:ext uri="{FF2B5EF4-FFF2-40B4-BE49-F238E27FC236}">
                <a16:creationId xmlns:a16="http://schemas.microsoft.com/office/drawing/2014/main" id="{B403F52B-4F8E-408C-B7A7-CD40399ECB89}"/>
              </a:ext>
            </a:extLst>
          </p:cNvPr>
          <p:cNvSpPr txBox="1"/>
          <p:nvPr/>
        </p:nvSpPr>
        <p:spPr>
          <a:xfrm>
            <a:off x="736070" y="3989707"/>
            <a:ext cx="460382" cy="282316"/>
          </a:xfrm>
          <a:prstGeom prst="rect">
            <a:avLst/>
          </a:prstGeom>
          <a:noFill/>
        </p:spPr>
        <p:txBody>
          <a:bodyPr wrap="square" rtlCol="0">
            <a:spAutoFit/>
          </a:bodyPr>
          <a:lstStyle/>
          <a:p>
            <a:r>
              <a:rPr lang="en-US" sz="1200" b="1" dirty="0" err="1">
                <a:solidFill>
                  <a:srgbClr val="0E1C2D"/>
                </a:solidFill>
              </a:rPr>
              <a:t>Te</a:t>
            </a:r>
            <a:endParaRPr lang="en-US" sz="1200" b="1" dirty="0">
              <a:solidFill>
                <a:srgbClr val="0E1C2D"/>
              </a:solidFill>
            </a:endParaRPr>
          </a:p>
        </p:txBody>
      </p:sp>
      <p:sp>
        <p:nvSpPr>
          <p:cNvPr id="99" name="TextBox 98">
            <a:extLst>
              <a:ext uri="{FF2B5EF4-FFF2-40B4-BE49-F238E27FC236}">
                <a16:creationId xmlns:a16="http://schemas.microsoft.com/office/drawing/2014/main" id="{47C0407F-683F-CD0A-54E7-D3DEBB27C953}"/>
              </a:ext>
            </a:extLst>
          </p:cNvPr>
          <p:cNvSpPr txBox="1"/>
          <p:nvPr/>
        </p:nvSpPr>
        <p:spPr>
          <a:xfrm>
            <a:off x="4193614" y="2214394"/>
            <a:ext cx="886781" cy="246221"/>
          </a:xfrm>
          <a:prstGeom prst="rect">
            <a:avLst/>
          </a:prstGeom>
          <a:noFill/>
        </p:spPr>
        <p:txBody>
          <a:bodyPr wrap="none" rtlCol="0">
            <a:spAutoFit/>
          </a:bodyPr>
          <a:lstStyle/>
          <a:p>
            <a:pPr algn="ctr"/>
            <a:r>
              <a:rPr lang="en-US" sz="1000" dirty="0">
                <a:solidFill>
                  <a:srgbClr val="E1E1E1"/>
                </a:solidFill>
              </a:rPr>
              <a:t>Agent Status</a:t>
            </a:r>
          </a:p>
        </p:txBody>
      </p:sp>
      <p:sp>
        <p:nvSpPr>
          <p:cNvPr id="100" name="TextBox 99">
            <a:extLst>
              <a:ext uri="{FF2B5EF4-FFF2-40B4-BE49-F238E27FC236}">
                <a16:creationId xmlns:a16="http://schemas.microsoft.com/office/drawing/2014/main" id="{15F1A1D0-719B-A421-26AF-0C994198ECA9}"/>
              </a:ext>
            </a:extLst>
          </p:cNvPr>
          <p:cNvSpPr txBox="1"/>
          <p:nvPr/>
        </p:nvSpPr>
        <p:spPr>
          <a:xfrm>
            <a:off x="7929117" y="2092323"/>
            <a:ext cx="772505" cy="400110"/>
          </a:xfrm>
          <a:prstGeom prst="rect">
            <a:avLst/>
          </a:prstGeom>
          <a:noFill/>
        </p:spPr>
        <p:txBody>
          <a:bodyPr wrap="square" rtlCol="0">
            <a:spAutoFit/>
          </a:bodyPr>
          <a:lstStyle/>
          <a:p>
            <a:pPr algn="ctr"/>
            <a:r>
              <a:rPr lang="en-US" sz="1000" dirty="0">
                <a:solidFill>
                  <a:srgbClr val="E1E1E1"/>
                </a:solidFill>
              </a:rPr>
              <a:t>Messages waiting</a:t>
            </a:r>
          </a:p>
        </p:txBody>
      </p:sp>
      <p:sp>
        <p:nvSpPr>
          <p:cNvPr id="114" name="TextBox 113">
            <a:extLst>
              <a:ext uri="{FF2B5EF4-FFF2-40B4-BE49-F238E27FC236}">
                <a16:creationId xmlns:a16="http://schemas.microsoft.com/office/drawing/2014/main" id="{3E1F2447-1FE1-AEC6-15C4-8A281F43D9A5}"/>
              </a:ext>
            </a:extLst>
          </p:cNvPr>
          <p:cNvSpPr txBox="1"/>
          <p:nvPr/>
        </p:nvSpPr>
        <p:spPr>
          <a:xfrm>
            <a:off x="7041082" y="2099303"/>
            <a:ext cx="772505" cy="400110"/>
          </a:xfrm>
          <a:prstGeom prst="rect">
            <a:avLst/>
          </a:prstGeom>
          <a:noFill/>
        </p:spPr>
        <p:txBody>
          <a:bodyPr wrap="square" rtlCol="0">
            <a:spAutoFit/>
          </a:bodyPr>
          <a:lstStyle/>
          <a:p>
            <a:pPr algn="ctr"/>
            <a:r>
              <a:rPr lang="en-US" sz="1000" dirty="0">
                <a:solidFill>
                  <a:srgbClr val="E1E1E1"/>
                </a:solidFill>
              </a:rPr>
              <a:t>Messages</a:t>
            </a:r>
          </a:p>
          <a:p>
            <a:pPr algn="ctr"/>
            <a:r>
              <a:rPr lang="en-US" sz="1000" dirty="0">
                <a:solidFill>
                  <a:srgbClr val="E1E1E1"/>
                </a:solidFill>
              </a:rPr>
              <a:t>Sent</a:t>
            </a:r>
          </a:p>
        </p:txBody>
      </p:sp>
      <p:sp>
        <p:nvSpPr>
          <p:cNvPr id="115" name="TextBox 114">
            <a:extLst>
              <a:ext uri="{FF2B5EF4-FFF2-40B4-BE49-F238E27FC236}">
                <a16:creationId xmlns:a16="http://schemas.microsoft.com/office/drawing/2014/main" id="{5D59E66D-76C9-F0D9-C474-9A4580C61F5C}"/>
              </a:ext>
            </a:extLst>
          </p:cNvPr>
          <p:cNvSpPr txBox="1"/>
          <p:nvPr/>
        </p:nvSpPr>
        <p:spPr>
          <a:xfrm>
            <a:off x="8932682" y="2112169"/>
            <a:ext cx="751053" cy="400110"/>
          </a:xfrm>
          <a:prstGeom prst="rect">
            <a:avLst/>
          </a:prstGeom>
          <a:noFill/>
        </p:spPr>
        <p:txBody>
          <a:bodyPr wrap="square" rtlCol="0">
            <a:spAutoFit/>
          </a:bodyPr>
          <a:lstStyle/>
          <a:p>
            <a:pPr algn="ctr"/>
            <a:r>
              <a:rPr lang="en-US" sz="1000" dirty="0">
                <a:solidFill>
                  <a:srgbClr val="E1E1E1"/>
                </a:solidFill>
              </a:rPr>
              <a:t>Messages Read</a:t>
            </a:r>
          </a:p>
        </p:txBody>
      </p:sp>
      <p:pic>
        <p:nvPicPr>
          <p:cNvPr id="117" name="Graphic 116" descr="Chat with solid fill">
            <a:extLst>
              <a:ext uri="{FF2B5EF4-FFF2-40B4-BE49-F238E27FC236}">
                <a16:creationId xmlns:a16="http://schemas.microsoft.com/office/drawing/2014/main" id="{5D810ACA-3E64-A0E3-51B1-2C8E93E4A62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305301" y="2637658"/>
            <a:ext cx="261610" cy="261610"/>
          </a:xfrm>
          <a:prstGeom prst="rect">
            <a:avLst/>
          </a:prstGeom>
        </p:spPr>
      </p:pic>
      <p:pic>
        <p:nvPicPr>
          <p:cNvPr id="118" name="Graphic 117" descr="Chat with solid fill">
            <a:extLst>
              <a:ext uri="{FF2B5EF4-FFF2-40B4-BE49-F238E27FC236}">
                <a16:creationId xmlns:a16="http://schemas.microsoft.com/office/drawing/2014/main" id="{441AF340-55AA-27EA-E633-0C1DD2EF4CF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297189" y="3068000"/>
            <a:ext cx="261610" cy="261610"/>
          </a:xfrm>
          <a:prstGeom prst="rect">
            <a:avLst/>
          </a:prstGeom>
        </p:spPr>
      </p:pic>
      <p:pic>
        <p:nvPicPr>
          <p:cNvPr id="119" name="Graphic 118" descr="Chat with solid fill">
            <a:extLst>
              <a:ext uri="{FF2B5EF4-FFF2-40B4-BE49-F238E27FC236}">
                <a16:creationId xmlns:a16="http://schemas.microsoft.com/office/drawing/2014/main" id="{FD185C9E-BC20-49CB-0A08-018419A5735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297189" y="3527404"/>
            <a:ext cx="261610" cy="261610"/>
          </a:xfrm>
          <a:prstGeom prst="rect">
            <a:avLst/>
          </a:prstGeom>
        </p:spPr>
      </p:pic>
      <p:pic>
        <p:nvPicPr>
          <p:cNvPr id="120" name="Graphic 119" descr="Chat with solid fill">
            <a:extLst>
              <a:ext uri="{FF2B5EF4-FFF2-40B4-BE49-F238E27FC236}">
                <a16:creationId xmlns:a16="http://schemas.microsoft.com/office/drawing/2014/main" id="{714C905C-2F76-FA06-419B-26AFAB4C54D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310562" y="3991625"/>
            <a:ext cx="261610" cy="261610"/>
          </a:xfrm>
          <a:prstGeom prst="rect">
            <a:avLst/>
          </a:prstGeom>
        </p:spPr>
      </p:pic>
      <p:sp>
        <p:nvSpPr>
          <p:cNvPr id="139" name="TextBox 138">
            <a:extLst>
              <a:ext uri="{FF2B5EF4-FFF2-40B4-BE49-F238E27FC236}">
                <a16:creationId xmlns:a16="http://schemas.microsoft.com/office/drawing/2014/main" id="{9F79D772-F672-FE85-E8BB-1115DF0C5BB3}"/>
              </a:ext>
            </a:extLst>
          </p:cNvPr>
          <p:cNvSpPr txBox="1"/>
          <p:nvPr/>
        </p:nvSpPr>
        <p:spPr>
          <a:xfrm>
            <a:off x="7282334" y="2637658"/>
            <a:ext cx="260008" cy="261610"/>
          </a:xfrm>
          <a:prstGeom prst="rect">
            <a:avLst/>
          </a:prstGeom>
          <a:noFill/>
        </p:spPr>
        <p:txBody>
          <a:bodyPr wrap="square" rtlCol="0">
            <a:spAutoFit/>
          </a:bodyPr>
          <a:lstStyle/>
          <a:p>
            <a:r>
              <a:rPr lang="en-US" sz="1100" dirty="0">
                <a:solidFill>
                  <a:srgbClr val="E1E1E1"/>
                </a:solidFill>
              </a:rPr>
              <a:t>5</a:t>
            </a:r>
          </a:p>
        </p:txBody>
      </p:sp>
      <p:sp>
        <p:nvSpPr>
          <p:cNvPr id="13" name="TextBox 12">
            <a:extLst>
              <a:ext uri="{FF2B5EF4-FFF2-40B4-BE49-F238E27FC236}">
                <a16:creationId xmlns:a16="http://schemas.microsoft.com/office/drawing/2014/main" id="{B9E2F14F-4866-E11B-FA51-39A644B9B166}"/>
              </a:ext>
            </a:extLst>
          </p:cNvPr>
          <p:cNvSpPr txBox="1"/>
          <p:nvPr/>
        </p:nvSpPr>
        <p:spPr>
          <a:xfrm>
            <a:off x="8155156" y="3033932"/>
            <a:ext cx="260008" cy="261610"/>
          </a:xfrm>
          <a:prstGeom prst="rect">
            <a:avLst/>
          </a:prstGeom>
          <a:noFill/>
        </p:spPr>
        <p:txBody>
          <a:bodyPr wrap="square" rtlCol="0">
            <a:spAutoFit/>
          </a:bodyPr>
          <a:lstStyle/>
          <a:p>
            <a:r>
              <a:rPr lang="en-US" sz="1100" dirty="0">
                <a:solidFill>
                  <a:srgbClr val="E1E1E1"/>
                </a:solidFill>
              </a:rPr>
              <a:t>1</a:t>
            </a:r>
          </a:p>
        </p:txBody>
      </p:sp>
      <p:sp>
        <p:nvSpPr>
          <p:cNvPr id="19" name="TextBox 18">
            <a:extLst>
              <a:ext uri="{FF2B5EF4-FFF2-40B4-BE49-F238E27FC236}">
                <a16:creationId xmlns:a16="http://schemas.microsoft.com/office/drawing/2014/main" id="{B64F14F3-8042-073A-0412-E1250647E65D}"/>
              </a:ext>
            </a:extLst>
          </p:cNvPr>
          <p:cNvSpPr txBox="1"/>
          <p:nvPr/>
        </p:nvSpPr>
        <p:spPr>
          <a:xfrm>
            <a:off x="8155156" y="3980155"/>
            <a:ext cx="260008" cy="261610"/>
          </a:xfrm>
          <a:prstGeom prst="rect">
            <a:avLst/>
          </a:prstGeom>
          <a:noFill/>
        </p:spPr>
        <p:txBody>
          <a:bodyPr wrap="square" rtlCol="0">
            <a:spAutoFit/>
          </a:bodyPr>
          <a:lstStyle/>
          <a:p>
            <a:r>
              <a:rPr lang="en-US" sz="1100" dirty="0">
                <a:solidFill>
                  <a:srgbClr val="E1E1E1"/>
                </a:solidFill>
              </a:rPr>
              <a:t>1</a:t>
            </a:r>
          </a:p>
        </p:txBody>
      </p:sp>
      <p:sp>
        <p:nvSpPr>
          <p:cNvPr id="20" name="TextBox 19">
            <a:extLst>
              <a:ext uri="{FF2B5EF4-FFF2-40B4-BE49-F238E27FC236}">
                <a16:creationId xmlns:a16="http://schemas.microsoft.com/office/drawing/2014/main" id="{682885FB-CCD7-E6EA-A06B-6E9D2F10C813}"/>
              </a:ext>
            </a:extLst>
          </p:cNvPr>
          <p:cNvSpPr txBox="1"/>
          <p:nvPr/>
        </p:nvSpPr>
        <p:spPr>
          <a:xfrm>
            <a:off x="8155156" y="3496213"/>
            <a:ext cx="260008" cy="261610"/>
          </a:xfrm>
          <a:prstGeom prst="rect">
            <a:avLst/>
          </a:prstGeom>
          <a:noFill/>
        </p:spPr>
        <p:txBody>
          <a:bodyPr wrap="square" rtlCol="0">
            <a:spAutoFit/>
          </a:bodyPr>
          <a:lstStyle/>
          <a:p>
            <a:r>
              <a:rPr lang="en-US" sz="1100" dirty="0">
                <a:solidFill>
                  <a:srgbClr val="E1E1E1"/>
                </a:solidFill>
              </a:rPr>
              <a:t>1</a:t>
            </a:r>
          </a:p>
        </p:txBody>
      </p:sp>
      <p:sp>
        <p:nvSpPr>
          <p:cNvPr id="23" name="TextBox 22">
            <a:extLst>
              <a:ext uri="{FF2B5EF4-FFF2-40B4-BE49-F238E27FC236}">
                <a16:creationId xmlns:a16="http://schemas.microsoft.com/office/drawing/2014/main" id="{1ACCDC86-82A4-91EE-9C91-1EC8270BA606}"/>
              </a:ext>
            </a:extLst>
          </p:cNvPr>
          <p:cNvSpPr txBox="1"/>
          <p:nvPr/>
        </p:nvSpPr>
        <p:spPr>
          <a:xfrm>
            <a:off x="2947872" y="2209718"/>
            <a:ext cx="649537" cy="246221"/>
          </a:xfrm>
          <a:prstGeom prst="rect">
            <a:avLst/>
          </a:prstGeom>
          <a:noFill/>
        </p:spPr>
        <p:txBody>
          <a:bodyPr wrap="none" rtlCol="0">
            <a:spAutoFit/>
          </a:bodyPr>
          <a:lstStyle/>
          <a:p>
            <a:pPr algn="ctr"/>
            <a:r>
              <a:rPr lang="en-US" sz="1000" dirty="0">
                <a:solidFill>
                  <a:srgbClr val="E1E1E1"/>
                </a:solidFill>
              </a:rPr>
              <a:t>Agent ID</a:t>
            </a:r>
          </a:p>
        </p:txBody>
      </p:sp>
      <p:sp>
        <p:nvSpPr>
          <p:cNvPr id="28" name="TextBox 27">
            <a:extLst>
              <a:ext uri="{FF2B5EF4-FFF2-40B4-BE49-F238E27FC236}">
                <a16:creationId xmlns:a16="http://schemas.microsoft.com/office/drawing/2014/main" id="{3A9F82BC-AE5E-EFB1-0D61-D27A6950B881}"/>
              </a:ext>
            </a:extLst>
          </p:cNvPr>
          <p:cNvSpPr txBox="1"/>
          <p:nvPr/>
        </p:nvSpPr>
        <p:spPr>
          <a:xfrm>
            <a:off x="2647311" y="2620646"/>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0" name="TextBox 29">
            <a:extLst>
              <a:ext uri="{FF2B5EF4-FFF2-40B4-BE49-F238E27FC236}">
                <a16:creationId xmlns:a16="http://schemas.microsoft.com/office/drawing/2014/main" id="{C680B195-B1EB-A7DA-ACF1-E67203FCE89A}"/>
              </a:ext>
            </a:extLst>
          </p:cNvPr>
          <p:cNvSpPr txBox="1"/>
          <p:nvPr/>
        </p:nvSpPr>
        <p:spPr>
          <a:xfrm>
            <a:off x="2647311" y="3086580"/>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1" name="TextBox 30">
            <a:extLst>
              <a:ext uri="{FF2B5EF4-FFF2-40B4-BE49-F238E27FC236}">
                <a16:creationId xmlns:a16="http://schemas.microsoft.com/office/drawing/2014/main" id="{70724BC0-E831-D9DE-59E9-B4B7C9C5986A}"/>
              </a:ext>
            </a:extLst>
          </p:cNvPr>
          <p:cNvSpPr txBox="1"/>
          <p:nvPr/>
        </p:nvSpPr>
        <p:spPr>
          <a:xfrm>
            <a:off x="2647311" y="3545730"/>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2" name="TextBox 31">
            <a:extLst>
              <a:ext uri="{FF2B5EF4-FFF2-40B4-BE49-F238E27FC236}">
                <a16:creationId xmlns:a16="http://schemas.microsoft.com/office/drawing/2014/main" id="{21A52386-B051-84F9-AEC2-4A702D244FB7}"/>
              </a:ext>
            </a:extLst>
          </p:cNvPr>
          <p:cNvSpPr txBox="1"/>
          <p:nvPr/>
        </p:nvSpPr>
        <p:spPr>
          <a:xfrm>
            <a:off x="2636441" y="4004880"/>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3" name="TextBox 32">
            <a:extLst>
              <a:ext uri="{FF2B5EF4-FFF2-40B4-BE49-F238E27FC236}">
                <a16:creationId xmlns:a16="http://schemas.microsoft.com/office/drawing/2014/main" id="{72EA2710-284B-E944-4FA4-1999E7B6D655}"/>
              </a:ext>
            </a:extLst>
          </p:cNvPr>
          <p:cNvSpPr txBox="1"/>
          <p:nvPr/>
        </p:nvSpPr>
        <p:spPr>
          <a:xfrm>
            <a:off x="5445208" y="2092323"/>
            <a:ext cx="772505" cy="400110"/>
          </a:xfrm>
          <a:prstGeom prst="rect">
            <a:avLst/>
          </a:prstGeom>
          <a:noFill/>
        </p:spPr>
        <p:txBody>
          <a:bodyPr wrap="square" rtlCol="0">
            <a:spAutoFit/>
          </a:bodyPr>
          <a:lstStyle/>
          <a:p>
            <a:pPr algn="ctr"/>
            <a:r>
              <a:rPr lang="en-US" sz="1000" dirty="0">
                <a:solidFill>
                  <a:srgbClr val="E1E1E1"/>
                </a:solidFill>
              </a:rPr>
              <a:t>Job </a:t>
            </a:r>
          </a:p>
          <a:p>
            <a:pPr algn="ctr"/>
            <a:r>
              <a:rPr lang="en-US" sz="1000" dirty="0">
                <a:solidFill>
                  <a:srgbClr val="E1E1E1"/>
                </a:solidFill>
              </a:rPr>
              <a:t>Read</a:t>
            </a:r>
          </a:p>
        </p:txBody>
      </p:sp>
      <p:sp>
        <p:nvSpPr>
          <p:cNvPr id="34" name="TextBox 33">
            <a:extLst>
              <a:ext uri="{FF2B5EF4-FFF2-40B4-BE49-F238E27FC236}">
                <a16:creationId xmlns:a16="http://schemas.microsoft.com/office/drawing/2014/main" id="{B44FF253-31D2-C793-C5DB-084A9986DE1E}"/>
              </a:ext>
            </a:extLst>
          </p:cNvPr>
          <p:cNvSpPr txBox="1"/>
          <p:nvPr/>
        </p:nvSpPr>
        <p:spPr>
          <a:xfrm>
            <a:off x="6129630" y="2105765"/>
            <a:ext cx="1037054" cy="400110"/>
          </a:xfrm>
          <a:prstGeom prst="rect">
            <a:avLst/>
          </a:prstGeom>
          <a:noFill/>
        </p:spPr>
        <p:txBody>
          <a:bodyPr wrap="square" rtlCol="0">
            <a:spAutoFit/>
          </a:bodyPr>
          <a:lstStyle/>
          <a:p>
            <a:pPr algn="ctr"/>
            <a:r>
              <a:rPr lang="en-US" sz="1000" dirty="0">
                <a:solidFill>
                  <a:srgbClr val="E1E1E1"/>
                </a:solidFill>
              </a:rPr>
              <a:t>Job Acknowledged</a:t>
            </a:r>
          </a:p>
        </p:txBody>
      </p:sp>
      <p:pic>
        <p:nvPicPr>
          <p:cNvPr id="36" name="Graphic 35" descr="Badge Tick1 with solid fill">
            <a:extLst>
              <a:ext uri="{FF2B5EF4-FFF2-40B4-BE49-F238E27FC236}">
                <a16:creationId xmlns:a16="http://schemas.microsoft.com/office/drawing/2014/main" id="{BF2DAC07-9D65-533E-2F32-8A481AC263D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720452" y="2644852"/>
            <a:ext cx="222015" cy="222015"/>
          </a:xfrm>
          <a:prstGeom prst="rect">
            <a:avLst/>
          </a:prstGeom>
        </p:spPr>
      </p:pic>
      <p:pic>
        <p:nvPicPr>
          <p:cNvPr id="37" name="Graphic 36" descr="Badge Tick1 with solid fill">
            <a:extLst>
              <a:ext uri="{FF2B5EF4-FFF2-40B4-BE49-F238E27FC236}">
                <a16:creationId xmlns:a16="http://schemas.microsoft.com/office/drawing/2014/main" id="{F722AE4B-8A6A-362F-3F82-3CDF9D50EC8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554184" y="2644851"/>
            <a:ext cx="222015" cy="222015"/>
          </a:xfrm>
          <a:prstGeom prst="rect">
            <a:avLst/>
          </a:prstGeom>
        </p:spPr>
      </p:pic>
      <p:cxnSp>
        <p:nvCxnSpPr>
          <p:cNvPr id="41" name="Straight Connector 40">
            <a:extLst>
              <a:ext uri="{FF2B5EF4-FFF2-40B4-BE49-F238E27FC236}">
                <a16:creationId xmlns:a16="http://schemas.microsoft.com/office/drawing/2014/main" id="{27C1E171-8A49-D41D-7989-5153C02C4497}"/>
              </a:ext>
            </a:extLst>
          </p:cNvPr>
          <p:cNvCxnSpPr>
            <a:cxnSpLocks/>
          </p:cNvCxnSpPr>
          <p:nvPr/>
        </p:nvCxnSpPr>
        <p:spPr>
          <a:xfrm>
            <a:off x="11391357" y="2585825"/>
            <a:ext cx="0" cy="2327883"/>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61DC1326-483B-3F8A-1D28-06D8FD8ED379}"/>
              </a:ext>
            </a:extLst>
          </p:cNvPr>
          <p:cNvCxnSpPr>
            <a:cxnSpLocks/>
          </p:cNvCxnSpPr>
          <p:nvPr/>
        </p:nvCxnSpPr>
        <p:spPr>
          <a:xfrm>
            <a:off x="11391357" y="2585825"/>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C807DAE8-5DD6-3BAA-383A-E82059B3DDE4}"/>
              </a:ext>
            </a:extLst>
          </p:cNvPr>
          <p:cNvCxnSpPr>
            <a:cxnSpLocks/>
          </p:cNvCxnSpPr>
          <p:nvPr/>
        </p:nvCxnSpPr>
        <p:spPr>
          <a:xfrm>
            <a:off x="11391357" y="2625072"/>
            <a:ext cx="0" cy="2327883"/>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123D4329-8403-5748-DB87-8C576EDC9546}"/>
              </a:ext>
            </a:extLst>
          </p:cNvPr>
          <p:cNvCxnSpPr>
            <a:cxnSpLocks/>
          </p:cNvCxnSpPr>
          <p:nvPr/>
        </p:nvCxnSpPr>
        <p:spPr>
          <a:xfrm>
            <a:off x="11391357" y="2625072"/>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sp>
        <p:nvSpPr>
          <p:cNvPr id="45" name="Rectangle: Rounded Corners 44">
            <a:extLst>
              <a:ext uri="{FF2B5EF4-FFF2-40B4-BE49-F238E27FC236}">
                <a16:creationId xmlns:a16="http://schemas.microsoft.com/office/drawing/2014/main" id="{AE174F5B-EB9A-7977-20C0-3CEF8ECCD2F5}"/>
              </a:ext>
            </a:extLst>
          </p:cNvPr>
          <p:cNvSpPr/>
          <p:nvPr/>
        </p:nvSpPr>
        <p:spPr>
          <a:xfrm>
            <a:off x="3031449" y="5377380"/>
            <a:ext cx="5904873" cy="421811"/>
          </a:xfrm>
          <a:prstGeom prst="roundRect">
            <a:avLst>
              <a:gd name="adj" fmla="val 27474"/>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a:t>
            </a:r>
          </a:p>
        </p:txBody>
      </p:sp>
      <p:sp>
        <p:nvSpPr>
          <p:cNvPr id="46" name="Rectangle: Rounded Corners 45">
            <a:extLst>
              <a:ext uri="{FF2B5EF4-FFF2-40B4-BE49-F238E27FC236}">
                <a16:creationId xmlns:a16="http://schemas.microsoft.com/office/drawing/2014/main" id="{07B7AE87-FB21-97E5-BCE6-00CEFAE0797C}"/>
              </a:ext>
            </a:extLst>
          </p:cNvPr>
          <p:cNvSpPr/>
          <p:nvPr/>
        </p:nvSpPr>
        <p:spPr>
          <a:xfrm>
            <a:off x="522553" y="5375748"/>
            <a:ext cx="1132255" cy="421811"/>
          </a:xfrm>
          <a:prstGeom prst="roundRect">
            <a:avLst>
              <a:gd name="adj" fmla="val 27474"/>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1E3147"/>
                </a:solidFill>
              </a:rPr>
              <a:t>Message Orchestrator</a:t>
            </a:r>
          </a:p>
        </p:txBody>
      </p:sp>
      <p:sp>
        <p:nvSpPr>
          <p:cNvPr id="47" name="Rectangle: Rounded Corners 46">
            <a:extLst>
              <a:ext uri="{FF2B5EF4-FFF2-40B4-BE49-F238E27FC236}">
                <a16:creationId xmlns:a16="http://schemas.microsoft.com/office/drawing/2014/main" id="{4CC4F46D-1C2E-971B-F0F4-3CDB74856091}"/>
              </a:ext>
            </a:extLst>
          </p:cNvPr>
          <p:cNvSpPr/>
          <p:nvPr/>
        </p:nvSpPr>
        <p:spPr>
          <a:xfrm>
            <a:off x="1753756" y="5378268"/>
            <a:ext cx="1178745" cy="421811"/>
          </a:xfrm>
          <a:prstGeom prst="roundRect">
            <a:avLst>
              <a:gd name="adj" fmla="val 27474"/>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1E1E1"/>
                </a:solidFill>
              </a:rPr>
              <a:t>Broadcast</a:t>
            </a:r>
          </a:p>
        </p:txBody>
      </p:sp>
      <p:sp>
        <p:nvSpPr>
          <p:cNvPr id="50" name="Oval 49">
            <a:extLst>
              <a:ext uri="{FF2B5EF4-FFF2-40B4-BE49-F238E27FC236}">
                <a16:creationId xmlns:a16="http://schemas.microsoft.com/office/drawing/2014/main" id="{FE1DDA57-E76C-76CD-E347-9840C8BA8818}"/>
              </a:ext>
            </a:extLst>
          </p:cNvPr>
          <p:cNvSpPr/>
          <p:nvPr/>
        </p:nvSpPr>
        <p:spPr>
          <a:xfrm>
            <a:off x="8997072" y="5441706"/>
            <a:ext cx="293929" cy="306770"/>
          </a:xfrm>
          <a:prstGeom prst="ellipse">
            <a:avLst/>
          </a:prstGeom>
          <a:solidFill>
            <a:srgbClr val="FFC3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 name="Graphic 48" descr="Play with solid fill">
            <a:extLst>
              <a:ext uri="{FF2B5EF4-FFF2-40B4-BE49-F238E27FC236}">
                <a16:creationId xmlns:a16="http://schemas.microsoft.com/office/drawing/2014/main" id="{7BEBCBAD-D6A3-61BA-9083-382B1323EF4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073173" y="5507713"/>
            <a:ext cx="174755" cy="174755"/>
          </a:xfrm>
          <a:prstGeom prst="rect">
            <a:avLst/>
          </a:prstGeom>
        </p:spPr>
      </p:pic>
      <p:sp>
        <p:nvSpPr>
          <p:cNvPr id="53" name="TextBox 52">
            <a:extLst>
              <a:ext uri="{FF2B5EF4-FFF2-40B4-BE49-F238E27FC236}">
                <a16:creationId xmlns:a16="http://schemas.microsoft.com/office/drawing/2014/main" id="{2466D690-EECB-339A-5144-49B7B193E332}"/>
              </a:ext>
            </a:extLst>
          </p:cNvPr>
          <p:cNvSpPr txBox="1"/>
          <p:nvPr/>
        </p:nvSpPr>
        <p:spPr>
          <a:xfrm>
            <a:off x="39778" y="47732"/>
            <a:ext cx="4245714" cy="369332"/>
          </a:xfrm>
          <a:prstGeom prst="rect">
            <a:avLst/>
          </a:prstGeom>
          <a:noFill/>
        </p:spPr>
        <p:txBody>
          <a:bodyPr wrap="none" rtlCol="0">
            <a:spAutoFit/>
          </a:bodyPr>
          <a:lstStyle/>
          <a:p>
            <a:r>
              <a:rPr lang="en-US" dirty="0">
                <a:solidFill>
                  <a:schemeClr val="accent5">
                    <a:lumMod val="60000"/>
                    <a:lumOff val="40000"/>
                  </a:schemeClr>
                </a:solidFill>
              </a:rPr>
              <a:t>SLIDE 4f – Implementation Tab. Elements</a:t>
            </a:r>
          </a:p>
        </p:txBody>
      </p:sp>
      <p:sp>
        <p:nvSpPr>
          <p:cNvPr id="51" name="TextBox 50">
            <a:extLst>
              <a:ext uri="{FF2B5EF4-FFF2-40B4-BE49-F238E27FC236}">
                <a16:creationId xmlns:a16="http://schemas.microsoft.com/office/drawing/2014/main" id="{0DA13EB7-B6B5-F567-84AB-CA9B03AABA7D}"/>
              </a:ext>
            </a:extLst>
          </p:cNvPr>
          <p:cNvSpPr txBox="1"/>
          <p:nvPr/>
        </p:nvSpPr>
        <p:spPr>
          <a:xfrm>
            <a:off x="4273058" y="261592"/>
            <a:ext cx="3183013" cy="1200329"/>
          </a:xfrm>
          <a:prstGeom prst="rect">
            <a:avLst/>
          </a:prstGeom>
          <a:noFill/>
          <a:ln>
            <a:solidFill>
              <a:schemeClr val="accent5">
                <a:lumMod val="60000"/>
                <a:lumOff val="40000"/>
              </a:schemeClr>
            </a:solidFill>
          </a:ln>
        </p:spPr>
        <p:txBody>
          <a:bodyPr wrap="square" rtlCol="0">
            <a:spAutoFit/>
          </a:bodyPr>
          <a:lstStyle/>
          <a:p>
            <a:r>
              <a:rPr lang="en-US" dirty="0">
                <a:solidFill>
                  <a:schemeClr val="accent5">
                    <a:lumMod val="60000"/>
                    <a:lumOff val="40000"/>
                  </a:schemeClr>
                </a:solidFill>
              </a:rPr>
              <a:t>All agents start working, </a:t>
            </a:r>
            <a:r>
              <a:rPr lang="en-US" dirty="0">
                <a:solidFill>
                  <a:srgbClr val="FFC000"/>
                </a:solidFill>
              </a:rPr>
              <a:t>Note!! </a:t>
            </a:r>
            <a:r>
              <a:rPr lang="en-US" dirty="0">
                <a:solidFill>
                  <a:schemeClr val="accent5">
                    <a:lumMod val="60000"/>
                    <a:lumOff val="40000"/>
                  </a:schemeClr>
                </a:solidFill>
              </a:rPr>
              <a:t>Needs new agent reporting status modes, does not exist in code</a:t>
            </a:r>
          </a:p>
        </p:txBody>
      </p:sp>
      <p:cxnSp>
        <p:nvCxnSpPr>
          <p:cNvPr id="55" name="Straight Arrow Connector 54">
            <a:extLst>
              <a:ext uri="{FF2B5EF4-FFF2-40B4-BE49-F238E27FC236}">
                <a16:creationId xmlns:a16="http://schemas.microsoft.com/office/drawing/2014/main" id="{E6B405D7-AA01-D4B2-6FE7-1A4D120D7177}"/>
              </a:ext>
            </a:extLst>
          </p:cNvPr>
          <p:cNvCxnSpPr>
            <a:cxnSpLocks/>
          </p:cNvCxnSpPr>
          <p:nvPr/>
        </p:nvCxnSpPr>
        <p:spPr>
          <a:xfrm>
            <a:off x="4944137" y="1433441"/>
            <a:ext cx="688846" cy="1227711"/>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57" name="Straight Arrow Connector 56">
            <a:extLst>
              <a:ext uri="{FF2B5EF4-FFF2-40B4-BE49-F238E27FC236}">
                <a16:creationId xmlns:a16="http://schemas.microsoft.com/office/drawing/2014/main" id="{2A2FF789-280A-4B9D-BD89-E41B879133C5}"/>
              </a:ext>
            </a:extLst>
          </p:cNvPr>
          <p:cNvCxnSpPr>
            <a:cxnSpLocks/>
          </p:cNvCxnSpPr>
          <p:nvPr/>
        </p:nvCxnSpPr>
        <p:spPr>
          <a:xfrm>
            <a:off x="5954646" y="1446883"/>
            <a:ext cx="481055" cy="770501"/>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10" name="TextBox 9">
            <a:extLst>
              <a:ext uri="{FF2B5EF4-FFF2-40B4-BE49-F238E27FC236}">
                <a16:creationId xmlns:a16="http://schemas.microsoft.com/office/drawing/2014/main" id="{8D8F8970-E6EC-E711-8B40-EE53D444A3C7}"/>
              </a:ext>
            </a:extLst>
          </p:cNvPr>
          <p:cNvSpPr txBox="1"/>
          <p:nvPr/>
        </p:nvSpPr>
        <p:spPr>
          <a:xfrm>
            <a:off x="9159175" y="2588302"/>
            <a:ext cx="260008" cy="261610"/>
          </a:xfrm>
          <a:prstGeom prst="rect">
            <a:avLst/>
          </a:prstGeom>
          <a:noFill/>
        </p:spPr>
        <p:txBody>
          <a:bodyPr wrap="square" rtlCol="0">
            <a:spAutoFit/>
          </a:bodyPr>
          <a:lstStyle/>
          <a:p>
            <a:r>
              <a:rPr lang="en-US" sz="1100" dirty="0">
                <a:solidFill>
                  <a:srgbClr val="E1E1E1"/>
                </a:solidFill>
              </a:rPr>
              <a:t>1</a:t>
            </a:r>
          </a:p>
        </p:txBody>
      </p:sp>
      <p:sp>
        <p:nvSpPr>
          <p:cNvPr id="11" name="TextBox 10">
            <a:extLst>
              <a:ext uri="{FF2B5EF4-FFF2-40B4-BE49-F238E27FC236}">
                <a16:creationId xmlns:a16="http://schemas.microsoft.com/office/drawing/2014/main" id="{55108E9D-A6DF-A11D-B2CE-FB641F6904F4}"/>
              </a:ext>
            </a:extLst>
          </p:cNvPr>
          <p:cNvSpPr txBox="1"/>
          <p:nvPr/>
        </p:nvSpPr>
        <p:spPr>
          <a:xfrm>
            <a:off x="9530752" y="5538079"/>
            <a:ext cx="2248418" cy="646331"/>
          </a:xfrm>
          <a:prstGeom prst="rect">
            <a:avLst/>
          </a:prstGeom>
          <a:noFill/>
          <a:ln>
            <a:solidFill>
              <a:schemeClr val="accent5">
                <a:lumMod val="60000"/>
                <a:lumOff val="40000"/>
              </a:schemeClr>
            </a:solidFill>
          </a:ln>
        </p:spPr>
        <p:txBody>
          <a:bodyPr wrap="square" rtlCol="0">
            <a:spAutoFit/>
          </a:bodyPr>
          <a:lstStyle/>
          <a:p>
            <a:r>
              <a:rPr lang="en-US" dirty="0">
                <a:solidFill>
                  <a:schemeClr val="accent5">
                    <a:lumMod val="60000"/>
                    <a:lumOff val="40000"/>
                  </a:schemeClr>
                </a:solidFill>
              </a:rPr>
              <a:t>Orchestrator read its mission message</a:t>
            </a:r>
          </a:p>
        </p:txBody>
      </p:sp>
      <p:cxnSp>
        <p:nvCxnSpPr>
          <p:cNvPr id="22" name="Straight Arrow Connector 21">
            <a:extLst>
              <a:ext uri="{FF2B5EF4-FFF2-40B4-BE49-F238E27FC236}">
                <a16:creationId xmlns:a16="http://schemas.microsoft.com/office/drawing/2014/main" id="{E69A6C49-6FFA-DA32-7CAF-AECEB5E717F6}"/>
              </a:ext>
            </a:extLst>
          </p:cNvPr>
          <p:cNvCxnSpPr>
            <a:cxnSpLocks/>
            <a:stCxn id="11" idx="0"/>
            <a:endCxn id="10" idx="3"/>
          </p:cNvCxnSpPr>
          <p:nvPr/>
        </p:nvCxnSpPr>
        <p:spPr>
          <a:xfrm flipH="1" flipV="1">
            <a:off x="9419183" y="2719107"/>
            <a:ext cx="1235778" cy="2818972"/>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pic>
        <p:nvPicPr>
          <p:cNvPr id="113" name="Graphic 112" descr="Repeat outline">
            <a:extLst>
              <a:ext uri="{FF2B5EF4-FFF2-40B4-BE49-F238E27FC236}">
                <a16:creationId xmlns:a16="http://schemas.microsoft.com/office/drawing/2014/main" id="{F26045EC-EB95-BCFD-CD43-32510F1B407B}"/>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946626" y="2668570"/>
            <a:ext cx="261611" cy="261611"/>
          </a:xfrm>
          <a:prstGeom prst="rect">
            <a:avLst/>
          </a:prstGeom>
        </p:spPr>
      </p:pic>
      <p:sp>
        <p:nvSpPr>
          <p:cNvPr id="7" name="Oval 6">
            <a:extLst>
              <a:ext uri="{FF2B5EF4-FFF2-40B4-BE49-F238E27FC236}">
                <a16:creationId xmlns:a16="http://schemas.microsoft.com/office/drawing/2014/main" id="{1366E1C5-47A1-6FDE-4142-7FE5D466473D}"/>
              </a:ext>
            </a:extLst>
          </p:cNvPr>
          <p:cNvSpPr/>
          <p:nvPr/>
        </p:nvSpPr>
        <p:spPr>
          <a:xfrm>
            <a:off x="1815090" y="1876161"/>
            <a:ext cx="174503" cy="184050"/>
          </a:xfrm>
          <a:prstGeom prst="ellipse">
            <a:avLst/>
          </a:prstGeom>
          <a:solidFill>
            <a:srgbClr val="1E31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6279D418-517A-4930-108E-65452875428D}"/>
              </a:ext>
            </a:extLst>
          </p:cNvPr>
          <p:cNvSpPr txBox="1"/>
          <p:nvPr/>
        </p:nvSpPr>
        <p:spPr>
          <a:xfrm>
            <a:off x="4236415" y="3126938"/>
            <a:ext cx="724878" cy="261610"/>
          </a:xfrm>
          <a:prstGeom prst="rect">
            <a:avLst/>
          </a:prstGeom>
          <a:noFill/>
        </p:spPr>
        <p:txBody>
          <a:bodyPr wrap="none" rtlCol="0">
            <a:spAutoFit/>
          </a:bodyPr>
          <a:lstStyle/>
          <a:p>
            <a:r>
              <a:rPr lang="en-US" sz="1100" i="1" dirty="0">
                <a:solidFill>
                  <a:srgbClr val="FFC000"/>
                </a:solidFill>
              </a:rPr>
              <a:t>Working.</a:t>
            </a:r>
          </a:p>
        </p:txBody>
      </p:sp>
      <p:sp>
        <p:nvSpPr>
          <p:cNvPr id="9" name="TextBox 8">
            <a:extLst>
              <a:ext uri="{FF2B5EF4-FFF2-40B4-BE49-F238E27FC236}">
                <a16:creationId xmlns:a16="http://schemas.microsoft.com/office/drawing/2014/main" id="{0B23514E-D6FB-0F03-ADFF-E2E0C23ECDBA}"/>
              </a:ext>
            </a:extLst>
          </p:cNvPr>
          <p:cNvSpPr txBox="1"/>
          <p:nvPr/>
        </p:nvSpPr>
        <p:spPr>
          <a:xfrm>
            <a:off x="4236415" y="3545730"/>
            <a:ext cx="724878" cy="261610"/>
          </a:xfrm>
          <a:prstGeom prst="rect">
            <a:avLst/>
          </a:prstGeom>
          <a:noFill/>
        </p:spPr>
        <p:txBody>
          <a:bodyPr wrap="none" rtlCol="0">
            <a:spAutoFit/>
          </a:bodyPr>
          <a:lstStyle/>
          <a:p>
            <a:r>
              <a:rPr lang="en-US" sz="1100" i="1" dirty="0">
                <a:solidFill>
                  <a:srgbClr val="FFC000"/>
                </a:solidFill>
              </a:rPr>
              <a:t>Working.</a:t>
            </a:r>
          </a:p>
        </p:txBody>
      </p:sp>
      <p:sp>
        <p:nvSpPr>
          <p:cNvPr id="12" name="TextBox 11">
            <a:extLst>
              <a:ext uri="{FF2B5EF4-FFF2-40B4-BE49-F238E27FC236}">
                <a16:creationId xmlns:a16="http://schemas.microsoft.com/office/drawing/2014/main" id="{DEBABD2A-2A9E-DF31-4C3D-22C457233BD8}"/>
              </a:ext>
            </a:extLst>
          </p:cNvPr>
          <p:cNvSpPr txBox="1"/>
          <p:nvPr/>
        </p:nvSpPr>
        <p:spPr>
          <a:xfrm>
            <a:off x="4238598" y="3991625"/>
            <a:ext cx="724878" cy="261610"/>
          </a:xfrm>
          <a:prstGeom prst="rect">
            <a:avLst/>
          </a:prstGeom>
          <a:noFill/>
        </p:spPr>
        <p:txBody>
          <a:bodyPr wrap="none" rtlCol="0">
            <a:spAutoFit/>
          </a:bodyPr>
          <a:lstStyle/>
          <a:p>
            <a:r>
              <a:rPr lang="en-US" sz="1100" i="1" dirty="0">
                <a:solidFill>
                  <a:srgbClr val="FFC000"/>
                </a:solidFill>
              </a:rPr>
              <a:t>Working.</a:t>
            </a:r>
          </a:p>
        </p:txBody>
      </p:sp>
      <p:sp>
        <p:nvSpPr>
          <p:cNvPr id="14" name="TextBox 13">
            <a:extLst>
              <a:ext uri="{FF2B5EF4-FFF2-40B4-BE49-F238E27FC236}">
                <a16:creationId xmlns:a16="http://schemas.microsoft.com/office/drawing/2014/main" id="{602FC396-C828-F33B-4257-A050665BBA2F}"/>
              </a:ext>
            </a:extLst>
          </p:cNvPr>
          <p:cNvSpPr txBox="1"/>
          <p:nvPr/>
        </p:nvSpPr>
        <p:spPr>
          <a:xfrm>
            <a:off x="9150764" y="3089171"/>
            <a:ext cx="260008" cy="261610"/>
          </a:xfrm>
          <a:prstGeom prst="rect">
            <a:avLst/>
          </a:prstGeom>
          <a:noFill/>
        </p:spPr>
        <p:txBody>
          <a:bodyPr wrap="square" rtlCol="0">
            <a:spAutoFit/>
          </a:bodyPr>
          <a:lstStyle/>
          <a:p>
            <a:r>
              <a:rPr lang="en-US" sz="1100" dirty="0">
                <a:solidFill>
                  <a:srgbClr val="E1E1E1"/>
                </a:solidFill>
              </a:rPr>
              <a:t>1</a:t>
            </a:r>
          </a:p>
        </p:txBody>
      </p:sp>
      <p:sp>
        <p:nvSpPr>
          <p:cNvPr id="15" name="TextBox 14">
            <a:extLst>
              <a:ext uri="{FF2B5EF4-FFF2-40B4-BE49-F238E27FC236}">
                <a16:creationId xmlns:a16="http://schemas.microsoft.com/office/drawing/2014/main" id="{ABA23C50-4C1E-FEA5-9F04-C1B03BE4090E}"/>
              </a:ext>
            </a:extLst>
          </p:cNvPr>
          <p:cNvSpPr txBox="1"/>
          <p:nvPr/>
        </p:nvSpPr>
        <p:spPr>
          <a:xfrm>
            <a:off x="9144036" y="3527404"/>
            <a:ext cx="260008" cy="261610"/>
          </a:xfrm>
          <a:prstGeom prst="rect">
            <a:avLst/>
          </a:prstGeom>
          <a:noFill/>
        </p:spPr>
        <p:txBody>
          <a:bodyPr wrap="square" rtlCol="0">
            <a:spAutoFit/>
          </a:bodyPr>
          <a:lstStyle/>
          <a:p>
            <a:r>
              <a:rPr lang="en-US" sz="1100" dirty="0">
                <a:solidFill>
                  <a:srgbClr val="E1E1E1"/>
                </a:solidFill>
              </a:rPr>
              <a:t>1</a:t>
            </a:r>
          </a:p>
        </p:txBody>
      </p:sp>
      <p:sp>
        <p:nvSpPr>
          <p:cNvPr id="18" name="TextBox 17">
            <a:extLst>
              <a:ext uri="{FF2B5EF4-FFF2-40B4-BE49-F238E27FC236}">
                <a16:creationId xmlns:a16="http://schemas.microsoft.com/office/drawing/2014/main" id="{7AB2C3AC-826A-E1DD-8210-6370AA84B0CA}"/>
              </a:ext>
            </a:extLst>
          </p:cNvPr>
          <p:cNvSpPr txBox="1"/>
          <p:nvPr/>
        </p:nvSpPr>
        <p:spPr>
          <a:xfrm>
            <a:off x="9139848" y="3984237"/>
            <a:ext cx="260008" cy="261610"/>
          </a:xfrm>
          <a:prstGeom prst="rect">
            <a:avLst/>
          </a:prstGeom>
          <a:noFill/>
        </p:spPr>
        <p:txBody>
          <a:bodyPr wrap="square" rtlCol="0">
            <a:spAutoFit/>
          </a:bodyPr>
          <a:lstStyle/>
          <a:p>
            <a:r>
              <a:rPr lang="en-US" sz="1100" dirty="0">
                <a:solidFill>
                  <a:srgbClr val="E1E1E1"/>
                </a:solidFill>
              </a:rPr>
              <a:t>1</a:t>
            </a:r>
          </a:p>
        </p:txBody>
      </p:sp>
      <p:pic>
        <p:nvPicPr>
          <p:cNvPr id="21" name="Graphic 20" descr="Repeat outline">
            <a:extLst>
              <a:ext uri="{FF2B5EF4-FFF2-40B4-BE49-F238E27FC236}">
                <a16:creationId xmlns:a16="http://schemas.microsoft.com/office/drawing/2014/main" id="{A9C6CC58-AFEC-2867-EEA2-90FC7BE8F3A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940000" y="3078884"/>
            <a:ext cx="261611" cy="261611"/>
          </a:xfrm>
          <a:prstGeom prst="rect">
            <a:avLst/>
          </a:prstGeom>
        </p:spPr>
      </p:pic>
      <p:pic>
        <p:nvPicPr>
          <p:cNvPr id="35" name="Graphic 34" descr="Repeat outline">
            <a:extLst>
              <a:ext uri="{FF2B5EF4-FFF2-40B4-BE49-F238E27FC236}">
                <a16:creationId xmlns:a16="http://schemas.microsoft.com/office/drawing/2014/main" id="{4500742A-14C2-9CDB-F450-795AD02F19F4}"/>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939999" y="3506924"/>
            <a:ext cx="261611" cy="261611"/>
          </a:xfrm>
          <a:prstGeom prst="rect">
            <a:avLst/>
          </a:prstGeom>
        </p:spPr>
      </p:pic>
      <p:pic>
        <p:nvPicPr>
          <p:cNvPr id="38" name="Graphic 37" descr="Repeat outline">
            <a:extLst>
              <a:ext uri="{FF2B5EF4-FFF2-40B4-BE49-F238E27FC236}">
                <a16:creationId xmlns:a16="http://schemas.microsoft.com/office/drawing/2014/main" id="{FE010BA5-B49A-0D26-8D49-2F54F2D3C6B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939743" y="3973584"/>
            <a:ext cx="261611" cy="261611"/>
          </a:xfrm>
          <a:prstGeom prst="rect">
            <a:avLst/>
          </a:prstGeom>
        </p:spPr>
      </p:pic>
      <p:cxnSp>
        <p:nvCxnSpPr>
          <p:cNvPr id="39" name="Straight Arrow Connector 38">
            <a:extLst>
              <a:ext uri="{FF2B5EF4-FFF2-40B4-BE49-F238E27FC236}">
                <a16:creationId xmlns:a16="http://schemas.microsoft.com/office/drawing/2014/main" id="{6A9726CC-3400-02B0-5FAF-5DB542AE268B}"/>
              </a:ext>
            </a:extLst>
          </p:cNvPr>
          <p:cNvCxnSpPr>
            <a:cxnSpLocks/>
            <a:stCxn id="11" idx="0"/>
            <a:endCxn id="14" idx="2"/>
          </p:cNvCxnSpPr>
          <p:nvPr/>
        </p:nvCxnSpPr>
        <p:spPr>
          <a:xfrm flipH="1" flipV="1">
            <a:off x="9280768" y="3350781"/>
            <a:ext cx="1374193" cy="2187298"/>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48" name="Straight Arrow Connector 47">
            <a:extLst>
              <a:ext uri="{FF2B5EF4-FFF2-40B4-BE49-F238E27FC236}">
                <a16:creationId xmlns:a16="http://schemas.microsoft.com/office/drawing/2014/main" id="{755C085B-F77D-9D84-6258-AC670149544C}"/>
              </a:ext>
            </a:extLst>
          </p:cNvPr>
          <p:cNvCxnSpPr>
            <a:cxnSpLocks/>
            <a:stCxn id="11" idx="0"/>
          </p:cNvCxnSpPr>
          <p:nvPr/>
        </p:nvCxnSpPr>
        <p:spPr>
          <a:xfrm flipH="1" flipV="1">
            <a:off x="9302221" y="3820264"/>
            <a:ext cx="1352740" cy="1717815"/>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54" name="Straight Arrow Connector 53">
            <a:extLst>
              <a:ext uri="{FF2B5EF4-FFF2-40B4-BE49-F238E27FC236}">
                <a16:creationId xmlns:a16="http://schemas.microsoft.com/office/drawing/2014/main" id="{745B248D-4061-1833-F5BB-09EA200D4958}"/>
              </a:ext>
            </a:extLst>
          </p:cNvPr>
          <p:cNvCxnSpPr>
            <a:cxnSpLocks/>
            <a:stCxn id="11" idx="0"/>
          </p:cNvCxnSpPr>
          <p:nvPr/>
        </p:nvCxnSpPr>
        <p:spPr>
          <a:xfrm flipH="1" flipV="1">
            <a:off x="9263067" y="4251101"/>
            <a:ext cx="1391894" cy="1286978"/>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pic>
        <p:nvPicPr>
          <p:cNvPr id="62" name="Graphic 61" descr="Badge Tick1 with solid fill">
            <a:extLst>
              <a:ext uri="{FF2B5EF4-FFF2-40B4-BE49-F238E27FC236}">
                <a16:creationId xmlns:a16="http://schemas.microsoft.com/office/drawing/2014/main" id="{959EE149-A9A7-BF9C-6249-2AF791B52F9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707274" y="3200409"/>
            <a:ext cx="222015" cy="222015"/>
          </a:xfrm>
          <a:prstGeom prst="rect">
            <a:avLst/>
          </a:prstGeom>
        </p:spPr>
      </p:pic>
      <p:pic>
        <p:nvPicPr>
          <p:cNvPr id="63" name="Graphic 62" descr="Badge Tick1 with solid fill">
            <a:extLst>
              <a:ext uri="{FF2B5EF4-FFF2-40B4-BE49-F238E27FC236}">
                <a16:creationId xmlns:a16="http://schemas.microsoft.com/office/drawing/2014/main" id="{A4EAA584-5C5A-C8A7-9E29-A22BECF1120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541006" y="3200408"/>
            <a:ext cx="222015" cy="222015"/>
          </a:xfrm>
          <a:prstGeom prst="rect">
            <a:avLst/>
          </a:prstGeom>
        </p:spPr>
      </p:pic>
      <p:pic>
        <p:nvPicPr>
          <p:cNvPr id="64" name="Graphic 63" descr="Badge Tick1 with solid fill">
            <a:extLst>
              <a:ext uri="{FF2B5EF4-FFF2-40B4-BE49-F238E27FC236}">
                <a16:creationId xmlns:a16="http://schemas.microsoft.com/office/drawing/2014/main" id="{59430EAF-18AC-B518-0E68-3B1F3513587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691059" y="3606311"/>
            <a:ext cx="222015" cy="222015"/>
          </a:xfrm>
          <a:prstGeom prst="rect">
            <a:avLst/>
          </a:prstGeom>
        </p:spPr>
      </p:pic>
      <p:pic>
        <p:nvPicPr>
          <p:cNvPr id="65" name="Graphic 64" descr="Badge Tick1 with solid fill">
            <a:extLst>
              <a:ext uri="{FF2B5EF4-FFF2-40B4-BE49-F238E27FC236}">
                <a16:creationId xmlns:a16="http://schemas.microsoft.com/office/drawing/2014/main" id="{72EF877E-0CD8-BFCD-D80D-3252739D943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524791" y="3606310"/>
            <a:ext cx="222015" cy="222015"/>
          </a:xfrm>
          <a:prstGeom prst="rect">
            <a:avLst/>
          </a:prstGeom>
        </p:spPr>
      </p:pic>
      <p:pic>
        <p:nvPicPr>
          <p:cNvPr id="66" name="Graphic 65" descr="Badge Tick1 with solid fill">
            <a:extLst>
              <a:ext uri="{FF2B5EF4-FFF2-40B4-BE49-F238E27FC236}">
                <a16:creationId xmlns:a16="http://schemas.microsoft.com/office/drawing/2014/main" id="{359FEF5B-FF1E-26D0-1DF8-5734616FC82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720452" y="3985522"/>
            <a:ext cx="222015" cy="222015"/>
          </a:xfrm>
          <a:prstGeom prst="rect">
            <a:avLst/>
          </a:prstGeom>
        </p:spPr>
      </p:pic>
      <p:pic>
        <p:nvPicPr>
          <p:cNvPr id="67" name="Graphic 66" descr="Badge Tick1 with solid fill">
            <a:extLst>
              <a:ext uri="{FF2B5EF4-FFF2-40B4-BE49-F238E27FC236}">
                <a16:creationId xmlns:a16="http://schemas.microsoft.com/office/drawing/2014/main" id="{DD101278-2111-9190-CA70-12B6731816B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554184" y="3985521"/>
            <a:ext cx="222015" cy="222015"/>
          </a:xfrm>
          <a:prstGeom prst="rect">
            <a:avLst/>
          </a:prstGeom>
        </p:spPr>
      </p:pic>
      <p:sp>
        <p:nvSpPr>
          <p:cNvPr id="68" name="TextBox 67">
            <a:extLst>
              <a:ext uri="{FF2B5EF4-FFF2-40B4-BE49-F238E27FC236}">
                <a16:creationId xmlns:a16="http://schemas.microsoft.com/office/drawing/2014/main" id="{1E9EDF47-3C98-491E-4E34-7E66DA932ECB}"/>
              </a:ext>
            </a:extLst>
          </p:cNvPr>
          <p:cNvSpPr txBox="1"/>
          <p:nvPr/>
        </p:nvSpPr>
        <p:spPr>
          <a:xfrm>
            <a:off x="7288756" y="3184834"/>
            <a:ext cx="260008" cy="261610"/>
          </a:xfrm>
          <a:prstGeom prst="rect">
            <a:avLst/>
          </a:prstGeom>
          <a:noFill/>
        </p:spPr>
        <p:txBody>
          <a:bodyPr wrap="square" rtlCol="0">
            <a:spAutoFit/>
          </a:bodyPr>
          <a:lstStyle/>
          <a:p>
            <a:r>
              <a:rPr lang="en-US" sz="1100" dirty="0">
                <a:solidFill>
                  <a:srgbClr val="E1E1E1"/>
                </a:solidFill>
              </a:rPr>
              <a:t>1</a:t>
            </a:r>
          </a:p>
        </p:txBody>
      </p:sp>
      <p:sp>
        <p:nvSpPr>
          <p:cNvPr id="69" name="TextBox 68">
            <a:extLst>
              <a:ext uri="{FF2B5EF4-FFF2-40B4-BE49-F238E27FC236}">
                <a16:creationId xmlns:a16="http://schemas.microsoft.com/office/drawing/2014/main" id="{4B50A831-838D-54F5-1B4C-BC9AD4848FD2}"/>
              </a:ext>
            </a:extLst>
          </p:cNvPr>
          <p:cNvSpPr txBox="1"/>
          <p:nvPr/>
        </p:nvSpPr>
        <p:spPr>
          <a:xfrm>
            <a:off x="7279209" y="3945926"/>
            <a:ext cx="260008" cy="261610"/>
          </a:xfrm>
          <a:prstGeom prst="rect">
            <a:avLst/>
          </a:prstGeom>
          <a:noFill/>
        </p:spPr>
        <p:txBody>
          <a:bodyPr wrap="square" rtlCol="0">
            <a:spAutoFit/>
          </a:bodyPr>
          <a:lstStyle/>
          <a:p>
            <a:r>
              <a:rPr lang="en-US" sz="1100" dirty="0">
                <a:solidFill>
                  <a:srgbClr val="E1E1E1"/>
                </a:solidFill>
              </a:rPr>
              <a:t>1</a:t>
            </a:r>
          </a:p>
        </p:txBody>
      </p:sp>
      <p:sp>
        <p:nvSpPr>
          <p:cNvPr id="70" name="TextBox 69">
            <a:extLst>
              <a:ext uri="{FF2B5EF4-FFF2-40B4-BE49-F238E27FC236}">
                <a16:creationId xmlns:a16="http://schemas.microsoft.com/office/drawing/2014/main" id="{C0234BED-3D70-840F-5C64-E9BA85861D8B}"/>
              </a:ext>
            </a:extLst>
          </p:cNvPr>
          <p:cNvSpPr txBox="1"/>
          <p:nvPr/>
        </p:nvSpPr>
        <p:spPr>
          <a:xfrm>
            <a:off x="390687" y="6097720"/>
            <a:ext cx="3420476" cy="646331"/>
          </a:xfrm>
          <a:prstGeom prst="rect">
            <a:avLst/>
          </a:prstGeom>
          <a:solidFill>
            <a:schemeClr val="accent3">
              <a:lumMod val="75000"/>
            </a:schemeClr>
          </a:solidFill>
          <a:ln>
            <a:solidFill>
              <a:schemeClr val="accent5">
                <a:lumMod val="60000"/>
                <a:lumOff val="40000"/>
              </a:schemeClr>
            </a:solidFill>
          </a:ln>
        </p:spPr>
        <p:txBody>
          <a:bodyPr wrap="square" rtlCol="0">
            <a:spAutoFit/>
          </a:bodyPr>
          <a:lstStyle/>
          <a:p>
            <a:r>
              <a:rPr lang="en-US" dirty="0">
                <a:solidFill>
                  <a:schemeClr val="bg1"/>
                </a:solidFill>
              </a:rPr>
              <a:t>General CLI MODE</a:t>
            </a:r>
          </a:p>
          <a:p>
            <a:r>
              <a:rPr lang="en-US" dirty="0">
                <a:solidFill>
                  <a:schemeClr val="bg1"/>
                </a:solidFill>
              </a:rPr>
              <a:t>(individual terminals for agents</a:t>
            </a:r>
          </a:p>
        </p:txBody>
      </p:sp>
    </p:spTree>
    <p:extLst>
      <p:ext uri="{BB962C8B-B14F-4D97-AF65-F5344CB8AC3E}">
        <p14:creationId xmlns:p14="http://schemas.microsoft.com/office/powerpoint/2010/main" val="21735700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B2A19-DDD3-B2D1-C023-D85C158ECB25}"/>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DCD01DBA-36B3-4D42-B1B0-87C9718C0EDE}"/>
              </a:ext>
            </a:extLst>
          </p:cNvPr>
          <p:cNvSpPr/>
          <p:nvPr/>
        </p:nvSpPr>
        <p:spPr>
          <a:xfrm>
            <a:off x="503403" y="1334840"/>
            <a:ext cx="2218513" cy="1071163"/>
          </a:xfrm>
          <a:prstGeom prst="roundRect">
            <a:avLst>
              <a:gd name="adj" fmla="val 15806"/>
            </a:avLst>
          </a:prstGeom>
          <a:no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6E87CFBE-475B-A33E-FEBD-8D6C068D12BA}"/>
              </a:ext>
            </a:extLst>
          </p:cNvPr>
          <p:cNvSpPr txBox="1"/>
          <p:nvPr/>
        </p:nvSpPr>
        <p:spPr>
          <a:xfrm>
            <a:off x="516531" y="677075"/>
            <a:ext cx="2514919" cy="553998"/>
          </a:xfrm>
          <a:prstGeom prst="rect">
            <a:avLst/>
          </a:prstGeom>
          <a:noFill/>
        </p:spPr>
        <p:txBody>
          <a:bodyPr wrap="none" rtlCol="0">
            <a:spAutoFit/>
          </a:bodyPr>
          <a:lstStyle/>
          <a:p>
            <a:r>
              <a:rPr lang="en-US" dirty="0">
                <a:solidFill>
                  <a:srgbClr val="E1E1E1"/>
                </a:solidFill>
              </a:rPr>
              <a:t>Project: </a:t>
            </a:r>
            <a:r>
              <a:rPr lang="en-US" dirty="0">
                <a:solidFill>
                  <a:srgbClr val="FFC300"/>
                </a:solidFill>
              </a:rPr>
              <a:t>{</a:t>
            </a:r>
            <a:r>
              <a:rPr lang="en-US" dirty="0" err="1">
                <a:solidFill>
                  <a:srgbClr val="FFC300"/>
                </a:solidFill>
              </a:rPr>
              <a:t>project_name</a:t>
            </a:r>
            <a:r>
              <a:rPr lang="en-US" dirty="0">
                <a:solidFill>
                  <a:srgbClr val="FFC300"/>
                </a:solidFill>
              </a:rPr>
              <a:t>}</a:t>
            </a:r>
          </a:p>
          <a:p>
            <a:r>
              <a:rPr lang="en-US" sz="1200" dirty="0">
                <a:solidFill>
                  <a:srgbClr val="8F97B7"/>
                </a:solidFill>
              </a:rPr>
              <a:t>Project ID: {</a:t>
            </a:r>
            <a:r>
              <a:rPr lang="en-US" sz="1200" dirty="0" err="1">
                <a:solidFill>
                  <a:srgbClr val="8F97B7"/>
                </a:solidFill>
              </a:rPr>
              <a:t>full_UUID</a:t>
            </a:r>
            <a:r>
              <a:rPr lang="en-US" sz="1200" dirty="0">
                <a:solidFill>
                  <a:srgbClr val="8F97B7"/>
                </a:solidFill>
              </a:rPr>
              <a:t>}</a:t>
            </a:r>
          </a:p>
        </p:txBody>
      </p:sp>
      <p:sp>
        <p:nvSpPr>
          <p:cNvPr id="3" name="Rectangle: Rounded Corners 2">
            <a:extLst>
              <a:ext uri="{FF2B5EF4-FFF2-40B4-BE49-F238E27FC236}">
                <a16:creationId xmlns:a16="http://schemas.microsoft.com/office/drawing/2014/main" id="{D516B1E6-1217-047F-8F07-6A52007E1365}"/>
              </a:ext>
            </a:extLst>
          </p:cNvPr>
          <p:cNvSpPr/>
          <p:nvPr/>
        </p:nvSpPr>
        <p:spPr>
          <a:xfrm>
            <a:off x="1643382" y="1342292"/>
            <a:ext cx="1805578" cy="969932"/>
          </a:xfrm>
          <a:prstGeom prst="roundRect">
            <a:avLst>
              <a:gd name="adj" fmla="val 17766"/>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839415C-1E8B-3C50-556F-498C884CF949}"/>
              </a:ext>
            </a:extLst>
          </p:cNvPr>
          <p:cNvSpPr txBox="1"/>
          <p:nvPr/>
        </p:nvSpPr>
        <p:spPr>
          <a:xfrm>
            <a:off x="682981" y="1327205"/>
            <a:ext cx="929678" cy="369332"/>
          </a:xfrm>
          <a:prstGeom prst="rect">
            <a:avLst/>
          </a:prstGeom>
          <a:noFill/>
        </p:spPr>
        <p:txBody>
          <a:bodyPr wrap="none" rtlCol="0">
            <a:spAutoFit/>
          </a:bodyPr>
          <a:lstStyle/>
          <a:p>
            <a:r>
              <a:rPr lang="en-US" dirty="0">
                <a:solidFill>
                  <a:srgbClr val="1E3147"/>
                </a:solidFill>
              </a:rPr>
              <a:t>Launch</a:t>
            </a:r>
          </a:p>
        </p:txBody>
      </p:sp>
      <p:sp>
        <p:nvSpPr>
          <p:cNvPr id="6" name="Rectangle: Rounded Corners 5">
            <a:extLst>
              <a:ext uri="{FF2B5EF4-FFF2-40B4-BE49-F238E27FC236}">
                <a16:creationId xmlns:a16="http://schemas.microsoft.com/office/drawing/2014/main" id="{F98B4E75-C9C5-4BCC-A751-D50AA3ADC8F1}"/>
              </a:ext>
            </a:extLst>
          </p:cNvPr>
          <p:cNvSpPr/>
          <p:nvPr/>
        </p:nvSpPr>
        <p:spPr>
          <a:xfrm>
            <a:off x="503403" y="1668256"/>
            <a:ext cx="11185191" cy="3476117"/>
          </a:xfrm>
          <a:prstGeom prst="roundRect">
            <a:avLst>
              <a:gd name="adj" fmla="val 5962"/>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9701FB60-6B4C-FC43-6D43-1CBC2430ACD9}"/>
              </a:ext>
            </a:extLst>
          </p:cNvPr>
          <p:cNvSpPr/>
          <p:nvPr/>
        </p:nvSpPr>
        <p:spPr>
          <a:xfrm>
            <a:off x="1654808" y="1622562"/>
            <a:ext cx="1787171" cy="287650"/>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30D84239-3EFD-4AB9-522F-6AB81F30B75E}"/>
              </a:ext>
            </a:extLst>
          </p:cNvPr>
          <p:cNvSpPr/>
          <p:nvPr/>
        </p:nvSpPr>
        <p:spPr>
          <a:xfrm>
            <a:off x="758606" y="2617315"/>
            <a:ext cx="293929" cy="306770"/>
          </a:xfrm>
          <a:prstGeom prst="ellipse">
            <a:avLst/>
          </a:prstGeom>
          <a:solidFill>
            <a:srgbClr val="A9866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B1893E65-FECA-E946-F811-C31841377AAD}"/>
              </a:ext>
            </a:extLst>
          </p:cNvPr>
          <p:cNvSpPr txBox="1"/>
          <p:nvPr/>
        </p:nvSpPr>
        <p:spPr>
          <a:xfrm>
            <a:off x="1899316" y="1330953"/>
            <a:ext cx="1444177" cy="369332"/>
          </a:xfrm>
          <a:prstGeom prst="rect">
            <a:avLst/>
          </a:prstGeom>
          <a:noFill/>
        </p:spPr>
        <p:txBody>
          <a:bodyPr wrap="square" rtlCol="0">
            <a:spAutoFit/>
          </a:bodyPr>
          <a:lstStyle/>
          <a:p>
            <a:r>
              <a:rPr lang="en-US" dirty="0">
                <a:solidFill>
                  <a:srgbClr val="8F97B7"/>
                </a:solidFill>
              </a:rPr>
              <a:t>Implement</a:t>
            </a:r>
          </a:p>
        </p:txBody>
      </p:sp>
      <p:sp>
        <p:nvSpPr>
          <p:cNvPr id="24" name="TextBox 23">
            <a:extLst>
              <a:ext uri="{FF2B5EF4-FFF2-40B4-BE49-F238E27FC236}">
                <a16:creationId xmlns:a16="http://schemas.microsoft.com/office/drawing/2014/main" id="{AECA2683-C2AF-38E6-9B75-657587BBFD47}"/>
              </a:ext>
            </a:extLst>
          </p:cNvPr>
          <p:cNvSpPr txBox="1"/>
          <p:nvPr/>
        </p:nvSpPr>
        <p:spPr>
          <a:xfrm>
            <a:off x="738137" y="2624295"/>
            <a:ext cx="460382" cy="282316"/>
          </a:xfrm>
          <a:prstGeom prst="rect">
            <a:avLst/>
          </a:prstGeom>
          <a:noFill/>
        </p:spPr>
        <p:txBody>
          <a:bodyPr wrap="square" rtlCol="0">
            <a:spAutoFit/>
          </a:bodyPr>
          <a:lstStyle/>
          <a:p>
            <a:r>
              <a:rPr lang="en-US" sz="1200" b="1" dirty="0">
                <a:solidFill>
                  <a:srgbClr val="0E1C2D"/>
                </a:solidFill>
              </a:rPr>
              <a:t>Or</a:t>
            </a:r>
          </a:p>
        </p:txBody>
      </p:sp>
      <p:sp>
        <p:nvSpPr>
          <p:cNvPr id="27" name="TextBox 26">
            <a:extLst>
              <a:ext uri="{FF2B5EF4-FFF2-40B4-BE49-F238E27FC236}">
                <a16:creationId xmlns:a16="http://schemas.microsoft.com/office/drawing/2014/main" id="{B11F35A8-4817-430D-1DBE-DBD5F21231C7}"/>
              </a:ext>
            </a:extLst>
          </p:cNvPr>
          <p:cNvSpPr txBox="1"/>
          <p:nvPr/>
        </p:nvSpPr>
        <p:spPr>
          <a:xfrm>
            <a:off x="1184559" y="2638386"/>
            <a:ext cx="965329" cy="261610"/>
          </a:xfrm>
          <a:prstGeom prst="rect">
            <a:avLst/>
          </a:prstGeom>
          <a:noFill/>
        </p:spPr>
        <p:txBody>
          <a:bodyPr wrap="none" rtlCol="0">
            <a:spAutoFit/>
          </a:bodyPr>
          <a:lstStyle/>
          <a:p>
            <a:r>
              <a:rPr lang="en-US" sz="1100" dirty="0">
                <a:solidFill>
                  <a:srgbClr val="E1E1E1"/>
                </a:solidFill>
              </a:rPr>
              <a:t>Orchestrator</a:t>
            </a:r>
          </a:p>
        </p:txBody>
      </p:sp>
      <p:pic>
        <p:nvPicPr>
          <p:cNvPr id="29" name="Graphic 28" descr="Information with solid fill">
            <a:extLst>
              <a:ext uri="{FF2B5EF4-FFF2-40B4-BE49-F238E27FC236}">
                <a16:creationId xmlns:a16="http://schemas.microsoft.com/office/drawing/2014/main" id="{842C1660-3B74-C960-927C-BAF447D0807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3975" y="2661152"/>
            <a:ext cx="193473" cy="193473"/>
          </a:xfrm>
          <a:prstGeom prst="rect">
            <a:avLst/>
          </a:prstGeom>
        </p:spPr>
      </p:pic>
      <p:sp>
        <p:nvSpPr>
          <p:cNvPr id="16" name="TextBox 15">
            <a:extLst>
              <a:ext uri="{FF2B5EF4-FFF2-40B4-BE49-F238E27FC236}">
                <a16:creationId xmlns:a16="http://schemas.microsoft.com/office/drawing/2014/main" id="{BF3A9DD3-CC58-F0F0-D517-5BF76C40481E}"/>
              </a:ext>
            </a:extLst>
          </p:cNvPr>
          <p:cNvSpPr txBox="1"/>
          <p:nvPr/>
        </p:nvSpPr>
        <p:spPr>
          <a:xfrm>
            <a:off x="1226477" y="3087372"/>
            <a:ext cx="705642" cy="261610"/>
          </a:xfrm>
          <a:prstGeom prst="rect">
            <a:avLst/>
          </a:prstGeom>
          <a:noFill/>
        </p:spPr>
        <p:txBody>
          <a:bodyPr wrap="none" rtlCol="0">
            <a:spAutoFit/>
          </a:bodyPr>
          <a:lstStyle>
            <a:defPPr>
              <a:defRPr lang="en-US"/>
            </a:defPPr>
            <a:lvl1pPr>
              <a:defRPr sz="1100">
                <a:solidFill>
                  <a:srgbClr val="E1E1E1"/>
                </a:solidFill>
              </a:defRPr>
            </a:lvl1pPr>
          </a:lstStyle>
          <a:p>
            <a:r>
              <a:rPr lang="en-US" dirty="0"/>
              <a:t>Analyzer</a:t>
            </a:r>
          </a:p>
        </p:txBody>
      </p:sp>
      <p:cxnSp>
        <p:nvCxnSpPr>
          <p:cNvPr id="75" name="Straight Connector 74">
            <a:extLst>
              <a:ext uri="{FF2B5EF4-FFF2-40B4-BE49-F238E27FC236}">
                <a16:creationId xmlns:a16="http://schemas.microsoft.com/office/drawing/2014/main" id="{296C26AE-618E-ABC6-7F55-1B4BA2AE07E5}"/>
              </a:ext>
            </a:extLst>
          </p:cNvPr>
          <p:cNvCxnSpPr>
            <a:cxnSpLocks/>
          </p:cNvCxnSpPr>
          <p:nvPr/>
        </p:nvCxnSpPr>
        <p:spPr>
          <a:xfrm>
            <a:off x="652293" y="2505875"/>
            <a:ext cx="10203544" cy="6404"/>
          </a:xfrm>
          <a:prstGeom prst="line">
            <a:avLst/>
          </a:prstGeom>
          <a:ln>
            <a:solidFill>
              <a:srgbClr val="1E3147"/>
            </a:solidFill>
          </a:ln>
        </p:spPr>
        <p:style>
          <a:lnRef idx="2">
            <a:schemeClr val="accent1"/>
          </a:lnRef>
          <a:fillRef idx="0">
            <a:schemeClr val="accent1"/>
          </a:fillRef>
          <a:effectRef idx="1">
            <a:schemeClr val="accent1"/>
          </a:effectRef>
          <a:fontRef idx="minor">
            <a:schemeClr val="tx1"/>
          </a:fontRef>
        </p:style>
      </p:cxnSp>
      <p:sp>
        <p:nvSpPr>
          <p:cNvPr id="77" name="TextBox 76">
            <a:extLst>
              <a:ext uri="{FF2B5EF4-FFF2-40B4-BE49-F238E27FC236}">
                <a16:creationId xmlns:a16="http://schemas.microsoft.com/office/drawing/2014/main" id="{13C8BE37-EEFF-B487-2596-0078EFF5B0E7}"/>
              </a:ext>
            </a:extLst>
          </p:cNvPr>
          <p:cNvSpPr txBox="1"/>
          <p:nvPr/>
        </p:nvSpPr>
        <p:spPr>
          <a:xfrm>
            <a:off x="1274326" y="2217384"/>
            <a:ext cx="785793" cy="246221"/>
          </a:xfrm>
          <a:prstGeom prst="rect">
            <a:avLst/>
          </a:prstGeom>
          <a:noFill/>
        </p:spPr>
        <p:txBody>
          <a:bodyPr wrap="none" rtlCol="0">
            <a:spAutoFit/>
          </a:bodyPr>
          <a:lstStyle/>
          <a:p>
            <a:pPr algn="ctr"/>
            <a:r>
              <a:rPr lang="en-US" sz="1000" dirty="0">
                <a:solidFill>
                  <a:srgbClr val="E1E1E1"/>
                </a:solidFill>
              </a:rPr>
              <a:t>Agent Type</a:t>
            </a:r>
          </a:p>
        </p:txBody>
      </p:sp>
      <p:sp>
        <p:nvSpPr>
          <p:cNvPr id="78" name="TextBox 77">
            <a:extLst>
              <a:ext uri="{FF2B5EF4-FFF2-40B4-BE49-F238E27FC236}">
                <a16:creationId xmlns:a16="http://schemas.microsoft.com/office/drawing/2014/main" id="{EC03872F-4856-CDBE-8A5F-8F3C54A86947}"/>
              </a:ext>
            </a:extLst>
          </p:cNvPr>
          <p:cNvSpPr txBox="1"/>
          <p:nvPr/>
        </p:nvSpPr>
        <p:spPr>
          <a:xfrm>
            <a:off x="662149" y="1838089"/>
            <a:ext cx="1202573" cy="246221"/>
          </a:xfrm>
          <a:prstGeom prst="rect">
            <a:avLst/>
          </a:prstGeom>
          <a:noFill/>
        </p:spPr>
        <p:txBody>
          <a:bodyPr wrap="none" rtlCol="0">
            <a:spAutoFit/>
          </a:bodyPr>
          <a:lstStyle/>
          <a:p>
            <a:r>
              <a:rPr lang="en-US" sz="1000" dirty="0">
                <a:solidFill>
                  <a:srgbClr val="E1E1E1"/>
                </a:solidFill>
              </a:rPr>
              <a:t>Claude Subagents</a:t>
            </a:r>
          </a:p>
        </p:txBody>
      </p:sp>
      <p:sp>
        <p:nvSpPr>
          <p:cNvPr id="80" name="Rectangle: Rounded Corners 79">
            <a:extLst>
              <a:ext uri="{FF2B5EF4-FFF2-40B4-BE49-F238E27FC236}">
                <a16:creationId xmlns:a16="http://schemas.microsoft.com/office/drawing/2014/main" id="{7CDBA8EB-E361-8C7F-F2D0-585EBB20C9DF}"/>
              </a:ext>
            </a:extLst>
          </p:cNvPr>
          <p:cNvSpPr/>
          <p:nvPr/>
        </p:nvSpPr>
        <p:spPr>
          <a:xfrm>
            <a:off x="1813390" y="1884175"/>
            <a:ext cx="336498" cy="182696"/>
          </a:xfrm>
          <a:prstGeom prst="roundRect">
            <a:avLst>
              <a:gd name="adj" fmla="val 50000"/>
            </a:avLst>
          </a:prstGeom>
          <a:solidFill>
            <a:srgbClr val="0E1C2D"/>
          </a:solid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TextBox 81">
            <a:extLst>
              <a:ext uri="{FF2B5EF4-FFF2-40B4-BE49-F238E27FC236}">
                <a16:creationId xmlns:a16="http://schemas.microsoft.com/office/drawing/2014/main" id="{BA3894C1-603C-E932-819B-B6BAB0C42CCA}"/>
              </a:ext>
            </a:extLst>
          </p:cNvPr>
          <p:cNvSpPr txBox="1"/>
          <p:nvPr/>
        </p:nvSpPr>
        <p:spPr>
          <a:xfrm>
            <a:off x="4275366" y="3048418"/>
            <a:ext cx="683200" cy="261610"/>
          </a:xfrm>
          <a:prstGeom prst="rect">
            <a:avLst/>
          </a:prstGeom>
          <a:noFill/>
        </p:spPr>
        <p:txBody>
          <a:bodyPr wrap="none" rtlCol="0">
            <a:spAutoFit/>
          </a:bodyPr>
          <a:lstStyle/>
          <a:p>
            <a:r>
              <a:rPr lang="en-US" sz="1100" i="1" dirty="0">
                <a:solidFill>
                  <a:srgbClr val="FFC000"/>
                </a:solidFill>
              </a:rPr>
              <a:t>Waiting.</a:t>
            </a:r>
          </a:p>
        </p:txBody>
      </p:sp>
      <p:sp>
        <p:nvSpPr>
          <p:cNvPr id="83" name="Oval 82">
            <a:extLst>
              <a:ext uri="{FF2B5EF4-FFF2-40B4-BE49-F238E27FC236}">
                <a16:creationId xmlns:a16="http://schemas.microsoft.com/office/drawing/2014/main" id="{9CB0DC66-FB24-FAB3-CE00-F6CCAC9D628A}"/>
              </a:ext>
            </a:extLst>
          </p:cNvPr>
          <p:cNvSpPr/>
          <p:nvPr/>
        </p:nvSpPr>
        <p:spPr>
          <a:xfrm>
            <a:off x="758606" y="3066408"/>
            <a:ext cx="293929" cy="306770"/>
          </a:xfrm>
          <a:prstGeom prst="ellipse">
            <a:avLst/>
          </a:prstGeom>
          <a:solidFill>
            <a:srgbClr val="A32A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59EB835A-0A04-8C61-C903-6C57BD81386B}"/>
              </a:ext>
            </a:extLst>
          </p:cNvPr>
          <p:cNvSpPr/>
          <p:nvPr/>
        </p:nvSpPr>
        <p:spPr>
          <a:xfrm>
            <a:off x="758606" y="3513494"/>
            <a:ext cx="293929" cy="306770"/>
          </a:xfrm>
          <a:prstGeom prst="ellipse">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D8F3C5E3-2027-FD61-D3AD-61344E7364B8}"/>
              </a:ext>
            </a:extLst>
          </p:cNvPr>
          <p:cNvSpPr/>
          <p:nvPr/>
        </p:nvSpPr>
        <p:spPr>
          <a:xfrm>
            <a:off x="758606" y="3970226"/>
            <a:ext cx="293929" cy="306770"/>
          </a:xfrm>
          <a:prstGeom prst="ellipse">
            <a:avLst/>
          </a:prstGeom>
          <a:solidFill>
            <a:srgbClr val="FFC3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TextBox 88">
            <a:extLst>
              <a:ext uri="{FF2B5EF4-FFF2-40B4-BE49-F238E27FC236}">
                <a16:creationId xmlns:a16="http://schemas.microsoft.com/office/drawing/2014/main" id="{B73BAD70-0F12-D00F-7241-991C2487EACB}"/>
              </a:ext>
            </a:extLst>
          </p:cNvPr>
          <p:cNvSpPr txBox="1"/>
          <p:nvPr/>
        </p:nvSpPr>
        <p:spPr>
          <a:xfrm>
            <a:off x="1226477" y="3532367"/>
            <a:ext cx="970137" cy="261610"/>
          </a:xfrm>
          <a:prstGeom prst="rect">
            <a:avLst/>
          </a:prstGeom>
          <a:noFill/>
        </p:spPr>
        <p:txBody>
          <a:bodyPr wrap="none" rtlCol="0">
            <a:spAutoFit/>
          </a:bodyPr>
          <a:lstStyle>
            <a:defPPr>
              <a:defRPr lang="en-US"/>
            </a:defPPr>
            <a:lvl1pPr>
              <a:defRPr sz="1100">
                <a:solidFill>
                  <a:srgbClr val="E1E1E1"/>
                </a:solidFill>
              </a:defRPr>
            </a:lvl1pPr>
          </a:lstStyle>
          <a:p>
            <a:r>
              <a:rPr lang="en-US" dirty="0"/>
              <a:t>Implementor</a:t>
            </a:r>
          </a:p>
        </p:txBody>
      </p:sp>
      <p:sp>
        <p:nvSpPr>
          <p:cNvPr id="90" name="TextBox 89">
            <a:extLst>
              <a:ext uri="{FF2B5EF4-FFF2-40B4-BE49-F238E27FC236}">
                <a16:creationId xmlns:a16="http://schemas.microsoft.com/office/drawing/2014/main" id="{551CD469-9FFB-0CD4-4A2E-940756D1B3D2}"/>
              </a:ext>
            </a:extLst>
          </p:cNvPr>
          <p:cNvSpPr txBox="1"/>
          <p:nvPr/>
        </p:nvSpPr>
        <p:spPr>
          <a:xfrm>
            <a:off x="1245503" y="3998201"/>
            <a:ext cx="559769" cy="261610"/>
          </a:xfrm>
          <a:prstGeom prst="rect">
            <a:avLst/>
          </a:prstGeom>
          <a:noFill/>
        </p:spPr>
        <p:txBody>
          <a:bodyPr wrap="none" rtlCol="0">
            <a:spAutoFit/>
          </a:bodyPr>
          <a:lstStyle>
            <a:defPPr>
              <a:defRPr lang="en-US"/>
            </a:defPPr>
            <a:lvl1pPr>
              <a:defRPr sz="1100">
                <a:solidFill>
                  <a:srgbClr val="E1E1E1"/>
                </a:solidFill>
              </a:defRPr>
            </a:lvl1pPr>
          </a:lstStyle>
          <a:p>
            <a:r>
              <a:rPr lang="en-US" dirty="0"/>
              <a:t>Tester</a:t>
            </a:r>
          </a:p>
        </p:txBody>
      </p:sp>
      <p:sp>
        <p:nvSpPr>
          <p:cNvPr id="91" name="TextBox 90">
            <a:extLst>
              <a:ext uri="{FF2B5EF4-FFF2-40B4-BE49-F238E27FC236}">
                <a16:creationId xmlns:a16="http://schemas.microsoft.com/office/drawing/2014/main" id="{6B14EFCA-31BF-2975-D7BE-82F0831DBB62}"/>
              </a:ext>
            </a:extLst>
          </p:cNvPr>
          <p:cNvSpPr txBox="1"/>
          <p:nvPr/>
        </p:nvSpPr>
        <p:spPr>
          <a:xfrm>
            <a:off x="4260936" y="2611055"/>
            <a:ext cx="724878" cy="261610"/>
          </a:xfrm>
          <a:prstGeom prst="rect">
            <a:avLst/>
          </a:prstGeom>
          <a:noFill/>
        </p:spPr>
        <p:txBody>
          <a:bodyPr wrap="none" rtlCol="0">
            <a:spAutoFit/>
          </a:bodyPr>
          <a:lstStyle/>
          <a:p>
            <a:r>
              <a:rPr lang="en-US" sz="1100" i="1" dirty="0">
                <a:solidFill>
                  <a:srgbClr val="FFC000"/>
                </a:solidFill>
              </a:rPr>
              <a:t>Working.</a:t>
            </a:r>
          </a:p>
        </p:txBody>
      </p:sp>
      <p:pic>
        <p:nvPicPr>
          <p:cNvPr id="93" name="Graphic 92" descr="Information with solid fill">
            <a:extLst>
              <a:ext uri="{FF2B5EF4-FFF2-40B4-BE49-F238E27FC236}">
                <a16:creationId xmlns:a16="http://schemas.microsoft.com/office/drawing/2014/main" id="{28FB2F59-3940-90A0-C8F3-15591B4362D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2365" y="3102069"/>
            <a:ext cx="193473" cy="193473"/>
          </a:xfrm>
          <a:prstGeom prst="rect">
            <a:avLst/>
          </a:prstGeom>
        </p:spPr>
      </p:pic>
      <p:pic>
        <p:nvPicPr>
          <p:cNvPr id="94" name="Graphic 93" descr="Information with solid fill">
            <a:extLst>
              <a:ext uri="{FF2B5EF4-FFF2-40B4-BE49-F238E27FC236}">
                <a16:creationId xmlns:a16="http://schemas.microsoft.com/office/drawing/2014/main" id="{AAE8EE39-0C74-0E41-1B70-471C0DC304B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2365" y="3553624"/>
            <a:ext cx="193473" cy="193473"/>
          </a:xfrm>
          <a:prstGeom prst="rect">
            <a:avLst/>
          </a:prstGeom>
        </p:spPr>
      </p:pic>
      <p:pic>
        <p:nvPicPr>
          <p:cNvPr id="95" name="Graphic 94" descr="Information with solid fill">
            <a:extLst>
              <a:ext uri="{FF2B5EF4-FFF2-40B4-BE49-F238E27FC236}">
                <a16:creationId xmlns:a16="http://schemas.microsoft.com/office/drawing/2014/main" id="{20114547-6695-7EE0-3B3E-8841EABF29A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2364" y="4014063"/>
            <a:ext cx="193473" cy="193473"/>
          </a:xfrm>
          <a:prstGeom prst="rect">
            <a:avLst/>
          </a:prstGeom>
        </p:spPr>
      </p:pic>
      <p:sp>
        <p:nvSpPr>
          <p:cNvPr id="96" name="TextBox 95">
            <a:extLst>
              <a:ext uri="{FF2B5EF4-FFF2-40B4-BE49-F238E27FC236}">
                <a16:creationId xmlns:a16="http://schemas.microsoft.com/office/drawing/2014/main" id="{D049E2A2-C795-6FFB-6292-DBCC0507AB73}"/>
              </a:ext>
            </a:extLst>
          </p:cNvPr>
          <p:cNvSpPr txBox="1"/>
          <p:nvPr/>
        </p:nvSpPr>
        <p:spPr>
          <a:xfrm>
            <a:off x="729726" y="3076054"/>
            <a:ext cx="460382" cy="282316"/>
          </a:xfrm>
          <a:prstGeom prst="rect">
            <a:avLst/>
          </a:prstGeom>
          <a:noFill/>
        </p:spPr>
        <p:txBody>
          <a:bodyPr wrap="square" rtlCol="0">
            <a:spAutoFit/>
          </a:bodyPr>
          <a:lstStyle/>
          <a:p>
            <a:r>
              <a:rPr lang="en-US" sz="1200" b="1" dirty="0">
                <a:solidFill>
                  <a:srgbClr val="0E1C2D"/>
                </a:solidFill>
              </a:rPr>
              <a:t>An</a:t>
            </a:r>
          </a:p>
        </p:txBody>
      </p:sp>
      <p:sp>
        <p:nvSpPr>
          <p:cNvPr id="97" name="TextBox 96">
            <a:extLst>
              <a:ext uri="{FF2B5EF4-FFF2-40B4-BE49-F238E27FC236}">
                <a16:creationId xmlns:a16="http://schemas.microsoft.com/office/drawing/2014/main" id="{9056A3C2-19EA-3694-2149-25D5A66C8B12}"/>
              </a:ext>
            </a:extLst>
          </p:cNvPr>
          <p:cNvSpPr txBox="1"/>
          <p:nvPr/>
        </p:nvSpPr>
        <p:spPr>
          <a:xfrm>
            <a:off x="736070" y="3523140"/>
            <a:ext cx="460382" cy="282316"/>
          </a:xfrm>
          <a:prstGeom prst="rect">
            <a:avLst/>
          </a:prstGeom>
          <a:noFill/>
        </p:spPr>
        <p:txBody>
          <a:bodyPr wrap="square" rtlCol="0">
            <a:spAutoFit/>
          </a:bodyPr>
          <a:lstStyle/>
          <a:p>
            <a:r>
              <a:rPr lang="en-US" sz="1200" b="1" dirty="0" err="1">
                <a:solidFill>
                  <a:srgbClr val="0E1C2D"/>
                </a:solidFill>
              </a:rPr>
              <a:t>Im</a:t>
            </a:r>
            <a:endParaRPr lang="en-US" sz="1200" b="1" dirty="0">
              <a:solidFill>
                <a:srgbClr val="0E1C2D"/>
              </a:solidFill>
            </a:endParaRPr>
          </a:p>
        </p:txBody>
      </p:sp>
      <p:sp>
        <p:nvSpPr>
          <p:cNvPr id="98" name="TextBox 97">
            <a:extLst>
              <a:ext uri="{FF2B5EF4-FFF2-40B4-BE49-F238E27FC236}">
                <a16:creationId xmlns:a16="http://schemas.microsoft.com/office/drawing/2014/main" id="{DAC13436-2C81-2D97-D8BD-082DF2B6EE34}"/>
              </a:ext>
            </a:extLst>
          </p:cNvPr>
          <p:cNvSpPr txBox="1"/>
          <p:nvPr/>
        </p:nvSpPr>
        <p:spPr>
          <a:xfrm>
            <a:off x="736070" y="3989707"/>
            <a:ext cx="460382" cy="282316"/>
          </a:xfrm>
          <a:prstGeom prst="rect">
            <a:avLst/>
          </a:prstGeom>
          <a:noFill/>
        </p:spPr>
        <p:txBody>
          <a:bodyPr wrap="square" rtlCol="0">
            <a:spAutoFit/>
          </a:bodyPr>
          <a:lstStyle/>
          <a:p>
            <a:r>
              <a:rPr lang="en-US" sz="1200" b="1" dirty="0" err="1">
                <a:solidFill>
                  <a:srgbClr val="0E1C2D"/>
                </a:solidFill>
              </a:rPr>
              <a:t>Te</a:t>
            </a:r>
            <a:endParaRPr lang="en-US" sz="1200" b="1" dirty="0">
              <a:solidFill>
                <a:srgbClr val="0E1C2D"/>
              </a:solidFill>
            </a:endParaRPr>
          </a:p>
        </p:txBody>
      </p:sp>
      <p:sp>
        <p:nvSpPr>
          <p:cNvPr id="99" name="TextBox 98">
            <a:extLst>
              <a:ext uri="{FF2B5EF4-FFF2-40B4-BE49-F238E27FC236}">
                <a16:creationId xmlns:a16="http://schemas.microsoft.com/office/drawing/2014/main" id="{ECC95DA7-B809-B957-86A5-C168DE31304B}"/>
              </a:ext>
            </a:extLst>
          </p:cNvPr>
          <p:cNvSpPr txBox="1"/>
          <p:nvPr/>
        </p:nvSpPr>
        <p:spPr>
          <a:xfrm>
            <a:off x="4193614" y="2214394"/>
            <a:ext cx="886781" cy="246221"/>
          </a:xfrm>
          <a:prstGeom prst="rect">
            <a:avLst/>
          </a:prstGeom>
          <a:noFill/>
        </p:spPr>
        <p:txBody>
          <a:bodyPr wrap="none" rtlCol="0">
            <a:spAutoFit/>
          </a:bodyPr>
          <a:lstStyle/>
          <a:p>
            <a:pPr algn="ctr"/>
            <a:r>
              <a:rPr lang="en-US" sz="1000" dirty="0">
                <a:solidFill>
                  <a:srgbClr val="E1E1E1"/>
                </a:solidFill>
              </a:rPr>
              <a:t>Agent Status</a:t>
            </a:r>
          </a:p>
        </p:txBody>
      </p:sp>
      <p:sp>
        <p:nvSpPr>
          <p:cNvPr id="100" name="TextBox 99">
            <a:extLst>
              <a:ext uri="{FF2B5EF4-FFF2-40B4-BE49-F238E27FC236}">
                <a16:creationId xmlns:a16="http://schemas.microsoft.com/office/drawing/2014/main" id="{C8EF1DD0-494F-C607-8A78-E28571AEAE47}"/>
              </a:ext>
            </a:extLst>
          </p:cNvPr>
          <p:cNvSpPr txBox="1"/>
          <p:nvPr/>
        </p:nvSpPr>
        <p:spPr>
          <a:xfrm>
            <a:off x="7929117" y="2092323"/>
            <a:ext cx="772505" cy="400110"/>
          </a:xfrm>
          <a:prstGeom prst="rect">
            <a:avLst/>
          </a:prstGeom>
          <a:noFill/>
        </p:spPr>
        <p:txBody>
          <a:bodyPr wrap="square" rtlCol="0">
            <a:spAutoFit/>
          </a:bodyPr>
          <a:lstStyle/>
          <a:p>
            <a:pPr algn="ctr"/>
            <a:r>
              <a:rPr lang="en-US" sz="1000" dirty="0">
                <a:solidFill>
                  <a:srgbClr val="E1E1E1"/>
                </a:solidFill>
              </a:rPr>
              <a:t>Messages waiting</a:t>
            </a:r>
          </a:p>
        </p:txBody>
      </p:sp>
      <p:sp>
        <p:nvSpPr>
          <p:cNvPr id="114" name="TextBox 113">
            <a:extLst>
              <a:ext uri="{FF2B5EF4-FFF2-40B4-BE49-F238E27FC236}">
                <a16:creationId xmlns:a16="http://schemas.microsoft.com/office/drawing/2014/main" id="{FB44EDBA-D24A-A9F3-74C0-E244A7CA7450}"/>
              </a:ext>
            </a:extLst>
          </p:cNvPr>
          <p:cNvSpPr txBox="1"/>
          <p:nvPr/>
        </p:nvSpPr>
        <p:spPr>
          <a:xfrm>
            <a:off x="7041082" y="2099303"/>
            <a:ext cx="772505" cy="400110"/>
          </a:xfrm>
          <a:prstGeom prst="rect">
            <a:avLst/>
          </a:prstGeom>
          <a:noFill/>
        </p:spPr>
        <p:txBody>
          <a:bodyPr wrap="square" rtlCol="0">
            <a:spAutoFit/>
          </a:bodyPr>
          <a:lstStyle/>
          <a:p>
            <a:pPr algn="ctr"/>
            <a:r>
              <a:rPr lang="en-US" sz="1000" dirty="0">
                <a:solidFill>
                  <a:srgbClr val="E1E1E1"/>
                </a:solidFill>
              </a:rPr>
              <a:t>Messages</a:t>
            </a:r>
          </a:p>
          <a:p>
            <a:pPr algn="ctr"/>
            <a:r>
              <a:rPr lang="en-US" sz="1000" dirty="0">
                <a:solidFill>
                  <a:srgbClr val="E1E1E1"/>
                </a:solidFill>
              </a:rPr>
              <a:t>Sent</a:t>
            </a:r>
          </a:p>
        </p:txBody>
      </p:sp>
      <p:sp>
        <p:nvSpPr>
          <p:cNvPr id="115" name="TextBox 114">
            <a:extLst>
              <a:ext uri="{FF2B5EF4-FFF2-40B4-BE49-F238E27FC236}">
                <a16:creationId xmlns:a16="http://schemas.microsoft.com/office/drawing/2014/main" id="{C38B6BD7-2123-CCE9-9DA5-157EAED3A80C}"/>
              </a:ext>
            </a:extLst>
          </p:cNvPr>
          <p:cNvSpPr txBox="1"/>
          <p:nvPr/>
        </p:nvSpPr>
        <p:spPr>
          <a:xfrm>
            <a:off x="8932682" y="2112169"/>
            <a:ext cx="751053" cy="400110"/>
          </a:xfrm>
          <a:prstGeom prst="rect">
            <a:avLst/>
          </a:prstGeom>
          <a:noFill/>
        </p:spPr>
        <p:txBody>
          <a:bodyPr wrap="square" rtlCol="0">
            <a:spAutoFit/>
          </a:bodyPr>
          <a:lstStyle/>
          <a:p>
            <a:pPr algn="ctr"/>
            <a:r>
              <a:rPr lang="en-US" sz="1000" dirty="0">
                <a:solidFill>
                  <a:srgbClr val="E1E1E1"/>
                </a:solidFill>
              </a:rPr>
              <a:t>Messages Read</a:t>
            </a:r>
          </a:p>
        </p:txBody>
      </p:sp>
      <p:pic>
        <p:nvPicPr>
          <p:cNvPr id="117" name="Graphic 116" descr="Chat with solid fill">
            <a:extLst>
              <a:ext uri="{FF2B5EF4-FFF2-40B4-BE49-F238E27FC236}">
                <a16:creationId xmlns:a16="http://schemas.microsoft.com/office/drawing/2014/main" id="{0BB685B8-BE0A-A50E-9303-F79CD073DF6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305301" y="2637658"/>
            <a:ext cx="261610" cy="261610"/>
          </a:xfrm>
          <a:prstGeom prst="rect">
            <a:avLst/>
          </a:prstGeom>
        </p:spPr>
      </p:pic>
      <p:pic>
        <p:nvPicPr>
          <p:cNvPr id="118" name="Graphic 117" descr="Chat with solid fill">
            <a:extLst>
              <a:ext uri="{FF2B5EF4-FFF2-40B4-BE49-F238E27FC236}">
                <a16:creationId xmlns:a16="http://schemas.microsoft.com/office/drawing/2014/main" id="{4199EE02-F576-6DF7-989F-D7DC81B26EC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297189" y="3068000"/>
            <a:ext cx="261610" cy="261610"/>
          </a:xfrm>
          <a:prstGeom prst="rect">
            <a:avLst/>
          </a:prstGeom>
        </p:spPr>
      </p:pic>
      <p:pic>
        <p:nvPicPr>
          <p:cNvPr id="119" name="Graphic 118" descr="Chat with solid fill">
            <a:extLst>
              <a:ext uri="{FF2B5EF4-FFF2-40B4-BE49-F238E27FC236}">
                <a16:creationId xmlns:a16="http://schemas.microsoft.com/office/drawing/2014/main" id="{398C10B4-0234-0BB9-1A39-075F0D107AC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297189" y="3527404"/>
            <a:ext cx="261610" cy="261610"/>
          </a:xfrm>
          <a:prstGeom prst="rect">
            <a:avLst/>
          </a:prstGeom>
        </p:spPr>
      </p:pic>
      <p:pic>
        <p:nvPicPr>
          <p:cNvPr id="120" name="Graphic 119" descr="Chat with solid fill">
            <a:extLst>
              <a:ext uri="{FF2B5EF4-FFF2-40B4-BE49-F238E27FC236}">
                <a16:creationId xmlns:a16="http://schemas.microsoft.com/office/drawing/2014/main" id="{315DDDDE-4ADD-AFF5-BD5A-FDFB6F1F35E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310562" y="3991625"/>
            <a:ext cx="261610" cy="261610"/>
          </a:xfrm>
          <a:prstGeom prst="rect">
            <a:avLst/>
          </a:prstGeom>
        </p:spPr>
      </p:pic>
      <p:sp>
        <p:nvSpPr>
          <p:cNvPr id="135" name="TextBox 134">
            <a:extLst>
              <a:ext uri="{FF2B5EF4-FFF2-40B4-BE49-F238E27FC236}">
                <a16:creationId xmlns:a16="http://schemas.microsoft.com/office/drawing/2014/main" id="{C0D04B93-F486-49E6-28A0-2396EC581CA7}"/>
              </a:ext>
            </a:extLst>
          </p:cNvPr>
          <p:cNvSpPr txBox="1"/>
          <p:nvPr/>
        </p:nvSpPr>
        <p:spPr>
          <a:xfrm>
            <a:off x="4273058" y="3530126"/>
            <a:ext cx="683200" cy="261610"/>
          </a:xfrm>
          <a:prstGeom prst="rect">
            <a:avLst/>
          </a:prstGeom>
          <a:noFill/>
        </p:spPr>
        <p:txBody>
          <a:bodyPr wrap="none" rtlCol="0">
            <a:spAutoFit/>
          </a:bodyPr>
          <a:lstStyle/>
          <a:p>
            <a:r>
              <a:rPr lang="en-US" sz="1100" i="1" dirty="0">
                <a:solidFill>
                  <a:srgbClr val="FFC000"/>
                </a:solidFill>
              </a:rPr>
              <a:t>Waiting.</a:t>
            </a:r>
          </a:p>
        </p:txBody>
      </p:sp>
      <p:sp>
        <p:nvSpPr>
          <p:cNvPr id="136" name="TextBox 135">
            <a:extLst>
              <a:ext uri="{FF2B5EF4-FFF2-40B4-BE49-F238E27FC236}">
                <a16:creationId xmlns:a16="http://schemas.microsoft.com/office/drawing/2014/main" id="{618CFD7A-4404-F5E1-E40E-8F201961CB3A}"/>
              </a:ext>
            </a:extLst>
          </p:cNvPr>
          <p:cNvSpPr txBox="1"/>
          <p:nvPr/>
        </p:nvSpPr>
        <p:spPr>
          <a:xfrm>
            <a:off x="4253814" y="3982173"/>
            <a:ext cx="683200" cy="261610"/>
          </a:xfrm>
          <a:prstGeom prst="rect">
            <a:avLst/>
          </a:prstGeom>
          <a:noFill/>
        </p:spPr>
        <p:txBody>
          <a:bodyPr wrap="none" rtlCol="0">
            <a:spAutoFit/>
          </a:bodyPr>
          <a:lstStyle/>
          <a:p>
            <a:r>
              <a:rPr lang="en-US" sz="1100" i="1" dirty="0">
                <a:solidFill>
                  <a:srgbClr val="FFC000"/>
                </a:solidFill>
              </a:rPr>
              <a:t>Waiting.</a:t>
            </a:r>
          </a:p>
        </p:txBody>
      </p:sp>
      <p:sp>
        <p:nvSpPr>
          <p:cNvPr id="23" name="TextBox 22">
            <a:extLst>
              <a:ext uri="{FF2B5EF4-FFF2-40B4-BE49-F238E27FC236}">
                <a16:creationId xmlns:a16="http://schemas.microsoft.com/office/drawing/2014/main" id="{D9A52374-706A-EAAD-6B9B-BC547074284F}"/>
              </a:ext>
            </a:extLst>
          </p:cNvPr>
          <p:cNvSpPr txBox="1"/>
          <p:nvPr/>
        </p:nvSpPr>
        <p:spPr>
          <a:xfrm>
            <a:off x="2947872" y="2209718"/>
            <a:ext cx="649537" cy="246221"/>
          </a:xfrm>
          <a:prstGeom prst="rect">
            <a:avLst/>
          </a:prstGeom>
          <a:noFill/>
        </p:spPr>
        <p:txBody>
          <a:bodyPr wrap="none" rtlCol="0">
            <a:spAutoFit/>
          </a:bodyPr>
          <a:lstStyle/>
          <a:p>
            <a:pPr algn="ctr"/>
            <a:r>
              <a:rPr lang="en-US" sz="1000" dirty="0">
                <a:solidFill>
                  <a:srgbClr val="E1E1E1"/>
                </a:solidFill>
              </a:rPr>
              <a:t>Agent ID</a:t>
            </a:r>
          </a:p>
        </p:txBody>
      </p:sp>
      <p:sp>
        <p:nvSpPr>
          <p:cNvPr id="28" name="TextBox 27">
            <a:extLst>
              <a:ext uri="{FF2B5EF4-FFF2-40B4-BE49-F238E27FC236}">
                <a16:creationId xmlns:a16="http://schemas.microsoft.com/office/drawing/2014/main" id="{968EBFB4-4CC2-8A7B-E78E-A4BC0561FC27}"/>
              </a:ext>
            </a:extLst>
          </p:cNvPr>
          <p:cNvSpPr txBox="1"/>
          <p:nvPr/>
        </p:nvSpPr>
        <p:spPr>
          <a:xfrm>
            <a:off x="2647311" y="2620646"/>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0" name="TextBox 29">
            <a:extLst>
              <a:ext uri="{FF2B5EF4-FFF2-40B4-BE49-F238E27FC236}">
                <a16:creationId xmlns:a16="http://schemas.microsoft.com/office/drawing/2014/main" id="{68566B48-DEAE-17E9-AAE8-F126A01BA781}"/>
              </a:ext>
            </a:extLst>
          </p:cNvPr>
          <p:cNvSpPr txBox="1"/>
          <p:nvPr/>
        </p:nvSpPr>
        <p:spPr>
          <a:xfrm>
            <a:off x="2647311" y="3086580"/>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1" name="TextBox 30">
            <a:extLst>
              <a:ext uri="{FF2B5EF4-FFF2-40B4-BE49-F238E27FC236}">
                <a16:creationId xmlns:a16="http://schemas.microsoft.com/office/drawing/2014/main" id="{D6D7C9D2-E082-517C-D518-7889D691B738}"/>
              </a:ext>
            </a:extLst>
          </p:cNvPr>
          <p:cNvSpPr txBox="1"/>
          <p:nvPr/>
        </p:nvSpPr>
        <p:spPr>
          <a:xfrm>
            <a:off x="2647311" y="3545730"/>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2" name="TextBox 31">
            <a:extLst>
              <a:ext uri="{FF2B5EF4-FFF2-40B4-BE49-F238E27FC236}">
                <a16:creationId xmlns:a16="http://schemas.microsoft.com/office/drawing/2014/main" id="{8985DA0D-9017-C1BB-90B6-0D8C48FEF325}"/>
              </a:ext>
            </a:extLst>
          </p:cNvPr>
          <p:cNvSpPr txBox="1"/>
          <p:nvPr/>
        </p:nvSpPr>
        <p:spPr>
          <a:xfrm>
            <a:off x="2636441" y="4004880"/>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3" name="TextBox 32">
            <a:extLst>
              <a:ext uri="{FF2B5EF4-FFF2-40B4-BE49-F238E27FC236}">
                <a16:creationId xmlns:a16="http://schemas.microsoft.com/office/drawing/2014/main" id="{7F50DD1E-04B0-CED4-1A92-40071BD01BFB}"/>
              </a:ext>
            </a:extLst>
          </p:cNvPr>
          <p:cNvSpPr txBox="1"/>
          <p:nvPr/>
        </p:nvSpPr>
        <p:spPr>
          <a:xfrm>
            <a:off x="5445208" y="2092323"/>
            <a:ext cx="772505" cy="400110"/>
          </a:xfrm>
          <a:prstGeom prst="rect">
            <a:avLst/>
          </a:prstGeom>
          <a:noFill/>
        </p:spPr>
        <p:txBody>
          <a:bodyPr wrap="square" rtlCol="0">
            <a:spAutoFit/>
          </a:bodyPr>
          <a:lstStyle/>
          <a:p>
            <a:pPr algn="ctr"/>
            <a:r>
              <a:rPr lang="en-US" sz="1000" dirty="0">
                <a:solidFill>
                  <a:srgbClr val="E1E1E1"/>
                </a:solidFill>
              </a:rPr>
              <a:t>Job </a:t>
            </a:r>
          </a:p>
          <a:p>
            <a:pPr algn="ctr"/>
            <a:r>
              <a:rPr lang="en-US" sz="1000" dirty="0">
                <a:solidFill>
                  <a:srgbClr val="E1E1E1"/>
                </a:solidFill>
              </a:rPr>
              <a:t>Read</a:t>
            </a:r>
          </a:p>
        </p:txBody>
      </p:sp>
      <p:sp>
        <p:nvSpPr>
          <p:cNvPr id="34" name="TextBox 33">
            <a:extLst>
              <a:ext uri="{FF2B5EF4-FFF2-40B4-BE49-F238E27FC236}">
                <a16:creationId xmlns:a16="http://schemas.microsoft.com/office/drawing/2014/main" id="{FD9318E0-0626-FF6C-CD27-9F4F344493F5}"/>
              </a:ext>
            </a:extLst>
          </p:cNvPr>
          <p:cNvSpPr txBox="1"/>
          <p:nvPr/>
        </p:nvSpPr>
        <p:spPr>
          <a:xfrm>
            <a:off x="6129630" y="2105765"/>
            <a:ext cx="1037054" cy="400110"/>
          </a:xfrm>
          <a:prstGeom prst="rect">
            <a:avLst/>
          </a:prstGeom>
          <a:noFill/>
        </p:spPr>
        <p:txBody>
          <a:bodyPr wrap="square" rtlCol="0">
            <a:spAutoFit/>
          </a:bodyPr>
          <a:lstStyle/>
          <a:p>
            <a:pPr algn="ctr"/>
            <a:r>
              <a:rPr lang="en-US" sz="1000" dirty="0">
                <a:solidFill>
                  <a:srgbClr val="E1E1E1"/>
                </a:solidFill>
              </a:rPr>
              <a:t>Job Acknowledged</a:t>
            </a:r>
          </a:p>
        </p:txBody>
      </p:sp>
      <p:cxnSp>
        <p:nvCxnSpPr>
          <p:cNvPr id="41" name="Straight Connector 40">
            <a:extLst>
              <a:ext uri="{FF2B5EF4-FFF2-40B4-BE49-F238E27FC236}">
                <a16:creationId xmlns:a16="http://schemas.microsoft.com/office/drawing/2014/main" id="{BFCDA1A3-236A-4C05-C1A3-DC07C8E854CF}"/>
              </a:ext>
            </a:extLst>
          </p:cNvPr>
          <p:cNvCxnSpPr>
            <a:cxnSpLocks/>
          </p:cNvCxnSpPr>
          <p:nvPr/>
        </p:nvCxnSpPr>
        <p:spPr>
          <a:xfrm>
            <a:off x="11391357" y="2585825"/>
            <a:ext cx="0" cy="2327883"/>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545B947E-4113-613F-BF1F-D9083C3A1355}"/>
              </a:ext>
            </a:extLst>
          </p:cNvPr>
          <p:cNvCxnSpPr>
            <a:cxnSpLocks/>
          </p:cNvCxnSpPr>
          <p:nvPr/>
        </p:nvCxnSpPr>
        <p:spPr>
          <a:xfrm>
            <a:off x="11391357" y="2585825"/>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34DDD273-2F68-D697-DB7B-45E1ECBFD82D}"/>
              </a:ext>
            </a:extLst>
          </p:cNvPr>
          <p:cNvCxnSpPr>
            <a:cxnSpLocks/>
          </p:cNvCxnSpPr>
          <p:nvPr/>
        </p:nvCxnSpPr>
        <p:spPr>
          <a:xfrm>
            <a:off x="11391357" y="2625072"/>
            <a:ext cx="0" cy="2327883"/>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A544A1BF-22F0-AA02-D177-F9DF293351CB}"/>
              </a:ext>
            </a:extLst>
          </p:cNvPr>
          <p:cNvCxnSpPr>
            <a:cxnSpLocks/>
          </p:cNvCxnSpPr>
          <p:nvPr/>
        </p:nvCxnSpPr>
        <p:spPr>
          <a:xfrm>
            <a:off x="11391357" y="2625072"/>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sp>
        <p:nvSpPr>
          <p:cNvPr id="45" name="Rectangle: Rounded Corners 44">
            <a:extLst>
              <a:ext uri="{FF2B5EF4-FFF2-40B4-BE49-F238E27FC236}">
                <a16:creationId xmlns:a16="http://schemas.microsoft.com/office/drawing/2014/main" id="{BDC8D072-9546-BA11-AA90-B6B0B03A73A4}"/>
              </a:ext>
            </a:extLst>
          </p:cNvPr>
          <p:cNvSpPr/>
          <p:nvPr/>
        </p:nvSpPr>
        <p:spPr>
          <a:xfrm>
            <a:off x="3031449" y="5377380"/>
            <a:ext cx="5904873" cy="421811"/>
          </a:xfrm>
          <a:prstGeom prst="roundRect">
            <a:avLst>
              <a:gd name="adj" fmla="val 27474"/>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a:t>
            </a:r>
          </a:p>
        </p:txBody>
      </p:sp>
      <p:sp>
        <p:nvSpPr>
          <p:cNvPr id="46" name="Rectangle: Rounded Corners 45">
            <a:extLst>
              <a:ext uri="{FF2B5EF4-FFF2-40B4-BE49-F238E27FC236}">
                <a16:creationId xmlns:a16="http://schemas.microsoft.com/office/drawing/2014/main" id="{8020BEC3-7113-CD3F-CBC9-5F1EF9F91262}"/>
              </a:ext>
            </a:extLst>
          </p:cNvPr>
          <p:cNvSpPr/>
          <p:nvPr/>
        </p:nvSpPr>
        <p:spPr>
          <a:xfrm>
            <a:off x="522553" y="5375748"/>
            <a:ext cx="1132255" cy="421811"/>
          </a:xfrm>
          <a:prstGeom prst="roundRect">
            <a:avLst>
              <a:gd name="adj" fmla="val 27474"/>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1E3147"/>
                </a:solidFill>
              </a:rPr>
              <a:t>Message Orchestrator</a:t>
            </a:r>
          </a:p>
        </p:txBody>
      </p:sp>
      <p:sp>
        <p:nvSpPr>
          <p:cNvPr id="47" name="Rectangle: Rounded Corners 46">
            <a:extLst>
              <a:ext uri="{FF2B5EF4-FFF2-40B4-BE49-F238E27FC236}">
                <a16:creationId xmlns:a16="http://schemas.microsoft.com/office/drawing/2014/main" id="{688FD642-646A-D7D7-6EC4-13F7060C6443}"/>
              </a:ext>
            </a:extLst>
          </p:cNvPr>
          <p:cNvSpPr/>
          <p:nvPr/>
        </p:nvSpPr>
        <p:spPr>
          <a:xfrm>
            <a:off x="1753756" y="5378268"/>
            <a:ext cx="1178745" cy="421811"/>
          </a:xfrm>
          <a:prstGeom prst="roundRect">
            <a:avLst>
              <a:gd name="adj" fmla="val 27474"/>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1E1E1"/>
                </a:solidFill>
              </a:rPr>
              <a:t>Broadcast</a:t>
            </a:r>
          </a:p>
        </p:txBody>
      </p:sp>
      <p:sp>
        <p:nvSpPr>
          <p:cNvPr id="50" name="Oval 49">
            <a:extLst>
              <a:ext uri="{FF2B5EF4-FFF2-40B4-BE49-F238E27FC236}">
                <a16:creationId xmlns:a16="http://schemas.microsoft.com/office/drawing/2014/main" id="{5683BE65-1E45-AFE6-DFAF-4477C93A6475}"/>
              </a:ext>
            </a:extLst>
          </p:cNvPr>
          <p:cNvSpPr/>
          <p:nvPr/>
        </p:nvSpPr>
        <p:spPr>
          <a:xfrm>
            <a:off x="8997072" y="5441706"/>
            <a:ext cx="293929" cy="306770"/>
          </a:xfrm>
          <a:prstGeom prst="ellipse">
            <a:avLst/>
          </a:prstGeom>
          <a:solidFill>
            <a:srgbClr val="FFC3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 name="Graphic 48" descr="Play with solid fill">
            <a:extLst>
              <a:ext uri="{FF2B5EF4-FFF2-40B4-BE49-F238E27FC236}">
                <a16:creationId xmlns:a16="http://schemas.microsoft.com/office/drawing/2014/main" id="{7F3A0EF6-CE2F-DF11-0E2A-AB354EA855F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073173" y="5507713"/>
            <a:ext cx="174755" cy="174755"/>
          </a:xfrm>
          <a:prstGeom prst="rect">
            <a:avLst/>
          </a:prstGeom>
        </p:spPr>
      </p:pic>
      <p:sp>
        <p:nvSpPr>
          <p:cNvPr id="53" name="TextBox 52">
            <a:extLst>
              <a:ext uri="{FF2B5EF4-FFF2-40B4-BE49-F238E27FC236}">
                <a16:creationId xmlns:a16="http://schemas.microsoft.com/office/drawing/2014/main" id="{71BAD1D4-3A87-3D4B-9ECF-DA84B240D18A}"/>
              </a:ext>
            </a:extLst>
          </p:cNvPr>
          <p:cNvSpPr txBox="1"/>
          <p:nvPr/>
        </p:nvSpPr>
        <p:spPr>
          <a:xfrm>
            <a:off x="39778" y="47732"/>
            <a:ext cx="4306628" cy="369332"/>
          </a:xfrm>
          <a:prstGeom prst="rect">
            <a:avLst/>
          </a:prstGeom>
          <a:noFill/>
        </p:spPr>
        <p:txBody>
          <a:bodyPr wrap="none" rtlCol="0">
            <a:spAutoFit/>
          </a:bodyPr>
          <a:lstStyle/>
          <a:p>
            <a:r>
              <a:rPr lang="en-US" dirty="0">
                <a:solidFill>
                  <a:schemeClr val="accent5">
                    <a:lumMod val="60000"/>
                    <a:lumOff val="40000"/>
                  </a:schemeClr>
                </a:solidFill>
              </a:rPr>
              <a:t>SLIDE 4g – Implementation Tab. Elements</a:t>
            </a:r>
          </a:p>
        </p:txBody>
      </p:sp>
      <p:sp>
        <p:nvSpPr>
          <p:cNvPr id="10" name="TextBox 9">
            <a:extLst>
              <a:ext uri="{FF2B5EF4-FFF2-40B4-BE49-F238E27FC236}">
                <a16:creationId xmlns:a16="http://schemas.microsoft.com/office/drawing/2014/main" id="{80467552-A078-B828-93CC-DA695E901442}"/>
              </a:ext>
            </a:extLst>
          </p:cNvPr>
          <p:cNvSpPr txBox="1"/>
          <p:nvPr/>
        </p:nvSpPr>
        <p:spPr>
          <a:xfrm>
            <a:off x="9159175" y="2588302"/>
            <a:ext cx="260008" cy="261610"/>
          </a:xfrm>
          <a:prstGeom prst="rect">
            <a:avLst/>
          </a:prstGeom>
          <a:noFill/>
        </p:spPr>
        <p:txBody>
          <a:bodyPr wrap="square" rtlCol="0">
            <a:spAutoFit/>
          </a:bodyPr>
          <a:lstStyle/>
          <a:p>
            <a:r>
              <a:rPr lang="en-US" sz="1100" dirty="0">
                <a:solidFill>
                  <a:srgbClr val="E1E1E1"/>
                </a:solidFill>
              </a:rPr>
              <a:t>1</a:t>
            </a:r>
          </a:p>
        </p:txBody>
      </p:sp>
      <p:sp>
        <p:nvSpPr>
          <p:cNvPr id="61" name="TextBox 60">
            <a:extLst>
              <a:ext uri="{FF2B5EF4-FFF2-40B4-BE49-F238E27FC236}">
                <a16:creationId xmlns:a16="http://schemas.microsoft.com/office/drawing/2014/main" id="{F7513FEA-4DE3-9E3C-F974-3BDAFA335B1D}"/>
              </a:ext>
            </a:extLst>
          </p:cNvPr>
          <p:cNvSpPr txBox="1"/>
          <p:nvPr/>
        </p:nvSpPr>
        <p:spPr>
          <a:xfrm>
            <a:off x="5391856" y="141963"/>
            <a:ext cx="2248418" cy="1200329"/>
          </a:xfrm>
          <a:prstGeom prst="rect">
            <a:avLst/>
          </a:prstGeom>
          <a:noFill/>
          <a:ln>
            <a:solidFill>
              <a:schemeClr val="accent5">
                <a:lumMod val="60000"/>
                <a:lumOff val="40000"/>
              </a:schemeClr>
            </a:solidFill>
          </a:ln>
        </p:spPr>
        <p:txBody>
          <a:bodyPr wrap="square" rtlCol="0">
            <a:spAutoFit/>
          </a:bodyPr>
          <a:lstStyle/>
          <a:p>
            <a:r>
              <a:rPr lang="en-US" dirty="0" err="1">
                <a:solidFill>
                  <a:schemeClr val="accent5">
                    <a:lumMod val="60000"/>
                    <a:lumOff val="40000"/>
                  </a:schemeClr>
                </a:solidFill>
              </a:rPr>
              <a:t>Agentsr</a:t>
            </a:r>
            <a:r>
              <a:rPr lang="en-US" dirty="0">
                <a:solidFill>
                  <a:schemeClr val="accent5">
                    <a:lumMod val="60000"/>
                    <a:lumOff val="40000"/>
                  </a:schemeClr>
                </a:solidFill>
              </a:rPr>
              <a:t> may have sent messages, (speculative as an example)</a:t>
            </a:r>
          </a:p>
        </p:txBody>
      </p:sp>
      <p:cxnSp>
        <p:nvCxnSpPr>
          <p:cNvPr id="65" name="Straight Arrow Connector 64">
            <a:extLst>
              <a:ext uri="{FF2B5EF4-FFF2-40B4-BE49-F238E27FC236}">
                <a16:creationId xmlns:a16="http://schemas.microsoft.com/office/drawing/2014/main" id="{7C9961C8-D19A-5915-4A36-F9E4CBE770B9}"/>
              </a:ext>
            </a:extLst>
          </p:cNvPr>
          <p:cNvCxnSpPr>
            <a:cxnSpLocks/>
          </p:cNvCxnSpPr>
          <p:nvPr/>
        </p:nvCxnSpPr>
        <p:spPr>
          <a:xfrm>
            <a:off x="6776199" y="1342292"/>
            <a:ext cx="484026" cy="1251192"/>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67" name="Straight Arrow Connector 66">
            <a:extLst>
              <a:ext uri="{FF2B5EF4-FFF2-40B4-BE49-F238E27FC236}">
                <a16:creationId xmlns:a16="http://schemas.microsoft.com/office/drawing/2014/main" id="{06323009-9A75-A427-D025-5132EF0BEBB2}"/>
              </a:ext>
            </a:extLst>
          </p:cNvPr>
          <p:cNvCxnSpPr>
            <a:cxnSpLocks/>
          </p:cNvCxnSpPr>
          <p:nvPr/>
        </p:nvCxnSpPr>
        <p:spPr>
          <a:xfrm>
            <a:off x="7564875" y="1387986"/>
            <a:ext cx="590281" cy="1776751"/>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71" name="Straight Arrow Connector 70">
            <a:extLst>
              <a:ext uri="{FF2B5EF4-FFF2-40B4-BE49-F238E27FC236}">
                <a16:creationId xmlns:a16="http://schemas.microsoft.com/office/drawing/2014/main" id="{177746A9-7C02-54CC-9CF4-DA98465BCF6A}"/>
              </a:ext>
            </a:extLst>
          </p:cNvPr>
          <p:cNvCxnSpPr>
            <a:cxnSpLocks/>
          </p:cNvCxnSpPr>
          <p:nvPr/>
        </p:nvCxnSpPr>
        <p:spPr>
          <a:xfrm>
            <a:off x="7530926" y="1342292"/>
            <a:ext cx="624230" cy="2768668"/>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76" name="Straight Arrow Connector 75">
            <a:extLst>
              <a:ext uri="{FF2B5EF4-FFF2-40B4-BE49-F238E27FC236}">
                <a16:creationId xmlns:a16="http://schemas.microsoft.com/office/drawing/2014/main" id="{9A2B98F6-7C9A-D123-8414-4685F79C9A41}"/>
              </a:ext>
            </a:extLst>
          </p:cNvPr>
          <p:cNvCxnSpPr>
            <a:cxnSpLocks/>
          </p:cNvCxnSpPr>
          <p:nvPr/>
        </p:nvCxnSpPr>
        <p:spPr>
          <a:xfrm>
            <a:off x="7514253" y="1342292"/>
            <a:ext cx="640903" cy="2284726"/>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105" name="TextBox 104">
            <a:extLst>
              <a:ext uri="{FF2B5EF4-FFF2-40B4-BE49-F238E27FC236}">
                <a16:creationId xmlns:a16="http://schemas.microsoft.com/office/drawing/2014/main" id="{920D254F-7966-C04E-C6B5-17560ECDEE76}"/>
              </a:ext>
            </a:extLst>
          </p:cNvPr>
          <p:cNvSpPr txBox="1"/>
          <p:nvPr/>
        </p:nvSpPr>
        <p:spPr>
          <a:xfrm>
            <a:off x="9843164" y="384547"/>
            <a:ext cx="2025008" cy="830997"/>
          </a:xfrm>
          <a:prstGeom prst="rect">
            <a:avLst/>
          </a:prstGeom>
          <a:noFill/>
          <a:ln>
            <a:solidFill>
              <a:schemeClr val="accent5">
                <a:lumMod val="60000"/>
                <a:lumOff val="40000"/>
              </a:schemeClr>
            </a:solidFill>
          </a:ln>
        </p:spPr>
        <p:txBody>
          <a:bodyPr wrap="square" rtlCol="0">
            <a:spAutoFit/>
          </a:bodyPr>
          <a:lstStyle/>
          <a:p>
            <a:r>
              <a:rPr lang="en-US" sz="1200" dirty="0">
                <a:solidFill>
                  <a:schemeClr val="accent5">
                    <a:lumMod val="60000"/>
                    <a:lumOff val="40000"/>
                  </a:schemeClr>
                </a:solidFill>
              </a:rPr>
              <a:t>reuse here means prompt has been copied and thus ‘used’ but can be copied again</a:t>
            </a:r>
          </a:p>
        </p:txBody>
      </p:sp>
      <p:cxnSp>
        <p:nvCxnSpPr>
          <p:cNvPr id="107" name="Straight Arrow Connector 106">
            <a:extLst>
              <a:ext uri="{FF2B5EF4-FFF2-40B4-BE49-F238E27FC236}">
                <a16:creationId xmlns:a16="http://schemas.microsoft.com/office/drawing/2014/main" id="{DECE3F8C-3D05-CDCD-F5FB-6A8C2E920E4E}"/>
              </a:ext>
            </a:extLst>
          </p:cNvPr>
          <p:cNvCxnSpPr>
            <a:cxnSpLocks/>
            <a:stCxn id="105" idx="2"/>
          </p:cNvCxnSpPr>
          <p:nvPr/>
        </p:nvCxnSpPr>
        <p:spPr>
          <a:xfrm flipH="1">
            <a:off x="10058973" y="1215544"/>
            <a:ext cx="796695" cy="1420722"/>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pic>
        <p:nvPicPr>
          <p:cNvPr id="113" name="Graphic 112" descr="Repeat outline">
            <a:extLst>
              <a:ext uri="{FF2B5EF4-FFF2-40B4-BE49-F238E27FC236}">
                <a16:creationId xmlns:a16="http://schemas.microsoft.com/office/drawing/2014/main" id="{EB59FBE7-2C5B-2C5E-BC98-54875B5C79D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946626" y="2668570"/>
            <a:ext cx="261611" cy="261611"/>
          </a:xfrm>
          <a:prstGeom prst="rect">
            <a:avLst/>
          </a:prstGeom>
        </p:spPr>
      </p:pic>
      <p:sp>
        <p:nvSpPr>
          <p:cNvPr id="7" name="Oval 6">
            <a:extLst>
              <a:ext uri="{FF2B5EF4-FFF2-40B4-BE49-F238E27FC236}">
                <a16:creationId xmlns:a16="http://schemas.microsoft.com/office/drawing/2014/main" id="{3F405E98-C24E-CE1D-2D55-D35E4895EB9F}"/>
              </a:ext>
            </a:extLst>
          </p:cNvPr>
          <p:cNvSpPr/>
          <p:nvPr/>
        </p:nvSpPr>
        <p:spPr>
          <a:xfrm>
            <a:off x="1815090" y="1876161"/>
            <a:ext cx="174503" cy="184050"/>
          </a:xfrm>
          <a:prstGeom prst="ellipse">
            <a:avLst/>
          </a:prstGeom>
          <a:solidFill>
            <a:srgbClr val="1E31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62C8E980-66DB-9FF8-129B-940F11DF09F8}"/>
              </a:ext>
            </a:extLst>
          </p:cNvPr>
          <p:cNvSpPr txBox="1"/>
          <p:nvPr/>
        </p:nvSpPr>
        <p:spPr>
          <a:xfrm>
            <a:off x="7282334" y="2637658"/>
            <a:ext cx="260008" cy="261610"/>
          </a:xfrm>
          <a:prstGeom prst="rect">
            <a:avLst/>
          </a:prstGeom>
          <a:noFill/>
        </p:spPr>
        <p:txBody>
          <a:bodyPr wrap="square" rtlCol="0">
            <a:spAutoFit/>
          </a:bodyPr>
          <a:lstStyle/>
          <a:p>
            <a:r>
              <a:rPr lang="en-US" sz="1100" dirty="0">
                <a:solidFill>
                  <a:srgbClr val="E1E1E1"/>
                </a:solidFill>
              </a:rPr>
              <a:t>5</a:t>
            </a:r>
          </a:p>
        </p:txBody>
      </p:sp>
      <p:sp>
        <p:nvSpPr>
          <p:cNvPr id="9" name="TextBox 8">
            <a:extLst>
              <a:ext uri="{FF2B5EF4-FFF2-40B4-BE49-F238E27FC236}">
                <a16:creationId xmlns:a16="http://schemas.microsoft.com/office/drawing/2014/main" id="{2917DA50-CC4E-BB03-D989-0BADCF4366D8}"/>
              </a:ext>
            </a:extLst>
          </p:cNvPr>
          <p:cNvSpPr txBox="1"/>
          <p:nvPr/>
        </p:nvSpPr>
        <p:spPr>
          <a:xfrm>
            <a:off x="8155156" y="3033932"/>
            <a:ext cx="260008" cy="261610"/>
          </a:xfrm>
          <a:prstGeom prst="rect">
            <a:avLst/>
          </a:prstGeom>
          <a:noFill/>
        </p:spPr>
        <p:txBody>
          <a:bodyPr wrap="square" rtlCol="0">
            <a:spAutoFit/>
          </a:bodyPr>
          <a:lstStyle/>
          <a:p>
            <a:r>
              <a:rPr lang="en-US" sz="1100" dirty="0">
                <a:solidFill>
                  <a:srgbClr val="E1E1E1"/>
                </a:solidFill>
              </a:rPr>
              <a:t>1</a:t>
            </a:r>
          </a:p>
        </p:txBody>
      </p:sp>
      <p:sp>
        <p:nvSpPr>
          <p:cNvPr id="11" name="TextBox 10">
            <a:extLst>
              <a:ext uri="{FF2B5EF4-FFF2-40B4-BE49-F238E27FC236}">
                <a16:creationId xmlns:a16="http://schemas.microsoft.com/office/drawing/2014/main" id="{15220B60-22BF-432D-7074-8868F634D8EF}"/>
              </a:ext>
            </a:extLst>
          </p:cNvPr>
          <p:cNvSpPr txBox="1"/>
          <p:nvPr/>
        </p:nvSpPr>
        <p:spPr>
          <a:xfrm>
            <a:off x="8155156" y="3980155"/>
            <a:ext cx="260008" cy="261610"/>
          </a:xfrm>
          <a:prstGeom prst="rect">
            <a:avLst/>
          </a:prstGeom>
          <a:noFill/>
        </p:spPr>
        <p:txBody>
          <a:bodyPr wrap="square" rtlCol="0">
            <a:spAutoFit/>
          </a:bodyPr>
          <a:lstStyle/>
          <a:p>
            <a:r>
              <a:rPr lang="en-US" sz="1100" dirty="0">
                <a:solidFill>
                  <a:srgbClr val="E1E1E1"/>
                </a:solidFill>
              </a:rPr>
              <a:t>1</a:t>
            </a:r>
          </a:p>
        </p:txBody>
      </p:sp>
      <p:sp>
        <p:nvSpPr>
          <p:cNvPr id="12" name="TextBox 11">
            <a:extLst>
              <a:ext uri="{FF2B5EF4-FFF2-40B4-BE49-F238E27FC236}">
                <a16:creationId xmlns:a16="http://schemas.microsoft.com/office/drawing/2014/main" id="{B45A80E0-D65E-703F-6408-4D59528A4261}"/>
              </a:ext>
            </a:extLst>
          </p:cNvPr>
          <p:cNvSpPr txBox="1"/>
          <p:nvPr/>
        </p:nvSpPr>
        <p:spPr>
          <a:xfrm>
            <a:off x="8155156" y="3496213"/>
            <a:ext cx="260008" cy="261610"/>
          </a:xfrm>
          <a:prstGeom prst="rect">
            <a:avLst/>
          </a:prstGeom>
          <a:noFill/>
        </p:spPr>
        <p:txBody>
          <a:bodyPr wrap="square" rtlCol="0">
            <a:spAutoFit/>
          </a:bodyPr>
          <a:lstStyle/>
          <a:p>
            <a:r>
              <a:rPr lang="en-US" sz="1100" dirty="0">
                <a:solidFill>
                  <a:srgbClr val="E1E1E1"/>
                </a:solidFill>
              </a:rPr>
              <a:t>1</a:t>
            </a:r>
          </a:p>
        </p:txBody>
      </p:sp>
      <p:pic>
        <p:nvPicPr>
          <p:cNvPr id="14" name="Graphic 13" descr="Badge Tick1 with solid fill">
            <a:extLst>
              <a:ext uri="{FF2B5EF4-FFF2-40B4-BE49-F238E27FC236}">
                <a16:creationId xmlns:a16="http://schemas.microsoft.com/office/drawing/2014/main" id="{E1FCE2F2-0226-1B28-7895-CDBF121D433E}"/>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720452" y="2644852"/>
            <a:ext cx="222015" cy="222015"/>
          </a:xfrm>
          <a:prstGeom prst="rect">
            <a:avLst/>
          </a:prstGeom>
        </p:spPr>
      </p:pic>
      <p:pic>
        <p:nvPicPr>
          <p:cNvPr id="15" name="Graphic 14" descr="Badge Tick1 with solid fill">
            <a:extLst>
              <a:ext uri="{FF2B5EF4-FFF2-40B4-BE49-F238E27FC236}">
                <a16:creationId xmlns:a16="http://schemas.microsoft.com/office/drawing/2014/main" id="{8F02EEF7-B1DA-7986-7D2D-8A272DCB60D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554184" y="2644851"/>
            <a:ext cx="222015" cy="222015"/>
          </a:xfrm>
          <a:prstGeom prst="rect">
            <a:avLst/>
          </a:prstGeom>
        </p:spPr>
      </p:pic>
      <p:sp>
        <p:nvSpPr>
          <p:cNvPr id="18" name="TextBox 17">
            <a:extLst>
              <a:ext uri="{FF2B5EF4-FFF2-40B4-BE49-F238E27FC236}">
                <a16:creationId xmlns:a16="http://schemas.microsoft.com/office/drawing/2014/main" id="{8759FF3E-3EBF-D671-8705-1D3EF0D13B56}"/>
              </a:ext>
            </a:extLst>
          </p:cNvPr>
          <p:cNvSpPr txBox="1"/>
          <p:nvPr/>
        </p:nvSpPr>
        <p:spPr>
          <a:xfrm>
            <a:off x="9159175" y="2588302"/>
            <a:ext cx="260008" cy="261610"/>
          </a:xfrm>
          <a:prstGeom prst="rect">
            <a:avLst/>
          </a:prstGeom>
          <a:noFill/>
        </p:spPr>
        <p:txBody>
          <a:bodyPr wrap="square" rtlCol="0">
            <a:spAutoFit/>
          </a:bodyPr>
          <a:lstStyle/>
          <a:p>
            <a:r>
              <a:rPr lang="en-US" sz="1100" dirty="0">
                <a:solidFill>
                  <a:srgbClr val="E1E1E1"/>
                </a:solidFill>
              </a:rPr>
              <a:t>1</a:t>
            </a:r>
          </a:p>
        </p:txBody>
      </p:sp>
      <p:sp>
        <p:nvSpPr>
          <p:cNvPr id="21" name="TextBox 20">
            <a:extLst>
              <a:ext uri="{FF2B5EF4-FFF2-40B4-BE49-F238E27FC236}">
                <a16:creationId xmlns:a16="http://schemas.microsoft.com/office/drawing/2014/main" id="{6EEBFF51-F8D4-111E-E7F1-7F24C48AE107}"/>
              </a:ext>
            </a:extLst>
          </p:cNvPr>
          <p:cNvSpPr txBox="1"/>
          <p:nvPr/>
        </p:nvSpPr>
        <p:spPr>
          <a:xfrm>
            <a:off x="9150764" y="3089171"/>
            <a:ext cx="260008" cy="261610"/>
          </a:xfrm>
          <a:prstGeom prst="rect">
            <a:avLst/>
          </a:prstGeom>
          <a:noFill/>
        </p:spPr>
        <p:txBody>
          <a:bodyPr wrap="square" rtlCol="0">
            <a:spAutoFit/>
          </a:bodyPr>
          <a:lstStyle/>
          <a:p>
            <a:r>
              <a:rPr lang="en-US" sz="1100" dirty="0">
                <a:solidFill>
                  <a:srgbClr val="E1E1E1"/>
                </a:solidFill>
              </a:rPr>
              <a:t>1</a:t>
            </a:r>
          </a:p>
        </p:txBody>
      </p:sp>
      <p:sp>
        <p:nvSpPr>
          <p:cNvPr id="22" name="TextBox 21">
            <a:extLst>
              <a:ext uri="{FF2B5EF4-FFF2-40B4-BE49-F238E27FC236}">
                <a16:creationId xmlns:a16="http://schemas.microsoft.com/office/drawing/2014/main" id="{45E0F67E-6634-F91A-4505-2BB2B28F9866}"/>
              </a:ext>
            </a:extLst>
          </p:cNvPr>
          <p:cNvSpPr txBox="1"/>
          <p:nvPr/>
        </p:nvSpPr>
        <p:spPr>
          <a:xfrm>
            <a:off x="9144036" y="3527404"/>
            <a:ext cx="260008" cy="261610"/>
          </a:xfrm>
          <a:prstGeom prst="rect">
            <a:avLst/>
          </a:prstGeom>
          <a:noFill/>
        </p:spPr>
        <p:txBody>
          <a:bodyPr wrap="square" rtlCol="0">
            <a:spAutoFit/>
          </a:bodyPr>
          <a:lstStyle/>
          <a:p>
            <a:r>
              <a:rPr lang="en-US" sz="1100" dirty="0">
                <a:solidFill>
                  <a:srgbClr val="E1E1E1"/>
                </a:solidFill>
              </a:rPr>
              <a:t>1</a:t>
            </a:r>
          </a:p>
        </p:txBody>
      </p:sp>
      <p:sp>
        <p:nvSpPr>
          <p:cNvPr id="35" name="TextBox 34">
            <a:extLst>
              <a:ext uri="{FF2B5EF4-FFF2-40B4-BE49-F238E27FC236}">
                <a16:creationId xmlns:a16="http://schemas.microsoft.com/office/drawing/2014/main" id="{FB0C9BB1-A9FD-3DDB-CB12-0AA15D10B321}"/>
              </a:ext>
            </a:extLst>
          </p:cNvPr>
          <p:cNvSpPr txBox="1"/>
          <p:nvPr/>
        </p:nvSpPr>
        <p:spPr>
          <a:xfrm>
            <a:off x="9139848" y="3984237"/>
            <a:ext cx="260008" cy="261610"/>
          </a:xfrm>
          <a:prstGeom prst="rect">
            <a:avLst/>
          </a:prstGeom>
          <a:noFill/>
        </p:spPr>
        <p:txBody>
          <a:bodyPr wrap="square" rtlCol="0">
            <a:spAutoFit/>
          </a:bodyPr>
          <a:lstStyle/>
          <a:p>
            <a:r>
              <a:rPr lang="en-US" sz="1100" dirty="0">
                <a:solidFill>
                  <a:srgbClr val="E1E1E1"/>
                </a:solidFill>
              </a:rPr>
              <a:t>1</a:t>
            </a:r>
          </a:p>
        </p:txBody>
      </p:sp>
      <p:pic>
        <p:nvPicPr>
          <p:cNvPr id="38" name="Graphic 37" descr="Badge Tick1 with solid fill">
            <a:extLst>
              <a:ext uri="{FF2B5EF4-FFF2-40B4-BE49-F238E27FC236}">
                <a16:creationId xmlns:a16="http://schemas.microsoft.com/office/drawing/2014/main" id="{FDDF3198-E5BE-E157-2556-0528689EF582}"/>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707274" y="3200409"/>
            <a:ext cx="222015" cy="222015"/>
          </a:xfrm>
          <a:prstGeom prst="rect">
            <a:avLst/>
          </a:prstGeom>
        </p:spPr>
      </p:pic>
      <p:pic>
        <p:nvPicPr>
          <p:cNvPr id="39" name="Graphic 38" descr="Badge Tick1 with solid fill">
            <a:extLst>
              <a:ext uri="{FF2B5EF4-FFF2-40B4-BE49-F238E27FC236}">
                <a16:creationId xmlns:a16="http://schemas.microsoft.com/office/drawing/2014/main" id="{11BFB129-C145-B2A9-ADEA-29C53BADFB92}"/>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541006" y="3200408"/>
            <a:ext cx="222015" cy="222015"/>
          </a:xfrm>
          <a:prstGeom prst="rect">
            <a:avLst/>
          </a:prstGeom>
        </p:spPr>
      </p:pic>
      <p:pic>
        <p:nvPicPr>
          <p:cNvPr id="40" name="Graphic 39" descr="Badge Tick1 with solid fill">
            <a:extLst>
              <a:ext uri="{FF2B5EF4-FFF2-40B4-BE49-F238E27FC236}">
                <a16:creationId xmlns:a16="http://schemas.microsoft.com/office/drawing/2014/main" id="{4B491E5A-740B-BF3B-2739-0B7AC58EC61F}"/>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691059" y="3606311"/>
            <a:ext cx="222015" cy="222015"/>
          </a:xfrm>
          <a:prstGeom prst="rect">
            <a:avLst/>
          </a:prstGeom>
        </p:spPr>
      </p:pic>
      <p:pic>
        <p:nvPicPr>
          <p:cNvPr id="48" name="Graphic 47" descr="Badge Tick1 with solid fill">
            <a:extLst>
              <a:ext uri="{FF2B5EF4-FFF2-40B4-BE49-F238E27FC236}">
                <a16:creationId xmlns:a16="http://schemas.microsoft.com/office/drawing/2014/main" id="{FA4685E1-53D9-E5D5-78B9-9827C57F2D07}"/>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524791" y="3606310"/>
            <a:ext cx="222015" cy="222015"/>
          </a:xfrm>
          <a:prstGeom prst="rect">
            <a:avLst/>
          </a:prstGeom>
        </p:spPr>
      </p:pic>
      <p:pic>
        <p:nvPicPr>
          <p:cNvPr id="51" name="Graphic 50" descr="Badge Tick1 with solid fill">
            <a:extLst>
              <a:ext uri="{FF2B5EF4-FFF2-40B4-BE49-F238E27FC236}">
                <a16:creationId xmlns:a16="http://schemas.microsoft.com/office/drawing/2014/main" id="{7C8B1F3D-3D70-D553-AFEF-CDA862192BEC}"/>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720452" y="3985522"/>
            <a:ext cx="222015" cy="222015"/>
          </a:xfrm>
          <a:prstGeom prst="rect">
            <a:avLst/>
          </a:prstGeom>
        </p:spPr>
      </p:pic>
      <p:pic>
        <p:nvPicPr>
          <p:cNvPr id="52" name="Graphic 51" descr="Badge Tick1 with solid fill">
            <a:extLst>
              <a:ext uri="{FF2B5EF4-FFF2-40B4-BE49-F238E27FC236}">
                <a16:creationId xmlns:a16="http://schemas.microsoft.com/office/drawing/2014/main" id="{31C35868-9529-88FE-36BC-EE8135E74D96}"/>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554184" y="3985521"/>
            <a:ext cx="222015" cy="222015"/>
          </a:xfrm>
          <a:prstGeom prst="rect">
            <a:avLst/>
          </a:prstGeom>
        </p:spPr>
      </p:pic>
      <p:sp>
        <p:nvSpPr>
          <p:cNvPr id="54" name="TextBox 53">
            <a:extLst>
              <a:ext uri="{FF2B5EF4-FFF2-40B4-BE49-F238E27FC236}">
                <a16:creationId xmlns:a16="http://schemas.microsoft.com/office/drawing/2014/main" id="{DED85657-A84F-5F2E-E645-AC6146C3DEF3}"/>
              </a:ext>
            </a:extLst>
          </p:cNvPr>
          <p:cNvSpPr txBox="1"/>
          <p:nvPr/>
        </p:nvSpPr>
        <p:spPr>
          <a:xfrm>
            <a:off x="7288756" y="3184834"/>
            <a:ext cx="260008" cy="261610"/>
          </a:xfrm>
          <a:prstGeom prst="rect">
            <a:avLst/>
          </a:prstGeom>
          <a:noFill/>
        </p:spPr>
        <p:txBody>
          <a:bodyPr wrap="square" rtlCol="0">
            <a:spAutoFit/>
          </a:bodyPr>
          <a:lstStyle/>
          <a:p>
            <a:r>
              <a:rPr lang="en-US" sz="1100" dirty="0">
                <a:solidFill>
                  <a:srgbClr val="E1E1E1"/>
                </a:solidFill>
              </a:rPr>
              <a:t>1</a:t>
            </a:r>
          </a:p>
        </p:txBody>
      </p:sp>
      <p:sp>
        <p:nvSpPr>
          <p:cNvPr id="55" name="TextBox 54">
            <a:extLst>
              <a:ext uri="{FF2B5EF4-FFF2-40B4-BE49-F238E27FC236}">
                <a16:creationId xmlns:a16="http://schemas.microsoft.com/office/drawing/2014/main" id="{B6AA74F2-C827-B316-6BBF-4621FB60D806}"/>
              </a:ext>
            </a:extLst>
          </p:cNvPr>
          <p:cNvSpPr txBox="1"/>
          <p:nvPr/>
        </p:nvSpPr>
        <p:spPr>
          <a:xfrm>
            <a:off x="7279209" y="3945926"/>
            <a:ext cx="260008" cy="261610"/>
          </a:xfrm>
          <a:prstGeom prst="rect">
            <a:avLst/>
          </a:prstGeom>
          <a:noFill/>
        </p:spPr>
        <p:txBody>
          <a:bodyPr wrap="square" rtlCol="0">
            <a:spAutoFit/>
          </a:bodyPr>
          <a:lstStyle/>
          <a:p>
            <a:r>
              <a:rPr lang="en-US" sz="1100" dirty="0">
                <a:solidFill>
                  <a:srgbClr val="E1E1E1"/>
                </a:solidFill>
              </a:rPr>
              <a:t>1</a:t>
            </a:r>
          </a:p>
        </p:txBody>
      </p:sp>
      <p:cxnSp>
        <p:nvCxnSpPr>
          <p:cNvPr id="56" name="Straight Arrow Connector 55">
            <a:extLst>
              <a:ext uri="{FF2B5EF4-FFF2-40B4-BE49-F238E27FC236}">
                <a16:creationId xmlns:a16="http://schemas.microsoft.com/office/drawing/2014/main" id="{0A4006FB-4B79-4D05-2F9B-5A676E2760B7}"/>
              </a:ext>
            </a:extLst>
          </p:cNvPr>
          <p:cNvCxnSpPr>
            <a:cxnSpLocks/>
            <a:endCxn id="55" idx="0"/>
          </p:cNvCxnSpPr>
          <p:nvPr/>
        </p:nvCxnSpPr>
        <p:spPr>
          <a:xfrm>
            <a:off x="6776199" y="1342292"/>
            <a:ext cx="633014" cy="2603634"/>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60" name="Straight Arrow Connector 59">
            <a:extLst>
              <a:ext uri="{FF2B5EF4-FFF2-40B4-BE49-F238E27FC236}">
                <a16:creationId xmlns:a16="http://schemas.microsoft.com/office/drawing/2014/main" id="{25031C73-E392-156B-8B65-E54B764BEC6B}"/>
              </a:ext>
            </a:extLst>
          </p:cNvPr>
          <p:cNvCxnSpPr>
            <a:cxnSpLocks/>
            <a:endCxn id="54" idx="0"/>
          </p:cNvCxnSpPr>
          <p:nvPr/>
        </p:nvCxnSpPr>
        <p:spPr>
          <a:xfrm>
            <a:off x="6776199" y="1334840"/>
            <a:ext cx="642561" cy="1849994"/>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pic>
        <p:nvPicPr>
          <p:cNvPr id="64" name="Graphic 63" descr="Repeat outline">
            <a:extLst>
              <a:ext uri="{FF2B5EF4-FFF2-40B4-BE49-F238E27FC236}">
                <a16:creationId xmlns:a16="http://schemas.microsoft.com/office/drawing/2014/main" id="{EE5A2043-2B7A-8FED-F769-2B16F9FE2EC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940000" y="3078884"/>
            <a:ext cx="261611" cy="261611"/>
          </a:xfrm>
          <a:prstGeom prst="rect">
            <a:avLst/>
          </a:prstGeom>
        </p:spPr>
      </p:pic>
      <p:pic>
        <p:nvPicPr>
          <p:cNvPr id="66" name="Graphic 65" descr="Repeat outline">
            <a:extLst>
              <a:ext uri="{FF2B5EF4-FFF2-40B4-BE49-F238E27FC236}">
                <a16:creationId xmlns:a16="http://schemas.microsoft.com/office/drawing/2014/main" id="{2F6404C0-E420-DF92-790F-65F8946617E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937953" y="3496213"/>
            <a:ext cx="261611" cy="261611"/>
          </a:xfrm>
          <a:prstGeom prst="rect">
            <a:avLst/>
          </a:prstGeom>
        </p:spPr>
      </p:pic>
      <p:pic>
        <p:nvPicPr>
          <p:cNvPr id="68" name="Graphic 67" descr="Repeat outline">
            <a:extLst>
              <a:ext uri="{FF2B5EF4-FFF2-40B4-BE49-F238E27FC236}">
                <a16:creationId xmlns:a16="http://schemas.microsoft.com/office/drawing/2014/main" id="{7212E2DE-D899-BE43-81CD-B0137B99C15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932763" y="3945925"/>
            <a:ext cx="261611" cy="261611"/>
          </a:xfrm>
          <a:prstGeom prst="rect">
            <a:avLst/>
          </a:prstGeom>
        </p:spPr>
      </p:pic>
      <p:sp>
        <p:nvSpPr>
          <p:cNvPr id="69" name="TextBox 68">
            <a:extLst>
              <a:ext uri="{FF2B5EF4-FFF2-40B4-BE49-F238E27FC236}">
                <a16:creationId xmlns:a16="http://schemas.microsoft.com/office/drawing/2014/main" id="{018D7022-8806-F46E-6EC5-2400DA1EB2CC}"/>
              </a:ext>
            </a:extLst>
          </p:cNvPr>
          <p:cNvSpPr txBox="1"/>
          <p:nvPr/>
        </p:nvSpPr>
        <p:spPr>
          <a:xfrm>
            <a:off x="390687" y="6097720"/>
            <a:ext cx="3420476" cy="646331"/>
          </a:xfrm>
          <a:prstGeom prst="rect">
            <a:avLst/>
          </a:prstGeom>
          <a:solidFill>
            <a:schemeClr val="accent3">
              <a:lumMod val="75000"/>
            </a:schemeClr>
          </a:solidFill>
          <a:ln>
            <a:solidFill>
              <a:schemeClr val="accent5">
                <a:lumMod val="60000"/>
                <a:lumOff val="40000"/>
              </a:schemeClr>
            </a:solidFill>
          </a:ln>
        </p:spPr>
        <p:txBody>
          <a:bodyPr wrap="square" rtlCol="0">
            <a:spAutoFit/>
          </a:bodyPr>
          <a:lstStyle/>
          <a:p>
            <a:r>
              <a:rPr lang="en-US" dirty="0">
                <a:solidFill>
                  <a:schemeClr val="bg1"/>
                </a:solidFill>
              </a:rPr>
              <a:t>General CLI MODE</a:t>
            </a:r>
          </a:p>
          <a:p>
            <a:r>
              <a:rPr lang="en-US" dirty="0">
                <a:solidFill>
                  <a:schemeClr val="bg1"/>
                </a:solidFill>
              </a:rPr>
              <a:t>(individual terminals for agents</a:t>
            </a:r>
          </a:p>
        </p:txBody>
      </p:sp>
    </p:spTree>
    <p:extLst>
      <p:ext uri="{BB962C8B-B14F-4D97-AF65-F5344CB8AC3E}">
        <p14:creationId xmlns:p14="http://schemas.microsoft.com/office/powerpoint/2010/main" val="134909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7A8A7-D30B-7DBB-0CB7-E406FE1C2A80}"/>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C7426C44-0570-C175-4DBB-FEFFBE3FC9FD}"/>
              </a:ext>
            </a:extLst>
          </p:cNvPr>
          <p:cNvSpPr/>
          <p:nvPr/>
        </p:nvSpPr>
        <p:spPr>
          <a:xfrm>
            <a:off x="503403" y="1334840"/>
            <a:ext cx="2218513" cy="1071163"/>
          </a:xfrm>
          <a:prstGeom prst="roundRect">
            <a:avLst>
              <a:gd name="adj" fmla="val 15806"/>
            </a:avLst>
          </a:prstGeom>
          <a:no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6D42217F-D5D0-B808-FBA9-886C16501719}"/>
              </a:ext>
            </a:extLst>
          </p:cNvPr>
          <p:cNvSpPr txBox="1"/>
          <p:nvPr/>
        </p:nvSpPr>
        <p:spPr>
          <a:xfrm>
            <a:off x="516531" y="677075"/>
            <a:ext cx="2514919" cy="553998"/>
          </a:xfrm>
          <a:prstGeom prst="rect">
            <a:avLst/>
          </a:prstGeom>
          <a:noFill/>
        </p:spPr>
        <p:txBody>
          <a:bodyPr wrap="none" rtlCol="0">
            <a:spAutoFit/>
          </a:bodyPr>
          <a:lstStyle/>
          <a:p>
            <a:r>
              <a:rPr lang="en-US" dirty="0">
                <a:solidFill>
                  <a:srgbClr val="E1E1E1"/>
                </a:solidFill>
              </a:rPr>
              <a:t>Project: </a:t>
            </a:r>
            <a:r>
              <a:rPr lang="en-US" dirty="0">
                <a:solidFill>
                  <a:srgbClr val="FFC300"/>
                </a:solidFill>
              </a:rPr>
              <a:t>{</a:t>
            </a:r>
            <a:r>
              <a:rPr lang="en-US" dirty="0" err="1">
                <a:solidFill>
                  <a:srgbClr val="FFC300"/>
                </a:solidFill>
              </a:rPr>
              <a:t>project_name</a:t>
            </a:r>
            <a:r>
              <a:rPr lang="en-US" dirty="0">
                <a:solidFill>
                  <a:srgbClr val="FFC300"/>
                </a:solidFill>
              </a:rPr>
              <a:t>}</a:t>
            </a:r>
          </a:p>
          <a:p>
            <a:r>
              <a:rPr lang="en-US" sz="1200" dirty="0">
                <a:solidFill>
                  <a:srgbClr val="8F97B7"/>
                </a:solidFill>
              </a:rPr>
              <a:t>Project ID: {</a:t>
            </a:r>
            <a:r>
              <a:rPr lang="en-US" sz="1200" dirty="0" err="1">
                <a:solidFill>
                  <a:srgbClr val="8F97B7"/>
                </a:solidFill>
              </a:rPr>
              <a:t>full_UUID</a:t>
            </a:r>
            <a:r>
              <a:rPr lang="en-US" sz="1200" dirty="0">
                <a:solidFill>
                  <a:srgbClr val="8F97B7"/>
                </a:solidFill>
              </a:rPr>
              <a:t>}</a:t>
            </a:r>
          </a:p>
        </p:txBody>
      </p:sp>
      <p:sp>
        <p:nvSpPr>
          <p:cNvPr id="3" name="Rectangle: Rounded Corners 2">
            <a:extLst>
              <a:ext uri="{FF2B5EF4-FFF2-40B4-BE49-F238E27FC236}">
                <a16:creationId xmlns:a16="http://schemas.microsoft.com/office/drawing/2014/main" id="{1FE82EBB-CBD1-5AD3-D558-487FC1E6F2D7}"/>
              </a:ext>
            </a:extLst>
          </p:cNvPr>
          <p:cNvSpPr/>
          <p:nvPr/>
        </p:nvSpPr>
        <p:spPr>
          <a:xfrm>
            <a:off x="1643382" y="1342292"/>
            <a:ext cx="1805578" cy="969932"/>
          </a:xfrm>
          <a:prstGeom prst="roundRect">
            <a:avLst>
              <a:gd name="adj" fmla="val 17766"/>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1932F40-D5CF-9469-B5C7-8DCE6F2B9C21}"/>
              </a:ext>
            </a:extLst>
          </p:cNvPr>
          <p:cNvSpPr txBox="1"/>
          <p:nvPr/>
        </p:nvSpPr>
        <p:spPr>
          <a:xfrm>
            <a:off x="682981" y="1327205"/>
            <a:ext cx="929678" cy="369332"/>
          </a:xfrm>
          <a:prstGeom prst="rect">
            <a:avLst/>
          </a:prstGeom>
          <a:noFill/>
        </p:spPr>
        <p:txBody>
          <a:bodyPr wrap="none" rtlCol="0">
            <a:spAutoFit/>
          </a:bodyPr>
          <a:lstStyle/>
          <a:p>
            <a:r>
              <a:rPr lang="en-US" dirty="0">
                <a:solidFill>
                  <a:srgbClr val="1E3147"/>
                </a:solidFill>
              </a:rPr>
              <a:t>Launch</a:t>
            </a:r>
          </a:p>
        </p:txBody>
      </p:sp>
      <p:sp>
        <p:nvSpPr>
          <p:cNvPr id="6" name="Rectangle: Rounded Corners 5">
            <a:extLst>
              <a:ext uri="{FF2B5EF4-FFF2-40B4-BE49-F238E27FC236}">
                <a16:creationId xmlns:a16="http://schemas.microsoft.com/office/drawing/2014/main" id="{0F74BBE7-B674-9426-ED52-B5318838ABEB}"/>
              </a:ext>
            </a:extLst>
          </p:cNvPr>
          <p:cNvSpPr/>
          <p:nvPr/>
        </p:nvSpPr>
        <p:spPr>
          <a:xfrm>
            <a:off x="503403" y="1668256"/>
            <a:ext cx="11185191" cy="3476117"/>
          </a:xfrm>
          <a:prstGeom prst="roundRect">
            <a:avLst>
              <a:gd name="adj" fmla="val 5962"/>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74B5AA6A-CE62-6BFE-9CA2-13B5B6927FC2}"/>
              </a:ext>
            </a:extLst>
          </p:cNvPr>
          <p:cNvSpPr/>
          <p:nvPr/>
        </p:nvSpPr>
        <p:spPr>
          <a:xfrm>
            <a:off x="1654808" y="1622562"/>
            <a:ext cx="1787171" cy="287650"/>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CB1E250C-FB6C-9477-5BA2-A63547B41F2C}"/>
              </a:ext>
            </a:extLst>
          </p:cNvPr>
          <p:cNvSpPr/>
          <p:nvPr/>
        </p:nvSpPr>
        <p:spPr>
          <a:xfrm>
            <a:off x="758606" y="2617315"/>
            <a:ext cx="293929" cy="306770"/>
          </a:xfrm>
          <a:prstGeom prst="ellipse">
            <a:avLst/>
          </a:prstGeom>
          <a:solidFill>
            <a:srgbClr val="A9866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88C87E79-382B-8A9A-DE9A-B1AB522EF46E}"/>
              </a:ext>
            </a:extLst>
          </p:cNvPr>
          <p:cNvSpPr txBox="1"/>
          <p:nvPr/>
        </p:nvSpPr>
        <p:spPr>
          <a:xfrm>
            <a:off x="1899316" y="1330953"/>
            <a:ext cx="1444177" cy="369332"/>
          </a:xfrm>
          <a:prstGeom prst="rect">
            <a:avLst/>
          </a:prstGeom>
          <a:noFill/>
        </p:spPr>
        <p:txBody>
          <a:bodyPr wrap="square" rtlCol="0">
            <a:spAutoFit/>
          </a:bodyPr>
          <a:lstStyle/>
          <a:p>
            <a:r>
              <a:rPr lang="en-US" dirty="0">
                <a:solidFill>
                  <a:srgbClr val="8F97B7"/>
                </a:solidFill>
              </a:rPr>
              <a:t>Implement</a:t>
            </a:r>
          </a:p>
        </p:txBody>
      </p:sp>
      <p:sp>
        <p:nvSpPr>
          <p:cNvPr id="24" name="TextBox 23">
            <a:extLst>
              <a:ext uri="{FF2B5EF4-FFF2-40B4-BE49-F238E27FC236}">
                <a16:creationId xmlns:a16="http://schemas.microsoft.com/office/drawing/2014/main" id="{FD92EEB3-5DFB-70C8-6BC3-CFACE6722484}"/>
              </a:ext>
            </a:extLst>
          </p:cNvPr>
          <p:cNvSpPr txBox="1"/>
          <p:nvPr/>
        </p:nvSpPr>
        <p:spPr>
          <a:xfrm>
            <a:off x="738137" y="2624295"/>
            <a:ext cx="460382" cy="282316"/>
          </a:xfrm>
          <a:prstGeom prst="rect">
            <a:avLst/>
          </a:prstGeom>
          <a:noFill/>
        </p:spPr>
        <p:txBody>
          <a:bodyPr wrap="square" rtlCol="0">
            <a:spAutoFit/>
          </a:bodyPr>
          <a:lstStyle/>
          <a:p>
            <a:r>
              <a:rPr lang="en-US" sz="1200" b="1" dirty="0">
                <a:solidFill>
                  <a:srgbClr val="0E1C2D"/>
                </a:solidFill>
              </a:rPr>
              <a:t>Or</a:t>
            </a:r>
          </a:p>
        </p:txBody>
      </p:sp>
      <p:sp>
        <p:nvSpPr>
          <p:cNvPr id="27" name="TextBox 26">
            <a:extLst>
              <a:ext uri="{FF2B5EF4-FFF2-40B4-BE49-F238E27FC236}">
                <a16:creationId xmlns:a16="http://schemas.microsoft.com/office/drawing/2014/main" id="{438261E6-FD5F-0622-5897-7C036CF1F741}"/>
              </a:ext>
            </a:extLst>
          </p:cNvPr>
          <p:cNvSpPr txBox="1"/>
          <p:nvPr/>
        </p:nvSpPr>
        <p:spPr>
          <a:xfrm>
            <a:off x="1184559" y="2638386"/>
            <a:ext cx="965329" cy="261610"/>
          </a:xfrm>
          <a:prstGeom prst="rect">
            <a:avLst/>
          </a:prstGeom>
          <a:noFill/>
        </p:spPr>
        <p:txBody>
          <a:bodyPr wrap="none" rtlCol="0">
            <a:spAutoFit/>
          </a:bodyPr>
          <a:lstStyle/>
          <a:p>
            <a:r>
              <a:rPr lang="en-US" sz="1100" dirty="0">
                <a:solidFill>
                  <a:srgbClr val="E1E1E1"/>
                </a:solidFill>
              </a:rPr>
              <a:t>Orchestrator</a:t>
            </a:r>
          </a:p>
        </p:txBody>
      </p:sp>
      <p:pic>
        <p:nvPicPr>
          <p:cNvPr id="29" name="Graphic 28" descr="Information with solid fill">
            <a:extLst>
              <a:ext uri="{FF2B5EF4-FFF2-40B4-BE49-F238E27FC236}">
                <a16:creationId xmlns:a16="http://schemas.microsoft.com/office/drawing/2014/main" id="{41CCA221-B2E8-12CF-CFB8-658F63FA390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3975" y="2661152"/>
            <a:ext cx="193473" cy="193473"/>
          </a:xfrm>
          <a:prstGeom prst="rect">
            <a:avLst/>
          </a:prstGeom>
        </p:spPr>
      </p:pic>
      <p:sp>
        <p:nvSpPr>
          <p:cNvPr id="16" name="TextBox 15">
            <a:extLst>
              <a:ext uri="{FF2B5EF4-FFF2-40B4-BE49-F238E27FC236}">
                <a16:creationId xmlns:a16="http://schemas.microsoft.com/office/drawing/2014/main" id="{658C745A-B008-89CC-A72C-E77A3A1CC5BA}"/>
              </a:ext>
            </a:extLst>
          </p:cNvPr>
          <p:cNvSpPr txBox="1"/>
          <p:nvPr/>
        </p:nvSpPr>
        <p:spPr>
          <a:xfrm>
            <a:off x="1226477" y="3087372"/>
            <a:ext cx="705642" cy="261610"/>
          </a:xfrm>
          <a:prstGeom prst="rect">
            <a:avLst/>
          </a:prstGeom>
          <a:noFill/>
        </p:spPr>
        <p:txBody>
          <a:bodyPr wrap="none" rtlCol="0">
            <a:spAutoFit/>
          </a:bodyPr>
          <a:lstStyle>
            <a:defPPr>
              <a:defRPr lang="en-US"/>
            </a:defPPr>
            <a:lvl1pPr>
              <a:defRPr sz="1100">
                <a:solidFill>
                  <a:srgbClr val="E1E1E1"/>
                </a:solidFill>
              </a:defRPr>
            </a:lvl1pPr>
          </a:lstStyle>
          <a:p>
            <a:r>
              <a:rPr lang="en-US" dirty="0"/>
              <a:t>Analyzer</a:t>
            </a:r>
          </a:p>
        </p:txBody>
      </p:sp>
      <p:cxnSp>
        <p:nvCxnSpPr>
          <p:cNvPr id="75" name="Straight Connector 74">
            <a:extLst>
              <a:ext uri="{FF2B5EF4-FFF2-40B4-BE49-F238E27FC236}">
                <a16:creationId xmlns:a16="http://schemas.microsoft.com/office/drawing/2014/main" id="{90FF1081-3DA9-788F-EDAB-4478919696CE}"/>
              </a:ext>
            </a:extLst>
          </p:cNvPr>
          <p:cNvCxnSpPr>
            <a:cxnSpLocks/>
          </p:cNvCxnSpPr>
          <p:nvPr/>
        </p:nvCxnSpPr>
        <p:spPr>
          <a:xfrm>
            <a:off x="652293" y="2505875"/>
            <a:ext cx="10203544" cy="6404"/>
          </a:xfrm>
          <a:prstGeom prst="line">
            <a:avLst/>
          </a:prstGeom>
          <a:ln>
            <a:solidFill>
              <a:srgbClr val="1E3147"/>
            </a:solidFill>
          </a:ln>
        </p:spPr>
        <p:style>
          <a:lnRef idx="2">
            <a:schemeClr val="accent1"/>
          </a:lnRef>
          <a:fillRef idx="0">
            <a:schemeClr val="accent1"/>
          </a:fillRef>
          <a:effectRef idx="1">
            <a:schemeClr val="accent1"/>
          </a:effectRef>
          <a:fontRef idx="minor">
            <a:schemeClr val="tx1"/>
          </a:fontRef>
        </p:style>
      </p:cxnSp>
      <p:sp>
        <p:nvSpPr>
          <p:cNvPr id="77" name="TextBox 76">
            <a:extLst>
              <a:ext uri="{FF2B5EF4-FFF2-40B4-BE49-F238E27FC236}">
                <a16:creationId xmlns:a16="http://schemas.microsoft.com/office/drawing/2014/main" id="{35D5EDAB-B11B-F08F-2118-49D01E8E0348}"/>
              </a:ext>
            </a:extLst>
          </p:cNvPr>
          <p:cNvSpPr txBox="1"/>
          <p:nvPr/>
        </p:nvSpPr>
        <p:spPr>
          <a:xfrm>
            <a:off x="1274326" y="2217384"/>
            <a:ext cx="785793" cy="246221"/>
          </a:xfrm>
          <a:prstGeom prst="rect">
            <a:avLst/>
          </a:prstGeom>
          <a:noFill/>
        </p:spPr>
        <p:txBody>
          <a:bodyPr wrap="none" rtlCol="0">
            <a:spAutoFit/>
          </a:bodyPr>
          <a:lstStyle/>
          <a:p>
            <a:pPr algn="ctr"/>
            <a:r>
              <a:rPr lang="en-US" sz="1000" dirty="0">
                <a:solidFill>
                  <a:srgbClr val="E1E1E1"/>
                </a:solidFill>
              </a:rPr>
              <a:t>Agent Type</a:t>
            </a:r>
          </a:p>
        </p:txBody>
      </p:sp>
      <p:sp>
        <p:nvSpPr>
          <p:cNvPr id="78" name="TextBox 77">
            <a:extLst>
              <a:ext uri="{FF2B5EF4-FFF2-40B4-BE49-F238E27FC236}">
                <a16:creationId xmlns:a16="http://schemas.microsoft.com/office/drawing/2014/main" id="{B8004243-6F84-208A-4180-96E57DABD00E}"/>
              </a:ext>
            </a:extLst>
          </p:cNvPr>
          <p:cNvSpPr txBox="1"/>
          <p:nvPr/>
        </p:nvSpPr>
        <p:spPr>
          <a:xfrm>
            <a:off x="662149" y="1838089"/>
            <a:ext cx="1202573" cy="246221"/>
          </a:xfrm>
          <a:prstGeom prst="rect">
            <a:avLst/>
          </a:prstGeom>
          <a:noFill/>
        </p:spPr>
        <p:txBody>
          <a:bodyPr wrap="none" rtlCol="0">
            <a:spAutoFit/>
          </a:bodyPr>
          <a:lstStyle/>
          <a:p>
            <a:r>
              <a:rPr lang="en-US" sz="1000" dirty="0">
                <a:solidFill>
                  <a:srgbClr val="E1E1E1"/>
                </a:solidFill>
              </a:rPr>
              <a:t>Claude Subagents</a:t>
            </a:r>
          </a:p>
        </p:txBody>
      </p:sp>
      <p:sp>
        <p:nvSpPr>
          <p:cNvPr id="80" name="Rectangle: Rounded Corners 79">
            <a:extLst>
              <a:ext uri="{FF2B5EF4-FFF2-40B4-BE49-F238E27FC236}">
                <a16:creationId xmlns:a16="http://schemas.microsoft.com/office/drawing/2014/main" id="{303DEFA2-A42B-590B-34F4-80A80FE89B39}"/>
              </a:ext>
            </a:extLst>
          </p:cNvPr>
          <p:cNvSpPr/>
          <p:nvPr/>
        </p:nvSpPr>
        <p:spPr>
          <a:xfrm>
            <a:off x="1813390" y="1884175"/>
            <a:ext cx="336498" cy="182696"/>
          </a:xfrm>
          <a:prstGeom prst="roundRect">
            <a:avLst>
              <a:gd name="adj" fmla="val 50000"/>
            </a:avLst>
          </a:prstGeom>
          <a:solidFill>
            <a:srgbClr val="0E1C2D"/>
          </a:solid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TextBox 81">
            <a:extLst>
              <a:ext uri="{FF2B5EF4-FFF2-40B4-BE49-F238E27FC236}">
                <a16:creationId xmlns:a16="http://schemas.microsoft.com/office/drawing/2014/main" id="{0C029EBA-EB2C-7C86-F869-D597BE892118}"/>
              </a:ext>
            </a:extLst>
          </p:cNvPr>
          <p:cNvSpPr txBox="1"/>
          <p:nvPr/>
        </p:nvSpPr>
        <p:spPr>
          <a:xfrm>
            <a:off x="4275366" y="3048418"/>
            <a:ext cx="683200" cy="261610"/>
          </a:xfrm>
          <a:prstGeom prst="rect">
            <a:avLst/>
          </a:prstGeom>
          <a:noFill/>
        </p:spPr>
        <p:txBody>
          <a:bodyPr wrap="none" rtlCol="0">
            <a:spAutoFit/>
          </a:bodyPr>
          <a:lstStyle/>
          <a:p>
            <a:r>
              <a:rPr lang="en-US" sz="1100" i="1" dirty="0">
                <a:solidFill>
                  <a:srgbClr val="FFC000"/>
                </a:solidFill>
              </a:rPr>
              <a:t>Waiting.</a:t>
            </a:r>
          </a:p>
        </p:txBody>
      </p:sp>
      <p:sp>
        <p:nvSpPr>
          <p:cNvPr id="83" name="Oval 82">
            <a:extLst>
              <a:ext uri="{FF2B5EF4-FFF2-40B4-BE49-F238E27FC236}">
                <a16:creationId xmlns:a16="http://schemas.microsoft.com/office/drawing/2014/main" id="{146C5F10-F538-38F9-1A3D-B4F100AC2486}"/>
              </a:ext>
            </a:extLst>
          </p:cNvPr>
          <p:cNvSpPr/>
          <p:nvPr/>
        </p:nvSpPr>
        <p:spPr>
          <a:xfrm>
            <a:off x="758606" y="3066408"/>
            <a:ext cx="293929" cy="306770"/>
          </a:xfrm>
          <a:prstGeom prst="ellipse">
            <a:avLst/>
          </a:prstGeom>
          <a:solidFill>
            <a:srgbClr val="A32A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C5032C78-3986-4142-AB93-3FC7609BBB2A}"/>
              </a:ext>
            </a:extLst>
          </p:cNvPr>
          <p:cNvSpPr/>
          <p:nvPr/>
        </p:nvSpPr>
        <p:spPr>
          <a:xfrm>
            <a:off x="758606" y="3513494"/>
            <a:ext cx="293929" cy="306770"/>
          </a:xfrm>
          <a:prstGeom prst="ellipse">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41AB7183-3F36-A36F-46EC-55BBA4FE8524}"/>
              </a:ext>
            </a:extLst>
          </p:cNvPr>
          <p:cNvSpPr/>
          <p:nvPr/>
        </p:nvSpPr>
        <p:spPr>
          <a:xfrm>
            <a:off x="758606" y="3970226"/>
            <a:ext cx="293929" cy="306770"/>
          </a:xfrm>
          <a:prstGeom prst="ellipse">
            <a:avLst/>
          </a:prstGeom>
          <a:solidFill>
            <a:srgbClr val="FFC3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TextBox 88">
            <a:extLst>
              <a:ext uri="{FF2B5EF4-FFF2-40B4-BE49-F238E27FC236}">
                <a16:creationId xmlns:a16="http://schemas.microsoft.com/office/drawing/2014/main" id="{623B2238-E066-C241-905E-74C4F197D271}"/>
              </a:ext>
            </a:extLst>
          </p:cNvPr>
          <p:cNvSpPr txBox="1"/>
          <p:nvPr/>
        </p:nvSpPr>
        <p:spPr>
          <a:xfrm>
            <a:off x="1226477" y="3532367"/>
            <a:ext cx="970137" cy="261610"/>
          </a:xfrm>
          <a:prstGeom prst="rect">
            <a:avLst/>
          </a:prstGeom>
          <a:noFill/>
        </p:spPr>
        <p:txBody>
          <a:bodyPr wrap="none" rtlCol="0">
            <a:spAutoFit/>
          </a:bodyPr>
          <a:lstStyle>
            <a:defPPr>
              <a:defRPr lang="en-US"/>
            </a:defPPr>
            <a:lvl1pPr>
              <a:defRPr sz="1100">
                <a:solidFill>
                  <a:srgbClr val="E1E1E1"/>
                </a:solidFill>
              </a:defRPr>
            </a:lvl1pPr>
          </a:lstStyle>
          <a:p>
            <a:r>
              <a:rPr lang="en-US" dirty="0"/>
              <a:t>Implementor</a:t>
            </a:r>
          </a:p>
        </p:txBody>
      </p:sp>
      <p:sp>
        <p:nvSpPr>
          <p:cNvPr id="90" name="TextBox 89">
            <a:extLst>
              <a:ext uri="{FF2B5EF4-FFF2-40B4-BE49-F238E27FC236}">
                <a16:creationId xmlns:a16="http://schemas.microsoft.com/office/drawing/2014/main" id="{CFE7294F-2FF6-741D-7132-F52CF3F92F9C}"/>
              </a:ext>
            </a:extLst>
          </p:cNvPr>
          <p:cNvSpPr txBox="1"/>
          <p:nvPr/>
        </p:nvSpPr>
        <p:spPr>
          <a:xfrm>
            <a:off x="1245503" y="3998201"/>
            <a:ext cx="559769" cy="261610"/>
          </a:xfrm>
          <a:prstGeom prst="rect">
            <a:avLst/>
          </a:prstGeom>
          <a:noFill/>
        </p:spPr>
        <p:txBody>
          <a:bodyPr wrap="none" rtlCol="0">
            <a:spAutoFit/>
          </a:bodyPr>
          <a:lstStyle>
            <a:defPPr>
              <a:defRPr lang="en-US"/>
            </a:defPPr>
            <a:lvl1pPr>
              <a:defRPr sz="1100">
                <a:solidFill>
                  <a:srgbClr val="E1E1E1"/>
                </a:solidFill>
              </a:defRPr>
            </a:lvl1pPr>
          </a:lstStyle>
          <a:p>
            <a:r>
              <a:rPr lang="en-US" dirty="0"/>
              <a:t>Tester</a:t>
            </a:r>
          </a:p>
        </p:txBody>
      </p:sp>
      <p:sp>
        <p:nvSpPr>
          <p:cNvPr id="91" name="TextBox 90">
            <a:extLst>
              <a:ext uri="{FF2B5EF4-FFF2-40B4-BE49-F238E27FC236}">
                <a16:creationId xmlns:a16="http://schemas.microsoft.com/office/drawing/2014/main" id="{FF8CC2A7-CAC4-C774-1FB4-770A9F30B6C2}"/>
              </a:ext>
            </a:extLst>
          </p:cNvPr>
          <p:cNvSpPr txBox="1"/>
          <p:nvPr/>
        </p:nvSpPr>
        <p:spPr>
          <a:xfrm>
            <a:off x="4260936" y="2611055"/>
            <a:ext cx="724878" cy="261610"/>
          </a:xfrm>
          <a:prstGeom prst="rect">
            <a:avLst/>
          </a:prstGeom>
          <a:noFill/>
        </p:spPr>
        <p:txBody>
          <a:bodyPr wrap="none" rtlCol="0">
            <a:spAutoFit/>
          </a:bodyPr>
          <a:lstStyle/>
          <a:p>
            <a:r>
              <a:rPr lang="en-US" sz="1100" i="1" dirty="0">
                <a:solidFill>
                  <a:srgbClr val="FFC000"/>
                </a:solidFill>
              </a:rPr>
              <a:t>Working.</a:t>
            </a:r>
          </a:p>
        </p:txBody>
      </p:sp>
      <p:pic>
        <p:nvPicPr>
          <p:cNvPr id="93" name="Graphic 92" descr="Information with solid fill">
            <a:extLst>
              <a:ext uri="{FF2B5EF4-FFF2-40B4-BE49-F238E27FC236}">
                <a16:creationId xmlns:a16="http://schemas.microsoft.com/office/drawing/2014/main" id="{0D02B617-5A84-6622-8A49-CE29F1D6D53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2365" y="3102069"/>
            <a:ext cx="193473" cy="193473"/>
          </a:xfrm>
          <a:prstGeom prst="rect">
            <a:avLst/>
          </a:prstGeom>
        </p:spPr>
      </p:pic>
      <p:pic>
        <p:nvPicPr>
          <p:cNvPr id="94" name="Graphic 93" descr="Information with solid fill">
            <a:extLst>
              <a:ext uri="{FF2B5EF4-FFF2-40B4-BE49-F238E27FC236}">
                <a16:creationId xmlns:a16="http://schemas.microsoft.com/office/drawing/2014/main" id="{AD261B54-759D-8DFA-8DA4-358D703C167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2365" y="3553624"/>
            <a:ext cx="193473" cy="193473"/>
          </a:xfrm>
          <a:prstGeom prst="rect">
            <a:avLst/>
          </a:prstGeom>
        </p:spPr>
      </p:pic>
      <p:pic>
        <p:nvPicPr>
          <p:cNvPr id="95" name="Graphic 94" descr="Information with solid fill">
            <a:extLst>
              <a:ext uri="{FF2B5EF4-FFF2-40B4-BE49-F238E27FC236}">
                <a16:creationId xmlns:a16="http://schemas.microsoft.com/office/drawing/2014/main" id="{DA60C5E7-33C5-EFAD-4FFB-2712F7DDB98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2364" y="4014063"/>
            <a:ext cx="193473" cy="193473"/>
          </a:xfrm>
          <a:prstGeom prst="rect">
            <a:avLst/>
          </a:prstGeom>
        </p:spPr>
      </p:pic>
      <p:sp>
        <p:nvSpPr>
          <p:cNvPr id="96" name="TextBox 95">
            <a:extLst>
              <a:ext uri="{FF2B5EF4-FFF2-40B4-BE49-F238E27FC236}">
                <a16:creationId xmlns:a16="http://schemas.microsoft.com/office/drawing/2014/main" id="{E1BCDD79-8649-7B81-5209-01D01D397AB4}"/>
              </a:ext>
            </a:extLst>
          </p:cNvPr>
          <p:cNvSpPr txBox="1"/>
          <p:nvPr/>
        </p:nvSpPr>
        <p:spPr>
          <a:xfrm>
            <a:off x="729726" y="3076054"/>
            <a:ext cx="460382" cy="282316"/>
          </a:xfrm>
          <a:prstGeom prst="rect">
            <a:avLst/>
          </a:prstGeom>
          <a:noFill/>
        </p:spPr>
        <p:txBody>
          <a:bodyPr wrap="square" rtlCol="0">
            <a:spAutoFit/>
          </a:bodyPr>
          <a:lstStyle/>
          <a:p>
            <a:r>
              <a:rPr lang="en-US" sz="1200" b="1" dirty="0">
                <a:solidFill>
                  <a:srgbClr val="0E1C2D"/>
                </a:solidFill>
              </a:rPr>
              <a:t>An</a:t>
            </a:r>
          </a:p>
        </p:txBody>
      </p:sp>
      <p:sp>
        <p:nvSpPr>
          <p:cNvPr id="97" name="TextBox 96">
            <a:extLst>
              <a:ext uri="{FF2B5EF4-FFF2-40B4-BE49-F238E27FC236}">
                <a16:creationId xmlns:a16="http://schemas.microsoft.com/office/drawing/2014/main" id="{1776F549-CB35-2D87-ADE1-9F53CC730D2D}"/>
              </a:ext>
            </a:extLst>
          </p:cNvPr>
          <p:cNvSpPr txBox="1"/>
          <p:nvPr/>
        </p:nvSpPr>
        <p:spPr>
          <a:xfrm>
            <a:off x="736070" y="3523140"/>
            <a:ext cx="460382" cy="282316"/>
          </a:xfrm>
          <a:prstGeom prst="rect">
            <a:avLst/>
          </a:prstGeom>
          <a:noFill/>
        </p:spPr>
        <p:txBody>
          <a:bodyPr wrap="square" rtlCol="0">
            <a:spAutoFit/>
          </a:bodyPr>
          <a:lstStyle/>
          <a:p>
            <a:r>
              <a:rPr lang="en-US" sz="1200" b="1" dirty="0" err="1">
                <a:solidFill>
                  <a:srgbClr val="0E1C2D"/>
                </a:solidFill>
              </a:rPr>
              <a:t>Im</a:t>
            </a:r>
            <a:endParaRPr lang="en-US" sz="1200" b="1" dirty="0">
              <a:solidFill>
                <a:srgbClr val="0E1C2D"/>
              </a:solidFill>
            </a:endParaRPr>
          </a:p>
        </p:txBody>
      </p:sp>
      <p:sp>
        <p:nvSpPr>
          <p:cNvPr id="98" name="TextBox 97">
            <a:extLst>
              <a:ext uri="{FF2B5EF4-FFF2-40B4-BE49-F238E27FC236}">
                <a16:creationId xmlns:a16="http://schemas.microsoft.com/office/drawing/2014/main" id="{F8D26D0D-C4C7-C6A6-858B-04494C4FFBDD}"/>
              </a:ext>
            </a:extLst>
          </p:cNvPr>
          <p:cNvSpPr txBox="1"/>
          <p:nvPr/>
        </p:nvSpPr>
        <p:spPr>
          <a:xfrm>
            <a:off x="736070" y="3989707"/>
            <a:ext cx="460382" cy="282316"/>
          </a:xfrm>
          <a:prstGeom prst="rect">
            <a:avLst/>
          </a:prstGeom>
          <a:noFill/>
        </p:spPr>
        <p:txBody>
          <a:bodyPr wrap="square" rtlCol="0">
            <a:spAutoFit/>
          </a:bodyPr>
          <a:lstStyle/>
          <a:p>
            <a:r>
              <a:rPr lang="en-US" sz="1200" b="1" dirty="0" err="1">
                <a:solidFill>
                  <a:srgbClr val="0E1C2D"/>
                </a:solidFill>
              </a:rPr>
              <a:t>Te</a:t>
            </a:r>
            <a:endParaRPr lang="en-US" sz="1200" b="1" dirty="0">
              <a:solidFill>
                <a:srgbClr val="0E1C2D"/>
              </a:solidFill>
            </a:endParaRPr>
          </a:p>
        </p:txBody>
      </p:sp>
      <p:sp>
        <p:nvSpPr>
          <p:cNvPr id="99" name="TextBox 98">
            <a:extLst>
              <a:ext uri="{FF2B5EF4-FFF2-40B4-BE49-F238E27FC236}">
                <a16:creationId xmlns:a16="http://schemas.microsoft.com/office/drawing/2014/main" id="{96300C6B-A36A-C17B-2D3D-0833B312D39E}"/>
              </a:ext>
            </a:extLst>
          </p:cNvPr>
          <p:cNvSpPr txBox="1"/>
          <p:nvPr/>
        </p:nvSpPr>
        <p:spPr>
          <a:xfrm>
            <a:off x="4193614" y="2214394"/>
            <a:ext cx="886781" cy="246221"/>
          </a:xfrm>
          <a:prstGeom prst="rect">
            <a:avLst/>
          </a:prstGeom>
          <a:noFill/>
        </p:spPr>
        <p:txBody>
          <a:bodyPr wrap="none" rtlCol="0">
            <a:spAutoFit/>
          </a:bodyPr>
          <a:lstStyle/>
          <a:p>
            <a:pPr algn="ctr"/>
            <a:r>
              <a:rPr lang="en-US" sz="1000" dirty="0">
                <a:solidFill>
                  <a:srgbClr val="E1E1E1"/>
                </a:solidFill>
              </a:rPr>
              <a:t>Agent Status</a:t>
            </a:r>
          </a:p>
        </p:txBody>
      </p:sp>
      <p:sp>
        <p:nvSpPr>
          <p:cNvPr id="100" name="TextBox 99">
            <a:extLst>
              <a:ext uri="{FF2B5EF4-FFF2-40B4-BE49-F238E27FC236}">
                <a16:creationId xmlns:a16="http://schemas.microsoft.com/office/drawing/2014/main" id="{324C76A5-5762-EE88-E4A8-42AECE55A169}"/>
              </a:ext>
            </a:extLst>
          </p:cNvPr>
          <p:cNvSpPr txBox="1"/>
          <p:nvPr/>
        </p:nvSpPr>
        <p:spPr>
          <a:xfrm>
            <a:off x="7929117" y="2092323"/>
            <a:ext cx="772505" cy="400110"/>
          </a:xfrm>
          <a:prstGeom prst="rect">
            <a:avLst/>
          </a:prstGeom>
          <a:noFill/>
        </p:spPr>
        <p:txBody>
          <a:bodyPr wrap="square" rtlCol="0">
            <a:spAutoFit/>
          </a:bodyPr>
          <a:lstStyle/>
          <a:p>
            <a:pPr algn="ctr"/>
            <a:r>
              <a:rPr lang="en-US" sz="1000" dirty="0">
                <a:solidFill>
                  <a:srgbClr val="E1E1E1"/>
                </a:solidFill>
              </a:rPr>
              <a:t>Messages waiting</a:t>
            </a:r>
          </a:p>
        </p:txBody>
      </p:sp>
      <p:sp>
        <p:nvSpPr>
          <p:cNvPr id="114" name="TextBox 113">
            <a:extLst>
              <a:ext uri="{FF2B5EF4-FFF2-40B4-BE49-F238E27FC236}">
                <a16:creationId xmlns:a16="http://schemas.microsoft.com/office/drawing/2014/main" id="{0D997E32-ECC9-AF34-FE99-24170E82CCC4}"/>
              </a:ext>
            </a:extLst>
          </p:cNvPr>
          <p:cNvSpPr txBox="1"/>
          <p:nvPr/>
        </p:nvSpPr>
        <p:spPr>
          <a:xfrm>
            <a:off x="7041082" y="2099303"/>
            <a:ext cx="772505" cy="400110"/>
          </a:xfrm>
          <a:prstGeom prst="rect">
            <a:avLst/>
          </a:prstGeom>
          <a:noFill/>
        </p:spPr>
        <p:txBody>
          <a:bodyPr wrap="square" rtlCol="0">
            <a:spAutoFit/>
          </a:bodyPr>
          <a:lstStyle/>
          <a:p>
            <a:pPr algn="ctr"/>
            <a:r>
              <a:rPr lang="en-US" sz="1000" dirty="0">
                <a:solidFill>
                  <a:srgbClr val="E1E1E1"/>
                </a:solidFill>
              </a:rPr>
              <a:t>Messages</a:t>
            </a:r>
          </a:p>
          <a:p>
            <a:pPr algn="ctr"/>
            <a:r>
              <a:rPr lang="en-US" sz="1000" dirty="0">
                <a:solidFill>
                  <a:srgbClr val="E1E1E1"/>
                </a:solidFill>
              </a:rPr>
              <a:t>Sent</a:t>
            </a:r>
          </a:p>
        </p:txBody>
      </p:sp>
      <p:sp>
        <p:nvSpPr>
          <p:cNvPr id="115" name="TextBox 114">
            <a:extLst>
              <a:ext uri="{FF2B5EF4-FFF2-40B4-BE49-F238E27FC236}">
                <a16:creationId xmlns:a16="http://schemas.microsoft.com/office/drawing/2014/main" id="{6F0D8386-E823-CD36-9E56-EFFEC18785A0}"/>
              </a:ext>
            </a:extLst>
          </p:cNvPr>
          <p:cNvSpPr txBox="1"/>
          <p:nvPr/>
        </p:nvSpPr>
        <p:spPr>
          <a:xfrm>
            <a:off x="8932682" y="2112169"/>
            <a:ext cx="751053" cy="400110"/>
          </a:xfrm>
          <a:prstGeom prst="rect">
            <a:avLst/>
          </a:prstGeom>
          <a:noFill/>
        </p:spPr>
        <p:txBody>
          <a:bodyPr wrap="square" rtlCol="0">
            <a:spAutoFit/>
          </a:bodyPr>
          <a:lstStyle/>
          <a:p>
            <a:pPr algn="ctr"/>
            <a:r>
              <a:rPr lang="en-US" sz="1000" dirty="0">
                <a:solidFill>
                  <a:srgbClr val="E1E1E1"/>
                </a:solidFill>
              </a:rPr>
              <a:t>Messages Read</a:t>
            </a:r>
          </a:p>
        </p:txBody>
      </p:sp>
      <p:pic>
        <p:nvPicPr>
          <p:cNvPr id="117" name="Graphic 116" descr="Chat with solid fill">
            <a:extLst>
              <a:ext uri="{FF2B5EF4-FFF2-40B4-BE49-F238E27FC236}">
                <a16:creationId xmlns:a16="http://schemas.microsoft.com/office/drawing/2014/main" id="{486313D3-439B-8451-8605-F6640F55290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305301" y="2637658"/>
            <a:ext cx="261610" cy="261610"/>
          </a:xfrm>
          <a:prstGeom prst="rect">
            <a:avLst/>
          </a:prstGeom>
        </p:spPr>
      </p:pic>
      <p:pic>
        <p:nvPicPr>
          <p:cNvPr id="118" name="Graphic 117" descr="Chat with solid fill">
            <a:extLst>
              <a:ext uri="{FF2B5EF4-FFF2-40B4-BE49-F238E27FC236}">
                <a16:creationId xmlns:a16="http://schemas.microsoft.com/office/drawing/2014/main" id="{D6CE7F32-71F2-FA26-106E-2DA0F9F80B8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297189" y="3068000"/>
            <a:ext cx="261610" cy="261610"/>
          </a:xfrm>
          <a:prstGeom prst="rect">
            <a:avLst/>
          </a:prstGeom>
        </p:spPr>
      </p:pic>
      <p:pic>
        <p:nvPicPr>
          <p:cNvPr id="119" name="Graphic 118" descr="Chat with solid fill">
            <a:extLst>
              <a:ext uri="{FF2B5EF4-FFF2-40B4-BE49-F238E27FC236}">
                <a16:creationId xmlns:a16="http://schemas.microsoft.com/office/drawing/2014/main" id="{C831EE9A-A025-1268-8EB5-8DC9DCD1DE3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297189" y="3527404"/>
            <a:ext cx="261610" cy="261610"/>
          </a:xfrm>
          <a:prstGeom prst="rect">
            <a:avLst/>
          </a:prstGeom>
        </p:spPr>
      </p:pic>
      <p:pic>
        <p:nvPicPr>
          <p:cNvPr id="120" name="Graphic 119" descr="Chat with solid fill">
            <a:extLst>
              <a:ext uri="{FF2B5EF4-FFF2-40B4-BE49-F238E27FC236}">
                <a16:creationId xmlns:a16="http://schemas.microsoft.com/office/drawing/2014/main" id="{A353FB26-ABDA-51C1-333E-EC6954BCC2C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310562" y="3991625"/>
            <a:ext cx="261610" cy="261610"/>
          </a:xfrm>
          <a:prstGeom prst="rect">
            <a:avLst/>
          </a:prstGeom>
        </p:spPr>
      </p:pic>
      <p:sp>
        <p:nvSpPr>
          <p:cNvPr id="135" name="TextBox 134">
            <a:extLst>
              <a:ext uri="{FF2B5EF4-FFF2-40B4-BE49-F238E27FC236}">
                <a16:creationId xmlns:a16="http://schemas.microsoft.com/office/drawing/2014/main" id="{274D791D-2025-D6D2-5908-FC4920989544}"/>
              </a:ext>
            </a:extLst>
          </p:cNvPr>
          <p:cNvSpPr txBox="1"/>
          <p:nvPr/>
        </p:nvSpPr>
        <p:spPr>
          <a:xfrm>
            <a:off x="4273058" y="3530126"/>
            <a:ext cx="683200" cy="261610"/>
          </a:xfrm>
          <a:prstGeom prst="rect">
            <a:avLst/>
          </a:prstGeom>
          <a:noFill/>
        </p:spPr>
        <p:txBody>
          <a:bodyPr wrap="none" rtlCol="0">
            <a:spAutoFit/>
          </a:bodyPr>
          <a:lstStyle/>
          <a:p>
            <a:r>
              <a:rPr lang="en-US" sz="1100" i="1" dirty="0">
                <a:solidFill>
                  <a:srgbClr val="FFC000"/>
                </a:solidFill>
              </a:rPr>
              <a:t>Waiting.</a:t>
            </a:r>
          </a:p>
        </p:txBody>
      </p:sp>
      <p:sp>
        <p:nvSpPr>
          <p:cNvPr id="136" name="TextBox 135">
            <a:extLst>
              <a:ext uri="{FF2B5EF4-FFF2-40B4-BE49-F238E27FC236}">
                <a16:creationId xmlns:a16="http://schemas.microsoft.com/office/drawing/2014/main" id="{9784098E-37DB-582E-1AAA-EC2CD1979262}"/>
              </a:ext>
            </a:extLst>
          </p:cNvPr>
          <p:cNvSpPr txBox="1"/>
          <p:nvPr/>
        </p:nvSpPr>
        <p:spPr>
          <a:xfrm>
            <a:off x="4253814" y="3982173"/>
            <a:ext cx="683200" cy="261610"/>
          </a:xfrm>
          <a:prstGeom prst="rect">
            <a:avLst/>
          </a:prstGeom>
          <a:noFill/>
        </p:spPr>
        <p:txBody>
          <a:bodyPr wrap="none" rtlCol="0">
            <a:spAutoFit/>
          </a:bodyPr>
          <a:lstStyle/>
          <a:p>
            <a:r>
              <a:rPr lang="en-US" sz="1100" i="1" dirty="0">
                <a:solidFill>
                  <a:srgbClr val="FFC000"/>
                </a:solidFill>
              </a:rPr>
              <a:t>Waiting.</a:t>
            </a:r>
          </a:p>
        </p:txBody>
      </p:sp>
      <p:pic>
        <p:nvPicPr>
          <p:cNvPr id="137" name="Graphic 136" descr="Play with solid fill">
            <a:extLst>
              <a:ext uri="{FF2B5EF4-FFF2-40B4-BE49-F238E27FC236}">
                <a16:creationId xmlns:a16="http://schemas.microsoft.com/office/drawing/2014/main" id="{43A43838-5C6E-174C-212D-CBE16C0ADC6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00374" y="3545730"/>
            <a:ext cx="193474" cy="193474"/>
          </a:xfrm>
          <a:prstGeom prst="rect">
            <a:avLst/>
          </a:prstGeom>
        </p:spPr>
      </p:pic>
      <p:pic>
        <p:nvPicPr>
          <p:cNvPr id="138" name="Graphic 137" descr="Play with solid fill">
            <a:extLst>
              <a:ext uri="{FF2B5EF4-FFF2-40B4-BE49-F238E27FC236}">
                <a16:creationId xmlns:a16="http://schemas.microsoft.com/office/drawing/2014/main" id="{49FEEF04-323C-4123-56C9-B26A9B7B940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02983" y="4004988"/>
            <a:ext cx="193474" cy="193474"/>
          </a:xfrm>
          <a:prstGeom prst="rect">
            <a:avLst/>
          </a:prstGeom>
        </p:spPr>
      </p:pic>
      <p:sp>
        <p:nvSpPr>
          <p:cNvPr id="23" name="TextBox 22">
            <a:extLst>
              <a:ext uri="{FF2B5EF4-FFF2-40B4-BE49-F238E27FC236}">
                <a16:creationId xmlns:a16="http://schemas.microsoft.com/office/drawing/2014/main" id="{F08BDE58-9E12-D805-7F03-F77861D26999}"/>
              </a:ext>
            </a:extLst>
          </p:cNvPr>
          <p:cNvSpPr txBox="1"/>
          <p:nvPr/>
        </p:nvSpPr>
        <p:spPr>
          <a:xfrm>
            <a:off x="2947872" y="2209718"/>
            <a:ext cx="649537" cy="246221"/>
          </a:xfrm>
          <a:prstGeom prst="rect">
            <a:avLst/>
          </a:prstGeom>
          <a:noFill/>
        </p:spPr>
        <p:txBody>
          <a:bodyPr wrap="none" rtlCol="0">
            <a:spAutoFit/>
          </a:bodyPr>
          <a:lstStyle/>
          <a:p>
            <a:pPr algn="ctr"/>
            <a:r>
              <a:rPr lang="en-US" sz="1000" dirty="0">
                <a:solidFill>
                  <a:srgbClr val="E1E1E1"/>
                </a:solidFill>
              </a:rPr>
              <a:t>Agent ID</a:t>
            </a:r>
          </a:p>
        </p:txBody>
      </p:sp>
      <p:sp>
        <p:nvSpPr>
          <p:cNvPr id="28" name="TextBox 27">
            <a:extLst>
              <a:ext uri="{FF2B5EF4-FFF2-40B4-BE49-F238E27FC236}">
                <a16:creationId xmlns:a16="http://schemas.microsoft.com/office/drawing/2014/main" id="{FFC6BACF-2009-DAB0-9F08-3419E780B822}"/>
              </a:ext>
            </a:extLst>
          </p:cNvPr>
          <p:cNvSpPr txBox="1"/>
          <p:nvPr/>
        </p:nvSpPr>
        <p:spPr>
          <a:xfrm>
            <a:off x="2647311" y="2620646"/>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0" name="TextBox 29">
            <a:extLst>
              <a:ext uri="{FF2B5EF4-FFF2-40B4-BE49-F238E27FC236}">
                <a16:creationId xmlns:a16="http://schemas.microsoft.com/office/drawing/2014/main" id="{5A1363C3-964D-2D68-0266-198CB83EB589}"/>
              </a:ext>
            </a:extLst>
          </p:cNvPr>
          <p:cNvSpPr txBox="1"/>
          <p:nvPr/>
        </p:nvSpPr>
        <p:spPr>
          <a:xfrm>
            <a:off x="2647311" y="3086580"/>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1" name="TextBox 30">
            <a:extLst>
              <a:ext uri="{FF2B5EF4-FFF2-40B4-BE49-F238E27FC236}">
                <a16:creationId xmlns:a16="http://schemas.microsoft.com/office/drawing/2014/main" id="{7D64E59C-0A81-944C-6DDA-7D62359294D7}"/>
              </a:ext>
            </a:extLst>
          </p:cNvPr>
          <p:cNvSpPr txBox="1"/>
          <p:nvPr/>
        </p:nvSpPr>
        <p:spPr>
          <a:xfrm>
            <a:off x="2647311" y="3545730"/>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2" name="TextBox 31">
            <a:extLst>
              <a:ext uri="{FF2B5EF4-FFF2-40B4-BE49-F238E27FC236}">
                <a16:creationId xmlns:a16="http://schemas.microsoft.com/office/drawing/2014/main" id="{37492AA5-ADF7-E237-55F6-FEBF23DCBF50}"/>
              </a:ext>
            </a:extLst>
          </p:cNvPr>
          <p:cNvSpPr txBox="1"/>
          <p:nvPr/>
        </p:nvSpPr>
        <p:spPr>
          <a:xfrm>
            <a:off x="2636441" y="4004880"/>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3" name="TextBox 32">
            <a:extLst>
              <a:ext uri="{FF2B5EF4-FFF2-40B4-BE49-F238E27FC236}">
                <a16:creationId xmlns:a16="http://schemas.microsoft.com/office/drawing/2014/main" id="{0E8FD976-DEF2-CCB0-77B1-25601F1CAAAE}"/>
              </a:ext>
            </a:extLst>
          </p:cNvPr>
          <p:cNvSpPr txBox="1"/>
          <p:nvPr/>
        </p:nvSpPr>
        <p:spPr>
          <a:xfrm>
            <a:off x="5445208" y="2092323"/>
            <a:ext cx="772505" cy="400110"/>
          </a:xfrm>
          <a:prstGeom prst="rect">
            <a:avLst/>
          </a:prstGeom>
          <a:noFill/>
        </p:spPr>
        <p:txBody>
          <a:bodyPr wrap="square" rtlCol="0">
            <a:spAutoFit/>
          </a:bodyPr>
          <a:lstStyle/>
          <a:p>
            <a:pPr algn="ctr"/>
            <a:r>
              <a:rPr lang="en-US" sz="1000" dirty="0">
                <a:solidFill>
                  <a:srgbClr val="E1E1E1"/>
                </a:solidFill>
              </a:rPr>
              <a:t>Job </a:t>
            </a:r>
          </a:p>
          <a:p>
            <a:pPr algn="ctr"/>
            <a:r>
              <a:rPr lang="en-US" sz="1000" dirty="0">
                <a:solidFill>
                  <a:srgbClr val="E1E1E1"/>
                </a:solidFill>
              </a:rPr>
              <a:t>Read</a:t>
            </a:r>
          </a:p>
        </p:txBody>
      </p:sp>
      <p:sp>
        <p:nvSpPr>
          <p:cNvPr id="34" name="TextBox 33">
            <a:extLst>
              <a:ext uri="{FF2B5EF4-FFF2-40B4-BE49-F238E27FC236}">
                <a16:creationId xmlns:a16="http://schemas.microsoft.com/office/drawing/2014/main" id="{E53DD860-2262-9FD8-467A-0D2248619E86}"/>
              </a:ext>
            </a:extLst>
          </p:cNvPr>
          <p:cNvSpPr txBox="1"/>
          <p:nvPr/>
        </p:nvSpPr>
        <p:spPr>
          <a:xfrm>
            <a:off x="6129630" y="2105765"/>
            <a:ext cx="1037054" cy="400110"/>
          </a:xfrm>
          <a:prstGeom prst="rect">
            <a:avLst/>
          </a:prstGeom>
          <a:noFill/>
        </p:spPr>
        <p:txBody>
          <a:bodyPr wrap="square" rtlCol="0">
            <a:spAutoFit/>
          </a:bodyPr>
          <a:lstStyle/>
          <a:p>
            <a:pPr algn="ctr"/>
            <a:r>
              <a:rPr lang="en-US" sz="1000" dirty="0">
                <a:solidFill>
                  <a:srgbClr val="E1E1E1"/>
                </a:solidFill>
              </a:rPr>
              <a:t>Job Acknowledged</a:t>
            </a:r>
          </a:p>
        </p:txBody>
      </p:sp>
      <p:cxnSp>
        <p:nvCxnSpPr>
          <p:cNvPr id="41" name="Straight Connector 40">
            <a:extLst>
              <a:ext uri="{FF2B5EF4-FFF2-40B4-BE49-F238E27FC236}">
                <a16:creationId xmlns:a16="http://schemas.microsoft.com/office/drawing/2014/main" id="{EAE8C439-5EDF-024D-A27B-19F95CBA1172}"/>
              </a:ext>
            </a:extLst>
          </p:cNvPr>
          <p:cNvCxnSpPr>
            <a:cxnSpLocks/>
          </p:cNvCxnSpPr>
          <p:nvPr/>
        </p:nvCxnSpPr>
        <p:spPr>
          <a:xfrm>
            <a:off x="11391357" y="2585825"/>
            <a:ext cx="0" cy="2327883"/>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4AFEAFA5-6C15-F4AB-7042-14B3F3731CA6}"/>
              </a:ext>
            </a:extLst>
          </p:cNvPr>
          <p:cNvCxnSpPr>
            <a:cxnSpLocks/>
          </p:cNvCxnSpPr>
          <p:nvPr/>
        </p:nvCxnSpPr>
        <p:spPr>
          <a:xfrm>
            <a:off x="11391357" y="2585825"/>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9B478CC6-D563-648A-A6B9-BF33ED80D40D}"/>
              </a:ext>
            </a:extLst>
          </p:cNvPr>
          <p:cNvCxnSpPr>
            <a:cxnSpLocks/>
          </p:cNvCxnSpPr>
          <p:nvPr/>
        </p:nvCxnSpPr>
        <p:spPr>
          <a:xfrm>
            <a:off x="11391357" y="2625072"/>
            <a:ext cx="0" cy="2327883"/>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796F03F5-44A7-3B2C-E7AD-53D2606AD248}"/>
              </a:ext>
            </a:extLst>
          </p:cNvPr>
          <p:cNvCxnSpPr>
            <a:cxnSpLocks/>
          </p:cNvCxnSpPr>
          <p:nvPr/>
        </p:nvCxnSpPr>
        <p:spPr>
          <a:xfrm>
            <a:off x="11391357" y="2625072"/>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sp>
        <p:nvSpPr>
          <p:cNvPr id="45" name="Rectangle: Rounded Corners 44">
            <a:extLst>
              <a:ext uri="{FF2B5EF4-FFF2-40B4-BE49-F238E27FC236}">
                <a16:creationId xmlns:a16="http://schemas.microsoft.com/office/drawing/2014/main" id="{21E47DB9-8A35-967E-16A6-82B70AAAB7E3}"/>
              </a:ext>
            </a:extLst>
          </p:cNvPr>
          <p:cNvSpPr/>
          <p:nvPr/>
        </p:nvSpPr>
        <p:spPr>
          <a:xfrm>
            <a:off x="3031449" y="5377380"/>
            <a:ext cx="5904873" cy="421811"/>
          </a:xfrm>
          <a:prstGeom prst="roundRect">
            <a:avLst>
              <a:gd name="adj" fmla="val 27474"/>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a:t>
            </a:r>
          </a:p>
        </p:txBody>
      </p:sp>
      <p:sp>
        <p:nvSpPr>
          <p:cNvPr id="46" name="Rectangle: Rounded Corners 45">
            <a:extLst>
              <a:ext uri="{FF2B5EF4-FFF2-40B4-BE49-F238E27FC236}">
                <a16:creationId xmlns:a16="http://schemas.microsoft.com/office/drawing/2014/main" id="{AF47B4AB-59DE-F8FA-3B1B-CE50815662A7}"/>
              </a:ext>
            </a:extLst>
          </p:cNvPr>
          <p:cNvSpPr/>
          <p:nvPr/>
        </p:nvSpPr>
        <p:spPr>
          <a:xfrm>
            <a:off x="522553" y="5375748"/>
            <a:ext cx="1132255" cy="421811"/>
          </a:xfrm>
          <a:prstGeom prst="roundRect">
            <a:avLst>
              <a:gd name="adj" fmla="val 27474"/>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1E3147"/>
                </a:solidFill>
              </a:rPr>
              <a:t>Message Orchestrator</a:t>
            </a:r>
          </a:p>
        </p:txBody>
      </p:sp>
      <p:sp>
        <p:nvSpPr>
          <p:cNvPr id="47" name="Rectangle: Rounded Corners 46">
            <a:extLst>
              <a:ext uri="{FF2B5EF4-FFF2-40B4-BE49-F238E27FC236}">
                <a16:creationId xmlns:a16="http://schemas.microsoft.com/office/drawing/2014/main" id="{928FB1C4-A25F-2369-7B68-6BFB8005F320}"/>
              </a:ext>
            </a:extLst>
          </p:cNvPr>
          <p:cNvSpPr/>
          <p:nvPr/>
        </p:nvSpPr>
        <p:spPr>
          <a:xfrm>
            <a:off x="1753756" y="5378268"/>
            <a:ext cx="1178745" cy="421811"/>
          </a:xfrm>
          <a:prstGeom prst="roundRect">
            <a:avLst>
              <a:gd name="adj" fmla="val 27474"/>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1E1E1"/>
                </a:solidFill>
              </a:rPr>
              <a:t>Broadcast</a:t>
            </a:r>
          </a:p>
        </p:txBody>
      </p:sp>
      <p:sp>
        <p:nvSpPr>
          <p:cNvPr id="50" name="Oval 49">
            <a:extLst>
              <a:ext uri="{FF2B5EF4-FFF2-40B4-BE49-F238E27FC236}">
                <a16:creationId xmlns:a16="http://schemas.microsoft.com/office/drawing/2014/main" id="{8FAED7A8-D140-DF1E-B155-6BEA375D34A1}"/>
              </a:ext>
            </a:extLst>
          </p:cNvPr>
          <p:cNvSpPr/>
          <p:nvPr/>
        </p:nvSpPr>
        <p:spPr>
          <a:xfrm>
            <a:off x="8997072" y="5441706"/>
            <a:ext cx="293929" cy="306770"/>
          </a:xfrm>
          <a:prstGeom prst="ellipse">
            <a:avLst/>
          </a:prstGeom>
          <a:solidFill>
            <a:srgbClr val="FFC3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 name="Graphic 48" descr="Play with solid fill">
            <a:extLst>
              <a:ext uri="{FF2B5EF4-FFF2-40B4-BE49-F238E27FC236}">
                <a16:creationId xmlns:a16="http://schemas.microsoft.com/office/drawing/2014/main" id="{9525B55D-6552-3CB0-3360-015CB09C52E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073173" y="5507713"/>
            <a:ext cx="174755" cy="174755"/>
          </a:xfrm>
          <a:prstGeom prst="rect">
            <a:avLst/>
          </a:prstGeom>
        </p:spPr>
      </p:pic>
      <p:sp>
        <p:nvSpPr>
          <p:cNvPr id="53" name="TextBox 52">
            <a:extLst>
              <a:ext uri="{FF2B5EF4-FFF2-40B4-BE49-F238E27FC236}">
                <a16:creationId xmlns:a16="http://schemas.microsoft.com/office/drawing/2014/main" id="{613B9EB9-5A3E-BC69-C6BB-5C030701637D}"/>
              </a:ext>
            </a:extLst>
          </p:cNvPr>
          <p:cNvSpPr txBox="1"/>
          <p:nvPr/>
        </p:nvSpPr>
        <p:spPr>
          <a:xfrm>
            <a:off x="39778" y="47732"/>
            <a:ext cx="4306628" cy="369332"/>
          </a:xfrm>
          <a:prstGeom prst="rect">
            <a:avLst/>
          </a:prstGeom>
          <a:noFill/>
        </p:spPr>
        <p:txBody>
          <a:bodyPr wrap="none" rtlCol="0">
            <a:spAutoFit/>
          </a:bodyPr>
          <a:lstStyle/>
          <a:p>
            <a:r>
              <a:rPr lang="en-US" dirty="0">
                <a:solidFill>
                  <a:schemeClr val="accent5">
                    <a:lumMod val="60000"/>
                    <a:lumOff val="40000"/>
                  </a:schemeClr>
                </a:solidFill>
              </a:rPr>
              <a:t>SLIDE 4h – Implementation Tab. Elements</a:t>
            </a:r>
          </a:p>
        </p:txBody>
      </p:sp>
      <p:sp>
        <p:nvSpPr>
          <p:cNvPr id="58" name="TextBox 57">
            <a:extLst>
              <a:ext uri="{FF2B5EF4-FFF2-40B4-BE49-F238E27FC236}">
                <a16:creationId xmlns:a16="http://schemas.microsoft.com/office/drawing/2014/main" id="{D72B6A39-A9CE-79D7-CBA0-81D8E41B67E6}"/>
              </a:ext>
            </a:extLst>
          </p:cNvPr>
          <p:cNvSpPr txBox="1"/>
          <p:nvPr/>
        </p:nvSpPr>
        <p:spPr>
          <a:xfrm>
            <a:off x="4173249" y="5961767"/>
            <a:ext cx="3183013" cy="646331"/>
          </a:xfrm>
          <a:prstGeom prst="rect">
            <a:avLst/>
          </a:prstGeom>
          <a:noFill/>
          <a:ln>
            <a:solidFill>
              <a:schemeClr val="accent5">
                <a:lumMod val="60000"/>
                <a:lumOff val="40000"/>
              </a:schemeClr>
            </a:solidFill>
          </a:ln>
        </p:spPr>
        <p:txBody>
          <a:bodyPr wrap="square" rtlCol="0">
            <a:spAutoFit/>
          </a:bodyPr>
          <a:lstStyle/>
          <a:p>
            <a:r>
              <a:rPr lang="en-US" dirty="0">
                <a:solidFill>
                  <a:schemeClr val="accent5">
                    <a:lumMod val="60000"/>
                    <a:lumOff val="40000"/>
                  </a:schemeClr>
                </a:solidFill>
              </a:rPr>
              <a:t>Message to orchestrator or broadcast user option</a:t>
            </a:r>
          </a:p>
        </p:txBody>
      </p:sp>
      <p:cxnSp>
        <p:nvCxnSpPr>
          <p:cNvPr id="60" name="Straight Arrow Connector 59">
            <a:extLst>
              <a:ext uri="{FF2B5EF4-FFF2-40B4-BE49-F238E27FC236}">
                <a16:creationId xmlns:a16="http://schemas.microsoft.com/office/drawing/2014/main" id="{7CC5DBA8-9418-8728-A569-B163BFF0739E}"/>
              </a:ext>
            </a:extLst>
          </p:cNvPr>
          <p:cNvCxnSpPr>
            <a:cxnSpLocks/>
            <a:endCxn id="46" idx="2"/>
          </p:cNvCxnSpPr>
          <p:nvPr/>
        </p:nvCxnSpPr>
        <p:spPr>
          <a:xfrm flipH="1" flipV="1">
            <a:off x="1088681" y="5797559"/>
            <a:ext cx="3059081" cy="231375"/>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62" name="Straight Arrow Connector 61">
            <a:extLst>
              <a:ext uri="{FF2B5EF4-FFF2-40B4-BE49-F238E27FC236}">
                <a16:creationId xmlns:a16="http://schemas.microsoft.com/office/drawing/2014/main" id="{BFECFF4D-1B0E-0B72-3359-5A1B2394F3A8}"/>
              </a:ext>
            </a:extLst>
          </p:cNvPr>
          <p:cNvCxnSpPr>
            <a:cxnSpLocks/>
          </p:cNvCxnSpPr>
          <p:nvPr/>
        </p:nvCxnSpPr>
        <p:spPr>
          <a:xfrm flipH="1" flipV="1">
            <a:off x="2546171" y="5797559"/>
            <a:ext cx="1601591" cy="206382"/>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63" name="TextBox 62">
            <a:extLst>
              <a:ext uri="{FF2B5EF4-FFF2-40B4-BE49-F238E27FC236}">
                <a16:creationId xmlns:a16="http://schemas.microsoft.com/office/drawing/2014/main" id="{38C9036E-AAC7-F841-F398-59187F75AA3A}"/>
              </a:ext>
            </a:extLst>
          </p:cNvPr>
          <p:cNvSpPr txBox="1"/>
          <p:nvPr/>
        </p:nvSpPr>
        <p:spPr>
          <a:xfrm>
            <a:off x="5130988" y="4643391"/>
            <a:ext cx="1647316" cy="369332"/>
          </a:xfrm>
          <a:prstGeom prst="rect">
            <a:avLst/>
          </a:prstGeom>
          <a:noFill/>
          <a:ln>
            <a:solidFill>
              <a:schemeClr val="accent5">
                <a:lumMod val="60000"/>
                <a:lumOff val="40000"/>
              </a:schemeClr>
            </a:solidFill>
          </a:ln>
        </p:spPr>
        <p:txBody>
          <a:bodyPr wrap="square" rtlCol="0">
            <a:spAutoFit/>
          </a:bodyPr>
          <a:lstStyle/>
          <a:p>
            <a:r>
              <a:rPr lang="en-US" dirty="0">
                <a:solidFill>
                  <a:schemeClr val="accent5">
                    <a:lumMod val="60000"/>
                    <a:lumOff val="40000"/>
                  </a:schemeClr>
                </a:solidFill>
              </a:rPr>
              <a:t>Message field</a:t>
            </a:r>
          </a:p>
        </p:txBody>
      </p:sp>
      <p:cxnSp>
        <p:nvCxnSpPr>
          <p:cNvPr id="68" name="Straight Arrow Connector 67">
            <a:extLst>
              <a:ext uri="{FF2B5EF4-FFF2-40B4-BE49-F238E27FC236}">
                <a16:creationId xmlns:a16="http://schemas.microsoft.com/office/drawing/2014/main" id="{A7EC3E24-2595-8B03-A86D-DF73B4E3669C}"/>
              </a:ext>
            </a:extLst>
          </p:cNvPr>
          <p:cNvCxnSpPr>
            <a:cxnSpLocks/>
            <a:stCxn id="63" idx="2"/>
          </p:cNvCxnSpPr>
          <p:nvPr/>
        </p:nvCxnSpPr>
        <p:spPr>
          <a:xfrm flipH="1">
            <a:off x="5204293" y="5012723"/>
            <a:ext cx="750353" cy="348229"/>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70" name="TextBox 69">
            <a:extLst>
              <a:ext uri="{FF2B5EF4-FFF2-40B4-BE49-F238E27FC236}">
                <a16:creationId xmlns:a16="http://schemas.microsoft.com/office/drawing/2014/main" id="{D9C2DB62-8093-97C9-FF26-2559B71299E7}"/>
              </a:ext>
            </a:extLst>
          </p:cNvPr>
          <p:cNvSpPr txBox="1"/>
          <p:nvPr/>
        </p:nvSpPr>
        <p:spPr>
          <a:xfrm>
            <a:off x="9445192" y="5395625"/>
            <a:ext cx="1647316" cy="369332"/>
          </a:xfrm>
          <a:prstGeom prst="rect">
            <a:avLst/>
          </a:prstGeom>
          <a:noFill/>
          <a:ln>
            <a:solidFill>
              <a:schemeClr val="accent5">
                <a:lumMod val="60000"/>
                <a:lumOff val="40000"/>
              </a:schemeClr>
            </a:solidFill>
          </a:ln>
        </p:spPr>
        <p:txBody>
          <a:bodyPr wrap="square" rtlCol="0">
            <a:spAutoFit/>
          </a:bodyPr>
          <a:lstStyle/>
          <a:p>
            <a:r>
              <a:rPr lang="en-US" dirty="0">
                <a:solidFill>
                  <a:schemeClr val="accent5">
                    <a:lumMod val="60000"/>
                    <a:lumOff val="40000"/>
                  </a:schemeClr>
                </a:solidFill>
              </a:rPr>
              <a:t>Send message</a:t>
            </a:r>
          </a:p>
        </p:txBody>
      </p:sp>
      <p:cxnSp>
        <p:nvCxnSpPr>
          <p:cNvPr id="72" name="Straight Arrow Connector 71">
            <a:extLst>
              <a:ext uri="{FF2B5EF4-FFF2-40B4-BE49-F238E27FC236}">
                <a16:creationId xmlns:a16="http://schemas.microsoft.com/office/drawing/2014/main" id="{A1DCEE95-003B-218B-9103-0F038A949F7F}"/>
              </a:ext>
            </a:extLst>
          </p:cNvPr>
          <p:cNvCxnSpPr>
            <a:stCxn id="70" idx="1"/>
            <a:endCxn id="50" idx="6"/>
          </p:cNvCxnSpPr>
          <p:nvPr/>
        </p:nvCxnSpPr>
        <p:spPr>
          <a:xfrm flipH="1">
            <a:off x="9291001" y="5580291"/>
            <a:ext cx="154191" cy="14800"/>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pic>
        <p:nvPicPr>
          <p:cNvPr id="88" name="Graphic 87" descr="Play with solid fill">
            <a:extLst>
              <a:ext uri="{FF2B5EF4-FFF2-40B4-BE49-F238E27FC236}">
                <a16:creationId xmlns:a16="http://schemas.microsoft.com/office/drawing/2014/main" id="{C8504444-FED1-3E98-87D2-A91EBB457B9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976037" y="3089793"/>
            <a:ext cx="193474" cy="193474"/>
          </a:xfrm>
          <a:prstGeom prst="rect">
            <a:avLst/>
          </a:prstGeom>
        </p:spPr>
      </p:pic>
      <p:pic>
        <p:nvPicPr>
          <p:cNvPr id="113" name="Graphic 112" descr="Repeat outline">
            <a:extLst>
              <a:ext uri="{FF2B5EF4-FFF2-40B4-BE49-F238E27FC236}">
                <a16:creationId xmlns:a16="http://schemas.microsoft.com/office/drawing/2014/main" id="{2F5D95D5-96F0-B310-5CBF-306C17E5497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946626" y="2668570"/>
            <a:ext cx="261611" cy="261611"/>
          </a:xfrm>
          <a:prstGeom prst="rect">
            <a:avLst/>
          </a:prstGeom>
        </p:spPr>
      </p:pic>
      <p:sp>
        <p:nvSpPr>
          <p:cNvPr id="7" name="Oval 6">
            <a:extLst>
              <a:ext uri="{FF2B5EF4-FFF2-40B4-BE49-F238E27FC236}">
                <a16:creationId xmlns:a16="http://schemas.microsoft.com/office/drawing/2014/main" id="{3AB7A079-14CF-498C-0FF8-1A64D20FE530}"/>
              </a:ext>
            </a:extLst>
          </p:cNvPr>
          <p:cNvSpPr/>
          <p:nvPr/>
        </p:nvSpPr>
        <p:spPr>
          <a:xfrm>
            <a:off x="1815090" y="1876161"/>
            <a:ext cx="174503" cy="184050"/>
          </a:xfrm>
          <a:prstGeom prst="ellipse">
            <a:avLst/>
          </a:prstGeom>
          <a:solidFill>
            <a:srgbClr val="1E31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9EBF830-68D9-0E00-A5CE-B2A8EEF056BE}"/>
              </a:ext>
            </a:extLst>
          </p:cNvPr>
          <p:cNvSpPr txBox="1"/>
          <p:nvPr/>
        </p:nvSpPr>
        <p:spPr>
          <a:xfrm>
            <a:off x="390687" y="6097720"/>
            <a:ext cx="3420476" cy="646331"/>
          </a:xfrm>
          <a:prstGeom prst="rect">
            <a:avLst/>
          </a:prstGeom>
          <a:solidFill>
            <a:schemeClr val="accent3">
              <a:lumMod val="75000"/>
            </a:schemeClr>
          </a:solidFill>
          <a:ln>
            <a:solidFill>
              <a:schemeClr val="accent5">
                <a:lumMod val="60000"/>
                <a:lumOff val="40000"/>
              </a:schemeClr>
            </a:solidFill>
          </a:ln>
        </p:spPr>
        <p:txBody>
          <a:bodyPr wrap="square" rtlCol="0">
            <a:spAutoFit/>
          </a:bodyPr>
          <a:lstStyle/>
          <a:p>
            <a:r>
              <a:rPr lang="en-US" dirty="0">
                <a:solidFill>
                  <a:schemeClr val="bg1"/>
                </a:solidFill>
              </a:rPr>
              <a:t>General CLI MODE</a:t>
            </a:r>
          </a:p>
          <a:p>
            <a:r>
              <a:rPr lang="en-US" dirty="0">
                <a:solidFill>
                  <a:schemeClr val="bg1"/>
                </a:solidFill>
              </a:rPr>
              <a:t>(individual terminals for agents</a:t>
            </a:r>
          </a:p>
        </p:txBody>
      </p:sp>
      <p:sp>
        <p:nvSpPr>
          <p:cNvPr id="12" name="TextBox 11">
            <a:extLst>
              <a:ext uri="{FF2B5EF4-FFF2-40B4-BE49-F238E27FC236}">
                <a16:creationId xmlns:a16="http://schemas.microsoft.com/office/drawing/2014/main" id="{4FC997F8-0D00-412C-1260-0A9221F40DC1}"/>
              </a:ext>
            </a:extLst>
          </p:cNvPr>
          <p:cNvSpPr txBox="1"/>
          <p:nvPr/>
        </p:nvSpPr>
        <p:spPr>
          <a:xfrm>
            <a:off x="9159175" y="2588302"/>
            <a:ext cx="260008" cy="261610"/>
          </a:xfrm>
          <a:prstGeom prst="rect">
            <a:avLst/>
          </a:prstGeom>
          <a:noFill/>
        </p:spPr>
        <p:txBody>
          <a:bodyPr wrap="square" rtlCol="0">
            <a:spAutoFit/>
          </a:bodyPr>
          <a:lstStyle/>
          <a:p>
            <a:r>
              <a:rPr lang="en-US" sz="1100" dirty="0">
                <a:solidFill>
                  <a:srgbClr val="E1E1E1"/>
                </a:solidFill>
              </a:rPr>
              <a:t>1</a:t>
            </a:r>
          </a:p>
        </p:txBody>
      </p:sp>
      <p:sp>
        <p:nvSpPr>
          <p:cNvPr id="14" name="TextBox 13">
            <a:extLst>
              <a:ext uri="{FF2B5EF4-FFF2-40B4-BE49-F238E27FC236}">
                <a16:creationId xmlns:a16="http://schemas.microsoft.com/office/drawing/2014/main" id="{FBF811F8-9F62-845E-9963-39901E907CD6}"/>
              </a:ext>
            </a:extLst>
          </p:cNvPr>
          <p:cNvSpPr txBox="1"/>
          <p:nvPr/>
        </p:nvSpPr>
        <p:spPr>
          <a:xfrm>
            <a:off x="7282334" y="2637658"/>
            <a:ext cx="260008" cy="261610"/>
          </a:xfrm>
          <a:prstGeom prst="rect">
            <a:avLst/>
          </a:prstGeom>
          <a:noFill/>
        </p:spPr>
        <p:txBody>
          <a:bodyPr wrap="square" rtlCol="0">
            <a:spAutoFit/>
          </a:bodyPr>
          <a:lstStyle/>
          <a:p>
            <a:r>
              <a:rPr lang="en-US" sz="1100" dirty="0">
                <a:solidFill>
                  <a:srgbClr val="E1E1E1"/>
                </a:solidFill>
              </a:rPr>
              <a:t>5</a:t>
            </a:r>
          </a:p>
        </p:txBody>
      </p:sp>
      <p:sp>
        <p:nvSpPr>
          <p:cNvPr id="15" name="TextBox 14">
            <a:extLst>
              <a:ext uri="{FF2B5EF4-FFF2-40B4-BE49-F238E27FC236}">
                <a16:creationId xmlns:a16="http://schemas.microsoft.com/office/drawing/2014/main" id="{49FBE60E-73E1-E2E5-65ED-E7F4884BA656}"/>
              </a:ext>
            </a:extLst>
          </p:cNvPr>
          <p:cNvSpPr txBox="1"/>
          <p:nvPr/>
        </p:nvSpPr>
        <p:spPr>
          <a:xfrm>
            <a:off x="8155156" y="3033932"/>
            <a:ext cx="260008" cy="261610"/>
          </a:xfrm>
          <a:prstGeom prst="rect">
            <a:avLst/>
          </a:prstGeom>
          <a:noFill/>
        </p:spPr>
        <p:txBody>
          <a:bodyPr wrap="square" rtlCol="0">
            <a:spAutoFit/>
          </a:bodyPr>
          <a:lstStyle/>
          <a:p>
            <a:r>
              <a:rPr lang="en-US" sz="1100" dirty="0">
                <a:solidFill>
                  <a:srgbClr val="E1E1E1"/>
                </a:solidFill>
              </a:rPr>
              <a:t>1</a:t>
            </a:r>
          </a:p>
        </p:txBody>
      </p:sp>
      <p:sp>
        <p:nvSpPr>
          <p:cNvPr id="18" name="TextBox 17">
            <a:extLst>
              <a:ext uri="{FF2B5EF4-FFF2-40B4-BE49-F238E27FC236}">
                <a16:creationId xmlns:a16="http://schemas.microsoft.com/office/drawing/2014/main" id="{BC84AC9F-E2FA-630E-B311-54B51A78E68A}"/>
              </a:ext>
            </a:extLst>
          </p:cNvPr>
          <p:cNvSpPr txBox="1"/>
          <p:nvPr/>
        </p:nvSpPr>
        <p:spPr>
          <a:xfrm>
            <a:off x="8155156" y="3980155"/>
            <a:ext cx="260008" cy="261610"/>
          </a:xfrm>
          <a:prstGeom prst="rect">
            <a:avLst/>
          </a:prstGeom>
          <a:noFill/>
        </p:spPr>
        <p:txBody>
          <a:bodyPr wrap="square" rtlCol="0">
            <a:spAutoFit/>
          </a:bodyPr>
          <a:lstStyle/>
          <a:p>
            <a:r>
              <a:rPr lang="en-US" sz="1100" dirty="0">
                <a:solidFill>
                  <a:srgbClr val="E1E1E1"/>
                </a:solidFill>
              </a:rPr>
              <a:t>1</a:t>
            </a:r>
          </a:p>
        </p:txBody>
      </p:sp>
      <p:sp>
        <p:nvSpPr>
          <p:cNvPr id="21" name="TextBox 20">
            <a:extLst>
              <a:ext uri="{FF2B5EF4-FFF2-40B4-BE49-F238E27FC236}">
                <a16:creationId xmlns:a16="http://schemas.microsoft.com/office/drawing/2014/main" id="{DD1DC446-3416-4BFA-F4E8-D03F55D97C9C}"/>
              </a:ext>
            </a:extLst>
          </p:cNvPr>
          <p:cNvSpPr txBox="1"/>
          <p:nvPr/>
        </p:nvSpPr>
        <p:spPr>
          <a:xfrm>
            <a:off x="8155156" y="3496213"/>
            <a:ext cx="260008" cy="261610"/>
          </a:xfrm>
          <a:prstGeom prst="rect">
            <a:avLst/>
          </a:prstGeom>
          <a:noFill/>
        </p:spPr>
        <p:txBody>
          <a:bodyPr wrap="square" rtlCol="0">
            <a:spAutoFit/>
          </a:bodyPr>
          <a:lstStyle/>
          <a:p>
            <a:r>
              <a:rPr lang="en-US" sz="1100" dirty="0">
                <a:solidFill>
                  <a:srgbClr val="E1E1E1"/>
                </a:solidFill>
              </a:rPr>
              <a:t>1</a:t>
            </a:r>
          </a:p>
        </p:txBody>
      </p:sp>
      <p:pic>
        <p:nvPicPr>
          <p:cNvPr id="22" name="Graphic 21" descr="Badge Tick1 with solid fill">
            <a:extLst>
              <a:ext uri="{FF2B5EF4-FFF2-40B4-BE49-F238E27FC236}">
                <a16:creationId xmlns:a16="http://schemas.microsoft.com/office/drawing/2014/main" id="{1406186E-3432-C69D-2510-E7059DAB2B23}"/>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720452" y="2644852"/>
            <a:ext cx="222015" cy="222015"/>
          </a:xfrm>
          <a:prstGeom prst="rect">
            <a:avLst/>
          </a:prstGeom>
        </p:spPr>
      </p:pic>
      <p:pic>
        <p:nvPicPr>
          <p:cNvPr id="35" name="Graphic 34" descr="Badge Tick1 with solid fill">
            <a:extLst>
              <a:ext uri="{FF2B5EF4-FFF2-40B4-BE49-F238E27FC236}">
                <a16:creationId xmlns:a16="http://schemas.microsoft.com/office/drawing/2014/main" id="{FAC3C10F-1C70-1563-CEED-271851AA62E4}"/>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554184" y="2644851"/>
            <a:ext cx="222015" cy="222015"/>
          </a:xfrm>
          <a:prstGeom prst="rect">
            <a:avLst/>
          </a:prstGeom>
        </p:spPr>
      </p:pic>
      <p:sp>
        <p:nvSpPr>
          <p:cNvPr id="38" name="TextBox 37">
            <a:extLst>
              <a:ext uri="{FF2B5EF4-FFF2-40B4-BE49-F238E27FC236}">
                <a16:creationId xmlns:a16="http://schemas.microsoft.com/office/drawing/2014/main" id="{003F660F-D43E-2E5E-F70C-59A5EDD9837D}"/>
              </a:ext>
            </a:extLst>
          </p:cNvPr>
          <p:cNvSpPr txBox="1"/>
          <p:nvPr/>
        </p:nvSpPr>
        <p:spPr>
          <a:xfrm>
            <a:off x="9159175" y="2588302"/>
            <a:ext cx="260008" cy="261610"/>
          </a:xfrm>
          <a:prstGeom prst="rect">
            <a:avLst/>
          </a:prstGeom>
          <a:noFill/>
        </p:spPr>
        <p:txBody>
          <a:bodyPr wrap="square" rtlCol="0">
            <a:spAutoFit/>
          </a:bodyPr>
          <a:lstStyle/>
          <a:p>
            <a:r>
              <a:rPr lang="en-US" sz="1100" dirty="0">
                <a:solidFill>
                  <a:srgbClr val="E1E1E1"/>
                </a:solidFill>
              </a:rPr>
              <a:t>1</a:t>
            </a:r>
          </a:p>
        </p:txBody>
      </p:sp>
      <p:sp>
        <p:nvSpPr>
          <p:cNvPr id="39" name="TextBox 38">
            <a:extLst>
              <a:ext uri="{FF2B5EF4-FFF2-40B4-BE49-F238E27FC236}">
                <a16:creationId xmlns:a16="http://schemas.microsoft.com/office/drawing/2014/main" id="{149FC941-1BF7-0AD1-0D4D-29EB4AE55740}"/>
              </a:ext>
            </a:extLst>
          </p:cNvPr>
          <p:cNvSpPr txBox="1"/>
          <p:nvPr/>
        </p:nvSpPr>
        <p:spPr>
          <a:xfrm>
            <a:off x="9150764" y="3089171"/>
            <a:ext cx="260008" cy="261610"/>
          </a:xfrm>
          <a:prstGeom prst="rect">
            <a:avLst/>
          </a:prstGeom>
          <a:noFill/>
        </p:spPr>
        <p:txBody>
          <a:bodyPr wrap="square" rtlCol="0">
            <a:spAutoFit/>
          </a:bodyPr>
          <a:lstStyle/>
          <a:p>
            <a:r>
              <a:rPr lang="en-US" sz="1100" dirty="0">
                <a:solidFill>
                  <a:srgbClr val="E1E1E1"/>
                </a:solidFill>
              </a:rPr>
              <a:t>1</a:t>
            </a:r>
          </a:p>
        </p:txBody>
      </p:sp>
      <p:sp>
        <p:nvSpPr>
          <p:cNvPr id="40" name="TextBox 39">
            <a:extLst>
              <a:ext uri="{FF2B5EF4-FFF2-40B4-BE49-F238E27FC236}">
                <a16:creationId xmlns:a16="http://schemas.microsoft.com/office/drawing/2014/main" id="{D9A4C3AD-A7A7-8266-7921-43ACDA913D31}"/>
              </a:ext>
            </a:extLst>
          </p:cNvPr>
          <p:cNvSpPr txBox="1"/>
          <p:nvPr/>
        </p:nvSpPr>
        <p:spPr>
          <a:xfrm>
            <a:off x="9144036" y="3527404"/>
            <a:ext cx="260008" cy="261610"/>
          </a:xfrm>
          <a:prstGeom prst="rect">
            <a:avLst/>
          </a:prstGeom>
          <a:noFill/>
        </p:spPr>
        <p:txBody>
          <a:bodyPr wrap="square" rtlCol="0">
            <a:spAutoFit/>
          </a:bodyPr>
          <a:lstStyle/>
          <a:p>
            <a:r>
              <a:rPr lang="en-US" sz="1100" dirty="0">
                <a:solidFill>
                  <a:srgbClr val="E1E1E1"/>
                </a:solidFill>
              </a:rPr>
              <a:t>1</a:t>
            </a:r>
          </a:p>
        </p:txBody>
      </p:sp>
      <p:sp>
        <p:nvSpPr>
          <p:cNvPr id="48" name="TextBox 47">
            <a:extLst>
              <a:ext uri="{FF2B5EF4-FFF2-40B4-BE49-F238E27FC236}">
                <a16:creationId xmlns:a16="http://schemas.microsoft.com/office/drawing/2014/main" id="{AB6C9266-FB7A-9D19-C6BE-CED6A1D4A951}"/>
              </a:ext>
            </a:extLst>
          </p:cNvPr>
          <p:cNvSpPr txBox="1"/>
          <p:nvPr/>
        </p:nvSpPr>
        <p:spPr>
          <a:xfrm>
            <a:off x="9139848" y="3984237"/>
            <a:ext cx="260008" cy="261610"/>
          </a:xfrm>
          <a:prstGeom prst="rect">
            <a:avLst/>
          </a:prstGeom>
          <a:noFill/>
        </p:spPr>
        <p:txBody>
          <a:bodyPr wrap="square" rtlCol="0">
            <a:spAutoFit/>
          </a:bodyPr>
          <a:lstStyle/>
          <a:p>
            <a:r>
              <a:rPr lang="en-US" sz="1100" dirty="0">
                <a:solidFill>
                  <a:srgbClr val="E1E1E1"/>
                </a:solidFill>
              </a:rPr>
              <a:t>1</a:t>
            </a:r>
          </a:p>
        </p:txBody>
      </p:sp>
      <p:pic>
        <p:nvPicPr>
          <p:cNvPr id="51" name="Graphic 50" descr="Badge Tick1 with solid fill">
            <a:extLst>
              <a:ext uri="{FF2B5EF4-FFF2-40B4-BE49-F238E27FC236}">
                <a16:creationId xmlns:a16="http://schemas.microsoft.com/office/drawing/2014/main" id="{AEB9EF85-FA56-1C24-A8A3-7A1C4FC3F5F7}"/>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707274" y="3200409"/>
            <a:ext cx="222015" cy="222015"/>
          </a:xfrm>
          <a:prstGeom prst="rect">
            <a:avLst/>
          </a:prstGeom>
        </p:spPr>
      </p:pic>
      <p:pic>
        <p:nvPicPr>
          <p:cNvPr id="52" name="Graphic 51" descr="Badge Tick1 with solid fill">
            <a:extLst>
              <a:ext uri="{FF2B5EF4-FFF2-40B4-BE49-F238E27FC236}">
                <a16:creationId xmlns:a16="http://schemas.microsoft.com/office/drawing/2014/main" id="{623139FA-F02D-5B90-301A-1DF833B7148F}"/>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541006" y="3200408"/>
            <a:ext cx="222015" cy="222015"/>
          </a:xfrm>
          <a:prstGeom prst="rect">
            <a:avLst/>
          </a:prstGeom>
        </p:spPr>
      </p:pic>
      <p:pic>
        <p:nvPicPr>
          <p:cNvPr id="54" name="Graphic 53" descr="Badge Tick1 with solid fill">
            <a:extLst>
              <a:ext uri="{FF2B5EF4-FFF2-40B4-BE49-F238E27FC236}">
                <a16:creationId xmlns:a16="http://schemas.microsoft.com/office/drawing/2014/main" id="{DEF9A4F9-BC53-AD3F-5419-687575054C3D}"/>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691059" y="3606311"/>
            <a:ext cx="222015" cy="222015"/>
          </a:xfrm>
          <a:prstGeom prst="rect">
            <a:avLst/>
          </a:prstGeom>
        </p:spPr>
      </p:pic>
      <p:pic>
        <p:nvPicPr>
          <p:cNvPr id="55" name="Graphic 54" descr="Badge Tick1 with solid fill">
            <a:extLst>
              <a:ext uri="{FF2B5EF4-FFF2-40B4-BE49-F238E27FC236}">
                <a16:creationId xmlns:a16="http://schemas.microsoft.com/office/drawing/2014/main" id="{14B9CD69-855D-8ABB-EDBD-8C247250CD83}"/>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524791" y="3606310"/>
            <a:ext cx="222015" cy="222015"/>
          </a:xfrm>
          <a:prstGeom prst="rect">
            <a:avLst/>
          </a:prstGeom>
        </p:spPr>
      </p:pic>
      <p:pic>
        <p:nvPicPr>
          <p:cNvPr id="56" name="Graphic 55" descr="Badge Tick1 with solid fill">
            <a:extLst>
              <a:ext uri="{FF2B5EF4-FFF2-40B4-BE49-F238E27FC236}">
                <a16:creationId xmlns:a16="http://schemas.microsoft.com/office/drawing/2014/main" id="{EE11A61C-1C01-FE90-E0B5-BFD618A18BDD}"/>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720452" y="3985522"/>
            <a:ext cx="222015" cy="222015"/>
          </a:xfrm>
          <a:prstGeom prst="rect">
            <a:avLst/>
          </a:prstGeom>
        </p:spPr>
      </p:pic>
      <p:pic>
        <p:nvPicPr>
          <p:cNvPr id="57" name="Graphic 56" descr="Badge Tick1 with solid fill">
            <a:extLst>
              <a:ext uri="{FF2B5EF4-FFF2-40B4-BE49-F238E27FC236}">
                <a16:creationId xmlns:a16="http://schemas.microsoft.com/office/drawing/2014/main" id="{693E41B4-219F-52D1-E333-7EDB8DAA40FE}"/>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554184" y="3985521"/>
            <a:ext cx="222015" cy="222015"/>
          </a:xfrm>
          <a:prstGeom prst="rect">
            <a:avLst/>
          </a:prstGeom>
        </p:spPr>
      </p:pic>
      <p:sp>
        <p:nvSpPr>
          <p:cNvPr id="59" name="TextBox 58">
            <a:extLst>
              <a:ext uri="{FF2B5EF4-FFF2-40B4-BE49-F238E27FC236}">
                <a16:creationId xmlns:a16="http://schemas.microsoft.com/office/drawing/2014/main" id="{7DA3D604-1D60-EFDF-A7D0-5F3D87E8013F}"/>
              </a:ext>
            </a:extLst>
          </p:cNvPr>
          <p:cNvSpPr txBox="1"/>
          <p:nvPr/>
        </p:nvSpPr>
        <p:spPr>
          <a:xfrm>
            <a:off x="7288756" y="3184834"/>
            <a:ext cx="260008" cy="261610"/>
          </a:xfrm>
          <a:prstGeom prst="rect">
            <a:avLst/>
          </a:prstGeom>
          <a:noFill/>
        </p:spPr>
        <p:txBody>
          <a:bodyPr wrap="square" rtlCol="0">
            <a:spAutoFit/>
          </a:bodyPr>
          <a:lstStyle/>
          <a:p>
            <a:r>
              <a:rPr lang="en-US" sz="1100" dirty="0">
                <a:solidFill>
                  <a:srgbClr val="E1E1E1"/>
                </a:solidFill>
              </a:rPr>
              <a:t>1</a:t>
            </a:r>
          </a:p>
        </p:txBody>
      </p:sp>
      <p:sp>
        <p:nvSpPr>
          <p:cNvPr id="61" name="TextBox 60">
            <a:extLst>
              <a:ext uri="{FF2B5EF4-FFF2-40B4-BE49-F238E27FC236}">
                <a16:creationId xmlns:a16="http://schemas.microsoft.com/office/drawing/2014/main" id="{D57D6576-A8F4-6372-FB62-44363173BD43}"/>
              </a:ext>
            </a:extLst>
          </p:cNvPr>
          <p:cNvSpPr txBox="1"/>
          <p:nvPr/>
        </p:nvSpPr>
        <p:spPr>
          <a:xfrm>
            <a:off x="7279209" y="3945926"/>
            <a:ext cx="260008" cy="261610"/>
          </a:xfrm>
          <a:prstGeom prst="rect">
            <a:avLst/>
          </a:prstGeom>
          <a:noFill/>
        </p:spPr>
        <p:txBody>
          <a:bodyPr wrap="square" rtlCol="0">
            <a:spAutoFit/>
          </a:bodyPr>
          <a:lstStyle/>
          <a:p>
            <a:r>
              <a:rPr lang="en-US" sz="1100" dirty="0">
                <a:solidFill>
                  <a:srgbClr val="E1E1E1"/>
                </a:solidFill>
              </a:rPr>
              <a:t>1</a:t>
            </a:r>
          </a:p>
        </p:txBody>
      </p:sp>
    </p:spTree>
    <p:extLst>
      <p:ext uri="{BB962C8B-B14F-4D97-AF65-F5344CB8AC3E}">
        <p14:creationId xmlns:p14="http://schemas.microsoft.com/office/powerpoint/2010/main" val="38381441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06586-A53C-7DE2-EE9D-D825C50B4527}"/>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26E24C9-ADE4-A4C9-809B-43D055D4AB20}"/>
              </a:ext>
            </a:extLst>
          </p:cNvPr>
          <p:cNvSpPr/>
          <p:nvPr/>
        </p:nvSpPr>
        <p:spPr>
          <a:xfrm>
            <a:off x="503403" y="1334840"/>
            <a:ext cx="2218513" cy="1071163"/>
          </a:xfrm>
          <a:prstGeom prst="roundRect">
            <a:avLst>
              <a:gd name="adj" fmla="val 15806"/>
            </a:avLst>
          </a:prstGeom>
          <a:no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D29E1C13-81ED-A6DA-DDA8-78F7635C68E5}"/>
              </a:ext>
            </a:extLst>
          </p:cNvPr>
          <p:cNvSpPr txBox="1"/>
          <p:nvPr/>
        </p:nvSpPr>
        <p:spPr>
          <a:xfrm>
            <a:off x="516531" y="677075"/>
            <a:ext cx="2514919" cy="553998"/>
          </a:xfrm>
          <a:prstGeom prst="rect">
            <a:avLst/>
          </a:prstGeom>
          <a:noFill/>
        </p:spPr>
        <p:txBody>
          <a:bodyPr wrap="none" rtlCol="0">
            <a:spAutoFit/>
          </a:bodyPr>
          <a:lstStyle/>
          <a:p>
            <a:r>
              <a:rPr lang="en-US" dirty="0">
                <a:solidFill>
                  <a:srgbClr val="E1E1E1"/>
                </a:solidFill>
              </a:rPr>
              <a:t>Project: </a:t>
            </a:r>
            <a:r>
              <a:rPr lang="en-US" dirty="0">
                <a:solidFill>
                  <a:srgbClr val="FFC300"/>
                </a:solidFill>
              </a:rPr>
              <a:t>{</a:t>
            </a:r>
            <a:r>
              <a:rPr lang="en-US" dirty="0" err="1">
                <a:solidFill>
                  <a:srgbClr val="FFC300"/>
                </a:solidFill>
              </a:rPr>
              <a:t>project_name</a:t>
            </a:r>
            <a:r>
              <a:rPr lang="en-US" dirty="0">
                <a:solidFill>
                  <a:srgbClr val="FFC300"/>
                </a:solidFill>
              </a:rPr>
              <a:t>}</a:t>
            </a:r>
          </a:p>
          <a:p>
            <a:r>
              <a:rPr lang="en-US" sz="1200" dirty="0">
                <a:solidFill>
                  <a:srgbClr val="8F97B7"/>
                </a:solidFill>
              </a:rPr>
              <a:t>Project ID: {</a:t>
            </a:r>
            <a:r>
              <a:rPr lang="en-US" sz="1200" dirty="0" err="1">
                <a:solidFill>
                  <a:srgbClr val="8F97B7"/>
                </a:solidFill>
              </a:rPr>
              <a:t>full_UUID</a:t>
            </a:r>
            <a:r>
              <a:rPr lang="en-US" sz="1200" dirty="0">
                <a:solidFill>
                  <a:srgbClr val="8F97B7"/>
                </a:solidFill>
              </a:rPr>
              <a:t>}</a:t>
            </a:r>
          </a:p>
        </p:txBody>
      </p:sp>
      <p:sp>
        <p:nvSpPr>
          <p:cNvPr id="3" name="Rectangle: Rounded Corners 2">
            <a:extLst>
              <a:ext uri="{FF2B5EF4-FFF2-40B4-BE49-F238E27FC236}">
                <a16:creationId xmlns:a16="http://schemas.microsoft.com/office/drawing/2014/main" id="{13F64587-25CD-5CBF-3389-5980124E846C}"/>
              </a:ext>
            </a:extLst>
          </p:cNvPr>
          <p:cNvSpPr/>
          <p:nvPr/>
        </p:nvSpPr>
        <p:spPr>
          <a:xfrm>
            <a:off x="1643382" y="1342292"/>
            <a:ext cx="1805578" cy="969932"/>
          </a:xfrm>
          <a:prstGeom prst="roundRect">
            <a:avLst>
              <a:gd name="adj" fmla="val 17766"/>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7785A51-F095-681B-56FE-C5DDA4A94793}"/>
              </a:ext>
            </a:extLst>
          </p:cNvPr>
          <p:cNvSpPr txBox="1"/>
          <p:nvPr/>
        </p:nvSpPr>
        <p:spPr>
          <a:xfrm>
            <a:off x="682981" y="1327205"/>
            <a:ext cx="929678" cy="369332"/>
          </a:xfrm>
          <a:prstGeom prst="rect">
            <a:avLst/>
          </a:prstGeom>
          <a:noFill/>
        </p:spPr>
        <p:txBody>
          <a:bodyPr wrap="none" rtlCol="0">
            <a:spAutoFit/>
          </a:bodyPr>
          <a:lstStyle/>
          <a:p>
            <a:r>
              <a:rPr lang="en-US" dirty="0">
                <a:solidFill>
                  <a:srgbClr val="1E3147"/>
                </a:solidFill>
              </a:rPr>
              <a:t>Launch</a:t>
            </a:r>
          </a:p>
        </p:txBody>
      </p:sp>
      <p:sp>
        <p:nvSpPr>
          <p:cNvPr id="6" name="Rectangle: Rounded Corners 5">
            <a:extLst>
              <a:ext uri="{FF2B5EF4-FFF2-40B4-BE49-F238E27FC236}">
                <a16:creationId xmlns:a16="http://schemas.microsoft.com/office/drawing/2014/main" id="{2E91504C-07C0-F0D9-AD45-EF422E03E2C7}"/>
              </a:ext>
            </a:extLst>
          </p:cNvPr>
          <p:cNvSpPr/>
          <p:nvPr/>
        </p:nvSpPr>
        <p:spPr>
          <a:xfrm>
            <a:off x="503403" y="1668256"/>
            <a:ext cx="11185191" cy="3476117"/>
          </a:xfrm>
          <a:prstGeom prst="roundRect">
            <a:avLst>
              <a:gd name="adj" fmla="val 5962"/>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1CEE3072-76C7-A9E4-5713-7BA16B8DB0F5}"/>
              </a:ext>
            </a:extLst>
          </p:cNvPr>
          <p:cNvSpPr/>
          <p:nvPr/>
        </p:nvSpPr>
        <p:spPr>
          <a:xfrm>
            <a:off x="1654808" y="1622562"/>
            <a:ext cx="1787171" cy="287650"/>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C8310573-490F-46DA-2130-78D895216AC3}"/>
              </a:ext>
            </a:extLst>
          </p:cNvPr>
          <p:cNvSpPr/>
          <p:nvPr/>
        </p:nvSpPr>
        <p:spPr>
          <a:xfrm>
            <a:off x="758606" y="2617315"/>
            <a:ext cx="293929" cy="306770"/>
          </a:xfrm>
          <a:prstGeom prst="ellipse">
            <a:avLst/>
          </a:prstGeom>
          <a:solidFill>
            <a:srgbClr val="A9866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0D7C3EB7-66DD-8622-BD3F-34D4435E7B3E}"/>
              </a:ext>
            </a:extLst>
          </p:cNvPr>
          <p:cNvSpPr txBox="1"/>
          <p:nvPr/>
        </p:nvSpPr>
        <p:spPr>
          <a:xfrm>
            <a:off x="1899316" y="1330953"/>
            <a:ext cx="1444177" cy="369332"/>
          </a:xfrm>
          <a:prstGeom prst="rect">
            <a:avLst/>
          </a:prstGeom>
          <a:noFill/>
        </p:spPr>
        <p:txBody>
          <a:bodyPr wrap="square" rtlCol="0">
            <a:spAutoFit/>
          </a:bodyPr>
          <a:lstStyle/>
          <a:p>
            <a:r>
              <a:rPr lang="en-US" dirty="0">
                <a:solidFill>
                  <a:srgbClr val="8F97B7"/>
                </a:solidFill>
              </a:rPr>
              <a:t>Implement</a:t>
            </a:r>
          </a:p>
        </p:txBody>
      </p:sp>
      <p:sp>
        <p:nvSpPr>
          <p:cNvPr id="24" name="TextBox 23">
            <a:extLst>
              <a:ext uri="{FF2B5EF4-FFF2-40B4-BE49-F238E27FC236}">
                <a16:creationId xmlns:a16="http://schemas.microsoft.com/office/drawing/2014/main" id="{0B128387-12F8-A712-1419-BDB7BA971925}"/>
              </a:ext>
            </a:extLst>
          </p:cNvPr>
          <p:cNvSpPr txBox="1"/>
          <p:nvPr/>
        </p:nvSpPr>
        <p:spPr>
          <a:xfrm>
            <a:off x="738137" y="2624295"/>
            <a:ext cx="460382" cy="282316"/>
          </a:xfrm>
          <a:prstGeom prst="rect">
            <a:avLst/>
          </a:prstGeom>
          <a:noFill/>
        </p:spPr>
        <p:txBody>
          <a:bodyPr wrap="square" rtlCol="0">
            <a:spAutoFit/>
          </a:bodyPr>
          <a:lstStyle/>
          <a:p>
            <a:r>
              <a:rPr lang="en-US" sz="1200" b="1" dirty="0">
                <a:solidFill>
                  <a:srgbClr val="0E1C2D"/>
                </a:solidFill>
              </a:rPr>
              <a:t>Or</a:t>
            </a:r>
          </a:p>
        </p:txBody>
      </p:sp>
      <p:sp>
        <p:nvSpPr>
          <p:cNvPr id="27" name="TextBox 26">
            <a:extLst>
              <a:ext uri="{FF2B5EF4-FFF2-40B4-BE49-F238E27FC236}">
                <a16:creationId xmlns:a16="http://schemas.microsoft.com/office/drawing/2014/main" id="{AA16E7A4-F2E0-53FF-99A9-AEC0B6E0B1E2}"/>
              </a:ext>
            </a:extLst>
          </p:cNvPr>
          <p:cNvSpPr txBox="1"/>
          <p:nvPr/>
        </p:nvSpPr>
        <p:spPr>
          <a:xfrm>
            <a:off x="1184559" y="2638386"/>
            <a:ext cx="965329" cy="261610"/>
          </a:xfrm>
          <a:prstGeom prst="rect">
            <a:avLst/>
          </a:prstGeom>
          <a:noFill/>
        </p:spPr>
        <p:txBody>
          <a:bodyPr wrap="none" rtlCol="0">
            <a:spAutoFit/>
          </a:bodyPr>
          <a:lstStyle/>
          <a:p>
            <a:r>
              <a:rPr lang="en-US" sz="1100" dirty="0">
                <a:solidFill>
                  <a:srgbClr val="E1E1E1"/>
                </a:solidFill>
              </a:rPr>
              <a:t>Orchestrator</a:t>
            </a:r>
          </a:p>
        </p:txBody>
      </p:sp>
      <p:pic>
        <p:nvPicPr>
          <p:cNvPr id="29" name="Graphic 28" descr="Information with solid fill">
            <a:extLst>
              <a:ext uri="{FF2B5EF4-FFF2-40B4-BE49-F238E27FC236}">
                <a16:creationId xmlns:a16="http://schemas.microsoft.com/office/drawing/2014/main" id="{CA232CC8-E19E-3820-C7AE-287B7F225BB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3975" y="2661152"/>
            <a:ext cx="193473" cy="193473"/>
          </a:xfrm>
          <a:prstGeom prst="rect">
            <a:avLst/>
          </a:prstGeom>
        </p:spPr>
      </p:pic>
      <p:sp>
        <p:nvSpPr>
          <p:cNvPr id="16" name="TextBox 15">
            <a:extLst>
              <a:ext uri="{FF2B5EF4-FFF2-40B4-BE49-F238E27FC236}">
                <a16:creationId xmlns:a16="http://schemas.microsoft.com/office/drawing/2014/main" id="{106BEEAD-C594-1834-7FAC-3393426D38F0}"/>
              </a:ext>
            </a:extLst>
          </p:cNvPr>
          <p:cNvSpPr txBox="1"/>
          <p:nvPr/>
        </p:nvSpPr>
        <p:spPr>
          <a:xfrm>
            <a:off x="1226477" y="3087372"/>
            <a:ext cx="705642" cy="261610"/>
          </a:xfrm>
          <a:prstGeom prst="rect">
            <a:avLst/>
          </a:prstGeom>
          <a:noFill/>
        </p:spPr>
        <p:txBody>
          <a:bodyPr wrap="none" rtlCol="0">
            <a:spAutoFit/>
          </a:bodyPr>
          <a:lstStyle>
            <a:defPPr>
              <a:defRPr lang="en-US"/>
            </a:defPPr>
            <a:lvl1pPr>
              <a:defRPr sz="1100">
                <a:solidFill>
                  <a:srgbClr val="E1E1E1"/>
                </a:solidFill>
              </a:defRPr>
            </a:lvl1pPr>
          </a:lstStyle>
          <a:p>
            <a:r>
              <a:rPr lang="en-US" dirty="0"/>
              <a:t>Analyzer</a:t>
            </a:r>
          </a:p>
        </p:txBody>
      </p:sp>
      <p:cxnSp>
        <p:nvCxnSpPr>
          <p:cNvPr id="75" name="Straight Connector 74">
            <a:extLst>
              <a:ext uri="{FF2B5EF4-FFF2-40B4-BE49-F238E27FC236}">
                <a16:creationId xmlns:a16="http://schemas.microsoft.com/office/drawing/2014/main" id="{F348EC9E-03C0-F1E7-945A-8CD6330E0ED8}"/>
              </a:ext>
            </a:extLst>
          </p:cNvPr>
          <p:cNvCxnSpPr>
            <a:cxnSpLocks/>
          </p:cNvCxnSpPr>
          <p:nvPr/>
        </p:nvCxnSpPr>
        <p:spPr>
          <a:xfrm>
            <a:off x="652293" y="2505875"/>
            <a:ext cx="10203544" cy="6404"/>
          </a:xfrm>
          <a:prstGeom prst="line">
            <a:avLst/>
          </a:prstGeom>
          <a:ln>
            <a:solidFill>
              <a:srgbClr val="1E3147"/>
            </a:solidFill>
          </a:ln>
        </p:spPr>
        <p:style>
          <a:lnRef idx="2">
            <a:schemeClr val="accent1"/>
          </a:lnRef>
          <a:fillRef idx="0">
            <a:schemeClr val="accent1"/>
          </a:fillRef>
          <a:effectRef idx="1">
            <a:schemeClr val="accent1"/>
          </a:effectRef>
          <a:fontRef idx="minor">
            <a:schemeClr val="tx1"/>
          </a:fontRef>
        </p:style>
      </p:cxnSp>
      <p:sp>
        <p:nvSpPr>
          <p:cNvPr id="77" name="TextBox 76">
            <a:extLst>
              <a:ext uri="{FF2B5EF4-FFF2-40B4-BE49-F238E27FC236}">
                <a16:creationId xmlns:a16="http://schemas.microsoft.com/office/drawing/2014/main" id="{C6F37DF8-89AA-2538-CAD3-2456BBDBAE28}"/>
              </a:ext>
            </a:extLst>
          </p:cNvPr>
          <p:cNvSpPr txBox="1"/>
          <p:nvPr/>
        </p:nvSpPr>
        <p:spPr>
          <a:xfrm>
            <a:off x="1274326" y="2217384"/>
            <a:ext cx="785793" cy="246221"/>
          </a:xfrm>
          <a:prstGeom prst="rect">
            <a:avLst/>
          </a:prstGeom>
          <a:noFill/>
        </p:spPr>
        <p:txBody>
          <a:bodyPr wrap="none" rtlCol="0">
            <a:spAutoFit/>
          </a:bodyPr>
          <a:lstStyle/>
          <a:p>
            <a:pPr algn="ctr"/>
            <a:r>
              <a:rPr lang="en-US" sz="1000" dirty="0">
                <a:solidFill>
                  <a:srgbClr val="E1E1E1"/>
                </a:solidFill>
              </a:rPr>
              <a:t>Agent Type</a:t>
            </a:r>
          </a:p>
        </p:txBody>
      </p:sp>
      <p:sp>
        <p:nvSpPr>
          <p:cNvPr id="78" name="TextBox 77">
            <a:extLst>
              <a:ext uri="{FF2B5EF4-FFF2-40B4-BE49-F238E27FC236}">
                <a16:creationId xmlns:a16="http://schemas.microsoft.com/office/drawing/2014/main" id="{5482E8C8-4EF2-82C9-937A-67240F06C129}"/>
              </a:ext>
            </a:extLst>
          </p:cNvPr>
          <p:cNvSpPr txBox="1"/>
          <p:nvPr/>
        </p:nvSpPr>
        <p:spPr>
          <a:xfrm>
            <a:off x="662149" y="1838089"/>
            <a:ext cx="1202573" cy="246221"/>
          </a:xfrm>
          <a:prstGeom prst="rect">
            <a:avLst/>
          </a:prstGeom>
          <a:noFill/>
        </p:spPr>
        <p:txBody>
          <a:bodyPr wrap="none" rtlCol="0">
            <a:spAutoFit/>
          </a:bodyPr>
          <a:lstStyle/>
          <a:p>
            <a:r>
              <a:rPr lang="en-US" sz="1000" dirty="0">
                <a:solidFill>
                  <a:srgbClr val="E1E1E1"/>
                </a:solidFill>
              </a:rPr>
              <a:t>Claude Subagents</a:t>
            </a:r>
          </a:p>
        </p:txBody>
      </p:sp>
      <p:sp>
        <p:nvSpPr>
          <p:cNvPr id="80" name="Rectangle: Rounded Corners 79">
            <a:extLst>
              <a:ext uri="{FF2B5EF4-FFF2-40B4-BE49-F238E27FC236}">
                <a16:creationId xmlns:a16="http://schemas.microsoft.com/office/drawing/2014/main" id="{CD0BF8DD-A762-209C-5000-43B915A29BFB}"/>
              </a:ext>
            </a:extLst>
          </p:cNvPr>
          <p:cNvSpPr/>
          <p:nvPr/>
        </p:nvSpPr>
        <p:spPr>
          <a:xfrm>
            <a:off x="1813390" y="1884175"/>
            <a:ext cx="336498" cy="182696"/>
          </a:xfrm>
          <a:prstGeom prst="roundRect">
            <a:avLst>
              <a:gd name="adj" fmla="val 50000"/>
            </a:avLst>
          </a:prstGeom>
          <a:solidFill>
            <a:srgbClr val="0E1C2D"/>
          </a:solid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TextBox 81">
            <a:extLst>
              <a:ext uri="{FF2B5EF4-FFF2-40B4-BE49-F238E27FC236}">
                <a16:creationId xmlns:a16="http://schemas.microsoft.com/office/drawing/2014/main" id="{42730EFF-4400-140A-9050-E4D22D078FCC}"/>
              </a:ext>
            </a:extLst>
          </p:cNvPr>
          <p:cNvSpPr txBox="1"/>
          <p:nvPr/>
        </p:nvSpPr>
        <p:spPr>
          <a:xfrm>
            <a:off x="4275366" y="3048418"/>
            <a:ext cx="805029" cy="261610"/>
          </a:xfrm>
          <a:prstGeom prst="rect">
            <a:avLst/>
          </a:prstGeom>
          <a:noFill/>
        </p:spPr>
        <p:txBody>
          <a:bodyPr wrap="none" rtlCol="0">
            <a:spAutoFit/>
          </a:bodyPr>
          <a:lstStyle/>
          <a:p>
            <a:r>
              <a:rPr lang="en-US" sz="1100" i="1" dirty="0">
                <a:solidFill>
                  <a:srgbClr val="FFC000"/>
                </a:solidFill>
              </a:rPr>
              <a:t>Working…</a:t>
            </a:r>
          </a:p>
        </p:txBody>
      </p:sp>
      <p:sp>
        <p:nvSpPr>
          <p:cNvPr id="83" name="Oval 82">
            <a:extLst>
              <a:ext uri="{FF2B5EF4-FFF2-40B4-BE49-F238E27FC236}">
                <a16:creationId xmlns:a16="http://schemas.microsoft.com/office/drawing/2014/main" id="{B24C89A6-8A5C-9862-BE87-8D7DA1224E4B}"/>
              </a:ext>
            </a:extLst>
          </p:cNvPr>
          <p:cNvSpPr/>
          <p:nvPr/>
        </p:nvSpPr>
        <p:spPr>
          <a:xfrm>
            <a:off x="758606" y="3066408"/>
            <a:ext cx="293929" cy="306770"/>
          </a:xfrm>
          <a:prstGeom prst="ellipse">
            <a:avLst/>
          </a:prstGeom>
          <a:solidFill>
            <a:srgbClr val="A32A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40F4F543-1B6A-190A-80B8-24708A3E0930}"/>
              </a:ext>
            </a:extLst>
          </p:cNvPr>
          <p:cNvSpPr/>
          <p:nvPr/>
        </p:nvSpPr>
        <p:spPr>
          <a:xfrm>
            <a:off x="758606" y="3513494"/>
            <a:ext cx="293929" cy="306770"/>
          </a:xfrm>
          <a:prstGeom prst="ellipse">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54CB9D17-8813-FEDA-D96F-DC5BC901F621}"/>
              </a:ext>
            </a:extLst>
          </p:cNvPr>
          <p:cNvSpPr/>
          <p:nvPr/>
        </p:nvSpPr>
        <p:spPr>
          <a:xfrm>
            <a:off x="758606" y="3970226"/>
            <a:ext cx="293929" cy="306770"/>
          </a:xfrm>
          <a:prstGeom prst="ellipse">
            <a:avLst/>
          </a:prstGeom>
          <a:solidFill>
            <a:srgbClr val="FFC3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TextBox 88">
            <a:extLst>
              <a:ext uri="{FF2B5EF4-FFF2-40B4-BE49-F238E27FC236}">
                <a16:creationId xmlns:a16="http://schemas.microsoft.com/office/drawing/2014/main" id="{44642C54-B3A1-9E16-E677-9FEE7F47625B}"/>
              </a:ext>
            </a:extLst>
          </p:cNvPr>
          <p:cNvSpPr txBox="1"/>
          <p:nvPr/>
        </p:nvSpPr>
        <p:spPr>
          <a:xfrm>
            <a:off x="1226477" y="3532367"/>
            <a:ext cx="970137" cy="261610"/>
          </a:xfrm>
          <a:prstGeom prst="rect">
            <a:avLst/>
          </a:prstGeom>
          <a:noFill/>
        </p:spPr>
        <p:txBody>
          <a:bodyPr wrap="none" rtlCol="0">
            <a:spAutoFit/>
          </a:bodyPr>
          <a:lstStyle>
            <a:defPPr>
              <a:defRPr lang="en-US"/>
            </a:defPPr>
            <a:lvl1pPr>
              <a:defRPr sz="1100">
                <a:solidFill>
                  <a:srgbClr val="E1E1E1"/>
                </a:solidFill>
              </a:defRPr>
            </a:lvl1pPr>
          </a:lstStyle>
          <a:p>
            <a:r>
              <a:rPr lang="en-US" dirty="0"/>
              <a:t>Implementor</a:t>
            </a:r>
          </a:p>
        </p:txBody>
      </p:sp>
      <p:sp>
        <p:nvSpPr>
          <p:cNvPr id="90" name="TextBox 89">
            <a:extLst>
              <a:ext uri="{FF2B5EF4-FFF2-40B4-BE49-F238E27FC236}">
                <a16:creationId xmlns:a16="http://schemas.microsoft.com/office/drawing/2014/main" id="{A6814846-9247-A70B-2C43-FC82D3AE3B03}"/>
              </a:ext>
            </a:extLst>
          </p:cNvPr>
          <p:cNvSpPr txBox="1"/>
          <p:nvPr/>
        </p:nvSpPr>
        <p:spPr>
          <a:xfrm>
            <a:off x="1245503" y="3998201"/>
            <a:ext cx="559769" cy="261610"/>
          </a:xfrm>
          <a:prstGeom prst="rect">
            <a:avLst/>
          </a:prstGeom>
          <a:noFill/>
        </p:spPr>
        <p:txBody>
          <a:bodyPr wrap="none" rtlCol="0">
            <a:spAutoFit/>
          </a:bodyPr>
          <a:lstStyle>
            <a:defPPr>
              <a:defRPr lang="en-US"/>
            </a:defPPr>
            <a:lvl1pPr>
              <a:defRPr sz="1100">
                <a:solidFill>
                  <a:srgbClr val="E1E1E1"/>
                </a:solidFill>
              </a:defRPr>
            </a:lvl1pPr>
          </a:lstStyle>
          <a:p>
            <a:r>
              <a:rPr lang="en-US" dirty="0"/>
              <a:t>Tester</a:t>
            </a:r>
          </a:p>
        </p:txBody>
      </p:sp>
      <p:sp>
        <p:nvSpPr>
          <p:cNvPr id="91" name="TextBox 90">
            <a:extLst>
              <a:ext uri="{FF2B5EF4-FFF2-40B4-BE49-F238E27FC236}">
                <a16:creationId xmlns:a16="http://schemas.microsoft.com/office/drawing/2014/main" id="{995FE4C7-D79E-1CDE-A313-A6A55A6C08C9}"/>
              </a:ext>
            </a:extLst>
          </p:cNvPr>
          <p:cNvSpPr txBox="1"/>
          <p:nvPr/>
        </p:nvSpPr>
        <p:spPr>
          <a:xfrm>
            <a:off x="4260936" y="2611055"/>
            <a:ext cx="683200" cy="261610"/>
          </a:xfrm>
          <a:prstGeom prst="rect">
            <a:avLst/>
          </a:prstGeom>
          <a:noFill/>
        </p:spPr>
        <p:txBody>
          <a:bodyPr wrap="none" rtlCol="0">
            <a:spAutoFit/>
          </a:bodyPr>
          <a:lstStyle/>
          <a:p>
            <a:r>
              <a:rPr lang="en-US" sz="1100" i="1" dirty="0">
                <a:solidFill>
                  <a:srgbClr val="FFC000"/>
                </a:solidFill>
              </a:rPr>
              <a:t>Waiting.</a:t>
            </a:r>
          </a:p>
        </p:txBody>
      </p:sp>
      <p:pic>
        <p:nvPicPr>
          <p:cNvPr id="93" name="Graphic 92" descr="Information with solid fill">
            <a:extLst>
              <a:ext uri="{FF2B5EF4-FFF2-40B4-BE49-F238E27FC236}">
                <a16:creationId xmlns:a16="http://schemas.microsoft.com/office/drawing/2014/main" id="{323B5C45-9055-CC0E-47B1-104ADD403C4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2365" y="3102069"/>
            <a:ext cx="193473" cy="193473"/>
          </a:xfrm>
          <a:prstGeom prst="rect">
            <a:avLst/>
          </a:prstGeom>
        </p:spPr>
      </p:pic>
      <p:pic>
        <p:nvPicPr>
          <p:cNvPr id="94" name="Graphic 93" descr="Information with solid fill">
            <a:extLst>
              <a:ext uri="{FF2B5EF4-FFF2-40B4-BE49-F238E27FC236}">
                <a16:creationId xmlns:a16="http://schemas.microsoft.com/office/drawing/2014/main" id="{06D4E994-2D00-1C24-6DEA-BC52A02516C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2365" y="3553624"/>
            <a:ext cx="193473" cy="193473"/>
          </a:xfrm>
          <a:prstGeom prst="rect">
            <a:avLst/>
          </a:prstGeom>
        </p:spPr>
      </p:pic>
      <p:pic>
        <p:nvPicPr>
          <p:cNvPr id="95" name="Graphic 94" descr="Information with solid fill">
            <a:extLst>
              <a:ext uri="{FF2B5EF4-FFF2-40B4-BE49-F238E27FC236}">
                <a16:creationId xmlns:a16="http://schemas.microsoft.com/office/drawing/2014/main" id="{55C8EA50-8141-5046-40EE-CE870AB4429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2364" y="4014063"/>
            <a:ext cx="193473" cy="193473"/>
          </a:xfrm>
          <a:prstGeom prst="rect">
            <a:avLst/>
          </a:prstGeom>
        </p:spPr>
      </p:pic>
      <p:sp>
        <p:nvSpPr>
          <p:cNvPr id="96" name="TextBox 95">
            <a:extLst>
              <a:ext uri="{FF2B5EF4-FFF2-40B4-BE49-F238E27FC236}">
                <a16:creationId xmlns:a16="http://schemas.microsoft.com/office/drawing/2014/main" id="{7D1EA8D9-F15C-E3D8-E024-E8D75328D9F1}"/>
              </a:ext>
            </a:extLst>
          </p:cNvPr>
          <p:cNvSpPr txBox="1"/>
          <p:nvPr/>
        </p:nvSpPr>
        <p:spPr>
          <a:xfrm>
            <a:off x="729726" y="3076054"/>
            <a:ext cx="460382" cy="282316"/>
          </a:xfrm>
          <a:prstGeom prst="rect">
            <a:avLst/>
          </a:prstGeom>
          <a:noFill/>
        </p:spPr>
        <p:txBody>
          <a:bodyPr wrap="square" rtlCol="0">
            <a:spAutoFit/>
          </a:bodyPr>
          <a:lstStyle/>
          <a:p>
            <a:r>
              <a:rPr lang="en-US" sz="1200" b="1" dirty="0">
                <a:solidFill>
                  <a:srgbClr val="0E1C2D"/>
                </a:solidFill>
              </a:rPr>
              <a:t>An</a:t>
            </a:r>
          </a:p>
        </p:txBody>
      </p:sp>
      <p:sp>
        <p:nvSpPr>
          <p:cNvPr id="97" name="TextBox 96">
            <a:extLst>
              <a:ext uri="{FF2B5EF4-FFF2-40B4-BE49-F238E27FC236}">
                <a16:creationId xmlns:a16="http://schemas.microsoft.com/office/drawing/2014/main" id="{E314E68F-9C34-B7E4-922C-D0DC81624515}"/>
              </a:ext>
            </a:extLst>
          </p:cNvPr>
          <p:cNvSpPr txBox="1"/>
          <p:nvPr/>
        </p:nvSpPr>
        <p:spPr>
          <a:xfrm>
            <a:off x="736070" y="3523140"/>
            <a:ext cx="460382" cy="282316"/>
          </a:xfrm>
          <a:prstGeom prst="rect">
            <a:avLst/>
          </a:prstGeom>
          <a:noFill/>
        </p:spPr>
        <p:txBody>
          <a:bodyPr wrap="square" rtlCol="0">
            <a:spAutoFit/>
          </a:bodyPr>
          <a:lstStyle/>
          <a:p>
            <a:r>
              <a:rPr lang="en-US" sz="1200" b="1" dirty="0" err="1">
                <a:solidFill>
                  <a:srgbClr val="0E1C2D"/>
                </a:solidFill>
              </a:rPr>
              <a:t>Im</a:t>
            </a:r>
            <a:endParaRPr lang="en-US" sz="1200" b="1" dirty="0">
              <a:solidFill>
                <a:srgbClr val="0E1C2D"/>
              </a:solidFill>
            </a:endParaRPr>
          </a:p>
        </p:txBody>
      </p:sp>
      <p:sp>
        <p:nvSpPr>
          <p:cNvPr id="98" name="TextBox 97">
            <a:extLst>
              <a:ext uri="{FF2B5EF4-FFF2-40B4-BE49-F238E27FC236}">
                <a16:creationId xmlns:a16="http://schemas.microsoft.com/office/drawing/2014/main" id="{1E0D8125-51E5-7A77-3C49-A24B7860164B}"/>
              </a:ext>
            </a:extLst>
          </p:cNvPr>
          <p:cNvSpPr txBox="1"/>
          <p:nvPr/>
        </p:nvSpPr>
        <p:spPr>
          <a:xfrm>
            <a:off x="736070" y="3989707"/>
            <a:ext cx="460382" cy="282316"/>
          </a:xfrm>
          <a:prstGeom prst="rect">
            <a:avLst/>
          </a:prstGeom>
          <a:noFill/>
        </p:spPr>
        <p:txBody>
          <a:bodyPr wrap="square" rtlCol="0">
            <a:spAutoFit/>
          </a:bodyPr>
          <a:lstStyle/>
          <a:p>
            <a:r>
              <a:rPr lang="en-US" sz="1200" b="1" dirty="0" err="1">
                <a:solidFill>
                  <a:srgbClr val="0E1C2D"/>
                </a:solidFill>
              </a:rPr>
              <a:t>Te</a:t>
            </a:r>
            <a:endParaRPr lang="en-US" sz="1200" b="1" dirty="0">
              <a:solidFill>
                <a:srgbClr val="0E1C2D"/>
              </a:solidFill>
            </a:endParaRPr>
          </a:p>
        </p:txBody>
      </p:sp>
      <p:sp>
        <p:nvSpPr>
          <p:cNvPr id="99" name="TextBox 98">
            <a:extLst>
              <a:ext uri="{FF2B5EF4-FFF2-40B4-BE49-F238E27FC236}">
                <a16:creationId xmlns:a16="http://schemas.microsoft.com/office/drawing/2014/main" id="{04B4BCD1-E041-C7B0-6341-42D20D7CEC2F}"/>
              </a:ext>
            </a:extLst>
          </p:cNvPr>
          <p:cNvSpPr txBox="1"/>
          <p:nvPr/>
        </p:nvSpPr>
        <p:spPr>
          <a:xfrm>
            <a:off x="4193614" y="2214394"/>
            <a:ext cx="886781" cy="246221"/>
          </a:xfrm>
          <a:prstGeom prst="rect">
            <a:avLst/>
          </a:prstGeom>
          <a:noFill/>
        </p:spPr>
        <p:txBody>
          <a:bodyPr wrap="none" rtlCol="0">
            <a:spAutoFit/>
          </a:bodyPr>
          <a:lstStyle/>
          <a:p>
            <a:pPr algn="ctr"/>
            <a:r>
              <a:rPr lang="en-US" sz="1000" dirty="0">
                <a:solidFill>
                  <a:srgbClr val="E1E1E1"/>
                </a:solidFill>
              </a:rPr>
              <a:t>Agent Status</a:t>
            </a:r>
          </a:p>
        </p:txBody>
      </p:sp>
      <p:sp>
        <p:nvSpPr>
          <p:cNvPr id="100" name="TextBox 99">
            <a:extLst>
              <a:ext uri="{FF2B5EF4-FFF2-40B4-BE49-F238E27FC236}">
                <a16:creationId xmlns:a16="http://schemas.microsoft.com/office/drawing/2014/main" id="{20D2C2B6-FE8E-317D-CD23-7954D50293A6}"/>
              </a:ext>
            </a:extLst>
          </p:cNvPr>
          <p:cNvSpPr txBox="1"/>
          <p:nvPr/>
        </p:nvSpPr>
        <p:spPr>
          <a:xfrm>
            <a:off x="7929117" y="2092323"/>
            <a:ext cx="772505" cy="400110"/>
          </a:xfrm>
          <a:prstGeom prst="rect">
            <a:avLst/>
          </a:prstGeom>
          <a:noFill/>
        </p:spPr>
        <p:txBody>
          <a:bodyPr wrap="square" rtlCol="0">
            <a:spAutoFit/>
          </a:bodyPr>
          <a:lstStyle/>
          <a:p>
            <a:pPr algn="ctr"/>
            <a:r>
              <a:rPr lang="en-US" sz="1000" dirty="0">
                <a:solidFill>
                  <a:srgbClr val="E1E1E1"/>
                </a:solidFill>
              </a:rPr>
              <a:t>Messages waiting</a:t>
            </a:r>
          </a:p>
        </p:txBody>
      </p:sp>
      <p:sp>
        <p:nvSpPr>
          <p:cNvPr id="114" name="TextBox 113">
            <a:extLst>
              <a:ext uri="{FF2B5EF4-FFF2-40B4-BE49-F238E27FC236}">
                <a16:creationId xmlns:a16="http://schemas.microsoft.com/office/drawing/2014/main" id="{5B857C6D-1667-6FF2-46AD-FE4E99978EF3}"/>
              </a:ext>
            </a:extLst>
          </p:cNvPr>
          <p:cNvSpPr txBox="1"/>
          <p:nvPr/>
        </p:nvSpPr>
        <p:spPr>
          <a:xfrm>
            <a:off x="7041082" y="2099303"/>
            <a:ext cx="772505" cy="400110"/>
          </a:xfrm>
          <a:prstGeom prst="rect">
            <a:avLst/>
          </a:prstGeom>
          <a:noFill/>
        </p:spPr>
        <p:txBody>
          <a:bodyPr wrap="square" rtlCol="0">
            <a:spAutoFit/>
          </a:bodyPr>
          <a:lstStyle/>
          <a:p>
            <a:pPr algn="ctr"/>
            <a:r>
              <a:rPr lang="en-US" sz="1000" dirty="0">
                <a:solidFill>
                  <a:srgbClr val="E1E1E1"/>
                </a:solidFill>
              </a:rPr>
              <a:t>Messages</a:t>
            </a:r>
          </a:p>
          <a:p>
            <a:pPr algn="ctr"/>
            <a:r>
              <a:rPr lang="en-US" sz="1000" dirty="0">
                <a:solidFill>
                  <a:srgbClr val="E1E1E1"/>
                </a:solidFill>
              </a:rPr>
              <a:t>Sent</a:t>
            </a:r>
          </a:p>
        </p:txBody>
      </p:sp>
      <p:sp>
        <p:nvSpPr>
          <p:cNvPr id="115" name="TextBox 114">
            <a:extLst>
              <a:ext uri="{FF2B5EF4-FFF2-40B4-BE49-F238E27FC236}">
                <a16:creationId xmlns:a16="http://schemas.microsoft.com/office/drawing/2014/main" id="{2F59D974-ED97-D278-761E-7DDDD020092F}"/>
              </a:ext>
            </a:extLst>
          </p:cNvPr>
          <p:cNvSpPr txBox="1"/>
          <p:nvPr/>
        </p:nvSpPr>
        <p:spPr>
          <a:xfrm>
            <a:off x="8932682" y="2112169"/>
            <a:ext cx="751053" cy="400110"/>
          </a:xfrm>
          <a:prstGeom prst="rect">
            <a:avLst/>
          </a:prstGeom>
          <a:noFill/>
        </p:spPr>
        <p:txBody>
          <a:bodyPr wrap="square" rtlCol="0">
            <a:spAutoFit/>
          </a:bodyPr>
          <a:lstStyle/>
          <a:p>
            <a:pPr algn="ctr"/>
            <a:r>
              <a:rPr lang="en-US" sz="1000" dirty="0">
                <a:solidFill>
                  <a:srgbClr val="E1E1E1"/>
                </a:solidFill>
              </a:rPr>
              <a:t>Messages Read</a:t>
            </a:r>
          </a:p>
        </p:txBody>
      </p:sp>
      <p:pic>
        <p:nvPicPr>
          <p:cNvPr id="117" name="Graphic 116" descr="Chat with solid fill">
            <a:extLst>
              <a:ext uri="{FF2B5EF4-FFF2-40B4-BE49-F238E27FC236}">
                <a16:creationId xmlns:a16="http://schemas.microsoft.com/office/drawing/2014/main" id="{7E5F3518-993F-B501-C883-9BE077FF2B8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305301" y="2637658"/>
            <a:ext cx="261610" cy="261610"/>
          </a:xfrm>
          <a:prstGeom prst="rect">
            <a:avLst/>
          </a:prstGeom>
        </p:spPr>
      </p:pic>
      <p:pic>
        <p:nvPicPr>
          <p:cNvPr id="118" name="Graphic 117" descr="Chat with solid fill">
            <a:extLst>
              <a:ext uri="{FF2B5EF4-FFF2-40B4-BE49-F238E27FC236}">
                <a16:creationId xmlns:a16="http://schemas.microsoft.com/office/drawing/2014/main" id="{EA31F6D2-D90D-375D-5603-DE244B73623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297189" y="3068000"/>
            <a:ext cx="261610" cy="261610"/>
          </a:xfrm>
          <a:prstGeom prst="rect">
            <a:avLst/>
          </a:prstGeom>
        </p:spPr>
      </p:pic>
      <p:pic>
        <p:nvPicPr>
          <p:cNvPr id="119" name="Graphic 118" descr="Chat with solid fill">
            <a:extLst>
              <a:ext uri="{FF2B5EF4-FFF2-40B4-BE49-F238E27FC236}">
                <a16:creationId xmlns:a16="http://schemas.microsoft.com/office/drawing/2014/main" id="{BB7DD600-218B-26B9-A247-0F42F6C1452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297189" y="3527404"/>
            <a:ext cx="261610" cy="261610"/>
          </a:xfrm>
          <a:prstGeom prst="rect">
            <a:avLst/>
          </a:prstGeom>
        </p:spPr>
      </p:pic>
      <p:pic>
        <p:nvPicPr>
          <p:cNvPr id="120" name="Graphic 119" descr="Chat with solid fill">
            <a:extLst>
              <a:ext uri="{FF2B5EF4-FFF2-40B4-BE49-F238E27FC236}">
                <a16:creationId xmlns:a16="http://schemas.microsoft.com/office/drawing/2014/main" id="{FEADD1E6-66B7-2315-640B-32562F139DA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310562" y="3991625"/>
            <a:ext cx="261610" cy="261610"/>
          </a:xfrm>
          <a:prstGeom prst="rect">
            <a:avLst/>
          </a:prstGeom>
        </p:spPr>
      </p:pic>
      <p:sp>
        <p:nvSpPr>
          <p:cNvPr id="135" name="TextBox 134">
            <a:extLst>
              <a:ext uri="{FF2B5EF4-FFF2-40B4-BE49-F238E27FC236}">
                <a16:creationId xmlns:a16="http://schemas.microsoft.com/office/drawing/2014/main" id="{F35D665D-61FC-AF0B-7FDA-FAF85233B97A}"/>
              </a:ext>
            </a:extLst>
          </p:cNvPr>
          <p:cNvSpPr txBox="1"/>
          <p:nvPr/>
        </p:nvSpPr>
        <p:spPr>
          <a:xfrm>
            <a:off x="4273058" y="3530126"/>
            <a:ext cx="910827" cy="261610"/>
          </a:xfrm>
          <a:prstGeom prst="rect">
            <a:avLst/>
          </a:prstGeom>
          <a:noFill/>
        </p:spPr>
        <p:txBody>
          <a:bodyPr wrap="none" rtlCol="0">
            <a:spAutoFit/>
          </a:bodyPr>
          <a:lstStyle/>
          <a:p>
            <a:r>
              <a:rPr lang="en-US" sz="1100" i="1" dirty="0">
                <a:solidFill>
                  <a:srgbClr val="FFC000"/>
                </a:solidFill>
              </a:rPr>
              <a:t>Completed.</a:t>
            </a:r>
          </a:p>
        </p:txBody>
      </p:sp>
      <p:sp>
        <p:nvSpPr>
          <p:cNvPr id="136" name="TextBox 135">
            <a:extLst>
              <a:ext uri="{FF2B5EF4-FFF2-40B4-BE49-F238E27FC236}">
                <a16:creationId xmlns:a16="http://schemas.microsoft.com/office/drawing/2014/main" id="{AFA1A6D5-AE64-C8BD-1D1F-99CE40FDB817}"/>
              </a:ext>
            </a:extLst>
          </p:cNvPr>
          <p:cNvSpPr txBox="1"/>
          <p:nvPr/>
        </p:nvSpPr>
        <p:spPr>
          <a:xfrm>
            <a:off x="4253814" y="3982173"/>
            <a:ext cx="683200" cy="261610"/>
          </a:xfrm>
          <a:prstGeom prst="rect">
            <a:avLst/>
          </a:prstGeom>
          <a:noFill/>
        </p:spPr>
        <p:txBody>
          <a:bodyPr wrap="none" rtlCol="0">
            <a:spAutoFit/>
          </a:bodyPr>
          <a:lstStyle/>
          <a:p>
            <a:r>
              <a:rPr lang="en-US" sz="1100" i="1" dirty="0">
                <a:solidFill>
                  <a:srgbClr val="FFC000"/>
                </a:solidFill>
              </a:rPr>
              <a:t>Waiting.</a:t>
            </a:r>
          </a:p>
        </p:txBody>
      </p:sp>
      <p:sp>
        <p:nvSpPr>
          <p:cNvPr id="23" name="TextBox 22">
            <a:extLst>
              <a:ext uri="{FF2B5EF4-FFF2-40B4-BE49-F238E27FC236}">
                <a16:creationId xmlns:a16="http://schemas.microsoft.com/office/drawing/2014/main" id="{6208F47D-99D5-29D3-0E45-47B6E361067B}"/>
              </a:ext>
            </a:extLst>
          </p:cNvPr>
          <p:cNvSpPr txBox="1"/>
          <p:nvPr/>
        </p:nvSpPr>
        <p:spPr>
          <a:xfrm>
            <a:off x="2947872" y="2209718"/>
            <a:ext cx="649537" cy="246221"/>
          </a:xfrm>
          <a:prstGeom prst="rect">
            <a:avLst/>
          </a:prstGeom>
          <a:noFill/>
        </p:spPr>
        <p:txBody>
          <a:bodyPr wrap="none" rtlCol="0">
            <a:spAutoFit/>
          </a:bodyPr>
          <a:lstStyle/>
          <a:p>
            <a:pPr algn="ctr"/>
            <a:r>
              <a:rPr lang="en-US" sz="1000" dirty="0">
                <a:solidFill>
                  <a:srgbClr val="E1E1E1"/>
                </a:solidFill>
              </a:rPr>
              <a:t>Agent ID</a:t>
            </a:r>
          </a:p>
        </p:txBody>
      </p:sp>
      <p:sp>
        <p:nvSpPr>
          <p:cNvPr id="28" name="TextBox 27">
            <a:extLst>
              <a:ext uri="{FF2B5EF4-FFF2-40B4-BE49-F238E27FC236}">
                <a16:creationId xmlns:a16="http://schemas.microsoft.com/office/drawing/2014/main" id="{8C905F72-AA6B-169B-A29C-DD486ED861CE}"/>
              </a:ext>
            </a:extLst>
          </p:cNvPr>
          <p:cNvSpPr txBox="1"/>
          <p:nvPr/>
        </p:nvSpPr>
        <p:spPr>
          <a:xfrm>
            <a:off x="2647311" y="2620646"/>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0" name="TextBox 29">
            <a:extLst>
              <a:ext uri="{FF2B5EF4-FFF2-40B4-BE49-F238E27FC236}">
                <a16:creationId xmlns:a16="http://schemas.microsoft.com/office/drawing/2014/main" id="{F9FE10A5-599B-DA10-319E-37EBD1AD9C7F}"/>
              </a:ext>
            </a:extLst>
          </p:cNvPr>
          <p:cNvSpPr txBox="1"/>
          <p:nvPr/>
        </p:nvSpPr>
        <p:spPr>
          <a:xfrm>
            <a:off x="2647311" y="3086580"/>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1" name="TextBox 30">
            <a:extLst>
              <a:ext uri="{FF2B5EF4-FFF2-40B4-BE49-F238E27FC236}">
                <a16:creationId xmlns:a16="http://schemas.microsoft.com/office/drawing/2014/main" id="{4BEC2F60-BF71-BDE3-8975-9797A2D382A4}"/>
              </a:ext>
            </a:extLst>
          </p:cNvPr>
          <p:cNvSpPr txBox="1"/>
          <p:nvPr/>
        </p:nvSpPr>
        <p:spPr>
          <a:xfrm>
            <a:off x="2647311" y="3545730"/>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2" name="TextBox 31">
            <a:extLst>
              <a:ext uri="{FF2B5EF4-FFF2-40B4-BE49-F238E27FC236}">
                <a16:creationId xmlns:a16="http://schemas.microsoft.com/office/drawing/2014/main" id="{F6C7EFAD-4DC7-7C2A-D46C-2A9FBC772C4B}"/>
              </a:ext>
            </a:extLst>
          </p:cNvPr>
          <p:cNvSpPr txBox="1"/>
          <p:nvPr/>
        </p:nvSpPr>
        <p:spPr>
          <a:xfrm>
            <a:off x="2636441" y="4004880"/>
            <a:ext cx="1250663" cy="246221"/>
          </a:xfrm>
          <a:prstGeom prst="rect">
            <a:avLst/>
          </a:prstGeom>
          <a:noFill/>
        </p:spPr>
        <p:txBody>
          <a:bodyPr wrap="none" rtlCol="0">
            <a:spAutoFit/>
          </a:bodyPr>
          <a:lstStyle/>
          <a:p>
            <a:pPr algn="ctr"/>
            <a:r>
              <a:rPr lang="en-US" sz="1000" dirty="0">
                <a:solidFill>
                  <a:srgbClr val="8F97B7"/>
                </a:solidFill>
              </a:rPr>
              <a:t>{Agent UUID full ID}</a:t>
            </a:r>
          </a:p>
        </p:txBody>
      </p:sp>
      <p:sp>
        <p:nvSpPr>
          <p:cNvPr id="33" name="TextBox 32">
            <a:extLst>
              <a:ext uri="{FF2B5EF4-FFF2-40B4-BE49-F238E27FC236}">
                <a16:creationId xmlns:a16="http://schemas.microsoft.com/office/drawing/2014/main" id="{9B00AE17-6237-5E13-E2B1-367A693E1861}"/>
              </a:ext>
            </a:extLst>
          </p:cNvPr>
          <p:cNvSpPr txBox="1"/>
          <p:nvPr/>
        </p:nvSpPr>
        <p:spPr>
          <a:xfrm>
            <a:off x="5445208" y="2092323"/>
            <a:ext cx="772505" cy="400110"/>
          </a:xfrm>
          <a:prstGeom prst="rect">
            <a:avLst/>
          </a:prstGeom>
          <a:noFill/>
        </p:spPr>
        <p:txBody>
          <a:bodyPr wrap="square" rtlCol="0">
            <a:spAutoFit/>
          </a:bodyPr>
          <a:lstStyle/>
          <a:p>
            <a:pPr algn="ctr"/>
            <a:r>
              <a:rPr lang="en-US" sz="1000" dirty="0">
                <a:solidFill>
                  <a:srgbClr val="E1E1E1"/>
                </a:solidFill>
              </a:rPr>
              <a:t>Job </a:t>
            </a:r>
          </a:p>
          <a:p>
            <a:pPr algn="ctr"/>
            <a:r>
              <a:rPr lang="en-US" sz="1000" dirty="0">
                <a:solidFill>
                  <a:srgbClr val="E1E1E1"/>
                </a:solidFill>
              </a:rPr>
              <a:t>Read</a:t>
            </a:r>
          </a:p>
        </p:txBody>
      </p:sp>
      <p:sp>
        <p:nvSpPr>
          <p:cNvPr id="34" name="TextBox 33">
            <a:extLst>
              <a:ext uri="{FF2B5EF4-FFF2-40B4-BE49-F238E27FC236}">
                <a16:creationId xmlns:a16="http://schemas.microsoft.com/office/drawing/2014/main" id="{0BFC3A92-13ED-A627-1482-BF7A35E3AA20}"/>
              </a:ext>
            </a:extLst>
          </p:cNvPr>
          <p:cNvSpPr txBox="1"/>
          <p:nvPr/>
        </p:nvSpPr>
        <p:spPr>
          <a:xfrm>
            <a:off x="6129630" y="2105765"/>
            <a:ext cx="1037054" cy="400110"/>
          </a:xfrm>
          <a:prstGeom prst="rect">
            <a:avLst/>
          </a:prstGeom>
          <a:noFill/>
        </p:spPr>
        <p:txBody>
          <a:bodyPr wrap="square" rtlCol="0">
            <a:spAutoFit/>
          </a:bodyPr>
          <a:lstStyle/>
          <a:p>
            <a:pPr algn="ctr"/>
            <a:r>
              <a:rPr lang="en-US" sz="1000" dirty="0">
                <a:solidFill>
                  <a:srgbClr val="E1E1E1"/>
                </a:solidFill>
              </a:rPr>
              <a:t>Job Acknowledged</a:t>
            </a:r>
          </a:p>
        </p:txBody>
      </p:sp>
      <p:cxnSp>
        <p:nvCxnSpPr>
          <p:cNvPr id="41" name="Straight Connector 40">
            <a:extLst>
              <a:ext uri="{FF2B5EF4-FFF2-40B4-BE49-F238E27FC236}">
                <a16:creationId xmlns:a16="http://schemas.microsoft.com/office/drawing/2014/main" id="{612D2F9B-EAFF-D77B-851E-24C1BDA6F75E}"/>
              </a:ext>
            </a:extLst>
          </p:cNvPr>
          <p:cNvCxnSpPr>
            <a:cxnSpLocks/>
          </p:cNvCxnSpPr>
          <p:nvPr/>
        </p:nvCxnSpPr>
        <p:spPr>
          <a:xfrm>
            <a:off x="11391357" y="2585825"/>
            <a:ext cx="0" cy="2327883"/>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E0F856F8-3BBA-673D-D3DF-6E9493AA9C58}"/>
              </a:ext>
            </a:extLst>
          </p:cNvPr>
          <p:cNvCxnSpPr>
            <a:cxnSpLocks/>
          </p:cNvCxnSpPr>
          <p:nvPr/>
        </p:nvCxnSpPr>
        <p:spPr>
          <a:xfrm>
            <a:off x="11391357" y="2585825"/>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D6884C81-1831-8FE7-FB68-1E9740E4D71A}"/>
              </a:ext>
            </a:extLst>
          </p:cNvPr>
          <p:cNvCxnSpPr>
            <a:cxnSpLocks/>
          </p:cNvCxnSpPr>
          <p:nvPr/>
        </p:nvCxnSpPr>
        <p:spPr>
          <a:xfrm>
            <a:off x="11391357" y="2625072"/>
            <a:ext cx="0" cy="2327883"/>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1B459BDD-5EEA-14C1-A980-7C7FD0F2CB23}"/>
              </a:ext>
            </a:extLst>
          </p:cNvPr>
          <p:cNvCxnSpPr>
            <a:cxnSpLocks/>
          </p:cNvCxnSpPr>
          <p:nvPr/>
        </p:nvCxnSpPr>
        <p:spPr>
          <a:xfrm>
            <a:off x="11391357" y="2625072"/>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sp>
        <p:nvSpPr>
          <p:cNvPr id="45" name="Rectangle: Rounded Corners 44">
            <a:extLst>
              <a:ext uri="{FF2B5EF4-FFF2-40B4-BE49-F238E27FC236}">
                <a16:creationId xmlns:a16="http://schemas.microsoft.com/office/drawing/2014/main" id="{64F4FD2E-2711-8FD1-6962-BD2C0E30839E}"/>
              </a:ext>
            </a:extLst>
          </p:cNvPr>
          <p:cNvSpPr/>
          <p:nvPr/>
        </p:nvSpPr>
        <p:spPr>
          <a:xfrm>
            <a:off x="3031449" y="5377380"/>
            <a:ext cx="5904873" cy="421811"/>
          </a:xfrm>
          <a:prstGeom prst="roundRect">
            <a:avLst>
              <a:gd name="adj" fmla="val 27474"/>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a:t>
            </a:r>
          </a:p>
        </p:txBody>
      </p:sp>
      <p:sp>
        <p:nvSpPr>
          <p:cNvPr id="46" name="Rectangle: Rounded Corners 45">
            <a:extLst>
              <a:ext uri="{FF2B5EF4-FFF2-40B4-BE49-F238E27FC236}">
                <a16:creationId xmlns:a16="http://schemas.microsoft.com/office/drawing/2014/main" id="{3CF549A3-057A-722B-4CD7-15B39A5EF5F7}"/>
              </a:ext>
            </a:extLst>
          </p:cNvPr>
          <p:cNvSpPr/>
          <p:nvPr/>
        </p:nvSpPr>
        <p:spPr>
          <a:xfrm>
            <a:off x="522553" y="5375748"/>
            <a:ext cx="1132255" cy="421811"/>
          </a:xfrm>
          <a:prstGeom prst="roundRect">
            <a:avLst>
              <a:gd name="adj" fmla="val 27474"/>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1E3147"/>
                </a:solidFill>
              </a:rPr>
              <a:t>Message Orchestrator</a:t>
            </a:r>
          </a:p>
        </p:txBody>
      </p:sp>
      <p:sp>
        <p:nvSpPr>
          <p:cNvPr id="47" name="Rectangle: Rounded Corners 46">
            <a:extLst>
              <a:ext uri="{FF2B5EF4-FFF2-40B4-BE49-F238E27FC236}">
                <a16:creationId xmlns:a16="http://schemas.microsoft.com/office/drawing/2014/main" id="{B1E42569-9481-32A2-A1D4-1785CB77107D}"/>
              </a:ext>
            </a:extLst>
          </p:cNvPr>
          <p:cNvSpPr/>
          <p:nvPr/>
        </p:nvSpPr>
        <p:spPr>
          <a:xfrm>
            <a:off x="1753756" y="5378268"/>
            <a:ext cx="1178745" cy="421811"/>
          </a:xfrm>
          <a:prstGeom prst="roundRect">
            <a:avLst>
              <a:gd name="adj" fmla="val 27474"/>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1E1E1"/>
                </a:solidFill>
              </a:rPr>
              <a:t>Broadcast</a:t>
            </a:r>
          </a:p>
        </p:txBody>
      </p:sp>
      <p:sp>
        <p:nvSpPr>
          <p:cNvPr id="50" name="Oval 49">
            <a:extLst>
              <a:ext uri="{FF2B5EF4-FFF2-40B4-BE49-F238E27FC236}">
                <a16:creationId xmlns:a16="http://schemas.microsoft.com/office/drawing/2014/main" id="{34F32085-CA1F-8867-A37C-B556CB37DD49}"/>
              </a:ext>
            </a:extLst>
          </p:cNvPr>
          <p:cNvSpPr/>
          <p:nvPr/>
        </p:nvSpPr>
        <p:spPr>
          <a:xfrm>
            <a:off x="8997072" y="5441706"/>
            <a:ext cx="293929" cy="306770"/>
          </a:xfrm>
          <a:prstGeom prst="ellipse">
            <a:avLst/>
          </a:prstGeom>
          <a:solidFill>
            <a:srgbClr val="FFC3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 name="Graphic 48" descr="Play with solid fill">
            <a:extLst>
              <a:ext uri="{FF2B5EF4-FFF2-40B4-BE49-F238E27FC236}">
                <a16:creationId xmlns:a16="http://schemas.microsoft.com/office/drawing/2014/main" id="{B6A00529-7B7B-4296-24E4-7497242356A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073173" y="5507713"/>
            <a:ext cx="174755" cy="174755"/>
          </a:xfrm>
          <a:prstGeom prst="rect">
            <a:avLst/>
          </a:prstGeom>
        </p:spPr>
      </p:pic>
      <p:sp>
        <p:nvSpPr>
          <p:cNvPr id="53" name="TextBox 52">
            <a:extLst>
              <a:ext uri="{FF2B5EF4-FFF2-40B4-BE49-F238E27FC236}">
                <a16:creationId xmlns:a16="http://schemas.microsoft.com/office/drawing/2014/main" id="{0A383F7E-EAB1-139B-952F-5F2CD2E60C22}"/>
              </a:ext>
            </a:extLst>
          </p:cNvPr>
          <p:cNvSpPr txBox="1"/>
          <p:nvPr/>
        </p:nvSpPr>
        <p:spPr>
          <a:xfrm>
            <a:off x="39778" y="47732"/>
            <a:ext cx="4306628" cy="369332"/>
          </a:xfrm>
          <a:prstGeom prst="rect">
            <a:avLst/>
          </a:prstGeom>
          <a:noFill/>
        </p:spPr>
        <p:txBody>
          <a:bodyPr wrap="none" rtlCol="0">
            <a:spAutoFit/>
          </a:bodyPr>
          <a:lstStyle/>
          <a:p>
            <a:r>
              <a:rPr lang="en-US" dirty="0">
                <a:solidFill>
                  <a:schemeClr val="accent5">
                    <a:lumMod val="60000"/>
                    <a:lumOff val="40000"/>
                  </a:schemeClr>
                </a:solidFill>
              </a:rPr>
              <a:t>SLIDE 3e – Implementation Tab. Elements</a:t>
            </a:r>
          </a:p>
        </p:txBody>
      </p:sp>
      <p:sp>
        <p:nvSpPr>
          <p:cNvPr id="21" name="TextBox 20">
            <a:extLst>
              <a:ext uri="{FF2B5EF4-FFF2-40B4-BE49-F238E27FC236}">
                <a16:creationId xmlns:a16="http://schemas.microsoft.com/office/drawing/2014/main" id="{FD9A1271-275B-36D4-57C4-C17B6224313C}"/>
              </a:ext>
            </a:extLst>
          </p:cNvPr>
          <p:cNvSpPr txBox="1"/>
          <p:nvPr/>
        </p:nvSpPr>
        <p:spPr>
          <a:xfrm>
            <a:off x="7336140" y="417064"/>
            <a:ext cx="3901906" cy="1200329"/>
          </a:xfrm>
          <a:prstGeom prst="rect">
            <a:avLst/>
          </a:prstGeom>
          <a:noFill/>
          <a:ln>
            <a:solidFill>
              <a:schemeClr val="accent5">
                <a:lumMod val="60000"/>
                <a:lumOff val="40000"/>
              </a:schemeClr>
            </a:solidFill>
          </a:ln>
        </p:spPr>
        <p:txBody>
          <a:bodyPr wrap="square" rtlCol="0">
            <a:spAutoFit/>
          </a:bodyPr>
          <a:lstStyle/>
          <a:p>
            <a:r>
              <a:rPr lang="en-US" dirty="0">
                <a:solidFill>
                  <a:schemeClr val="accent5">
                    <a:lumMod val="60000"/>
                    <a:lumOff val="40000"/>
                  </a:schemeClr>
                </a:solidFill>
              </a:rPr>
              <a:t>View this agent's message history, including broadcast messages, sent (direct to another agent or broadcast), received, ack, </a:t>
            </a:r>
          </a:p>
        </p:txBody>
      </p:sp>
      <p:cxnSp>
        <p:nvCxnSpPr>
          <p:cNvPr id="35" name="Connector: Elbow 34">
            <a:extLst>
              <a:ext uri="{FF2B5EF4-FFF2-40B4-BE49-F238E27FC236}">
                <a16:creationId xmlns:a16="http://schemas.microsoft.com/office/drawing/2014/main" id="{E5A315DD-3CC2-D010-E413-C3FF85388E3C}"/>
              </a:ext>
            </a:extLst>
          </p:cNvPr>
          <p:cNvCxnSpPr>
            <a:cxnSpLocks/>
          </p:cNvCxnSpPr>
          <p:nvPr/>
        </p:nvCxnSpPr>
        <p:spPr>
          <a:xfrm rot="16200000" flipH="1">
            <a:off x="9734404" y="1959573"/>
            <a:ext cx="1036125" cy="351764"/>
          </a:xfrm>
          <a:prstGeom prst="bentConnector3">
            <a:avLst>
              <a:gd name="adj1" fmla="val 50000"/>
            </a:avLst>
          </a:prstGeom>
          <a:ln>
            <a:tailEnd type="triangle"/>
          </a:ln>
        </p:spPr>
        <p:style>
          <a:lnRef idx="2">
            <a:schemeClr val="accent5"/>
          </a:lnRef>
          <a:fillRef idx="0">
            <a:schemeClr val="accent5"/>
          </a:fillRef>
          <a:effectRef idx="1">
            <a:schemeClr val="accent5"/>
          </a:effectRef>
          <a:fontRef idx="minor">
            <a:schemeClr val="tx1"/>
          </a:fontRef>
        </p:style>
      </p:cxnSp>
      <p:sp>
        <p:nvSpPr>
          <p:cNvPr id="51" name="TextBox 50">
            <a:extLst>
              <a:ext uri="{FF2B5EF4-FFF2-40B4-BE49-F238E27FC236}">
                <a16:creationId xmlns:a16="http://schemas.microsoft.com/office/drawing/2014/main" id="{0396F4E0-1642-3B6E-8129-251B8226BCA4}"/>
              </a:ext>
            </a:extLst>
          </p:cNvPr>
          <p:cNvSpPr txBox="1"/>
          <p:nvPr/>
        </p:nvSpPr>
        <p:spPr>
          <a:xfrm>
            <a:off x="3735616" y="437280"/>
            <a:ext cx="3183013" cy="1200329"/>
          </a:xfrm>
          <a:prstGeom prst="rect">
            <a:avLst/>
          </a:prstGeom>
          <a:noFill/>
          <a:ln>
            <a:solidFill>
              <a:schemeClr val="accent5">
                <a:lumMod val="60000"/>
                <a:lumOff val="40000"/>
              </a:schemeClr>
            </a:solidFill>
          </a:ln>
        </p:spPr>
        <p:txBody>
          <a:bodyPr wrap="square" rtlCol="0">
            <a:spAutoFit/>
          </a:bodyPr>
          <a:lstStyle/>
          <a:p>
            <a:r>
              <a:rPr lang="en-US" dirty="0">
                <a:solidFill>
                  <a:schemeClr val="bg1"/>
                </a:solidFill>
              </a:rPr>
              <a:t>This board just shows over time what a message board could look like with the various elements</a:t>
            </a:r>
          </a:p>
        </p:txBody>
      </p:sp>
      <p:pic>
        <p:nvPicPr>
          <p:cNvPr id="123" name="Graphic 122" descr="Repeat outline">
            <a:extLst>
              <a:ext uri="{FF2B5EF4-FFF2-40B4-BE49-F238E27FC236}">
                <a16:creationId xmlns:a16="http://schemas.microsoft.com/office/drawing/2014/main" id="{75FEFCC6-8F51-D71C-C209-5C3C13B3041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946626" y="2668570"/>
            <a:ext cx="261611" cy="261611"/>
          </a:xfrm>
          <a:prstGeom prst="rect">
            <a:avLst/>
          </a:prstGeom>
        </p:spPr>
      </p:pic>
      <p:sp>
        <p:nvSpPr>
          <p:cNvPr id="7" name="Oval 6">
            <a:extLst>
              <a:ext uri="{FF2B5EF4-FFF2-40B4-BE49-F238E27FC236}">
                <a16:creationId xmlns:a16="http://schemas.microsoft.com/office/drawing/2014/main" id="{B10DD04D-A91C-805C-9D15-C34C1229B743}"/>
              </a:ext>
            </a:extLst>
          </p:cNvPr>
          <p:cNvSpPr/>
          <p:nvPr/>
        </p:nvSpPr>
        <p:spPr>
          <a:xfrm>
            <a:off x="1815090" y="1876161"/>
            <a:ext cx="174503" cy="184050"/>
          </a:xfrm>
          <a:prstGeom prst="ellipse">
            <a:avLst/>
          </a:prstGeom>
          <a:solidFill>
            <a:srgbClr val="1E31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58189A4-47A0-EC7F-60E0-7483B47D1FA4}"/>
              </a:ext>
            </a:extLst>
          </p:cNvPr>
          <p:cNvSpPr txBox="1"/>
          <p:nvPr/>
        </p:nvSpPr>
        <p:spPr>
          <a:xfrm>
            <a:off x="390687" y="6097720"/>
            <a:ext cx="3420476" cy="646331"/>
          </a:xfrm>
          <a:prstGeom prst="rect">
            <a:avLst/>
          </a:prstGeom>
          <a:solidFill>
            <a:schemeClr val="accent3">
              <a:lumMod val="75000"/>
            </a:schemeClr>
          </a:solidFill>
          <a:ln>
            <a:solidFill>
              <a:schemeClr val="accent5">
                <a:lumMod val="60000"/>
                <a:lumOff val="40000"/>
              </a:schemeClr>
            </a:solidFill>
          </a:ln>
        </p:spPr>
        <p:txBody>
          <a:bodyPr wrap="square" rtlCol="0">
            <a:spAutoFit/>
          </a:bodyPr>
          <a:lstStyle/>
          <a:p>
            <a:r>
              <a:rPr lang="en-US" dirty="0">
                <a:solidFill>
                  <a:schemeClr val="bg1"/>
                </a:solidFill>
              </a:rPr>
              <a:t>General CLI MODE</a:t>
            </a:r>
          </a:p>
          <a:p>
            <a:r>
              <a:rPr lang="en-US" dirty="0">
                <a:solidFill>
                  <a:schemeClr val="bg1"/>
                </a:solidFill>
              </a:rPr>
              <a:t>(individual terminals for agents</a:t>
            </a:r>
          </a:p>
        </p:txBody>
      </p:sp>
      <p:pic>
        <p:nvPicPr>
          <p:cNvPr id="9" name="Graphic 8" descr="Repeat outline">
            <a:extLst>
              <a:ext uri="{FF2B5EF4-FFF2-40B4-BE49-F238E27FC236}">
                <a16:creationId xmlns:a16="http://schemas.microsoft.com/office/drawing/2014/main" id="{94A3D7F5-DC50-7A97-3EC2-FABE5C43E8B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869147" y="3109736"/>
            <a:ext cx="261611" cy="261611"/>
          </a:xfrm>
          <a:prstGeom prst="rect">
            <a:avLst/>
          </a:prstGeom>
        </p:spPr>
      </p:pic>
      <p:pic>
        <p:nvPicPr>
          <p:cNvPr id="10" name="Graphic 9" descr="Repeat outline">
            <a:extLst>
              <a:ext uri="{FF2B5EF4-FFF2-40B4-BE49-F238E27FC236}">
                <a16:creationId xmlns:a16="http://schemas.microsoft.com/office/drawing/2014/main" id="{F2BDFED1-B3D4-AA82-D240-60A5681216C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884550" y="3527402"/>
            <a:ext cx="261611" cy="261611"/>
          </a:xfrm>
          <a:prstGeom prst="rect">
            <a:avLst/>
          </a:prstGeom>
        </p:spPr>
      </p:pic>
      <p:pic>
        <p:nvPicPr>
          <p:cNvPr id="11" name="Graphic 10" descr="Repeat outline">
            <a:extLst>
              <a:ext uri="{FF2B5EF4-FFF2-40B4-BE49-F238E27FC236}">
                <a16:creationId xmlns:a16="http://schemas.microsoft.com/office/drawing/2014/main" id="{E1059399-6378-1186-EFBB-A1BD7E9A4CC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882520" y="3968568"/>
            <a:ext cx="261611" cy="261611"/>
          </a:xfrm>
          <a:prstGeom prst="rect">
            <a:avLst/>
          </a:prstGeom>
        </p:spPr>
      </p:pic>
      <p:sp>
        <p:nvSpPr>
          <p:cNvPr id="12" name="TextBox 11">
            <a:extLst>
              <a:ext uri="{FF2B5EF4-FFF2-40B4-BE49-F238E27FC236}">
                <a16:creationId xmlns:a16="http://schemas.microsoft.com/office/drawing/2014/main" id="{451F5AC1-1FBE-CE14-F8BE-B735EFFBD75F}"/>
              </a:ext>
            </a:extLst>
          </p:cNvPr>
          <p:cNvSpPr txBox="1"/>
          <p:nvPr/>
        </p:nvSpPr>
        <p:spPr>
          <a:xfrm>
            <a:off x="9159175" y="2588302"/>
            <a:ext cx="260008" cy="261610"/>
          </a:xfrm>
          <a:prstGeom prst="rect">
            <a:avLst/>
          </a:prstGeom>
          <a:noFill/>
        </p:spPr>
        <p:txBody>
          <a:bodyPr wrap="square" rtlCol="0">
            <a:spAutoFit/>
          </a:bodyPr>
          <a:lstStyle/>
          <a:p>
            <a:r>
              <a:rPr lang="en-US" sz="1100" dirty="0">
                <a:solidFill>
                  <a:srgbClr val="E1E1E1"/>
                </a:solidFill>
              </a:rPr>
              <a:t>1</a:t>
            </a:r>
          </a:p>
        </p:txBody>
      </p:sp>
      <p:sp>
        <p:nvSpPr>
          <p:cNvPr id="22" name="TextBox 21">
            <a:extLst>
              <a:ext uri="{FF2B5EF4-FFF2-40B4-BE49-F238E27FC236}">
                <a16:creationId xmlns:a16="http://schemas.microsoft.com/office/drawing/2014/main" id="{399B86D9-50ED-87A8-FEB0-D2FD0B6484FC}"/>
              </a:ext>
            </a:extLst>
          </p:cNvPr>
          <p:cNvSpPr txBox="1"/>
          <p:nvPr/>
        </p:nvSpPr>
        <p:spPr>
          <a:xfrm>
            <a:off x="7282334" y="2637658"/>
            <a:ext cx="260008" cy="261610"/>
          </a:xfrm>
          <a:prstGeom prst="rect">
            <a:avLst/>
          </a:prstGeom>
          <a:noFill/>
        </p:spPr>
        <p:txBody>
          <a:bodyPr wrap="square" rtlCol="0">
            <a:spAutoFit/>
          </a:bodyPr>
          <a:lstStyle/>
          <a:p>
            <a:r>
              <a:rPr lang="en-US" sz="1100" dirty="0">
                <a:solidFill>
                  <a:srgbClr val="E1E1E1"/>
                </a:solidFill>
              </a:rPr>
              <a:t>5</a:t>
            </a:r>
          </a:p>
        </p:txBody>
      </p:sp>
      <p:sp>
        <p:nvSpPr>
          <p:cNvPr id="48" name="TextBox 47">
            <a:extLst>
              <a:ext uri="{FF2B5EF4-FFF2-40B4-BE49-F238E27FC236}">
                <a16:creationId xmlns:a16="http://schemas.microsoft.com/office/drawing/2014/main" id="{58F0FD93-8A92-5133-DA80-1E9297C304BF}"/>
              </a:ext>
            </a:extLst>
          </p:cNvPr>
          <p:cNvSpPr txBox="1"/>
          <p:nvPr/>
        </p:nvSpPr>
        <p:spPr>
          <a:xfrm>
            <a:off x="8155156" y="3033932"/>
            <a:ext cx="260008" cy="261610"/>
          </a:xfrm>
          <a:prstGeom prst="rect">
            <a:avLst/>
          </a:prstGeom>
          <a:noFill/>
        </p:spPr>
        <p:txBody>
          <a:bodyPr wrap="square" rtlCol="0">
            <a:spAutoFit/>
          </a:bodyPr>
          <a:lstStyle/>
          <a:p>
            <a:r>
              <a:rPr lang="en-US" sz="1100" dirty="0">
                <a:solidFill>
                  <a:srgbClr val="E1E1E1"/>
                </a:solidFill>
              </a:rPr>
              <a:t>1</a:t>
            </a:r>
          </a:p>
        </p:txBody>
      </p:sp>
      <p:sp>
        <p:nvSpPr>
          <p:cNvPr id="52" name="TextBox 51">
            <a:extLst>
              <a:ext uri="{FF2B5EF4-FFF2-40B4-BE49-F238E27FC236}">
                <a16:creationId xmlns:a16="http://schemas.microsoft.com/office/drawing/2014/main" id="{D1BFA453-7E8E-3465-F766-14BDDAA2FE22}"/>
              </a:ext>
            </a:extLst>
          </p:cNvPr>
          <p:cNvSpPr txBox="1"/>
          <p:nvPr/>
        </p:nvSpPr>
        <p:spPr>
          <a:xfrm>
            <a:off x="8155156" y="3980155"/>
            <a:ext cx="260008" cy="261610"/>
          </a:xfrm>
          <a:prstGeom prst="rect">
            <a:avLst/>
          </a:prstGeom>
          <a:noFill/>
        </p:spPr>
        <p:txBody>
          <a:bodyPr wrap="square" rtlCol="0">
            <a:spAutoFit/>
          </a:bodyPr>
          <a:lstStyle/>
          <a:p>
            <a:r>
              <a:rPr lang="en-US" sz="1100" dirty="0">
                <a:solidFill>
                  <a:srgbClr val="E1E1E1"/>
                </a:solidFill>
              </a:rPr>
              <a:t>1</a:t>
            </a:r>
          </a:p>
        </p:txBody>
      </p:sp>
      <p:sp>
        <p:nvSpPr>
          <p:cNvPr id="54" name="TextBox 53">
            <a:extLst>
              <a:ext uri="{FF2B5EF4-FFF2-40B4-BE49-F238E27FC236}">
                <a16:creationId xmlns:a16="http://schemas.microsoft.com/office/drawing/2014/main" id="{3EF28A6F-11CF-28E4-CC68-ED4AC1AFB961}"/>
              </a:ext>
            </a:extLst>
          </p:cNvPr>
          <p:cNvSpPr txBox="1"/>
          <p:nvPr/>
        </p:nvSpPr>
        <p:spPr>
          <a:xfrm>
            <a:off x="8155156" y="3496213"/>
            <a:ext cx="260008" cy="261610"/>
          </a:xfrm>
          <a:prstGeom prst="rect">
            <a:avLst/>
          </a:prstGeom>
          <a:noFill/>
        </p:spPr>
        <p:txBody>
          <a:bodyPr wrap="square" rtlCol="0">
            <a:spAutoFit/>
          </a:bodyPr>
          <a:lstStyle/>
          <a:p>
            <a:r>
              <a:rPr lang="en-US" sz="1100" dirty="0">
                <a:solidFill>
                  <a:srgbClr val="E1E1E1"/>
                </a:solidFill>
              </a:rPr>
              <a:t>1</a:t>
            </a:r>
          </a:p>
        </p:txBody>
      </p:sp>
      <p:pic>
        <p:nvPicPr>
          <p:cNvPr id="55" name="Graphic 54" descr="Badge Tick1 with solid fill">
            <a:extLst>
              <a:ext uri="{FF2B5EF4-FFF2-40B4-BE49-F238E27FC236}">
                <a16:creationId xmlns:a16="http://schemas.microsoft.com/office/drawing/2014/main" id="{D7642AD8-9CDF-41A9-D9BB-2BA08941178D}"/>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720452" y="2644852"/>
            <a:ext cx="222015" cy="222015"/>
          </a:xfrm>
          <a:prstGeom prst="rect">
            <a:avLst/>
          </a:prstGeom>
        </p:spPr>
      </p:pic>
      <p:pic>
        <p:nvPicPr>
          <p:cNvPr id="56" name="Graphic 55" descr="Badge Tick1 with solid fill">
            <a:extLst>
              <a:ext uri="{FF2B5EF4-FFF2-40B4-BE49-F238E27FC236}">
                <a16:creationId xmlns:a16="http://schemas.microsoft.com/office/drawing/2014/main" id="{F23F2BCF-B79B-C3B3-735F-128A0C3A8DF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554184" y="2644851"/>
            <a:ext cx="222015" cy="222015"/>
          </a:xfrm>
          <a:prstGeom prst="rect">
            <a:avLst/>
          </a:prstGeom>
        </p:spPr>
      </p:pic>
      <p:sp>
        <p:nvSpPr>
          <p:cNvPr id="57" name="TextBox 56">
            <a:extLst>
              <a:ext uri="{FF2B5EF4-FFF2-40B4-BE49-F238E27FC236}">
                <a16:creationId xmlns:a16="http://schemas.microsoft.com/office/drawing/2014/main" id="{6E652940-F61B-4777-B40F-19EA2885450C}"/>
              </a:ext>
            </a:extLst>
          </p:cNvPr>
          <p:cNvSpPr txBox="1"/>
          <p:nvPr/>
        </p:nvSpPr>
        <p:spPr>
          <a:xfrm>
            <a:off x="9159175" y="2588302"/>
            <a:ext cx="260008" cy="261610"/>
          </a:xfrm>
          <a:prstGeom prst="rect">
            <a:avLst/>
          </a:prstGeom>
          <a:noFill/>
        </p:spPr>
        <p:txBody>
          <a:bodyPr wrap="square" rtlCol="0">
            <a:spAutoFit/>
          </a:bodyPr>
          <a:lstStyle/>
          <a:p>
            <a:r>
              <a:rPr lang="en-US" sz="1100" dirty="0">
                <a:solidFill>
                  <a:srgbClr val="E1E1E1"/>
                </a:solidFill>
              </a:rPr>
              <a:t>1</a:t>
            </a:r>
          </a:p>
        </p:txBody>
      </p:sp>
      <p:sp>
        <p:nvSpPr>
          <p:cNvPr id="58" name="TextBox 57">
            <a:extLst>
              <a:ext uri="{FF2B5EF4-FFF2-40B4-BE49-F238E27FC236}">
                <a16:creationId xmlns:a16="http://schemas.microsoft.com/office/drawing/2014/main" id="{67CAEBD1-6657-0B66-F4ED-C36AB7528A3A}"/>
              </a:ext>
            </a:extLst>
          </p:cNvPr>
          <p:cNvSpPr txBox="1"/>
          <p:nvPr/>
        </p:nvSpPr>
        <p:spPr>
          <a:xfrm>
            <a:off x="9150764" y="3089171"/>
            <a:ext cx="260008" cy="261610"/>
          </a:xfrm>
          <a:prstGeom prst="rect">
            <a:avLst/>
          </a:prstGeom>
          <a:noFill/>
        </p:spPr>
        <p:txBody>
          <a:bodyPr wrap="square" rtlCol="0">
            <a:spAutoFit/>
          </a:bodyPr>
          <a:lstStyle/>
          <a:p>
            <a:r>
              <a:rPr lang="en-US" sz="1100" dirty="0">
                <a:solidFill>
                  <a:srgbClr val="E1E1E1"/>
                </a:solidFill>
              </a:rPr>
              <a:t>1</a:t>
            </a:r>
          </a:p>
        </p:txBody>
      </p:sp>
      <p:sp>
        <p:nvSpPr>
          <p:cNvPr id="59" name="TextBox 58">
            <a:extLst>
              <a:ext uri="{FF2B5EF4-FFF2-40B4-BE49-F238E27FC236}">
                <a16:creationId xmlns:a16="http://schemas.microsoft.com/office/drawing/2014/main" id="{6DBF19F0-23E4-0370-DD05-EC689F173D63}"/>
              </a:ext>
            </a:extLst>
          </p:cNvPr>
          <p:cNvSpPr txBox="1"/>
          <p:nvPr/>
        </p:nvSpPr>
        <p:spPr>
          <a:xfrm>
            <a:off x="9144036" y="3527404"/>
            <a:ext cx="260008" cy="261610"/>
          </a:xfrm>
          <a:prstGeom prst="rect">
            <a:avLst/>
          </a:prstGeom>
          <a:noFill/>
        </p:spPr>
        <p:txBody>
          <a:bodyPr wrap="square" rtlCol="0">
            <a:spAutoFit/>
          </a:bodyPr>
          <a:lstStyle/>
          <a:p>
            <a:r>
              <a:rPr lang="en-US" sz="1100" dirty="0">
                <a:solidFill>
                  <a:srgbClr val="E1E1E1"/>
                </a:solidFill>
              </a:rPr>
              <a:t>1</a:t>
            </a:r>
          </a:p>
        </p:txBody>
      </p:sp>
      <p:sp>
        <p:nvSpPr>
          <p:cNvPr id="60" name="TextBox 59">
            <a:extLst>
              <a:ext uri="{FF2B5EF4-FFF2-40B4-BE49-F238E27FC236}">
                <a16:creationId xmlns:a16="http://schemas.microsoft.com/office/drawing/2014/main" id="{F97AF610-DD1D-B2D6-6726-7F8459454FDC}"/>
              </a:ext>
            </a:extLst>
          </p:cNvPr>
          <p:cNvSpPr txBox="1"/>
          <p:nvPr/>
        </p:nvSpPr>
        <p:spPr>
          <a:xfrm>
            <a:off x="9139848" y="3984237"/>
            <a:ext cx="260008" cy="261610"/>
          </a:xfrm>
          <a:prstGeom prst="rect">
            <a:avLst/>
          </a:prstGeom>
          <a:noFill/>
        </p:spPr>
        <p:txBody>
          <a:bodyPr wrap="square" rtlCol="0">
            <a:spAutoFit/>
          </a:bodyPr>
          <a:lstStyle/>
          <a:p>
            <a:r>
              <a:rPr lang="en-US" sz="1100" dirty="0">
                <a:solidFill>
                  <a:srgbClr val="E1E1E1"/>
                </a:solidFill>
              </a:rPr>
              <a:t>1</a:t>
            </a:r>
          </a:p>
        </p:txBody>
      </p:sp>
      <p:pic>
        <p:nvPicPr>
          <p:cNvPr id="61" name="Graphic 60" descr="Badge Tick1 with solid fill">
            <a:extLst>
              <a:ext uri="{FF2B5EF4-FFF2-40B4-BE49-F238E27FC236}">
                <a16:creationId xmlns:a16="http://schemas.microsoft.com/office/drawing/2014/main" id="{FC49E71B-3B50-CB3C-3C0B-591FCE72BDAA}"/>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707274" y="3200409"/>
            <a:ext cx="222015" cy="222015"/>
          </a:xfrm>
          <a:prstGeom prst="rect">
            <a:avLst/>
          </a:prstGeom>
        </p:spPr>
      </p:pic>
      <p:pic>
        <p:nvPicPr>
          <p:cNvPr id="62" name="Graphic 61" descr="Badge Tick1 with solid fill">
            <a:extLst>
              <a:ext uri="{FF2B5EF4-FFF2-40B4-BE49-F238E27FC236}">
                <a16:creationId xmlns:a16="http://schemas.microsoft.com/office/drawing/2014/main" id="{EB032F24-34F6-9D26-B17B-49126AD9643F}"/>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541006" y="3200408"/>
            <a:ext cx="222015" cy="222015"/>
          </a:xfrm>
          <a:prstGeom prst="rect">
            <a:avLst/>
          </a:prstGeom>
        </p:spPr>
      </p:pic>
      <p:pic>
        <p:nvPicPr>
          <p:cNvPr id="63" name="Graphic 62" descr="Badge Tick1 with solid fill">
            <a:extLst>
              <a:ext uri="{FF2B5EF4-FFF2-40B4-BE49-F238E27FC236}">
                <a16:creationId xmlns:a16="http://schemas.microsoft.com/office/drawing/2014/main" id="{7AD3F413-E056-CADB-C001-A24C777E22B4}"/>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691059" y="3606311"/>
            <a:ext cx="222015" cy="222015"/>
          </a:xfrm>
          <a:prstGeom prst="rect">
            <a:avLst/>
          </a:prstGeom>
        </p:spPr>
      </p:pic>
      <p:pic>
        <p:nvPicPr>
          <p:cNvPr id="64" name="Graphic 63" descr="Badge Tick1 with solid fill">
            <a:extLst>
              <a:ext uri="{FF2B5EF4-FFF2-40B4-BE49-F238E27FC236}">
                <a16:creationId xmlns:a16="http://schemas.microsoft.com/office/drawing/2014/main" id="{69FF792A-3452-9D78-37B3-12B0EB5DC5EC}"/>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524791" y="3606310"/>
            <a:ext cx="222015" cy="222015"/>
          </a:xfrm>
          <a:prstGeom prst="rect">
            <a:avLst/>
          </a:prstGeom>
        </p:spPr>
      </p:pic>
      <p:pic>
        <p:nvPicPr>
          <p:cNvPr id="65" name="Graphic 64" descr="Badge Tick1 with solid fill">
            <a:extLst>
              <a:ext uri="{FF2B5EF4-FFF2-40B4-BE49-F238E27FC236}">
                <a16:creationId xmlns:a16="http://schemas.microsoft.com/office/drawing/2014/main" id="{41C5EA14-FFBA-32FC-258D-A4E96C014562}"/>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720452" y="3985522"/>
            <a:ext cx="222015" cy="222015"/>
          </a:xfrm>
          <a:prstGeom prst="rect">
            <a:avLst/>
          </a:prstGeom>
        </p:spPr>
      </p:pic>
      <p:pic>
        <p:nvPicPr>
          <p:cNvPr id="66" name="Graphic 65" descr="Badge Tick1 with solid fill">
            <a:extLst>
              <a:ext uri="{FF2B5EF4-FFF2-40B4-BE49-F238E27FC236}">
                <a16:creationId xmlns:a16="http://schemas.microsoft.com/office/drawing/2014/main" id="{8689727B-B707-F3B2-7403-7F5089F048A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554184" y="3985521"/>
            <a:ext cx="222015" cy="222015"/>
          </a:xfrm>
          <a:prstGeom prst="rect">
            <a:avLst/>
          </a:prstGeom>
        </p:spPr>
      </p:pic>
      <p:sp>
        <p:nvSpPr>
          <p:cNvPr id="67" name="TextBox 66">
            <a:extLst>
              <a:ext uri="{FF2B5EF4-FFF2-40B4-BE49-F238E27FC236}">
                <a16:creationId xmlns:a16="http://schemas.microsoft.com/office/drawing/2014/main" id="{8761FD24-0910-9A6D-41D2-AC8C5417FE89}"/>
              </a:ext>
            </a:extLst>
          </p:cNvPr>
          <p:cNvSpPr txBox="1"/>
          <p:nvPr/>
        </p:nvSpPr>
        <p:spPr>
          <a:xfrm>
            <a:off x="7288756" y="3184834"/>
            <a:ext cx="260008" cy="261610"/>
          </a:xfrm>
          <a:prstGeom prst="rect">
            <a:avLst/>
          </a:prstGeom>
          <a:noFill/>
        </p:spPr>
        <p:txBody>
          <a:bodyPr wrap="square" rtlCol="0">
            <a:spAutoFit/>
          </a:bodyPr>
          <a:lstStyle/>
          <a:p>
            <a:r>
              <a:rPr lang="en-US" sz="1100" dirty="0">
                <a:solidFill>
                  <a:srgbClr val="E1E1E1"/>
                </a:solidFill>
              </a:rPr>
              <a:t>1</a:t>
            </a:r>
          </a:p>
        </p:txBody>
      </p:sp>
      <p:sp>
        <p:nvSpPr>
          <p:cNvPr id="68" name="TextBox 67">
            <a:extLst>
              <a:ext uri="{FF2B5EF4-FFF2-40B4-BE49-F238E27FC236}">
                <a16:creationId xmlns:a16="http://schemas.microsoft.com/office/drawing/2014/main" id="{CEB97CBC-FD2E-6E1A-DFA0-A746CECA172D}"/>
              </a:ext>
            </a:extLst>
          </p:cNvPr>
          <p:cNvSpPr txBox="1"/>
          <p:nvPr/>
        </p:nvSpPr>
        <p:spPr>
          <a:xfrm>
            <a:off x="7279209" y="3945926"/>
            <a:ext cx="260008" cy="261610"/>
          </a:xfrm>
          <a:prstGeom prst="rect">
            <a:avLst/>
          </a:prstGeom>
          <a:noFill/>
        </p:spPr>
        <p:txBody>
          <a:bodyPr wrap="square" rtlCol="0">
            <a:spAutoFit/>
          </a:bodyPr>
          <a:lstStyle/>
          <a:p>
            <a:r>
              <a:rPr lang="en-US" sz="1100" dirty="0">
                <a:solidFill>
                  <a:srgbClr val="E1E1E1"/>
                </a:solidFill>
              </a:rPr>
              <a:t>1</a:t>
            </a:r>
          </a:p>
        </p:txBody>
      </p:sp>
    </p:spTree>
    <p:extLst>
      <p:ext uri="{BB962C8B-B14F-4D97-AF65-F5344CB8AC3E}">
        <p14:creationId xmlns:p14="http://schemas.microsoft.com/office/powerpoint/2010/main" val="18154663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E1C2D"/>
        </a:solidFill>
        <a:effectLst/>
      </p:bgPr>
    </p:bg>
    <p:spTree>
      <p:nvGrpSpPr>
        <p:cNvPr id="1" name="">
          <a:extLst>
            <a:ext uri="{FF2B5EF4-FFF2-40B4-BE49-F238E27FC236}">
              <a16:creationId xmlns:a16="http://schemas.microsoft.com/office/drawing/2014/main" id="{0C640F49-AA6F-229A-1BEA-974A0FEBEDA7}"/>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2B37ED51-2344-A021-01FD-2AE20FA89383}"/>
              </a:ext>
            </a:extLst>
          </p:cNvPr>
          <p:cNvSpPr/>
          <p:nvPr/>
        </p:nvSpPr>
        <p:spPr>
          <a:xfrm>
            <a:off x="503403" y="1334840"/>
            <a:ext cx="2218513" cy="1071163"/>
          </a:xfrm>
          <a:prstGeom prst="roundRect">
            <a:avLst>
              <a:gd name="adj" fmla="val 15806"/>
            </a:avLst>
          </a:prstGeom>
          <a:no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30FDF23-B0C3-F6C3-EAF5-14EDB9D37A87}"/>
              </a:ext>
            </a:extLst>
          </p:cNvPr>
          <p:cNvSpPr txBox="1"/>
          <p:nvPr/>
        </p:nvSpPr>
        <p:spPr>
          <a:xfrm>
            <a:off x="516531" y="677075"/>
            <a:ext cx="2514919" cy="553998"/>
          </a:xfrm>
          <a:prstGeom prst="rect">
            <a:avLst/>
          </a:prstGeom>
          <a:noFill/>
        </p:spPr>
        <p:txBody>
          <a:bodyPr wrap="none" rtlCol="0">
            <a:spAutoFit/>
          </a:bodyPr>
          <a:lstStyle/>
          <a:p>
            <a:r>
              <a:rPr lang="en-US" dirty="0">
                <a:solidFill>
                  <a:srgbClr val="E1E1E1"/>
                </a:solidFill>
              </a:rPr>
              <a:t>Project: </a:t>
            </a:r>
            <a:r>
              <a:rPr lang="en-US" dirty="0">
                <a:solidFill>
                  <a:srgbClr val="FFC300"/>
                </a:solidFill>
              </a:rPr>
              <a:t>{</a:t>
            </a:r>
            <a:r>
              <a:rPr lang="en-US" dirty="0" err="1">
                <a:solidFill>
                  <a:srgbClr val="FFC300"/>
                </a:solidFill>
              </a:rPr>
              <a:t>project_name</a:t>
            </a:r>
            <a:r>
              <a:rPr lang="en-US" dirty="0">
                <a:solidFill>
                  <a:srgbClr val="FFC300"/>
                </a:solidFill>
              </a:rPr>
              <a:t>}</a:t>
            </a:r>
          </a:p>
          <a:p>
            <a:r>
              <a:rPr lang="en-US" sz="1200" dirty="0">
                <a:solidFill>
                  <a:srgbClr val="8F97B7"/>
                </a:solidFill>
              </a:rPr>
              <a:t>Project ID: {</a:t>
            </a:r>
            <a:r>
              <a:rPr lang="en-US" sz="1200" dirty="0" err="1">
                <a:solidFill>
                  <a:srgbClr val="8F97B7"/>
                </a:solidFill>
              </a:rPr>
              <a:t>full_UUID</a:t>
            </a:r>
            <a:r>
              <a:rPr lang="en-US" sz="1200" dirty="0">
                <a:solidFill>
                  <a:srgbClr val="8F97B7"/>
                </a:solidFill>
              </a:rPr>
              <a:t>}</a:t>
            </a:r>
          </a:p>
        </p:txBody>
      </p:sp>
      <p:sp>
        <p:nvSpPr>
          <p:cNvPr id="3" name="Rectangle: Rounded Corners 2">
            <a:extLst>
              <a:ext uri="{FF2B5EF4-FFF2-40B4-BE49-F238E27FC236}">
                <a16:creationId xmlns:a16="http://schemas.microsoft.com/office/drawing/2014/main" id="{606F06F3-3F3B-CDE7-350E-1C31C59369CF}"/>
              </a:ext>
            </a:extLst>
          </p:cNvPr>
          <p:cNvSpPr/>
          <p:nvPr/>
        </p:nvSpPr>
        <p:spPr>
          <a:xfrm>
            <a:off x="1643382" y="1342292"/>
            <a:ext cx="1805578" cy="969932"/>
          </a:xfrm>
          <a:prstGeom prst="roundRect">
            <a:avLst>
              <a:gd name="adj" fmla="val 17766"/>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1808074-C63C-8788-CB6D-D4BEA7D41B02}"/>
              </a:ext>
            </a:extLst>
          </p:cNvPr>
          <p:cNvSpPr txBox="1"/>
          <p:nvPr/>
        </p:nvSpPr>
        <p:spPr>
          <a:xfrm>
            <a:off x="682981" y="1327205"/>
            <a:ext cx="929678" cy="369332"/>
          </a:xfrm>
          <a:prstGeom prst="rect">
            <a:avLst/>
          </a:prstGeom>
          <a:noFill/>
        </p:spPr>
        <p:txBody>
          <a:bodyPr wrap="none" rtlCol="0">
            <a:spAutoFit/>
          </a:bodyPr>
          <a:lstStyle/>
          <a:p>
            <a:r>
              <a:rPr lang="en-US" dirty="0">
                <a:solidFill>
                  <a:srgbClr val="1E3147"/>
                </a:solidFill>
              </a:rPr>
              <a:t>Launch</a:t>
            </a:r>
          </a:p>
        </p:txBody>
      </p:sp>
      <p:sp>
        <p:nvSpPr>
          <p:cNvPr id="6" name="Rectangle: Rounded Corners 5">
            <a:extLst>
              <a:ext uri="{FF2B5EF4-FFF2-40B4-BE49-F238E27FC236}">
                <a16:creationId xmlns:a16="http://schemas.microsoft.com/office/drawing/2014/main" id="{2F71A6D5-9E6F-131C-05C5-BC6BC2970C0B}"/>
              </a:ext>
            </a:extLst>
          </p:cNvPr>
          <p:cNvSpPr/>
          <p:nvPr/>
        </p:nvSpPr>
        <p:spPr>
          <a:xfrm>
            <a:off x="503403" y="1668256"/>
            <a:ext cx="11185191" cy="4565020"/>
          </a:xfrm>
          <a:prstGeom prst="roundRect">
            <a:avLst>
              <a:gd name="adj" fmla="val 5962"/>
            </a:avLst>
          </a:prstGeom>
          <a:solidFill>
            <a:srgbClr val="0E1C2D"/>
          </a:solidFill>
          <a:ln>
            <a:solidFill>
              <a:srgbClr val="8F97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08A25073-DBCD-2A9F-9384-9DB635FD7C1E}"/>
              </a:ext>
            </a:extLst>
          </p:cNvPr>
          <p:cNvSpPr/>
          <p:nvPr/>
        </p:nvSpPr>
        <p:spPr>
          <a:xfrm>
            <a:off x="1654808" y="1622562"/>
            <a:ext cx="1787171" cy="287650"/>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4EC43E27-74BE-EF4B-31FC-58CE5A16FD32}"/>
              </a:ext>
            </a:extLst>
          </p:cNvPr>
          <p:cNvSpPr/>
          <p:nvPr/>
        </p:nvSpPr>
        <p:spPr>
          <a:xfrm>
            <a:off x="758606" y="2617315"/>
            <a:ext cx="293929" cy="306770"/>
          </a:xfrm>
          <a:prstGeom prst="ellipse">
            <a:avLst/>
          </a:prstGeom>
          <a:solidFill>
            <a:srgbClr val="A9866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FB20FEB5-DF94-26D3-909C-0F7A0E8A1D8D}"/>
              </a:ext>
            </a:extLst>
          </p:cNvPr>
          <p:cNvSpPr txBox="1"/>
          <p:nvPr/>
        </p:nvSpPr>
        <p:spPr>
          <a:xfrm>
            <a:off x="1899316" y="1330953"/>
            <a:ext cx="1444177" cy="369332"/>
          </a:xfrm>
          <a:prstGeom prst="rect">
            <a:avLst/>
          </a:prstGeom>
          <a:noFill/>
        </p:spPr>
        <p:txBody>
          <a:bodyPr wrap="square" rtlCol="0">
            <a:spAutoFit/>
          </a:bodyPr>
          <a:lstStyle/>
          <a:p>
            <a:r>
              <a:rPr lang="en-US" dirty="0">
                <a:solidFill>
                  <a:srgbClr val="8F97B7"/>
                </a:solidFill>
              </a:rPr>
              <a:t>Implement</a:t>
            </a:r>
          </a:p>
        </p:txBody>
      </p:sp>
      <p:sp>
        <p:nvSpPr>
          <p:cNvPr id="24" name="TextBox 23">
            <a:extLst>
              <a:ext uri="{FF2B5EF4-FFF2-40B4-BE49-F238E27FC236}">
                <a16:creationId xmlns:a16="http://schemas.microsoft.com/office/drawing/2014/main" id="{FE49CF27-D3A7-D92A-1F70-482B991F19C1}"/>
              </a:ext>
            </a:extLst>
          </p:cNvPr>
          <p:cNvSpPr txBox="1"/>
          <p:nvPr/>
        </p:nvSpPr>
        <p:spPr>
          <a:xfrm>
            <a:off x="738137" y="2624295"/>
            <a:ext cx="460382" cy="282316"/>
          </a:xfrm>
          <a:prstGeom prst="rect">
            <a:avLst/>
          </a:prstGeom>
          <a:noFill/>
        </p:spPr>
        <p:txBody>
          <a:bodyPr wrap="square" rtlCol="0">
            <a:spAutoFit/>
          </a:bodyPr>
          <a:lstStyle/>
          <a:p>
            <a:r>
              <a:rPr lang="en-US" sz="1200" b="1" dirty="0">
                <a:solidFill>
                  <a:srgbClr val="0E1C2D"/>
                </a:solidFill>
              </a:rPr>
              <a:t>Or</a:t>
            </a:r>
          </a:p>
        </p:txBody>
      </p:sp>
      <p:sp>
        <p:nvSpPr>
          <p:cNvPr id="27" name="TextBox 26">
            <a:extLst>
              <a:ext uri="{FF2B5EF4-FFF2-40B4-BE49-F238E27FC236}">
                <a16:creationId xmlns:a16="http://schemas.microsoft.com/office/drawing/2014/main" id="{55DA1C19-ABF7-059E-6D6E-A97160B8F18E}"/>
              </a:ext>
            </a:extLst>
          </p:cNvPr>
          <p:cNvSpPr txBox="1"/>
          <p:nvPr/>
        </p:nvSpPr>
        <p:spPr>
          <a:xfrm>
            <a:off x="1184559" y="2638386"/>
            <a:ext cx="965329" cy="261610"/>
          </a:xfrm>
          <a:prstGeom prst="rect">
            <a:avLst/>
          </a:prstGeom>
          <a:noFill/>
        </p:spPr>
        <p:txBody>
          <a:bodyPr wrap="none" rtlCol="0">
            <a:spAutoFit/>
          </a:bodyPr>
          <a:lstStyle/>
          <a:p>
            <a:r>
              <a:rPr lang="en-US" sz="1100" dirty="0">
                <a:solidFill>
                  <a:srgbClr val="E1E1E1"/>
                </a:solidFill>
              </a:rPr>
              <a:t>Orchestrator</a:t>
            </a:r>
          </a:p>
        </p:txBody>
      </p:sp>
      <p:pic>
        <p:nvPicPr>
          <p:cNvPr id="29" name="Graphic 28" descr="Information with solid fill">
            <a:extLst>
              <a:ext uri="{FF2B5EF4-FFF2-40B4-BE49-F238E27FC236}">
                <a16:creationId xmlns:a16="http://schemas.microsoft.com/office/drawing/2014/main" id="{0424BB33-E7A3-CE97-8800-42408B06F13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99157" y="2647789"/>
            <a:ext cx="193473" cy="193473"/>
          </a:xfrm>
          <a:prstGeom prst="rect">
            <a:avLst/>
          </a:prstGeom>
        </p:spPr>
      </p:pic>
      <p:sp>
        <p:nvSpPr>
          <p:cNvPr id="16" name="TextBox 15">
            <a:extLst>
              <a:ext uri="{FF2B5EF4-FFF2-40B4-BE49-F238E27FC236}">
                <a16:creationId xmlns:a16="http://schemas.microsoft.com/office/drawing/2014/main" id="{CBB571B6-C6BA-6578-44DA-6AF789FFE4A8}"/>
              </a:ext>
            </a:extLst>
          </p:cNvPr>
          <p:cNvSpPr txBox="1"/>
          <p:nvPr/>
        </p:nvSpPr>
        <p:spPr>
          <a:xfrm>
            <a:off x="1226477" y="3087372"/>
            <a:ext cx="705642" cy="261610"/>
          </a:xfrm>
          <a:prstGeom prst="rect">
            <a:avLst/>
          </a:prstGeom>
          <a:noFill/>
        </p:spPr>
        <p:txBody>
          <a:bodyPr wrap="none" rtlCol="0">
            <a:spAutoFit/>
          </a:bodyPr>
          <a:lstStyle>
            <a:defPPr>
              <a:defRPr lang="en-US"/>
            </a:defPPr>
            <a:lvl1pPr>
              <a:defRPr sz="1100">
                <a:solidFill>
                  <a:srgbClr val="E1E1E1"/>
                </a:solidFill>
              </a:defRPr>
            </a:lvl1pPr>
          </a:lstStyle>
          <a:p>
            <a:r>
              <a:rPr lang="en-US" dirty="0"/>
              <a:t>Analyzer</a:t>
            </a:r>
          </a:p>
        </p:txBody>
      </p:sp>
      <p:cxnSp>
        <p:nvCxnSpPr>
          <p:cNvPr id="75" name="Straight Connector 74">
            <a:extLst>
              <a:ext uri="{FF2B5EF4-FFF2-40B4-BE49-F238E27FC236}">
                <a16:creationId xmlns:a16="http://schemas.microsoft.com/office/drawing/2014/main" id="{B8DCE9B3-B2C8-1F2F-4BB3-A7B899FA9E6E}"/>
              </a:ext>
            </a:extLst>
          </p:cNvPr>
          <p:cNvCxnSpPr/>
          <p:nvPr/>
        </p:nvCxnSpPr>
        <p:spPr>
          <a:xfrm>
            <a:off x="652293" y="2505875"/>
            <a:ext cx="5593334" cy="0"/>
          </a:xfrm>
          <a:prstGeom prst="line">
            <a:avLst/>
          </a:prstGeom>
          <a:ln>
            <a:solidFill>
              <a:srgbClr val="1E3147"/>
            </a:solidFill>
          </a:ln>
        </p:spPr>
        <p:style>
          <a:lnRef idx="2">
            <a:schemeClr val="accent1"/>
          </a:lnRef>
          <a:fillRef idx="0">
            <a:schemeClr val="accent1"/>
          </a:fillRef>
          <a:effectRef idx="1">
            <a:schemeClr val="accent1"/>
          </a:effectRef>
          <a:fontRef idx="minor">
            <a:schemeClr val="tx1"/>
          </a:fontRef>
        </p:style>
      </p:cxnSp>
      <p:sp>
        <p:nvSpPr>
          <p:cNvPr id="77" name="TextBox 76">
            <a:extLst>
              <a:ext uri="{FF2B5EF4-FFF2-40B4-BE49-F238E27FC236}">
                <a16:creationId xmlns:a16="http://schemas.microsoft.com/office/drawing/2014/main" id="{D3EC4BE0-5778-AAE1-9179-40BD7EAD1973}"/>
              </a:ext>
            </a:extLst>
          </p:cNvPr>
          <p:cNvSpPr txBox="1"/>
          <p:nvPr/>
        </p:nvSpPr>
        <p:spPr>
          <a:xfrm>
            <a:off x="1354647" y="2104762"/>
            <a:ext cx="502061" cy="400110"/>
          </a:xfrm>
          <a:prstGeom prst="rect">
            <a:avLst/>
          </a:prstGeom>
          <a:noFill/>
        </p:spPr>
        <p:txBody>
          <a:bodyPr wrap="none" rtlCol="0">
            <a:spAutoFit/>
          </a:bodyPr>
          <a:lstStyle/>
          <a:p>
            <a:pPr algn="ctr"/>
            <a:r>
              <a:rPr lang="en-US" sz="1000" dirty="0">
                <a:solidFill>
                  <a:srgbClr val="E1E1E1"/>
                </a:solidFill>
              </a:rPr>
              <a:t>Agent</a:t>
            </a:r>
          </a:p>
          <a:p>
            <a:pPr algn="ctr"/>
            <a:r>
              <a:rPr lang="en-US" sz="1000" dirty="0">
                <a:solidFill>
                  <a:srgbClr val="E1E1E1"/>
                </a:solidFill>
              </a:rPr>
              <a:t>Type</a:t>
            </a:r>
          </a:p>
        </p:txBody>
      </p:sp>
      <p:sp>
        <p:nvSpPr>
          <p:cNvPr id="78" name="TextBox 77">
            <a:extLst>
              <a:ext uri="{FF2B5EF4-FFF2-40B4-BE49-F238E27FC236}">
                <a16:creationId xmlns:a16="http://schemas.microsoft.com/office/drawing/2014/main" id="{963FDE9E-9D8F-A077-D4A3-924EEA729780}"/>
              </a:ext>
            </a:extLst>
          </p:cNvPr>
          <p:cNvSpPr txBox="1"/>
          <p:nvPr/>
        </p:nvSpPr>
        <p:spPr>
          <a:xfrm>
            <a:off x="662149" y="1838089"/>
            <a:ext cx="1202573" cy="246221"/>
          </a:xfrm>
          <a:prstGeom prst="rect">
            <a:avLst/>
          </a:prstGeom>
          <a:noFill/>
        </p:spPr>
        <p:txBody>
          <a:bodyPr wrap="none" rtlCol="0">
            <a:spAutoFit/>
          </a:bodyPr>
          <a:lstStyle/>
          <a:p>
            <a:r>
              <a:rPr lang="en-US" sz="1000" dirty="0">
                <a:solidFill>
                  <a:srgbClr val="E1E1E1"/>
                </a:solidFill>
              </a:rPr>
              <a:t>Claude Subagents</a:t>
            </a:r>
          </a:p>
        </p:txBody>
      </p:sp>
      <p:sp>
        <p:nvSpPr>
          <p:cNvPr id="80" name="Rectangle: Rounded Corners 79">
            <a:extLst>
              <a:ext uri="{FF2B5EF4-FFF2-40B4-BE49-F238E27FC236}">
                <a16:creationId xmlns:a16="http://schemas.microsoft.com/office/drawing/2014/main" id="{A1AEA87D-9F77-6B41-9090-0F7FCDC3B139}"/>
              </a:ext>
            </a:extLst>
          </p:cNvPr>
          <p:cNvSpPr/>
          <p:nvPr/>
        </p:nvSpPr>
        <p:spPr>
          <a:xfrm>
            <a:off x="1813390" y="1884175"/>
            <a:ext cx="336498" cy="182696"/>
          </a:xfrm>
          <a:prstGeom prst="roundRect">
            <a:avLst>
              <a:gd name="adj" fmla="val 50000"/>
            </a:avLst>
          </a:prstGeom>
          <a:solidFill>
            <a:srgbClr val="0E1C2D"/>
          </a:solid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a:extLst>
              <a:ext uri="{FF2B5EF4-FFF2-40B4-BE49-F238E27FC236}">
                <a16:creationId xmlns:a16="http://schemas.microsoft.com/office/drawing/2014/main" id="{23EBB19B-DDBC-C8A0-33C7-CC8F848024EF}"/>
              </a:ext>
            </a:extLst>
          </p:cNvPr>
          <p:cNvSpPr/>
          <p:nvPr/>
        </p:nvSpPr>
        <p:spPr>
          <a:xfrm>
            <a:off x="1962999" y="1883047"/>
            <a:ext cx="174503" cy="184050"/>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TextBox 81">
            <a:extLst>
              <a:ext uri="{FF2B5EF4-FFF2-40B4-BE49-F238E27FC236}">
                <a16:creationId xmlns:a16="http://schemas.microsoft.com/office/drawing/2014/main" id="{3EE5EAF5-9C20-F32A-6F10-B43B336869B3}"/>
              </a:ext>
            </a:extLst>
          </p:cNvPr>
          <p:cNvSpPr txBox="1"/>
          <p:nvPr/>
        </p:nvSpPr>
        <p:spPr>
          <a:xfrm>
            <a:off x="2240441" y="2647789"/>
            <a:ext cx="805029" cy="261610"/>
          </a:xfrm>
          <a:prstGeom prst="rect">
            <a:avLst/>
          </a:prstGeom>
          <a:noFill/>
        </p:spPr>
        <p:txBody>
          <a:bodyPr wrap="none" rtlCol="0">
            <a:spAutoFit/>
          </a:bodyPr>
          <a:lstStyle/>
          <a:p>
            <a:r>
              <a:rPr lang="en-US" sz="1100" i="1" dirty="0">
                <a:solidFill>
                  <a:srgbClr val="FFC000"/>
                </a:solidFill>
              </a:rPr>
              <a:t>Working…</a:t>
            </a:r>
          </a:p>
        </p:txBody>
      </p:sp>
      <p:sp>
        <p:nvSpPr>
          <p:cNvPr id="83" name="Oval 82">
            <a:extLst>
              <a:ext uri="{FF2B5EF4-FFF2-40B4-BE49-F238E27FC236}">
                <a16:creationId xmlns:a16="http://schemas.microsoft.com/office/drawing/2014/main" id="{BA865E09-7DD1-48E3-682C-576E2B9A3DB3}"/>
              </a:ext>
            </a:extLst>
          </p:cNvPr>
          <p:cNvSpPr/>
          <p:nvPr/>
        </p:nvSpPr>
        <p:spPr>
          <a:xfrm>
            <a:off x="758606" y="3066408"/>
            <a:ext cx="293929" cy="306770"/>
          </a:xfrm>
          <a:prstGeom prst="ellipse">
            <a:avLst/>
          </a:prstGeom>
          <a:solidFill>
            <a:srgbClr val="A32A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BABA2F9D-A4D5-54E5-5742-6B10A25D76C4}"/>
              </a:ext>
            </a:extLst>
          </p:cNvPr>
          <p:cNvSpPr/>
          <p:nvPr/>
        </p:nvSpPr>
        <p:spPr>
          <a:xfrm>
            <a:off x="758606" y="3513494"/>
            <a:ext cx="293929" cy="306770"/>
          </a:xfrm>
          <a:prstGeom prst="ellipse">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195AB677-7203-60B6-4C9B-097D1D27AE3C}"/>
              </a:ext>
            </a:extLst>
          </p:cNvPr>
          <p:cNvSpPr/>
          <p:nvPr/>
        </p:nvSpPr>
        <p:spPr>
          <a:xfrm>
            <a:off x="758606" y="3970226"/>
            <a:ext cx="293929" cy="306770"/>
          </a:xfrm>
          <a:prstGeom prst="ellipse">
            <a:avLst/>
          </a:prstGeom>
          <a:solidFill>
            <a:srgbClr val="FFC3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TextBox 88">
            <a:extLst>
              <a:ext uri="{FF2B5EF4-FFF2-40B4-BE49-F238E27FC236}">
                <a16:creationId xmlns:a16="http://schemas.microsoft.com/office/drawing/2014/main" id="{C553BAF2-9BD3-3C81-D19B-0A867DC837CB}"/>
              </a:ext>
            </a:extLst>
          </p:cNvPr>
          <p:cNvSpPr txBox="1"/>
          <p:nvPr/>
        </p:nvSpPr>
        <p:spPr>
          <a:xfrm>
            <a:off x="1226477" y="3532367"/>
            <a:ext cx="970137" cy="261610"/>
          </a:xfrm>
          <a:prstGeom prst="rect">
            <a:avLst/>
          </a:prstGeom>
          <a:noFill/>
        </p:spPr>
        <p:txBody>
          <a:bodyPr wrap="none" rtlCol="0">
            <a:spAutoFit/>
          </a:bodyPr>
          <a:lstStyle>
            <a:defPPr>
              <a:defRPr lang="en-US"/>
            </a:defPPr>
            <a:lvl1pPr>
              <a:defRPr sz="1100">
                <a:solidFill>
                  <a:srgbClr val="E1E1E1"/>
                </a:solidFill>
              </a:defRPr>
            </a:lvl1pPr>
          </a:lstStyle>
          <a:p>
            <a:r>
              <a:rPr lang="en-US" dirty="0"/>
              <a:t>Implementor</a:t>
            </a:r>
          </a:p>
        </p:txBody>
      </p:sp>
      <p:sp>
        <p:nvSpPr>
          <p:cNvPr id="90" name="TextBox 89">
            <a:extLst>
              <a:ext uri="{FF2B5EF4-FFF2-40B4-BE49-F238E27FC236}">
                <a16:creationId xmlns:a16="http://schemas.microsoft.com/office/drawing/2014/main" id="{370A7677-028B-1F83-6673-9C2DCC8F5045}"/>
              </a:ext>
            </a:extLst>
          </p:cNvPr>
          <p:cNvSpPr txBox="1"/>
          <p:nvPr/>
        </p:nvSpPr>
        <p:spPr>
          <a:xfrm>
            <a:off x="1245503" y="3998201"/>
            <a:ext cx="559769" cy="261610"/>
          </a:xfrm>
          <a:prstGeom prst="rect">
            <a:avLst/>
          </a:prstGeom>
          <a:noFill/>
        </p:spPr>
        <p:txBody>
          <a:bodyPr wrap="none" rtlCol="0">
            <a:spAutoFit/>
          </a:bodyPr>
          <a:lstStyle>
            <a:defPPr>
              <a:defRPr lang="en-US"/>
            </a:defPPr>
            <a:lvl1pPr>
              <a:defRPr sz="1100">
                <a:solidFill>
                  <a:srgbClr val="E1E1E1"/>
                </a:solidFill>
              </a:defRPr>
            </a:lvl1pPr>
          </a:lstStyle>
          <a:p>
            <a:r>
              <a:rPr lang="en-US" dirty="0"/>
              <a:t>Tester</a:t>
            </a:r>
          </a:p>
        </p:txBody>
      </p:sp>
      <p:sp>
        <p:nvSpPr>
          <p:cNvPr id="91" name="TextBox 90">
            <a:extLst>
              <a:ext uri="{FF2B5EF4-FFF2-40B4-BE49-F238E27FC236}">
                <a16:creationId xmlns:a16="http://schemas.microsoft.com/office/drawing/2014/main" id="{A063224E-916D-55A3-9A83-5CE41369F02D}"/>
              </a:ext>
            </a:extLst>
          </p:cNvPr>
          <p:cNvSpPr txBox="1"/>
          <p:nvPr/>
        </p:nvSpPr>
        <p:spPr>
          <a:xfrm>
            <a:off x="2218889" y="3080812"/>
            <a:ext cx="683200" cy="261610"/>
          </a:xfrm>
          <a:prstGeom prst="rect">
            <a:avLst/>
          </a:prstGeom>
          <a:noFill/>
        </p:spPr>
        <p:txBody>
          <a:bodyPr wrap="none" rtlCol="0">
            <a:spAutoFit/>
          </a:bodyPr>
          <a:lstStyle/>
          <a:p>
            <a:r>
              <a:rPr lang="en-US" sz="1100" i="1" dirty="0">
                <a:solidFill>
                  <a:srgbClr val="FFC000"/>
                </a:solidFill>
              </a:rPr>
              <a:t>Waiting.</a:t>
            </a:r>
          </a:p>
        </p:txBody>
      </p:sp>
      <p:sp>
        <p:nvSpPr>
          <p:cNvPr id="92" name="TextBox 91">
            <a:extLst>
              <a:ext uri="{FF2B5EF4-FFF2-40B4-BE49-F238E27FC236}">
                <a16:creationId xmlns:a16="http://schemas.microsoft.com/office/drawing/2014/main" id="{1C9B99D7-F91E-C59A-DC54-4F2567C720F6}"/>
              </a:ext>
            </a:extLst>
          </p:cNvPr>
          <p:cNvSpPr txBox="1"/>
          <p:nvPr/>
        </p:nvSpPr>
        <p:spPr>
          <a:xfrm>
            <a:off x="2204571" y="3532367"/>
            <a:ext cx="912429" cy="261610"/>
          </a:xfrm>
          <a:prstGeom prst="rect">
            <a:avLst/>
          </a:prstGeom>
          <a:noFill/>
        </p:spPr>
        <p:txBody>
          <a:bodyPr wrap="none" rtlCol="0">
            <a:spAutoFit/>
          </a:bodyPr>
          <a:lstStyle/>
          <a:p>
            <a:r>
              <a:rPr lang="en-US" sz="1100" i="1" dirty="0">
                <a:solidFill>
                  <a:srgbClr val="FFC000"/>
                </a:solidFill>
              </a:rPr>
              <a:t>Completed!</a:t>
            </a:r>
          </a:p>
        </p:txBody>
      </p:sp>
      <p:pic>
        <p:nvPicPr>
          <p:cNvPr id="93" name="Graphic 92" descr="Information with solid fill">
            <a:extLst>
              <a:ext uri="{FF2B5EF4-FFF2-40B4-BE49-F238E27FC236}">
                <a16:creationId xmlns:a16="http://schemas.microsoft.com/office/drawing/2014/main" id="{8FBAC9F0-BEBD-CF4F-596B-BD61B9BA27D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97547" y="3088706"/>
            <a:ext cx="193473" cy="193473"/>
          </a:xfrm>
          <a:prstGeom prst="rect">
            <a:avLst/>
          </a:prstGeom>
        </p:spPr>
      </p:pic>
      <p:pic>
        <p:nvPicPr>
          <p:cNvPr id="94" name="Graphic 93" descr="Information with solid fill">
            <a:extLst>
              <a:ext uri="{FF2B5EF4-FFF2-40B4-BE49-F238E27FC236}">
                <a16:creationId xmlns:a16="http://schemas.microsoft.com/office/drawing/2014/main" id="{3D8997EE-2504-BF07-920C-4FE0B40452D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97547" y="3540261"/>
            <a:ext cx="193473" cy="193473"/>
          </a:xfrm>
          <a:prstGeom prst="rect">
            <a:avLst/>
          </a:prstGeom>
        </p:spPr>
      </p:pic>
      <p:pic>
        <p:nvPicPr>
          <p:cNvPr id="95" name="Graphic 94" descr="Information with solid fill">
            <a:extLst>
              <a:ext uri="{FF2B5EF4-FFF2-40B4-BE49-F238E27FC236}">
                <a16:creationId xmlns:a16="http://schemas.microsoft.com/office/drawing/2014/main" id="{E524B6D6-3D73-C83E-B5CC-18A1564E590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97546" y="4000700"/>
            <a:ext cx="193473" cy="193473"/>
          </a:xfrm>
          <a:prstGeom prst="rect">
            <a:avLst/>
          </a:prstGeom>
        </p:spPr>
      </p:pic>
      <p:sp>
        <p:nvSpPr>
          <p:cNvPr id="96" name="TextBox 95">
            <a:extLst>
              <a:ext uri="{FF2B5EF4-FFF2-40B4-BE49-F238E27FC236}">
                <a16:creationId xmlns:a16="http://schemas.microsoft.com/office/drawing/2014/main" id="{FAA5C0FC-D342-07CF-1A97-10407B418DA6}"/>
              </a:ext>
            </a:extLst>
          </p:cNvPr>
          <p:cNvSpPr txBox="1"/>
          <p:nvPr/>
        </p:nvSpPr>
        <p:spPr>
          <a:xfrm>
            <a:off x="729726" y="3076054"/>
            <a:ext cx="460382" cy="282316"/>
          </a:xfrm>
          <a:prstGeom prst="rect">
            <a:avLst/>
          </a:prstGeom>
          <a:noFill/>
        </p:spPr>
        <p:txBody>
          <a:bodyPr wrap="square" rtlCol="0">
            <a:spAutoFit/>
          </a:bodyPr>
          <a:lstStyle/>
          <a:p>
            <a:r>
              <a:rPr lang="en-US" sz="1200" b="1" dirty="0">
                <a:solidFill>
                  <a:srgbClr val="0E1C2D"/>
                </a:solidFill>
              </a:rPr>
              <a:t>An</a:t>
            </a:r>
          </a:p>
        </p:txBody>
      </p:sp>
      <p:sp>
        <p:nvSpPr>
          <p:cNvPr id="97" name="TextBox 96">
            <a:extLst>
              <a:ext uri="{FF2B5EF4-FFF2-40B4-BE49-F238E27FC236}">
                <a16:creationId xmlns:a16="http://schemas.microsoft.com/office/drawing/2014/main" id="{E7E2D1CA-DEF6-A824-EC77-9F6BC3075065}"/>
              </a:ext>
            </a:extLst>
          </p:cNvPr>
          <p:cNvSpPr txBox="1"/>
          <p:nvPr/>
        </p:nvSpPr>
        <p:spPr>
          <a:xfrm>
            <a:off x="736070" y="3523140"/>
            <a:ext cx="460382" cy="282316"/>
          </a:xfrm>
          <a:prstGeom prst="rect">
            <a:avLst/>
          </a:prstGeom>
          <a:noFill/>
        </p:spPr>
        <p:txBody>
          <a:bodyPr wrap="square" rtlCol="0">
            <a:spAutoFit/>
          </a:bodyPr>
          <a:lstStyle/>
          <a:p>
            <a:r>
              <a:rPr lang="en-US" sz="1200" b="1" dirty="0" err="1">
                <a:solidFill>
                  <a:srgbClr val="0E1C2D"/>
                </a:solidFill>
              </a:rPr>
              <a:t>Im</a:t>
            </a:r>
            <a:endParaRPr lang="en-US" sz="1200" b="1" dirty="0">
              <a:solidFill>
                <a:srgbClr val="0E1C2D"/>
              </a:solidFill>
            </a:endParaRPr>
          </a:p>
        </p:txBody>
      </p:sp>
      <p:sp>
        <p:nvSpPr>
          <p:cNvPr id="98" name="TextBox 97">
            <a:extLst>
              <a:ext uri="{FF2B5EF4-FFF2-40B4-BE49-F238E27FC236}">
                <a16:creationId xmlns:a16="http://schemas.microsoft.com/office/drawing/2014/main" id="{0EDAA195-2960-F8D7-1E47-491AA20DEEA9}"/>
              </a:ext>
            </a:extLst>
          </p:cNvPr>
          <p:cNvSpPr txBox="1"/>
          <p:nvPr/>
        </p:nvSpPr>
        <p:spPr>
          <a:xfrm>
            <a:off x="736070" y="3989707"/>
            <a:ext cx="460382" cy="282316"/>
          </a:xfrm>
          <a:prstGeom prst="rect">
            <a:avLst/>
          </a:prstGeom>
          <a:noFill/>
        </p:spPr>
        <p:txBody>
          <a:bodyPr wrap="square" rtlCol="0">
            <a:spAutoFit/>
          </a:bodyPr>
          <a:lstStyle/>
          <a:p>
            <a:r>
              <a:rPr lang="en-US" sz="1200" b="1" dirty="0" err="1">
                <a:solidFill>
                  <a:srgbClr val="0E1C2D"/>
                </a:solidFill>
              </a:rPr>
              <a:t>Te</a:t>
            </a:r>
            <a:endParaRPr lang="en-US" sz="1200" b="1" dirty="0">
              <a:solidFill>
                <a:srgbClr val="0E1C2D"/>
              </a:solidFill>
            </a:endParaRPr>
          </a:p>
        </p:txBody>
      </p:sp>
      <p:sp>
        <p:nvSpPr>
          <p:cNvPr id="99" name="TextBox 98">
            <a:extLst>
              <a:ext uri="{FF2B5EF4-FFF2-40B4-BE49-F238E27FC236}">
                <a16:creationId xmlns:a16="http://schemas.microsoft.com/office/drawing/2014/main" id="{68969463-87D3-D952-81CC-31580B913F62}"/>
              </a:ext>
            </a:extLst>
          </p:cNvPr>
          <p:cNvSpPr txBox="1"/>
          <p:nvPr/>
        </p:nvSpPr>
        <p:spPr>
          <a:xfrm>
            <a:off x="2501731" y="2102059"/>
            <a:ext cx="543739" cy="400110"/>
          </a:xfrm>
          <a:prstGeom prst="rect">
            <a:avLst/>
          </a:prstGeom>
          <a:noFill/>
        </p:spPr>
        <p:txBody>
          <a:bodyPr wrap="none" rtlCol="0">
            <a:spAutoFit/>
          </a:bodyPr>
          <a:lstStyle/>
          <a:p>
            <a:pPr algn="ctr"/>
            <a:r>
              <a:rPr lang="en-US" sz="1000" dirty="0">
                <a:solidFill>
                  <a:srgbClr val="E1E1E1"/>
                </a:solidFill>
              </a:rPr>
              <a:t>Agent </a:t>
            </a:r>
          </a:p>
          <a:p>
            <a:pPr algn="ctr"/>
            <a:r>
              <a:rPr lang="en-US" sz="1000" dirty="0">
                <a:solidFill>
                  <a:srgbClr val="E1E1E1"/>
                </a:solidFill>
              </a:rPr>
              <a:t>Status</a:t>
            </a:r>
          </a:p>
        </p:txBody>
      </p:sp>
      <p:sp>
        <p:nvSpPr>
          <p:cNvPr id="100" name="TextBox 99">
            <a:extLst>
              <a:ext uri="{FF2B5EF4-FFF2-40B4-BE49-F238E27FC236}">
                <a16:creationId xmlns:a16="http://schemas.microsoft.com/office/drawing/2014/main" id="{7F2D22CA-22C4-9FBF-95EA-991B9A974B8B}"/>
              </a:ext>
            </a:extLst>
          </p:cNvPr>
          <p:cNvSpPr txBox="1"/>
          <p:nvPr/>
        </p:nvSpPr>
        <p:spPr>
          <a:xfrm>
            <a:off x="4412682" y="2112169"/>
            <a:ext cx="772505" cy="400110"/>
          </a:xfrm>
          <a:prstGeom prst="rect">
            <a:avLst/>
          </a:prstGeom>
          <a:noFill/>
        </p:spPr>
        <p:txBody>
          <a:bodyPr wrap="square" rtlCol="0">
            <a:spAutoFit/>
          </a:bodyPr>
          <a:lstStyle/>
          <a:p>
            <a:pPr algn="ctr"/>
            <a:r>
              <a:rPr lang="en-US" sz="1000" dirty="0">
                <a:solidFill>
                  <a:srgbClr val="E1E1E1"/>
                </a:solidFill>
              </a:rPr>
              <a:t>Messages waiting</a:t>
            </a:r>
          </a:p>
        </p:txBody>
      </p:sp>
      <p:pic>
        <p:nvPicPr>
          <p:cNvPr id="103" name="Graphic 102" descr="Play with solid fill">
            <a:extLst>
              <a:ext uri="{FF2B5EF4-FFF2-40B4-BE49-F238E27FC236}">
                <a16:creationId xmlns:a16="http://schemas.microsoft.com/office/drawing/2014/main" id="{404567A1-E54B-3F65-A664-7F962DE0202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29150" y="3079887"/>
            <a:ext cx="193474" cy="193474"/>
          </a:xfrm>
          <a:prstGeom prst="rect">
            <a:avLst/>
          </a:prstGeom>
        </p:spPr>
      </p:pic>
      <p:pic>
        <p:nvPicPr>
          <p:cNvPr id="105" name="Graphic 104" descr="Exit with solid fill">
            <a:extLst>
              <a:ext uri="{FF2B5EF4-FFF2-40B4-BE49-F238E27FC236}">
                <a16:creationId xmlns:a16="http://schemas.microsoft.com/office/drawing/2014/main" id="{8B949387-B257-6D84-3ADD-3375616ED1E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029150" y="3525293"/>
            <a:ext cx="239107" cy="239107"/>
          </a:xfrm>
          <a:prstGeom prst="rect">
            <a:avLst/>
          </a:prstGeom>
        </p:spPr>
      </p:pic>
      <p:pic>
        <p:nvPicPr>
          <p:cNvPr id="109" name="Graphic 108" descr="Stop with solid fill">
            <a:extLst>
              <a:ext uri="{FF2B5EF4-FFF2-40B4-BE49-F238E27FC236}">
                <a16:creationId xmlns:a16="http://schemas.microsoft.com/office/drawing/2014/main" id="{6CC942B5-2ED7-70CF-C841-0CF974F41C5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015045" y="2648441"/>
            <a:ext cx="193474" cy="193474"/>
          </a:xfrm>
          <a:prstGeom prst="rect">
            <a:avLst/>
          </a:prstGeom>
        </p:spPr>
      </p:pic>
      <p:pic>
        <p:nvPicPr>
          <p:cNvPr id="112" name="Graphic 111" descr="Unlock with solid fill">
            <a:extLst>
              <a:ext uri="{FF2B5EF4-FFF2-40B4-BE49-F238E27FC236}">
                <a16:creationId xmlns:a16="http://schemas.microsoft.com/office/drawing/2014/main" id="{A9DF4830-5A5D-3683-8232-9123BC6CA8C6}"/>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006646" y="3917963"/>
            <a:ext cx="261611" cy="261611"/>
          </a:xfrm>
          <a:prstGeom prst="rect">
            <a:avLst/>
          </a:prstGeom>
        </p:spPr>
      </p:pic>
      <p:sp>
        <p:nvSpPr>
          <p:cNvPr id="114" name="TextBox 113">
            <a:extLst>
              <a:ext uri="{FF2B5EF4-FFF2-40B4-BE49-F238E27FC236}">
                <a16:creationId xmlns:a16="http://schemas.microsoft.com/office/drawing/2014/main" id="{7F382F83-F248-F27E-E769-C4484F3B46F3}"/>
              </a:ext>
            </a:extLst>
          </p:cNvPr>
          <p:cNvSpPr txBox="1"/>
          <p:nvPr/>
        </p:nvSpPr>
        <p:spPr>
          <a:xfrm>
            <a:off x="3737695" y="2112169"/>
            <a:ext cx="772505" cy="400110"/>
          </a:xfrm>
          <a:prstGeom prst="rect">
            <a:avLst/>
          </a:prstGeom>
          <a:noFill/>
        </p:spPr>
        <p:txBody>
          <a:bodyPr wrap="square" rtlCol="0">
            <a:spAutoFit/>
          </a:bodyPr>
          <a:lstStyle/>
          <a:p>
            <a:pPr algn="ctr"/>
            <a:r>
              <a:rPr lang="en-US" sz="1000" dirty="0">
                <a:solidFill>
                  <a:srgbClr val="E1E1E1"/>
                </a:solidFill>
              </a:rPr>
              <a:t>Messages</a:t>
            </a:r>
          </a:p>
          <a:p>
            <a:pPr algn="ctr"/>
            <a:r>
              <a:rPr lang="en-US" sz="1000" dirty="0">
                <a:solidFill>
                  <a:srgbClr val="E1E1E1"/>
                </a:solidFill>
              </a:rPr>
              <a:t>Sent</a:t>
            </a:r>
          </a:p>
        </p:txBody>
      </p:sp>
      <p:sp>
        <p:nvSpPr>
          <p:cNvPr id="115" name="TextBox 114">
            <a:extLst>
              <a:ext uri="{FF2B5EF4-FFF2-40B4-BE49-F238E27FC236}">
                <a16:creationId xmlns:a16="http://schemas.microsoft.com/office/drawing/2014/main" id="{54F49736-D512-B205-2C81-5EAE5394FD43}"/>
              </a:ext>
            </a:extLst>
          </p:cNvPr>
          <p:cNvSpPr txBox="1"/>
          <p:nvPr/>
        </p:nvSpPr>
        <p:spPr>
          <a:xfrm>
            <a:off x="5109121" y="2112169"/>
            <a:ext cx="772505" cy="400110"/>
          </a:xfrm>
          <a:prstGeom prst="rect">
            <a:avLst/>
          </a:prstGeom>
          <a:noFill/>
        </p:spPr>
        <p:txBody>
          <a:bodyPr wrap="square" rtlCol="0">
            <a:spAutoFit/>
          </a:bodyPr>
          <a:lstStyle/>
          <a:p>
            <a:pPr algn="ctr"/>
            <a:r>
              <a:rPr lang="en-US" sz="1000" dirty="0">
                <a:solidFill>
                  <a:srgbClr val="E1E1E1"/>
                </a:solidFill>
              </a:rPr>
              <a:t>Messages Read</a:t>
            </a:r>
          </a:p>
        </p:txBody>
      </p:sp>
      <p:pic>
        <p:nvPicPr>
          <p:cNvPr id="117" name="Graphic 116" descr="Chat with solid fill">
            <a:extLst>
              <a:ext uri="{FF2B5EF4-FFF2-40B4-BE49-F238E27FC236}">
                <a16:creationId xmlns:a16="http://schemas.microsoft.com/office/drawing/2014/main" id="{AB629703-FE93-127C-8B33-5F456213A59E}"/>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340483" y="2624295"/>
            <a:ext cx="261610" cy="261610"/>
          </a:xfrm>
          <a:prstGeom prst="rect">
            <a:avLst/>
          </a:prstGeom>
        </p:spPr>
      </p:pic>
      <p:pic>
        <p:nvPicPr>
          <p:cNvPr id="118" name="Graphic 117" descr="Chat with solid fill">
            <a:extLst>
              <a:ext uri="{FF2B5EF4-FFF2-40B4-BE49-F238E27FC236}">
                <a16:creationId xmlns:a16="http://schemas.microsoft.com/office/drawing/2014/main" id="{3599AE79-C3DD-D748-0DD5-9B1A6966D29D}"/>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332371" y="3054637"/>
            <a:ext cx="261610" cy="261610"/>
          </a:xfrm>
          <a:prstGeom prst="rect">
            <a:avLst/>
          </a:prstGeom>
        </p:spPr>
      </p:pic>
      <p:pic>
        <p:nvPicPr>
          <p:cNvPr id="119" name="Graphic 118" descr="Chat with solid fill">
            <a:extLst>
              <a:ext uri="{FF2B5EF4-FFF2-40B4-BE49-F238E27FC236}">
                <a16:creationId xmlns:a16="http://schemas.microsoft.com/office/drawing/2014/main" id="{CCE7D733-F662-4A23-9A68-01050341B1D3}"/>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332371" y="3514041"/>
            <a:ext cx="261610" cy="261610"/>
          </a:xfrm>
          <a:prstGeom prst="rect">
            <a:avLst/>
          </a:prstGeom>
        </p:spPr>
      </p:pic>
      <p:pic>
        <p:nvPicPr>
          <p:cNvPr id="120" name="Graphic 119" descr="Chat with solid fill">
            <a:extLst>
              <a:ext uri="{FF2B5EF4-FFF2-40B4-BE49-F238E27FC236}">
                <a16:creationId xmlns:a16="http://schemas.microsoft.com/office/drawing/2014/main" id="{6E272F79-94D2-2965-FFA1-F4B8012F05D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345744" y="3978262"/>
            <a:ext cx="261610" cy="261610"/>
          </a:xfrm>
          <a:prstGeom prst="rect">
            <a:avLst/>
          </a:prstGeom>
        </p:spPr>
      </p:pic>
      <p:sp>
        <p:nvSpPr>
          <p:cNvPr id="121" name="TextBox 120">
            <a:extLst>
              <a:ext uri="{FF2B5EF4-FFF2-40B4-BE49-F238E27FC236}">
                <a16:creationId xmlns:a16="http://schemas.microsoft.com/office/drawing/2014/main" id="{3CB797F6-07B7-A79C-5F6D-9DFBD629260A}"/>
              </a:ext>
            </a:extLst>
          </p:cNvPr>
          <p:cNvSpPr txBox="1"/>
          <p:nvPr/>
        </p:nvSpPr>
        <p:spPr>
          <a:xfrm>
            <a:off x="2182334" y="3984850"/>
            <a:ext cx="912429" cy="261610"/>
          </a:xfrm>
          <a:prstGeom prst="rect">
            <a:avLst/>
          </a:prstGeom>
          <a:noFill/>
        </p:spPr>
        <p:txBody>
          <a:bodyPr wrap="none" rtlCol="0">
            <a:spAutoFit/>
          </a:bodyPr>
          <a:lstStyle/>
          <a:p>
            <a:r>
              <a:rPr lang="en-US" sz="1100" i="1" dirty="0">
                <a:solidFill>
                  <a:srgbClr val="FFC000"/>
                </a:solidFill>
              </a:rPr>
              <a:t>Completed!</a:t>
            </a:r>
          </a:p>
        </p:txBody>
      </p:sp>
      <p:sp>
        <p:nvSpPr>
          <p:cNvPr id="122" name="Rectangle: Rounded Corners 121">
            <a:extLst>
              <a:ext uri="{FF2B5EF4-FFF2-40B4-BE49-F238E27FC236}">
                <a16:creationId xmlns:a16="http://schemas.microsoft.com/office/drawing/2014/main" id="{56B87C98-5098-F6BF-61B9-15C33DA8C240}"/>
              </a:ext>
            </a:extLst>
          </p:cNvPr>
          <p:cNvSpPr/>
          <p:nvPr/>
        </p:nvSpPr>
        <p:spPr>
          <a:xfrm>
            <a:off x="7593653" y="1986000"/>
            <a:ext cx="3908807" cy="3818144"/>
          </a:xfrm>
          <a:prstGeom prst="roundRect">
            <a:avLst>
              <a:gd name="adj" fmla="val 8358"/>
            </a:avLst>
          </a:prstGeom>
          <a:solidFill>
            <a:srgbClr val="0E1C2D"/>
          </a:solidFill>
          <a:ln>
            <a:solidFill>
              <a:srgbClr val="1E31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Rectangle 122">
            <a:extLst>
              <a:ext uri="{FF2B5EF4-FFF2-40B4-BE49-F238E27FC236}">
                <a16:creationId xmlns:a16="http://schemas.microsoft.com/office/drawing/2014/main" id="{F35D31AA-565E-FF09-986F-B1B303D4FB9F}"/>
              </a:ext>
            </a:extLst>
          </p:cNvPr>
          <p:cNvSpPr/>
          <p:nvPr/>
        </p:nvSpPr>
        <p:spPr>
          <a:xfrm>
            <a:off x="7753430" y="1884840"/>
            <a:ext cx="1396030" cy="224288"/>
          </a:xfrm>
          <a:prstGeom prst="rect">
            <a:avLst/>
          </a:prstGeom>
          <a:solidFill>
            <a:srgbClr val="0E1C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Agent Messages</a:t>
            </a:r>
          </a:p>
        </p:txBody>
      </p:sp>
      <p:cxnSp>
        <p:nvCxnSpPr>
          <p:cNvPr id="124" name="Straight Connector 123">
            <a:extLst>
              <a:ext uri="{FF2B5EF4-FFF2-40B4-BE49-F238E27FC236}">
                <a16:creationId xmlns:a16="http://schemas.microsoft.com/office/drawing/2014/main" id="{3D917DF6-0A6D-49D0-F503-2E6001277D2D}"/>
              </a:ext>
            </a:extLst>
          </p:cNvPr>
          <p:cNvCxnSpPr>
            <a:cxnSpLocks/>
          </p:cNvCxnSpPr>
          <p:nvPr/>
        </p:nvCxnSpPr>
        <p:spPr>
          <a:xfrm>
            <a:off x="11385952" y="2460768"/>
            <a:ext cx="0" cy="3018916"/>
          </a:xfrm>
          <a:prstGeom prst="line">
            <a:avLst/>
          </a:prstGeom>
          <a:ln w="57150" cap="rnd">
            <a:solidFill>
              <a:srgbClr val="1E3147"/>
            </a:solidFill>
          </a:ln>
        </p:spPr>
        <p:style>
          <a:lnRef idx="2">
            <a:schemeClr val="accent1"/>
          </a:lnRef>
          <a:fillRef idx="0">
            <a:schemeClr val="accent1"/>
          </a:fillRef>
          <a:effectRef idx="1">
            <a:schemeClr val="accent1"/>
          </a:effectRef>
          <a:fontRef idx="minor">
            <a:schemeClr val="tx1"/>
          </a:fontRef>
        </p:style>
      </p:cxnSp>
      <p:cxnSp>
        <p:nvCxnSpPr>
          <p:cNvPr id="125" name="Straight Connector 124">
            <a:extLst>
              <a:ext uri="{FF2B5EF4-FFF2-40B4-BE49-F238E27FC236}">
                <a16:creationId xmlns:a16="http://schemas.microsoft.com/office/drawing/2014/main" id="{0088E3F5-B1C3-D9F7-CA68-5BC50BB33A76}"/>
              </a:ext>
            </a:extLst>
          </p:cNvPr>
          <p:cNvCxnSpPr>
            <a:cxnSpLocks/>
          </p:cNvCxnSpPr>
          <p:nvPr/>
        </p:nvCxnSpPr>
        <p:spPr>
          <a:xfrm>
            <a:off x="11385952" y="2457417"/>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sp>
        <p:nvSpPr>
          <p:cNvPr id="126" name="Oval 125">
            <a:extLst>
              <a:ext uri="{FF2B5EF4-FFF2-40B4-BE49-F238E27FC236}">
                <a16:creationId xmlns:a16="http://schemas.microsoft.com/office/drawing/2014/main" id="{7FE88E5B-248E-1306-B7CF-455E20D2E8D4}"/>
              </a:ext>
            </a:extLst>
          </p:cNvPr>
          <p:cNvSpPr/>
          <p:nvPr/>
        </p:nvSpPr>
        <p:spPr>
          <a:xfrm>
            <a:off x="7862671" y="2358894"/>
            <a:ext cx="293929" cy="306770"/>
          </a:xfrm>
          <a:prstGeom prst="ellipse">
            <a:avLst/>
          </a:prstGeom>
          <a:solidFill>
            <a:srgbClr val="A9866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TextBox 126">
            <a:extLst>
              <a:ext uri="{FF2B5EF4-FFF2-40B4-BE49-F238E27FC236}">
                <a16:creationId xmlns:a16="http://schemas.microsoft.com/office/drawing/2014/main" id="{B2A7A241-A01A-4471-FA31-2446DF53EE81}"/>
              </a:ext>
            </a:extLst>
          </p:cNvPr>
          <p:cNvSpPr txBox="1"/>
          <p:nvPr/>
        </p:nvSpPr>
        <p:spPr>
          <a:xfrm>
            <a:off x="7828387" y="2371121"/>
            <a:ext cx="460382" cy="282316"/>
          </a:xfrm>
          <a:prstGeom prst="rect">
            <a:avLst/>
          </a:prstGeom>
          <a:noFill/>
        </p:spPr>
        <p:txBody>
          <a:bodyPr wrap="square" rtlCol="0">
            <a:spAutoFit/>
          </a:bodyPr>
          <a:lstStyle/>
          <a:p>
            <a:r>
              <a:rPr lang="en-US" sz="1200" b="1" dirty="0">
                <a:solidFill>
                  <a:srgbClr val="0E1C2D"/>
                </a:solidFill>
              </a:rPr>
              <a:t>Or</a:t>
            </a:r>
          </a:p>
        </p:txBody>
      </p:sp>
      <p:sp>
        <p:nvSpPr>
          <p:cNvPr id="128" name="TextBox 127">
            <a:extLst>
              <a:ext uri="{FF2B5EF4-FFF2-40B4-BE49-F238E27FC236}">
                <a16:creationId xmlns:a16="http://schemas.microsoft.com/office/drawing/2014/main" id="{A77F37B1-39DE-EEA3-1B12-707DC7321002}"/>
              </a:ext>
            </a:extLst>
          </p:cNvPr>
          <p:cNvSpPr txBox="1"/>
          <p:nvPr/>
        </p:nvSpPr>
        <p:spPr>
          <a:xfrm>
            <a:off x="8171178" y="2376776"/>
            <a:ext cx="998991" cy="261610"/>
          </a:xfrm>
          <a:prstGeom prst="rect">
            <a:avLst/>
          </a:prstGeom>
          <a:noFill/>
        </p:spPr>
        <p:txBody>
          <a:bodyPr wrap="none" rtlCol="0">
            <a:spAutoFit/>
          </a:bodyPr>
          <a:lstStyle/>
          <a:p>
            <a:r>
              <a:rPr lang="en-US" sz="1100" dirty="0">
                <a:solidFill>
                  <a:srgbClr val="E1E1E1"/>
                </a:solidFill>
              </a:rPr>
              <a:t>Starting Jobs.</a:t>
            </a:r>
          </a:p>
        </p:txBody>
      </p:sp>
      <p:cxnSp>
        <p:nvCxnSpPr>
          <p:cNvPr id="131" name="Straight Connector 130">
            <a:extLst>
              <a:ext uri="{FF2B5EF4-FFF2-40B4-BE49-F238E27FC236}">
                <a16:creationId xmlns:a16="http://schemas.microsoft.com/office/drawing/2014/main" id="{AECE7AAC-EECD-EFFE-4D6C-9416755F6EBE}"/>
              </a:ext>
            </a:extLst>
          </p:cNvPr>
          <p:cNvCxnSpPr>
            <a:cxnSpLocks/>
          </p:cNvCxnSpPr>
          <p:nvPr/>
        </p:nvCxnSpPr>
        <p:spPr>
          <a:xfrm>
            <a:off x="11404344" y="2835238"/>
            <a:ext cx="0" cy="271063"/>
          </a:xfrm>
          <a:prstGeom prst="line">
            <a:avLst/>
          </a:prstGeom>
          <a:ln w="57150" cap="rnd">
            <a:solidFill>
              <a:srgbClr val="8F97B7"/>
            </a:solidFill>
          </a:ln>
        </p:spPr>
        <p:style>
          <a:lnRef idx="2">
            <a:schemeClr val="accent1"/>
          </a:lnRef>
          <a:fillRef idx="0">
            <a:schemeClr val="accent1"/>
          </a:fillRef>
          <a:effectRef idx="1">
            <a:schemeClr val="accent1"/>
          </a:effectRef>
          <a:fontRef idx="minor">
            <a:schemeClr val="tx1"/>
          </a:fontRef>
        </p:style>
      </p:cxnSp>
      <p:sp>
        <p:nvSpPr>
          <p:cNvPr id="132" name="Oval 131">
            <a:extLst>
              <a:ext uri="{FF2B5EF4-FFF2-40B4-BE49-F238E27FC236}">
                <a16:creationId xmlns:a16="http://schemas.microsoft.com/office/drawing/2014/main" id="{E62E6C43-98BD-36E6-6ABE-78D039C8D857}"/>
              </a:ext>
            </a:extLst>
          </p:cNvPr>
          <p:cNvSpPr/>
          <p:nvPr/>
        </p:nvSpPr>
        <p:spPr>
          <a:xfrm>
            <a:off x="7881063" y="2736715"/>
            <a:ext cx="293929" cy="306770"/>
          </a:xfrm>
          <a:prstGeom prst="ellipse">
            <a:avLst/>
          </a:prstGeom>
          <a:solidFill>
            <a:srgbClr val="A9866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TextBox 132">
            <a:extLst>
              <a:ext uri="{FF2B5EF4-FFF2-40B4-BE49-F238E27FC236}">
                <a16:creationId xmlns:a16="http://schemas.microsoft.com/office/drawing/2014/main" id="{7CA4FAC0-0698-7BE7-A4CC-229734F3B21C}"/>
              </a:ext>
            </a:extLst>
          </p:cNvPr>
          <p:cNvSpPr txBox="1"/>
          <p:nvPr/>
        </p:nvSpPr>
        <p:spPr>
          <a:xfrm>
            <a:off x="7846779" y="2748942"/>
            <a:ext cx="460382" cy="282316"/>
          </a:xfrm>
          <a:prstGeom prst="rect">
            <a:avLst/>
          </a:prstGeom>
          <a:noFill/>
        </p:spPr>
        <p:txBody>
          <a:bodyPr wrap="square" rtlCol="0">
            <a:spAutoFit/>
          </a:bodyPr>
          <a:lstStyle/>
          <a:p>
            <a:r>
              <a:rPr lang="en-US" sz="1200" b="1" dirty="0">
                <a:solidFill>
                  <a:srgbClr val="0E1C2D"/>
                </a:solidFill>
              </a:rPr>
              <a:t>Or</a:t>
            </a:r>
          </a:p>
        </p:txBody>
      </p:sp>
      <p:sp>
        <p:nvSpPr>
          <p:cNvPr id="134" name="TextBox 133">
            <a:extLst>
              <a:ext uri="{FF2B5EF4-FFF2-40B4-BE49-F238E27FC236}">
                <a16:creationId xmlns:a16="http://schemas.microsoft.com/office/drawing/2014/main" id="{DCE56AE7-49B2-52D9-704A-831EED45C2B9}"/>
              </a:ext>
            </a:extLst>
          </p:cNvPr>
          <p:cNvSpPr txBox="1"/>
          <p:nvPr/>
        </p:nvSpPr>
        <p:spPr>
          <a:xfrm>
            <a:off x="8189570" y="2754597"/>
            <a:ext cx="1247457" cy="261610"/>
          </a:xfrm>
          <a:prstGeom prst="rect">
            <a:avLst/>
          </a:prstGeom>
          <a:noFill/>
        </p:spPr>
        <p:txBody>
          <a:bodyPr wrap="none" rtlCol="0">
            <a:spAutoFit/>
          </a:bodyPr>
          <a:lstStyle/>
          <a:p>
            <a:r>
              <a:rPr lang="en-US" sz="1100" dirty="0">
                <a:solidFill>
                  <a:srgbClr val="E1E1E1"/>
                </a:solidFill>
              </a:rPr>
              <a:t>Preparing agents.</a:t>
            </a:r>
          </a:p>
        </p:txBody>
      </p:sp>
      <p:sp>
        <p:nvSpPr>
          <p:cNvPr id="7" name="Rectangle 6">
            <a:extLst>
              <a:ext uri="{FF2B5EF4-FFF2-40B4-BE49-F238E27FC236}">
                <a16:creationId xmlns:a16="http://schemas.microsoft.com/office/drawing/2014/main" id="{9395DD55-4C30-7477-5746-ECAA09801BEB}"/>
              </a:ext>
            </a:extLst>
          </p:cNvPr>
          <p:cNvSpPr/>
          <p:nvPr/>
        </p:nvSpPr>
        <p:spPr>
          <a:xfrm>
            <a:off x="279206" y="677075"/>
            <a:ext cx="11761557" cy="6044812"/>
          </a:xfrm>
          <a:prstGeom prst="rect">
            <a:avLst/>
          </a:prstGeom>
          <a:solidFill>
            <a:schemeClr val="accent1">
              <a:alpha val="79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t>NOT USED AT THIS TIME,  FUTURE</a:t>
            </a:r>
          </a:p>
        </p:txBody>
      </p:sp>
    </p:spTree>
    <p:extLst>
      <p:ext uri="{BB962C8B-B14F-4D97-AF65-F5344CB8AC3E}">
        <p14:creationId xmlns:p14="http://schemas.microsoft.com/office/powerpoint/2010/main" val="7475403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C049879F635FE4A85D0F5DFD323F28F" ma:contentTypeVersion="8" ma:contentTypeDescription="Create a new document." ma:contentTypeScope="" ma:versionID="0e999892710652d8845f2404b9a74f4b">
  <xsd:schema xmlns:xsd="http://www.w3.org/2001/XMLSchema" xmlns:xs="http://www.w3.org/2001/XMLSchema" xmlns:p="http://schemas.microsoft.com/office/2006/metadata/properties" xmlns:ns3="93ab5ce6-50bd-487f-a452-a54f4d7e4250" targetNamespace="http://schemas.microsoft.com/office/2006/metadata/properties" ma:root="true" ma:fieldsID="0496d4816e89e2e36c917c9b2e1908fb" ns3:_="">
    <xsd:import namespace="93ab5ce6-50bd-487f-a452-a54f4d7e4250"/>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3ab5ce6-50bd-487f-a452-a54f4d7e4250"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SystemTags" ma:index="12" nillable="true" ma:displayName="MediaServiceSystemTags" ma:hidden="true" ma:internalName="MediaServiceSystemTags" ma:readOnly="true">
      <xsd:simpleType>
        <xsd:restriction base="dms:Note"/>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F8BCFC5-F65B-4C82-BF69-EB6354DFA902}">
  <ds:schemaRefs>
    <ds:schemaRef ds:uri="http://schemas.microsoft.com/sharepoint/v3/contenttype/forms"/>
  </ds:schemaRefs>
</ds:datastoreItem>
</file>

<file path=customXml/itemProps2.xml><?xml version="1.0" encoding="utf-8"?>
<ds:datastoreItem xmlns:ds="http://schemas.openxmlformats.org/officeDocument/2006/customXml" ds:itemID="{67336FA0-E681-4297-BC05-51E4B4E7D8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3ab5ce6-50bd-487f-a452-a54f4d7e425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AF7EFB6-D2E8-461C-9E03-681052E587FF}">
  <ds:schemaRefs>
    <ds:schemaRef ds:uri="http://www.w3.org/XML/1998/namespace"/>
    <ds:schemaRef ds:uri="http://purl.org/dc/dcmitype/"/>
    <ds:schemaRef ds:uri="http://schemas.openxmlformats.org/package/2006/metadata/core-properties"/>
    <ds:schemaRef ds:uri="http://schemas.microsoft.com/office/infopath/2007/PartnerControls"/>
    <ds:schemaRef ds:uri="http://schemas.microsoft.com/office/2006/documentManagement/types"/>
    <ds:schemaRef ds:uri="http://purl.org/dc/terms/"/>
    <ds:schemaRef ds:uri="93ab5ce6-50bd-487f-a452-a54f4d7e4250"/>
    <ds:schemaRef ds:uri="http://schemas.microsoft.com/office/2006/metadata/properties"/>
    <ds:schemaRef ds:uri="http://purl.org/dc/elements/1.1/"/>
  </ds:schemaRefs>
</ds:datastoreItem>
</file>

<file path=docProps/app.xml><?xml version="1.0" encoding="utf-8"?>
<Properties xmlns="http://schemas.openxmlformats.org/officeDocument/2006/extended-properties" xmlns:vt="http://schemas.openxmlformats.org/officeDocument/2006/docPropsVTypes">
  <TotalTime>576</TotalTime>
  <Words>4079</Words>
  <Application>Microsoft Office PowerPoint</Application>
  <PresentationFormat>Widescreen</PresentationFormat>
  <Paragraphs>1060</Paragraphs>
  <Slides>28</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Aptos</vt:lpstr>
      <vt:lpstr>Aptos Display</vt:lpstr>
      <vt:lpstr>Arial</vt:lpstr>
      <vt:lpstr>Cascadia Code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Patrik Pettersson</dc:creator>
  <cp:lastModifiedBy>Patrik Pettersson</cp:lastModifiedBy>
  <cp:revision>1</cp:revision>
  <dcterms:created xsi:type="dcterms:W3CDTF">2025-11-20T19:35:08Z</dcterms:created>
  <dcterms:modified xsi:type="dcterms:W3CDTF">2025-11-21T05:13:54Z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0x0101000C049879F635FE4A85D0F5DFD323F28F</vt:lpwstr>
  </property>
</Properties>
</file>